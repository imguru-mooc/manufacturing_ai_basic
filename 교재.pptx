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4" autoAdjust="0"/>
    <p:restoredTop sz="95202" autoAdjust="0"/>
  </p:normalViewPr>
  <p:slideViewPr>
    <p:cSldViewPr snapToGrid="0" snapToObjects="1">
      <p:cViewPr varScale="1">
        <p:scale>
          <a:sx n="77" d="100"/>
          <a:sy n="77" d="100"/>
        </p:scale>
        <p:origin x="1195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52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본격적으로 강의를 시작하기 전에 전체 커리큘럼을 한번 살펴보겠습니다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화면에 보이시는 것처럼 오늘부터 총 </a:t>
            </a:r>
            <a:r>
              <a:rPr lang="en-US" altLang="ko-KR"/>
              <a:t>10</a:t>
            </a:r>
            <a:r>
              <a:rPr lang="ko-KR" altLang="en-US"/>
              <a:t>개의 챕터로 구성된 </a:t>
            </a:r>
            <a:r>
              <a:rPr lang="en-US" altLang="ko-KR"/>
              <a:t>C# </a:t>
            </a:r>
            <a:r>
              <a:rPr lang="ko-KR" altLang="en-US"/>
              <a:t>단위테스트 과정을 진행하게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</a:t>
            </a:r>
            <a:r>
              <a:rPr lang="ko-KR" altLang="en-US" b="1"/>
              <a:t>단위테스트 기초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</a:t>
            </a:r>
            <a:r>
              <a:rPr lang="ko-KR" altLang="en-US" b="1"/>
              <a:t>단위테스트 기초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여기서는 </a:t>
            </a:r>
            <a:r>
              <a:rPr lang="en-US" altLang="ko-KR"/>
              <a:t>"</a:t>
            </a:r>
            <a:r>
              <a:rPr lang="ko-KR" altLang="en-US"/>
              <a:t>단위테스트가 뭐지</a:t>
            </a:r>
            <a:r>
              <a:rPr lang="en-US" altLang="ko-KR"/>
              <a:t>?"</a:t>
            </a:r>
            <a:r>
              <a:rPr lang="ko-KR" altLang="en-US"/>
              <a:t>라는 기본 개념부터 시작합니다</a:t>
            </a:r>
            <a:r>
              <a:rPr lang="en-US" altLang="ko-KR"/>
              <a:t>. </a:t>
            </a:r>
            <a:r>
              <a:rPr lang="ko-KR" altLang="en-US"/>
              <a:t>특히 좋은 테스트의 조건인 </a:t>
            </a:r>
            <a:r>
              <a:rPr lang="en-US" altLang="ko-KR" b="1"/>
              <a:t>FIRST </a:t>
            </a:r>
            <a:r>
              <a:rPr lang="ko-KR" altLang="en-US" b="1"/>
              <a:t>원칙</a:t>
            </a:r>
            <a:r>
              <a:rPr lang="ko-KR" altLang="en-US"/>
              <a:t> </a:t>
            </a:r>
            <a:r>
              <a:rPr lang="en-US" altLang="ko-KR"/>
              <a:t>- Fast, Independent, Repeatable, Self-validating, Timely - </a:t>
            </a:r>
            <a:r>
              <a:rPr lang="ko-KR" altLang="en-US"/>
              <a:t>이 다섯 가지를 배우고요</a:t>
            </a:r>
            <a:r>
              <a:rPr lang="en-US" altLang="ko-KR"/>
              <a:t>, TDD</a:t>
            </a:r>
            <a:r>
              <a:rPr lang="ko-KR" altLang="en-US"/>
              <a:t>가 </a:t>
            </a:r>
            <a:r>
              <a:rPr lang="ko-KR" altLang="en-US" err="1"/>
              <a:t>뭔지</a:t>
            </a:r>
            <a:r>
              <a:rPr lang="ko-KR" altLang="en-US"/>
              <a:t> 개요 수준에서 먼저 이해하고 넘어가겠습니다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2. C# </a:t>
            </a:r>
            <a:r>
              <a:rPr lang="ko-KR" altLang="en-US" b="1"/>
              <a:t>테스트 환경</a:t>
            </a:r>
          </a:p>
          <a:p>
            <a:r>
              <a:rPr lang="ko-KR" altLang="en-US" b="1"/>
              <a:t>두 번째는 </a:t>
            </a:r>
            <a:r>
              <a:rPr lang="en-US" altLang="ko-KR" b="1"/>
              <a:t>C# </a:t>
            </a:r>
            <a:r>
              <a:rPr lang="ko-KR" altLang="en-US" b="1"/>
              <a:t>테스트 환경 설정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아무리 이론을 알아도 환경이 안 갖춰져 있으면 실습을 못하죠</a:t>
            </a:r>
            <a:r>
              <a:rPr lang="en-US" altLang="ko-KR"/>
              <a:t>. Visual Studio</a:t>
            </a:r>
            <a:r>
              <a:rPr lang="ko-KR" altLang="en-US"/>
              <a:t>에서 테스트 프로젝트 설정하는 방법</a:t>
            </a:r>
            <a:r>
              <a:rPr lang="en-US" altLang="ko-KR"/>
              <a:t>, </a:t>
            </a:r>
            <a:r>
              <a:rPr lang="ko-KR" altLang="en-US"/>
              <a:t>그리고 </a:t>
            </a:r>
            <a:r>
              <a:rPr lang="en-US" altLang="ko-KR" b="1" err="1"/>
              <a:t>NUnit</a:t>
            </a:r>
            <a:r>
              <a:rPr lang="ko-KR" altLang="en-US"/>
              <a:t>과 </a:t>
            </a:r>
            <a:r>
              <a:rPr lang="en-US" altLang="ko-KR" b="1" err="1"/>
              <a:t>xUnit</a:t>
            </a:r>
            <a:r>
              <a:rPr lang="ko-KR" altLang="en-US"/>
              <a:t> 두 가지 대표적인 테스트 프레임워크를 비교해서 알아보겠습니다</a:t>
            </a:r>
            <a:r>
              <a:rPr lang="en-US" altLang="ko-KR"/>
              <a:t>. </a:t>
            </a:r>
            <a:r>
              <a:rPr lang="ko-KR" altLang="en-US"/>
              <a:t>우리 실습에서는 주로 </a:t>
            </a:r>
            <a:r>
              <a:rPr lang="en-US" altLang="ko-KR" err="1"/>
              <a:t>NUnit</a:t>
            </a:r>
            <a:r>
              <a:rPr lang="ko-KR" altLang="en-US"/>
              <a:t>을 사용할 예정입니다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3. </a:t>
            </a:r>
            <a:r>
              <a:rPr lang="ko-KR" altLang="en-US" b="1"/>
              <a:t>기초 실습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</a:t>
            </a:r>
            <a:r>
              <a:rPr lang="ko-KR" altLang="en-US" b="1"/>
              <a:t>기초 실습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이론만 하면 재미없죠</a:t>
            </a:r>
            <a:r>
              <a:rPr lang="en-US" altLang="ko-KR"/>
              <a:t>? </a:t>
            </a:r>
            <a:r>
              <a:rPr lang="ko-KR" altLang="en-US"/>
              <a:t>바로 코드를 작성해봅니다</a:t>
            </a:r>
            <a:r>
              <a:rPr lang="en-US" altLang="ko-KR"/>
              <a:t>. </a:t>
            </a:r>
            <a:r>
              <a:rPr lang="ko-KR" altLang="en-US"/>
              <a:t>간단한 </a:t>
            </a:r>
            <a:r>
              <a:rPr lang="en-US" altLang="ko-KR" b="1"/>
              <a:t>Calculator </a:t>
            </a:r>
            <a:r>
              <a:rPr lang="ko-KR" altLang="en-US" b="1"/>
              <a:t>클래스</a:t>
            </a:r>
            <a:r>
              <a:rPr lang="ko-KR" altLang="en-US"/>
              <a:t>를 만들고</a:t>
            </a:r>
            <a:r>
              <a:rPr lang="en-US" altLang="ko-KR"/>
              <a:t>, </a:t>
            </a:r>
            <a:r>
              <a:rPr lang="ko-KR" altLang="en-US"/>
              <a:t>덧셈</a:t>
            </a:r>
            <a:r>
              <a:rPr lang="en-US" altLang="ko-KR"/>
              <a:t>, </a:t>
            </a:r>
            <a:r>
              <a:rPr lang="ko-KR" altLang="en-US"/>
              <a:t>뺄셈 같은 기본 연산에 대한 테스트를 작성해볼 겁니다</a:t>
            </a:r>
            <a:r>
              <a:rPr lang="en-US" altLang="ko-KR"/>
              <a:t>. </a:t>
            </a:r>
            <a:r>
              <a:rPr lang="en-US" altLang="ko-KR" b="1" err="1"/>
              <a:t>TestCase</a:t>
            </a:r>
            <a:r>
              <a:rPr lang="ko-KR" altLang="en-US"/>
              <a:t> </a:t>
            </a:r>
            <a:r>
              <a:rPr lang="ko-KR" altLang="en-US" err="1"/>
              <a:t>어트리뷰트를</a:t>
            </a:r>
            <a:r>
              <a:rPr lang="ko-KR" altLang="en-US"/>
              <a:t> 활용해서 여러 </a:t>
            </a:r>
            <a:r>
              <a:rPr lang="ko-KR" altLang="en-US" err="1"/>
              <a:t>입력값을</a:t>
            </a:r>
            <a:r>
              <a:rPr lang="ko-KR" altLang="en-US"/>
              <a:t> 한 번에 테스트하는 방법도 배웁니다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4. </a:t>
            </a:r>
            <a:r>
              <a:rPr lang="ko-KR" altLang="en-US" b="1"/>
              <a:t>의존성 처리 </a:t>
            </a:r>
            <a:r>
              <a:rPr lang="en-US" altLang="ko-KR" b="1"/>
              <a:t>(</a:t>
            </a:r>
            <a:r>
              <a:rPr lang="en-US" altLang="ko-KR" b="1" err="1"/>
              <a:t>Moq</a:t>
            </a:r>
            <a:r>
              <a:rPr lang="en-US" altLang="ko-KR" b="1"/>
              <a:t>)</a:t>
            </a:r>
          </a:p>
          <a:p>
            <a:r>
              <a:rPr lang="ko-KR" altLang="en-US" b="1"/>
              <a:t>네 번째</a:t>
            </a:r>
            <a:r>
              <a:rPr lang="en-US" altLang="ko-KR" b="1"/>
              <a:t>, </a:t>
            </a:r>
            <a:r>
              <a:rPr lang="ko-KR" altLang="en-US" b="1"/>
              <a:t>의존성 처리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 b="1" err="1"/>
              <a:t>Moq</a:t>
            </a:r>
            <a:r>
              <a:rPr lang="ko-KR" altLang="en-US"/>
              <a:t> 라이브러리가 등장합니다</a:t>
            </a:r>
            <a:r>
              <a:rPr lang="en-US" altLang="ko-KR"/>
              <a:t>.</a:t>
            </a:r>
          </a:p>
          <a:p>
            <a:r>
              <a:rPr lang="ko-KR" altLang="en-US"/>
              <a:t>실제 개발할 때 보면</a:t>
            </a:r>
            <a:r>
              <a:rPr lang="en-US" altLang="ko-KR"/>
              <a:t>, </a:t>
            </a:r>
            <a:r>
              <a:rPr lang="ko-KR" altLang="en-US"/>
              <a:t>테스트하려는 클래스가 데이터베이스나 외부 </a:t>
            </a:r>
            <a:r>
              <a:rPr lang="en-US" altLang="ko-KR"/>
              <a:t>API</a:t>
            </a:r>
            <a:r>
              <a:rPr lang="ko-KR" altLang="en-US"/>
              <a:t>에 연결되어 있는 경우가 많죠</a:t>
            </a:r>
            <a:r>
              <a:rPr lang="en-US" altLang="ko-KR"/>
              <a:t>? </a:t>
            </a:r>
            <a:r>
              <a:rPr lang="ko-KR" altLang="en-US"/>
              <a:t>그런 </a:t>
            </a:r>
            <a:r>
              <a:rPr lang="ko-KR" altLang="en-US" b="1"/>
              <a:t>외부 의존성을 격리</a:t>
            </a:r>
            <a:r>
              <a:rPr lang="ko-KR" altLang="en-US"/>
              <a:t>해서 순수하게 내 코드만 테스트하는 방법을 배웁니다</a:t>
            </a:r>
            <a:r>
              <a:rPr lang="en-US" altLang="ko-KR"/>
              <a:t>. </a:t>
            </a:r>
            <a:r>
              <a:rPr lang="ko-KR" altLang="en-US" b="1"/>
              <a:t>테스트 더블</a:t>
            </a:r>
            <a:r>
              <a:rPr lang="ko-KR" altLang="en-US"/>
              <a:t> </a:t>
            </a:r>
            <a:r>
              <a:rPr lang="en-US" altLang="ko-KR"/>
              <a:t>- Mock, Stub, Fake </a:t>
            </a:r>
            <a:r>
              <a:rPr lang="ko-KR" altLang="en-US"/>
              <a:t>이런 개념들을 실습과 함께 익히게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5. TDD </a:t>
            </a:r>
            <a:r>
              <a:rPr lang="ko-KR" altLang="en-US" b="1"/>
              <a:t>실전</a:t>
            </a:r>
          </a:p>
          <a:p>
            <a:r>
              <a:rPr lang="ko-KR" altLang="en-US" b="1"/>
              <a:t>다섯 번째</a:t>
            </a:r>
            <a:r>
              <a:rPr lang="en-US" altLang="ko-KR" b="1"/>
              <a:t>, TDD </a:t>
            </a:r>
            <a:r>
              <a:rPr lang="ko-KR" altLang="en-US" b="1"/>
              <a:t>실전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진짜 </a:t>
            </a:r>
            <a:r>
              <a:rPr lang="en-US" altLang="ko-KR"/>
              <a:t>TDD</a:t>
            </a:r>
            <a:r>
              <a:rPr lang="ko-KR" altLang="en-US"/>
              <a:t>를 해봅니다</a:t>
            </a:r>
            <a:r>
              <a:rPr lang="en-US" altLang="ko-KR"/>
              <a:t>. </a:t>
            </a:r>
            <a:r>
              <a:rPr lang="en-US" altLang="ko-KR" b="1"/>
              <a:t>Red-Green-Refactor</a:t>
            </a:r>
            <a:r>
              <a:rPr lang="ko-KR" altLang="en-US"/>
              <a:t> 사이클 </a:t>
            </a:r>
            <a:r>
              <a:rPr lang="en-US" altLang="ko-KR"/>
              <a:t>- </a:t>
            </a:r>
            <a:r>
              <a:rPr lang="ko-KR" altLang="en-US" err="1"/>
              <a:t>빨간불</a:t>
            </a:r>
            <a:r>
              <a:rPr lang="en-US" altLang="ko-KR"/>
              <a:t>, </a:t>
            </a:r>
            <a:r>
              <a:rPr lang="ko-KR" altLang="en-US" err="1"/>
              <a:t>초록불</a:t>
            </a:r>
            <a:r>
              <a:rPr lang="en-US" altLang="ko-KR"/>
              <a:t>, </a:t>
            </a:r>
            <a:r>
              <a:rPr lang="ko-KR" altLang="en-US" err="1"/>
              <a:t>리팩토링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 사이클을 직접 </a:t>
            </a:r>
            <a:r>
              <a:rPr lang="ko-KR" altLang="en-US" err="1"/>
              <a:t>경험해보시게</a:t>
            </a:r>
            <a:r>
              <a:rPr lang="ko-KR" altLang="en-US"/>
              <a:t> 됩니다</a:t>
            </a:r>
            <a:r>
              <a:rPr lang="en-US" altLang="ko-KR"/>
              <a:t>.</a:t>
            </a:r>
          </a:p>
          <a:p>
            <a:r>
              <a:rPr lang="ko-KR" altLang="en-US"/>
              <a:t>처음엔 조금 어색하실 수 있어요</a:t>
            </a:r>
            <a:r>
              <a:rPr lang="en-US" altLang="ko-KR"/>
              <a:t>. "</a:t>
            </a:r>
            <a:r>
              <a:rPr lang="ko-KR" altLang="en-US"/>
              <a:t>테스트를 먼저 작성한다고</a:t>
            </a:r>
            <a:r>
              <a:rPr lang="en-US" altLang="ko-KR"/>
              <a:t>?" </a:t>
            </a:r>
            <a:r>
              <a:rPr lang="ko-KR" altLang="en-US"/>
              <a:t>하실 수 있는데</a:t>
            </a:r>
            <a:r>
              <a:rPr lang="en-US" altLang="ko-KR"/>
              <a:t>, </a:t>
            </a:r>
            <a:r>
              <a:rPr lang="ko-KR" altLang="en-US"/>
              <a:t>한번 </a:t>
            </a:r>
            <a:r>
              <a:rPr lang="ko-KR" altLang="en-US" err="1"/>
              <a:t>익숙해지시면</a:t>
            </a:r>
            <a:r>
              <a:rPr lang="ko-KR" altLang="en-US"/>
              <a:t> 이게 얼마나 강력한 개발 방법론인지 느끼실 겁니다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6. </a:t>
            </a:r>
            <a:r>
              <a:rPr lang="ko-KR" altLang="en-US" b="1"/>
              <a:t>고급 기법</a:t>
            </a:r>
          </a:p>
          <a:p>
            <a:r>
              <a:rPr lang="ko-KR" altLang="en-US" b="1"/>
              <a:t>여섯 번째</a:t>
            </a:r>
            <a:r>
              <a:rPr lang="en-US" altLang="ko-KR" b="1"/>
              <a:t>, </a:t>
            </a:r>
            <a:r>
              <a:rPr lang="ko-KR" altLang="en-US" b="1"/>
              <a:t>고급 기법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기본기를 익혔으니 이제 한 단계 올라갑니다</a:t>
            </a:r>
            <a:r>
              <a:rPr lang="en-US" altLang="ko-KR"/>
              <a:t>. </a:t>
            </a:r>
            <a:r>
              <a:rPr lang="ko-KR" altLang="en-US" b="1"/>
              <a:t>예외 상황 테스트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에러가 제대로 발생하는지 확인하는 방법</a:t>
            </a:r>
            <a:r>
              <a:rPr lang="en-US" altLang="ko-KR"/>
              <a:t>, </a:t>
            </a:r>
            <a:r>
              <a:rPr lang="ko-KR" altLang="en-US" b="1"/>
              <a:t>비동기 메서드 테스트</a:t>
            </a:r>
            <a:r>
              <a:rPr lang="ko-KR" altLang="en-US"/>
              <a:t> </a:t>
            </a:r>
            <a:r>
              <a:rPr lang="en-US" altLang="ko-KR"/>
              <a:t>- async/await </a:t>
            </a:r>
            <a:r>
              <a:rPr lang="ko-KR" altLang="en-US"/>
              <a:t>코드를 어떻게 테스트하는지</a:t>
            </a:r>
            <a:r>
              <a:rPr lang="en-US" altLang="ko-KR"/>
              <a:t>, </a:t>
            </a:r>
            <a:r>
              <a:rPr lang="ko-KR" altLang="en-US"/>
              <a:t>그리고 복잡한 </a:t>
            </a:r>
            <a:r>
              <a:rPr lang="ko-KR" altLang="en-US" b="1"/>
              <a:t>의존성을 제어</a:t>
            </a:r>
            <a:r>
              <a:rPr lang="ko-KR" altLang="en-US"/>
              <a:t>하는 고급 테크닉들을 다룹니다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7. </a:t>
            </a:r>
            <a:r>
              <a:rPr lang="ko-KR" altLang="en-US" b="1"/>
              <a:t>코드 커버리지</a:t>
            </a:r>
          </a:p>
          <a:p>
            <a:r>
              <a:rPr lang="ko-KR" altLang="en-US" b="1"/>
              <a:t>일곱 번째</a:t>
            </a:r>
            <a:r>
              <a:rPr lang="en-US" altLang="ko-KR" b="1"/>
              <a:t>, </a:t>
            </a:r>
            <a:r>
              <a:rPr lang="ko-KR" altLang="en-US" b="1"/>
              <a:t>코드 </a:t>
            </a:r>
            <a:r>
              <a:rPr lang="ko-KR" altLang="en-US" b="1" err="1"/>
              <a:t>커버리지</a:t>
            </a:r>
            <a:r>
              <a:rPr lang="ko-KR" altLang="en-US" err="1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내 테스트가 코드를 얼마나 커버하고 있지</a:t>
            </a:r>
            <a:r>
              <a:rPr lang="en-US" altLang="ko-KR"/>
              <a:t>?" </a:t>
            </a:r>
            <a:r>
              <a:rPr lang="ko-KR" altLang="en-US"/>
              <a:t>이걸 측정하는 방법을 배웁니다</a:t>
            </a:r>
            <a:r>
              <a:rPr lang="en-US" altLang="ko-KR"/>
              <a:t>. </a:t>
            </a:r>
            <a:r>
              <a:rPr lang="en-US" altLang="ko-KR" b="1" err="1"/>
              <a:t>ReportGenerator</a:t>
            </a:r>
            <a:r>
              <a:rPr lang="ko-KR" altLang="en-US"/>
              <a:t>라는 도구를 사용해서 시각적인 리포트를 만들어보고</a:t>
            </a:r>
            <a:r>
              <a:rPr lang="en-US" altLang="ko-KR"/>
              <a:t>, </a:t>
            </a:r>
            <a:r>
              <a:rPr lang="ko-KR" altLang="en-US"/>
              <a:t>커버리지 숫자가 높다고 무조건 좋은 건지</a:t>
            </a:r>
            <a:r>
              <a:rPr lang="en-US" altLang="ko-KR"/>
              <a:t>, </a:t>
            </a:r>
            <a:r>
              <a:rPr lang="ko-KR" altLang="en-US" b="1"/>
              <a:t>품질 분석</a:t>
            </a:r>
            <a:r>
              <a:rPr lang="ko-KR" altLang="en-US"/>
              <a:t> 관점에서도 이야기해보겠습니다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참고로 커버리지 </a:t>
            </a:r>
            <a:r>
              <a:rPr lang="en-US" altLang="ko-KR"/>
              <a:t>100%</a:t>
            </a:r>
            <a:r>
              <a:rPr lang="ko-KR" altLang="en-US"/>
              <a:t>가 목표가 아닙니다</a:t>
            </a:r>
            <a:r>
              <a:rPr lang="en-US" altLang="ko-KR"/>
              <a:t>. </a:t>
            </a:r>
            <a:r>
              <a:rPr lang="ko-KR" altLang="en-US"/>
              <a:t>이것도 같이 </a:t>
            </a:r>
            <a:r>
              <a:rPr lang="ko-KR" altLang="en-US" err="1"/>
              <a:t>논의해볼게요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8. </a:t>
            </a:r>
            <a:r>
              <a:rPr lang="ko-KR" altLang="en-US" b="1"/>
              <a:t>테스트 자동화</a:t>
            </a:r>
            <a:r>
              <a:rPr lang="en-US" altLang="ko-KR" b="1"/>
              <a:t>/CI-CD</a:t>
            </a:r>
          </a:p>
          <a:p>
            <a:r>
              <a:rPr lang="ko-KR" altLang="en-US" b="1"/>
              <a:t>여덟 번째</a:t>
            </a:r>
            <a:r>
              <a:rPr lang="en-US" altLang="ko-KR" b="1"/>
              <a:t>, </a:t>
            </a:r>
            <a:r>
              <a:rPr lang="ko-KR" altLang="en-US" b="1"/>
              <a:t>테스트 자동화와 </a:t>
            </a:r>
            <a:r>
              <a:rPr lang="en-US" altLang="ko-KR" b="1"/>
              <a:t>CI/CD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로컬에서 테스트 돌리는 건 이제 할 수 있죠</a:t>
            </a:r>
            <a:r>
              <a:rPr lang="en-US" altLang="ko-KR"/>
              <a:t>. </a:t>
            </a:r>
            <a:r>
              <a:rPr lang="ko-KR" altLang="en-US"/>
              <a:t>그런데 실무에서는 코드를 </a:t>
            </a:r>
            <a:r>
              <a:rPr lang="ko-KR" altLang="en-US" err="1"/>
              <a:t>푸시할</a:t>
            </a:r>
            <a:r>
              <a:rPr lang="ko-KR" altLang="en-US"/>
              <a:t> 때마다 </a:t>
            </a:r>
            <a:r>
              <a:rPr lang="ko-KR" altLang="en-US" b="1"/>
              <a:t>자동으로 테스트가 돌아가야</a:t>
            </a:r>
            <a:r>
              <a:rPr lang="ko-KR" altLang="en-US"/>
              <a:t> 합니다</a:t>
            </a:r>
            <a:r>
              <a:rPr lang="en-US" altLang="ko-KR"/>
              <a:t>. </a:t>
            </a:r>
            <a:r>
              <a:rPr lang="en-US" altLang="ko-KR" b="1"/>
              <a:t>GitHub Actions</a:t>
            </a:r>
            <a:r>
              <a:rPr lang="ko-KR" altLang="en-US"/>
              <a:t>를 활용해서 </a:t>
            </a:r>
            <a:r>
              <a:rPr lang="en-US" altLang="ko-KR"/>
              <a:t>CI/CD </a:t>
            </a:r>
            <a:r>
              <a:rPr lang="ko-KR" altLang="en-US"/>
              <a:t>파이프라인을 구축하는 방법을 실습합니다</a:t>
            </a:r>
            <a:r>
              <a:rPr lang="en-US" altLang="ko-KR"/>
              <a:t>.</a:t>
            </a:r>
          </a:p>
          <a:p>
            <a:r>
              <a:rPr lang="ko-KR" altLang="en-US"/>
              <a:t>이거 한번 </a:t>
            </a:r>
            <a:r>
              <a:rPr lang="ko-KR" altLang="en-US" err="1"/>
              <a:t>세팅해두시면</a:t>
            </a:r>
            <a:r>
              <a:rPr lang="ko-KR" altLang="en-US"/>
              <a:t> 정말 편합니다</a:t>
            </a:r>
            <a:r>
              <a:rPr lang="en-US" altLang="ko-KR"/>
              <a:t>. </a:t>
            </a:r>
            <a:r>
              <a:rPr lang="ko-KR" altLang="en-US"/>
              <a:t>코드 </a:t>
            </a:r>
            <a:r>
              <a:rPr lang="ko-KR" altLang="en-US" err="1"/>
              <a:t>푸시하면</a:t>
            </a:r>
            <a:r>
              <a:rPr lang="ko-KR" altLang="en-US"/>
              <a:t> 알아서 테스트 돌리고</a:t>
            </a:r>
            <a:r>
              <a:rPr lang="en-US" altLang="ko-KR"/>
              <a:t>, </a:t>
            </a:r>
            <a:r>
              <a:rPr lang="ko-KR" altLang="en-US"/>
              <a:t>실패하면 알려주니까요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9. </a:t>
            </a:r>
            <a:r>
              <a:rPr lang="ko-KR" altLang="en-US" b="1"/>
              <a:t>종합 프로젝트</a:t>
            </a:r>
          </a:p>
          <a:p>
            <a:r>
              <a:rPr lang="ko-KR" altLang="en-US" b="1"/>
              <a:t>아홉 번째</a:t>
            </a:r>
            <a:r>
              <a:rPr lang="en-US" altLang="ko-KR" b="1"/>
              <a:t>, </a:t>
            </a:r>
            <a:r>
              <a:rPr lang="ko-KR" altLang="en-US" b="1"/>
              <a:t>종합 프로젝트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배운 모든 것을 총동원해서 </a:t>
            </a:r>
            <a:r>
              <a:rPr lang="ko-KR" altLang="en-US" b="1"/>
              <a:t>팀별 미니 프로젝트</a:t>
            </a:r>
            <a:r>
              <a:rPr lang="ko-KR" altLang="en-US"/>
              <a:t>를 진행합니다</a:t>
            </a:r>
            <a:r>
              <a:rPr lang="en-US" altLang="ko-KR"/>
              <a:t>. TDD </a:t>
            </a:r>
            <a:r>
              <a:rPr lang="ko-KR" altLang="en-US"/>
              <a:t>방식으로 처음부터 끝까지 개발해보는 경험을 하시게 됩니다</a:t>
            </a:r>
            <a:r>
              <a:rPr lang="en-US" altLang="ko-KR"/>
              <a:t>.</a:t>
            </a:r>
          </a:p>
          <a:p>
            <a:r>
              <a:rPr lang="ko-KR" altLang="en-US"/>
              <a:t>이 과정에서 실제로 부딪히는 문제들</a:t>
            </a:r>
            <a:r>
              <a:rPr lang="en-US" altLang="ko-KR"/>
              <a:t>, </a:t>
            </a:r>
            <a:r>
              <a:rPr lang="ko-KR" altLang="en-US"/>
              <a:t>고민들을 같이 </a:t>
            </a:r>
            <a:r>
              <a:rPr lang="ko-KR" altLang="en-US" err="1"/>
              <a:t>해결해나가면서</a:t>
            </a:r>
            <a:r>
              <a:rPr lang="ko-KR" altLang="en-US"/>
              <a:t> 진짜 실력이 늘게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10. </a:t>
            </a:r>
            <a:r>
              <a:rPr lang="ko-KR" altLang="en-US" b="1"/>
              <a:t>부록</a:t>
            </a:r>
          </a:p>
          <a:p>
            <a:r>
              <a:rPr lang="ko-KR" altLang="en-US"/>
              <a:t>마지막 </a:t>
            </a:r>
            <a:r>
              <a:rPr lang="ko-KR" altLang="en-US" b="1"/>
              <a:t>열 번째는 부록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강의 중 자주 나오는 질문들 </a:t>
            </a:r>
            <a:r>
              <a:rPr lang="en-US" altLang="ko-KR" b="1"/>
              <a:t>FAQ</a:t>
            </a:r>
            <a:r>
              <a:rPr lang="en-US" altLang="ko-KR"/>
              <a:t>, </a:t>
            </a:r>
            <a:r>
              <a:rPr lang="ko-KR" altLang="en-US"/>
              <a:t>테스트 관련 </a:t>
            </a:r>
            <a:r>
              <a:rPr lang="ko-KR" altLang="en-US" b="1"/>
              <a:t>용어집</a:t>
            </a:r>
            <a:r>
              <a:rPr lang="en-US" altLang="ko-KR"/>
              <a:t>, </a:t>
            </a:r>
            <a:r>
              <a:rPr lang="ko-KR" altLang="en-US"/>
              <a:t>그리고 더 공부하실 분들을 위한 </a:t>
            </a:r>
            <a:r>
              <a:rPr lang="ko-KR" altLang="en-US" b="1"/>
              <a:t>참고자료</a:t>
            </a:r>
            <a:r>
              <a:rPr lang="ko-KR" altLang="en-US"/>
              <a:t>를 </a:t>
            </a:r>
            <a:r>
              <a:rPr lang="ko-KR" altLang="en-US" err="1"/>
              <a:t>정리해두었습니다</a:t>
            </a:r>
            <a:r>
              <a:rPr lang="en-US" altLang="ko-KR"/>
              <a:t>.</a:t>
            </a:r>
          </a:p>
          <a:p>
            <a:r>
              <a:rPr lang="ko-KR" altLang="en-US"/>
              <a:t>나중에 </a:t>
            </a:r>
            <a:r>
              <a:rPr lang="ko-KR" altLang="en-US" err="1"/>
              <a:t>실무하시다가</a:t>
            </a:r>
            <a:r>
              <a:rPr lang="ko-KR" altLang="en-US"/>
              <a:t> 막히는 부분 있으면 이 부록 먼저 찾아보세요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 err="1"/>
              <a:t>클로징</a:t>
            </a:r>
            <a:endParaRPr lang="ko-KR" altLang="en-US" b="1"/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전체 구성은 이렇습니다</a:t>
            </a:r>
            <a:r>
              <a:rPr lang="en-US" altLang="ko-KR"/>
              <a:t>.</a:t>
            </a:r>
          </a:p>
          <a:p>
            <a:r>
              <a:rPr lang="ko-KR" altLang="en-US"/>
              <a:t>보시면 </a:t>
            </a:r>
            <a:r>
              <a:rPr lang="ko-KR" altLang="en-US" b="1"/>
              <a:t>기초 → 실습 → 심화 → 자동화 → 프로젝트</a:t>
            </a:r>
            <a:r>
              <a:rPr lang="ko-KR" altLang="en-US"/>
              <a:t> 순서로 단계적으로 올라가는 구조입니다</a:t>
            </a:r>
            <a:r>
              <a:rPr lang="en-US" altLang="ko-KR"/>
              <a:t>.</a:t>
            </a:r>
          </a:p>
          <a:p>
            <a:r>
              <a:rPr lang="ko-KR" altLang="en-US"/>
              <a:t>처음 접하시는 분들도 충분히 따라오실 수 있도록 구성했으니까 너무 걱정 마시고</a:t>
            </a:r>
            <a:r>
              <a:rPr lang="en-US" altLang="ko-KR"/>
              <a:t>, </a:t>
            </a:r>
            <a:r>
              <a:rPr lang="ko-KR" altLang="en-US"/>
              <a:t>모르는 거 있으면 바로바로 질문해주세요</a:t>
            </a:r>
            <a:r>
              <a:rPr lang="en-US" altLang="ko-KR"/>
              <a:t>.</a:t>
            </a:r>
          </a:p>
          <a:p>
            <a:r>
              <a:rPr lang="ko-KR" altLang="en-US"/>
              <a:t>그럼 </a:t>
            </a:r>
            <a:r>
              <a:rPr lang="ko-KR" altLang="en-US" b="1"/>
              <a:t>첫 번째 챕터</a:t>
            </a:r>
            <a:r>
              <a:rPr lang="en-US" altLang="ko-KR" b="1"/>
              <a:t>, </a:t>
            </a:r>
            <a:r>
              <a:rPr lang="ko-KR" altLang="en-US" b="1"/>
              <a:t>단위테스트 기초</a:t>
            </a:r>
            <a:r>
              <a:rPr lang="ko-KR" altLang="en-US"/>
              <a:t>부터 시작하겠습니다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본격적인 내용에 들어가기 전에</a:t>
            </a:r>
            <a:r>
              <a:rPr lang="en-US" altLang="ko-KR"/>
              <a:t>, </a:t>
            </a:r>
            <a:r>
              <a:rPr lang="ko-KR" altLang="en-US"/>
              <a:t>이번 교육이 어떻게 운영되는지 간단히 </a:t>
            </a:r>
            <a:r>
              <a:rPr lang="ko-KR" altLang="en-US" err="1"/>
              <a:t>안내드리겠습니다</a:t>
            </a:r>
            <a:r>
              <a:rPr lang="en-US" altLang="ko-KR"/>
              <a:t>.</a:t>
            </a:r>
          </a:p>
          <a:p>
            <a:r>
              <a:rPr lang="ko-KR" altLang="en-US"/>
              <a:t>화면에 보이시는 것처럼 교육 개요를 </a:t>
            </a:r>
            <a:r>
              <a:rPr lang="ko-KR" altLang="en-US" err="1"/>
              <a:t>정리해두었는데요</a:t>
            </a:r>
            <a:r>
              <a:rPr lang="en-US" altLang="ko-KR"/>
              <a:t>, </a:t>
            </a:r>
            <a:r>
              <a:rPr lang="ko-KR" altLang="en-US"/>
              <a:t>하나씩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대상</a:t>
            </a:r>
          </a:p>
          <a:p>
            <a:r>
              <a:rPr lang="ko-KR" altLang="en-US"/>
              <a:t>먼저 </a:t>
            </a:r>
            <a:r>
              <a:rPr lang="ko-KR" altLang="en-US" b="1"/>
              <a:t>교육 대상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이번 교육은 </a:t>
            </a:r>
            <a:r>
              <a:rPr lang="en-US" altLang="ko-KR" b="1"/>
              <a:t>SDC SW </a:t>
            </a:r>
            <a:r>
              <a:rPr lang="ko-KR" altLang="en-US" b="1"/>
              <a:t>직군</a:t>
            </a:r>
            <a:r>
              <a:rPr lang="ko-KR" altLang="en-US"/>
              <a:t> 여러분을 대상으로 합니다</a:t>
            </a:r>
            <a:r>
              <a:rPr lang="en-US" altLang="ko-KR"/>
              <a:t>.</a:t>
            </a:r>
          </a:p>
          <a:p>
            <a:r>
              <a:rPr lang="en-US" altLang="ko-KR"/>
              <a:t>C#</a:t>
            </a:r>
            <a:r>
              <a:rPr lang="ko-KR" altLang="en-US"/>
              <a:t>과 </a:t>
            </a:r>
            <a:r>
              <a:rPr lang="en-US" altLang="ko-KR"/>
              <a:t>.NET </a:t>
            </a:r>
            <a:r>
              <a:rPr lang="ko-KR" altLang="en-US"/>
              <a:t>환경에서 개발하시는 분들이시죠</a:t>
            </a:r>
            <a:r>
              <a:rPr lang="en-US" altLang="ko-KR"/>
              <a:t>. </a:t>
            </a:r>
            <a:r>
              <a:rPr lang="ko-KR" altLang="en-US"/>
              <a:t>기본적인 </a:t>
            </a:r>
            <a:r>
              <a:rPr lang="en-US" altLang="ko-KR"/>
              <a:t>C# </a:t>
            </a:r>
            <a:r>
              <a:rPr lang="ko-KR" altLang="en-US"/>
              <a:t>문법은 알고 계신다는 전제로 진행됩니다</a:t>
            </a:r>
            <a:r>
              <a:rPr lang="en-US" altLang="ko-KR"/>
              <a:t>. </a:t>
            </a:r>
            <a:r>
              <a:rPr lang="ko-KR" altLang="en-US"/>
              <a:t>혹시 </a:t>
            </a:r>
            <a:r>
              <a:rPr lang="en-US" altLang="ko-KR"/>
              <a:t>C# </a:t>
            </a:r>
            <a:r>
              <a:rPr lang="ko-KR" altLang="en-US"/>
              <a:t>자체가 처음이신 분은 미리 말씀해주시면 보충 자료 드리겠습니다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시간</a:t>
            </a:r>
          </a:p>
          <a:p>
            <a:r>
              <a:rPr lang="ko-KR" altLang="en-US" b="1"/>
              <a:t>교육 시간</a:t>
            </a:r>
            <a:r>
              <a:rPr lang="ko-KR" altLang="en-US"/>
              <a:t>은 </a:t>
            </a:r>
            <a:r>
              <a:rPr lang="en-US" altLang="ko-KR" b="1"/>
              <a:t>3</a:t>
            </a:r>
            <a:r>
              <a:rPr lang="ko-KR" altLang="en-US" b="1"/>
              <a:t>일 과정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하루 </a:t>
            </a:r>
            <a:r>
              <a:rPr lang="en-US" altLang="ko-KR"/>
              <a:t>8</a:t>
            </a:r>
            <a:r>
              <a:rPr lang="ko-KR" altLang="en-US"/>
              <a:t>시간씩</a:t>
            </a:r>
            <a:r>
              <a:rPr lang="en-US" altLang="ko-KR"/>
              <a:t>, </a:t>
            </a:r>
            <a:r>
              <a:rPr lang="ko-KR" altLang="en-US"/>
              <a:t>총 </a:t>
            </a:r>
            <a:r>
              <a:rPr lang="en-US" altLang="ko-KR" b="1"/>
              <a:t>24</a:t>
            </a:r>
            <a:r>
              <a:rPr lang="ko-KR" altLang="en-US" b="1"/>
              <a:t>시간</a:t>
            </a:r>
            <a:r>
              <a:rPr lang="ko-KR" altLang="en-US"/>
              <a:t> 진행됩니다</a:t>
            </a:r>
            <a:r>
              <a:rPr lang="en-US" altLang="ko-KR"/>
              <a:t>.</a:t>
            </a:r>
          </a:p>
          <a:p>
            <a:r>
              <a:rPr lang="en-US" altLang="ko-KR"/>
              <a:t>3</a:t>
            </a:r>
            <a:r>
              <a:rPr lang="ko-KR" altLang="en-US"/>
              <a:t>일이라는 시간이 짧게 </a:t>
            </a:r>
            <a:r>
              <a:rPr lang="ko-KR" altLang="en-US" err="1"/>
              <a:t>느껴지실</a:t>
            </a:r>
            <a:r>
              <a:rPr lang="ko-KR" altLang="en-US"/>
              <a:t> 수도 있는데요</a:t>
            </a:r>
            <a:r>
              <a:rPr lang="en-US" altLang="ko-KR"/>
              <a:t>, </a:t>
            </a:r>
            <a:r>
              <a:rPr lang="ko-KR" altLang="en-US"/>
              <a:t>핵심 내용 위주로 압축해서 진행하고</a:t>
            </a:r>
            <a:r>
              <a:rPr lang="en-US" altLang="ko-KR"/>
              <a:t>, </a:t>
            </a:r>
            <a:r>
              <a:rPr lang="ko-KR" altLang="en-US"/>
              <a:t>실습을 많이 넣었기 때문에 끝나고 나시면 바로 실무에 적용하실 수 있는 수준이 되실 겁니다</a:t>
            </a:r>
            <a:r>
              <a:rPr lang="en-US" altLang="ko-KR"/>
              <a:t>.</a:t>
            </a:r>
          </a:p>
          <a:p>
            <a:r>
              <a:rPr lang="ko-KR" altLang="en-US"/>
              <a:t>참고로 점심시간 </a:t>
            </a:r>
            <a:r>
              <a:rPr lang="en-US" altLang="ko-KR"/>
              <a:t>1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오전</a:t>
            </a:r>
            <a:r>
              <a:rPr lang="en-US" altLang="ko-KR"/>
              <a:t>/</a:t>
            </a:r>
            <a:r>
              <a:rPr lang="ko-KR" altLang="en-US"/>
              <a:t>오후 각각 </a:t>
            </a:r>
            <a:r>
              <a:rPr lang="en-US" altLang="ko-KR"/>
              <a:t>10</a:t>
            </a:r>
            <a:r>
              <a:rPr lang="ko-KR" altLang="en-US"/>
              <a:t>분씩 휴식 시간 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방식</a:t>
            </a:r>
          </a:p>
          <a:p>
            <a:r>
              <a:rPr lang="ko-KR" altLang="en-US"/>
              <a:t>다음은 </a:t>
            </a:r>
            <a:r>
              <a:rPr lang="ko-KR" altLang="en-US" b="1"/>
              <a:t>교육 방식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 부분 주목해주세요</a:t>
            </a:r>
            <a:r>
              <a:rPr lang="en-US" altLang="ko-KR"/>
              <a:t>.</a:t>
            </a:r>
          </a:p>
          <a:p>
            <a:r>
              <a:rPr lang="ko-KR" altLang="en-US" b="1"/>
              <a:t>강의 </a:t>
            </a:r>
            <a:r>
              <a:rPr lang="en-US" altLang="ko-KR" b="1"/>
              <a:t>40%, </a:t>
            </a:r>
            <a:r>
              <a:rPr lang="ko-KR" altLang="en-US" b="1"/>
              <a:t>실습 </a:t>
            </a:r>
            <a:r>
              <a:rPr lang="en-US" altLang="ko-KR" b="1"/>
              <a:t>60%</a:t>
            </a:r>
            <a:r>
              <a:rPr lang="ko-KR" altLang="en-US"/>
              <a:t> 비율로 진행됩니다</a:t>
            </a:r>
            <a:r>
              <a:rPr lang="en-US" altLang="ko-KR"/>
              <a:t>.</a:t>
            </a:r>
          </a:p>
          <a:p>
            <a:r>
              <a:rPr lang="ko-KR" altLang="en-US"/>
              <a:t>제가 이론 설명하는 시간보다 여러분이 직접 코드 치는 시간이 더 많습니다</a:t>
            </a:r>
            <a:r>
              <a:rPr lang="en-US" altLang="ko-KR"/>
              <a:t>. </a:t>
            </a:r>
            <a:r>
              <a:rPr lang="ko-KR" altLang="en-US" b="1"/>
              <a:t>실무 중심의 </a:t>
            </a:r>
            <a:r>
              <a:rPr lang="ko-KR" altLang="en-US" b="1" err="1"/>
              <a:t>핸즈온</a:t>
            </a:r>
            <a:r>
              <a:rPr lang="ko-KR" altLang="en-US" b="1"/>
              <a:t> 워크샵</a:t>
            </a:r>
            <a:r>
              <a:rPr lang="ko-KR" altLang="en-US"/>
              <a:t> 형태예요</a:t>
            </a:r>
            <a:r>
              <a:rPr lang="en-US" altLang="ko-KR"/>
              <a:t>.</a:t>
            </a:r>
          </a:p>
          <a:p>
            <a:r>
              <a:rPr lang="ko-KR" altLang="en-US"/>
              <a:t>그냥 듣고 끝나는 교육이 아니라</a:t>
            </a:r>
            <a:r>
              <a:rPr lang="en-US" altLang="ko-KR"/>
              <a:t>, </a:t>
            </a:r>
            <a:r>
              <a:rPr lang="ko-KR" altLang="en-US"/>
              <a:t>직접 해보시면서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이렇게 하는 거구나</a:t>
            </a:r>
            <a:r>
              <a:rPr lang="en-US" altLang="ko-KR"/>
              <a:t>" </a:t>
            </a:r>
            <a:r>
              <a:rPr lang="ko-KR" altLang="en-US"/>
              <a:t>체득하시는 게 목표입니다</a:t>
            </a:r>
            <a:r>
              <a:rPr lang="en-US" altLang="ko-KR"/>
              <a:t>.</a:t>
            </a:r>
          </a:p>
          <a:p>
            <a:r>
              <a:rPr lang="ko-KR" altLang="en-US"/>
              <a:t>그래서 실습 시간에 막히는 부분 있으시면 바로바로 손 들어주세요</a:t>
            </a:r>
            <a:r>
              <a:rPr lang="en-US" altLang="ko-KR"/>
              <a:t>. </a:t>
            </a:r>
            <a:r>
              <a:rPr lang="ko-KR" altLang="en-US"/>
              <a:t>혼자 끙끙대시지 마시고요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도구</a:t>
            </a:r>
          </a:p>
          <a:p>
            <a:r>
              <a:rPr lang="ko-KR" altLang="en-US" b="1"/>
              <a:t>교육 도구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우리가 사용할 </a:t>
            </a:r>
            <a:r>
              <a:rPr lang="ko-KR" altLang="en-US" err="1"/>
              <a:t>툴들이에요</a:t>
            </a:r>
            <a:r>
              <a:rPr lang="en-US" altLang="ko-KR"/>
              <a:t>.</a:t>
            </a:r>
          </a:p>
          <a:p>
            <a:r>
              <a:rPr lang="ko-KR" altLang="en-US"/>
              <a:t>기본적으로 </a:t>
            </a:r>
            <a:r>
              <a:rPr lang="en-US" altLang="ko-KR" b="1"/>
              <a:t>Visual Studio</a:t>
            </a:r>
            <a:r>
              <a:rPr lang="ko-KR" altLang="en-US"/>
              <a:t>와 </a:t>
            </a:r>
            <a:r>
              <a:rPr lang="en-US" altLang="ko-KR" b="1"/>
              <a:t>.NET</a:t>
            </a:r>
            <a:r>
              <a:rPr lang="ko-KR" altLang="en-US"/>
              <a:t> 환경에서 진행됩니다</a:t>
            </a:r>
            <a:r>
              <a:rPr lang="en-US" altLang="ko-KR"/>
              <a:t>. </a:t>
            </a:r>
            <a:r>
              <a:rPr lang="ko-KR" altLang="en-US"/>
              <a:t>테스트 프레임워크는 </a:t>
            </a:r>
            <a:r>
              <a:rPr lang="en-US" altLang="ko-KR" b="1" err="1"/>
              <a:t>NUnit</a:t>
            </a:r>
            <a:r>
              <a:rPr lang="ko-KR" altLang="en-US"/>
              <a:t>과 </a:t>
            </a:r>
            <a:r>
              <a:rPr lang="en-US" altLang="ko-KR" b="1" err="1"/>
              <a:t>xUnit</a:t>
            </a:r>
            <a:r>
              <a:rPr lang="ko-KR" altLang="en-US"/>
              <a:t> 둘 다 다루는데</a:t>
            </a:r>
            <a:r>
              <a:rPr lang="en-US" altLang="ko-KR"/>
              <a:t>, </a:t>
            </a:r>
            <a:r>
              <a:rPr lang="ko-KR" altLang="en-US"/>
              <a:t>주로 </a:t>
            </a:r>
            <a:r>
              <a:rPr lang="en-US" altLang="ko-KR" err="1"/>
              <a:t>NUnit</a:t>
            </a:r>
            <a:r>
              <a:rPr lang="en-US" altLang="ko-KR"/>
              <a:t> </a:t>
            </a:r>
            <a:r>
              <a:rPr lang="ko-KR" altLang="en-US"/>
              <a:t>위주로 실습합니다</a:t>
            </a:r>
            <a:r>
              <a:rPr lang="en-US" altLang="ko-KR"/>
              <a:t>.</a:t>
            </a:r>
          </a:p>
          <a:p>
            <a:r>
              <a:rPr lang="en-US" altLang="ko-KR"/>
              <a:t>Mock </a:t>
            </a:r>
            <a:r>
              <a:rPr lang="ko-KR" altLang="en-US"/>
              <a:t>라이브러리는 </a:t>
            </a:r>
            <a:r>
              <a:rPr lang="en-US" altLang="ko-KR" b="1" err="1"/>
              <a:t>Moq</a:t>
            </a:r>
            <a:r>
              <a:rPr lang="ko-KR" altLang="en-US"/>
              <a:t>를 사용하고요</a:t>
            </a:r>
            <a:r>
              <a:rPr lang="en-US" altLang="ko-KR"/>
              <a:t>, CI/CD </a:t>
            </a:r>
            <a:r>
              <a:rPr lang="ko-KR" altLang="en-US"/>
              <a:t>파이프라인 구축할 때 </a:t>
            </a:r>
            <a:r>
              <a:rPr lang="en-US" altLang="ko-KR" b="1"/>
              <a:t>GitHub Actions</a:t>
            </a:r>
            <a:r>
              <a:rPr lang="ko-KR" altLang="en-US"/>
              <a:t> 씁니다</a:t>
            </a:r>
            <a:r>
              <a:rPr lang="en-US" altLang="ko-KR"/>
              <a:t>. </a:t>
            </a:r>
            <a:r>
              <a:rPr lang="ko-KR" altLang="en-US"/>
              <a:t>코드 커버리지 리포트는 </a:t>
            </a:r>
            <a:r>
              <a:rPr lang="en-US" altLang="ko-KR" b="1" err="1"/>
              <a:t>ReportGenerator</a:t>
            </a:r>
            <a:r>
              <a:rPr lang="ko-KR" altLang="en-US"/>
              <a:t>로 만들어볼 겁니다</a:t>
            </a:r>
            <a:r>
              <a:rPr lang="en-US" altLang="ko-KR"/>
              <a:t>.</a:t>
            </a:r>
          </a:p>
          <a:p>
            <a:r>
              <a:rPr lang="ko-KR" altLang="en-US"/>
              <a:t>혹시 </a:t>
            </a:r>
            <a:r>
              <a:rPr lang="en-US" altLang="ko-KR"/>
              <a:t>Visual Studio </a:t>
            </a:r>
            <a:r>
              <a:rPr lang="ko-KR" altLang="en-US"/>
              <a:t>설치 안 되신 분 </a:t>
            </a:r>
            <a:r>
              <a:rPr lang="ko-KR" altLang="en-US" err="1"/>
              <a:t>계신가요</a:t>
            </a:r>
            <a:r>
              <a:rPr lang="en-US" altLang="ko-KR"/>
              <a:t>? </a:t>
            </a:r>
            <a:r>
              <a:rPr lang="ko-KR" altLang="en-US"/>
              <a:t>지금 바로 말씀해주시면 설치 도와드리겠습니다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목표</a:t>
            </a:r>
          </a:p>
          <a:p>
            <a:r>
              <a:rPr lang="ko-KR" altLang="en-US"/>
              <a:t>마지막으로 </a:t>
            </a:r>
            <a:r>
              <a:rPr lang="ko-KR" altLang="en-US" b="1"/>
              <a:t>교육 목표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가장 중요한 부분이죠</a:t>
            </a:r>
            <a:r>
              <a:rPr lang="en-US" altLang="ko-KR"/>
              <a:t>.</a:t>
            </a:r>
          </a:p>
          <a:p>
            <a:r>
              <a:rPr lang="ko-KR" altLang="en-US"/>
              <a:t>읽어드리면</a:t>
            </a:r>
            <a:r>
              <a:rPr lang="en-US" altLang="ko-KR"/>
              <a:t>,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단위테스트와 </a:t>
            </a:r>
            <a:r>
              <a:rPr lang="en-US" altLang="ko-KR" i="1"/>
              <a:t>TDD </a:t>
            </a:r>
            <a:r>
              <a:rPr lang="ko-KR" altLang="en-US" i="1"/>
              <a:t>기반 개발 역량 확보를 통해 소프트웨어 품질을 높이고</a:t>
            </a:r>
            <a:r>
              <a:rPr lang="en-US" altLang="ko-KR" i="1"/>
              <a:t>, </a:t>
            </a:r>
            <a:r>
              <a:rPr lang="ko-KR" altLang="en-US" i="1"/>
              <a:t>지속적 통합 및 배포</a:t>
            </a:r>
            <a:r>
              <a:rPr lang="en-US" altLang="ko-KR" i="1"/>
              <a:t>(CI/CD) </a:t>
            </a:r>
            <a:r>
              <a:rPr lang="ko-KR" altLang="en-US" i="1"/>
              <a:t>환경에서의 테스트 자동화 구축 능력을 강화합니다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쉽게 말씀드리면 이번 교육 끝나시면 여러분이 할 수 있게 되는 것들이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교육 후 기대 효과 </a:t>
            </a:r>
            <a:r>
              <a:rPr lang="en-US" altLang="ko-KR" b="1"/>
              <a:t>(</a:t>
            </a:r>
            <a:r>
              <a:rPr lang="ko-KR" altLang="en-US" b="1"/>
              <a:t>추가 설명</a:t>
            </a:r>
            <a:r>
              <a:rPr lang="en-US" altLang="ko-KR" b="1"/>
              <a:t>)</a:t>
            </a:r>
          </a:p>
          <a:p>
            <a:r>
              <a:rPr lang="ko-KR" altLang="en-US" b="1"/>
              <a:t>첫째</a:t>
            </a:r>
            <a:r>
              <a:rPr lang="en-US" altLang="ko-KR"/>
              <a:t>, </a:t>
            </a:r>
            <a:r>
              <a:rPr lang="ko-KR" altLang="en-US"/>
              <a:t>단위테스트를 직접 작성할 수 있게 됩니다</a:t>
            </a:r>
            <a:r>
              <a:rPr lang="en-US" altLang="ko-KR"/>
              <a:t>. "</a:t>
            </a:r>
            <a:r>
              <a:rPr lang="ko-KR" altLang="en-US"/>
              <a:t>이 코드가 제대로 동작하는지</a:t>
            </a:r>
            <a:r>
              <a:rPr lang="en-US" altLang="ko-KR"/>
              <a:t>" </a:t>
            </a:r>
            <a:r>
              <a:rPr lang="ko-KR" altLang="en-US"/>
              <a:t>테스트 코드로 검증할 수 있어요</a:t>
            </a:r>
            <a:r>
              <a:rPr lang="en-US" altLang="ko-KR"/>
              <a:t>.</a:t>
            </a:r>
          </a:p>
          <a:p>
            <a:r>
              <a:rPr lang="ko-KR" altLang="en-US" b="1"/>
              <a:t>둘째</a:t>
            </a:r>
            <a:r>
              <a:rPr lang="en-US" altLang="ko-KR"/>
              <a:t>, TDD </a:t>
            </a:r>
            <a:r>
              <a:rPr lang="ko-KR" altLang="en-US"/>
              <a:t>방식으로 개발할 수 있게 됩니다</a:t>
            </a:r>
            <a:r>
              <a:rPr lang="en-US" altLang="ko-KR"/>
              <a:t>. </a:t>
            </a:r>
            <a:r>
              <a:rPr lang="ko-KR" altLang="en-US"/>
              <a:t>테스트 먼저 작성하고</a:t>
            </a:r>
            <a:r>
              <a:rPr lang="en-US" altLang="ko-KR"/>
              <a:t>, </a:t>
            </a:r>
            <a:r>
              <a:rPr lang="ko-KR" altLang="en-US"/>
              <a:t>그 테스트를 통과하는 코드를 작성하는 방식이요</a:t>
            </a:r>
            <a:r>
              <a:rPr lang="en-US" altLang="ko-KR"/>
              <a:t>. </a:t>
            </a:r>
            <a:r>
              <a:rPr lang="ko-KR" altLang="en-US"/>
              <a:t>처음엔 어색하지만</a:t>
            </a:r>
            <a:r>
              <a:rPr lang="en-US" altLang="ko-KR"/>
              <a:t>, </a:t>
            </a:r>
            <a:r>
              <a:rPr lang="ko-KR" altLang="en-US"/>
              <a:t>익숙해지면 버그가 확 줄어듭니다</a:t>
            </a:r>
            <a:r>
              <a:rPr lang="en-US" altLang="ko-KR"/>
              <a:t>.</a:t>
            </a:r>
          </a:p>
          <a:p>
            <a:r>
              <a:rPr lang="ko-KR" altLang="en-US" b="1"/>
              <a:t>셋째</a:t>
            </a:r>
            <a:r>
              <a:rPr lang="en-US" altLang="ko-KR"/>
              <a:t>, CI/CD </a:t>
            </a:r>
            <a:r>
              <a:rPr lang="ko-KR" altLang="en-US"/>
              <a:t>파이프라인에 테스트를 연동할 수 있게 됩니다</a:t>
            </a:r>
            <a:r>
              <a:rPr lang="en-US" altLang="ko-KR"/>
              <a:t>. </a:t>
            </a:r>
            <a:r>
              <a:rPr lang="ko-KR" altLang="en-US"/>
              <a:t>코드 </a:t>
            </a:r>
            <a:r>
              <a:rPr lang="ko-KR" altLang="en-US" err="1"/>
              <a:t>푸시하면</a:t>
            </a:r>
            <a:r>
              <a:rPr lang="ko-KR" altLang="en-US"/>
              <a:t> 자동으로 테스트 돌아가고</a:t>
            </a:r>
            <a:r>
              <a:rPr lang="en-US" altLang="ko-KR"/>
              <a:t>, </a:t>
            </a:r>
            <a:r>
              <a:rPr lang="ko-KR" altLang="en-US"/>
              <a:t>결과 알려주는 환경을 직접 </a:t>
            </a:r>
            <a:r>
              <a:rPr lang="ko-KR" altLang="en-US" err="1"/>
              <a:t>구축해보실</a:t>
            </a:r>
            <a:r>
              <a:rPr lang="ko-KR" altLang="en-US"/>
              <a:t> 겁니다</a:t>
            </a:r>
            <a:r>
              <a:rPr lang="en-US" altLang="ko-KR"/>
              <a:t>.</a:t>
            </a:r>
          </a:p>
          <a:p>
            <a:r>
              <a:rPr lang="ko-KR" altLang="en-US"/>
              <a:t>이 세 가지만 가져가셔도 이번 교육은 성공입니다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 err="1"/>
              <a:t>클로징</a:t>
            </a:r>
            <a:endParaRPr lang="ko-KR" altLang="en-US" b="1"/>
          </a:p>
          <a:p>
            <a:r>
              <a:rPr lang="ko-KR" altLang="en-US"/>
              <a:t>교육 개요는 </a:t>
            </a:r>
            <a:r>
              <a:rPr lang="ko-KR" altLang="en-US" err="1"/>
              <a:t>여기까지입니다</a:t>
            </a:r>
            <a:r>
              <a:rPr lang="en-US" altLang="ko-KR"/>
              <a:t>.</a:t>
            </a:r>
          </a:p>
          <a:p>
            <a:r>
              <a:rPr lang="ko-KR" altLang="en-US"/>
              <a:t>정리하면</a:t>
            </a:r>
            <a:r>
              <a:rPr lang="en-US" altLang="ko-KR"/>
              <a:t>,</a:t>
            </a:r>
          </a:p>
          <a:p>
            <a:r>
              <a:rPr lang="en-US" altLang="ko-KR" b="1"/>
              <a:t>3</a:t>
            </a:r>
            <a:r>
              <a:rPr lang="ko-KR" altLang="en-US" b="1"/>
              <a:t>일간 </a:t>
            </a:r>
            <a:r>
              <a:rPr lang="en-US" altLang="ko-KR" b="1"/>
              <a:t>24</a:t>
            </a:r>
            <a:r>
              <a:rPr lang="ko-KR" altLang="en-US" b="1"/>
              <a:t>시간</a:t>
            </a:r>
            <a:endParaRPr lang="ko-KR" altLang="en-US"/>
          </a:p>
          <a:p>
            <a:r>
              <a:rPr lang="ko-KR" altLang="en-US" b="1"/>
              <a:t>실습 </a:t>
            </a:r>
            <a:r>
              <a:rPr lang="en-US" altLang="ko-KR" b="1"/>
              <a:t>60%</a:t>
            </a:r>
            <a:r>
              <a:rPr lang="ko-KR" altLang="en-US"/>
              <a:t> </a:t>
            </a:r>
            <a:r>
              <a:rPr lang="ko-KR" altLang="en-US" err="1"/>
              <a:t>핸즈온</a:t>
            </a:r>
            <a:r>
              <a:rPr lang="ko-KR" altLang="en-US"/>
              <a:t> 방식</a:t>
            </a:r>
          </a:p>
          <a:p>
            <a:r>
              <a:rPr lang="ko-KR" altLang="en-US" b="1"/>
              <a:t>테스트 작성부터 자동화까지</a:t>
            </a:r>
            <a:r>
              <a:rPr lang="ko-KR" altLang="en-US"/>
              <a:t> 전 과정 커버</a:t>
            </a:r>
          </a:p>
          <a:p>
            <a:r>
              <a:rPr lang="ko-KR" altLang="en-US"/>
              <a:t>질문 있으신 분 </a:t>
            </a:r>
            <a:r>
              <a:rPr lang="ko-KR" altLang="en-US" err="1"/>
              <a:t>계신가요</a:t>
            </a:r>
            <a:r>
              <a:rPr lang="en-US" altLang="ko-KR"/>
              <a:t>?</a:t>
            </a:r>
          </a:p>
          <a:p>
            <a:r>
              <a:rPr lang="ko-KR" altLang="en-US"/>
              <a:t>없으시면 바로 첫 번째 챕터로 넘어가겠습니다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전체 커리큘럼이 어떤 흐름으로 진행되는지 로드맵으로 보여드리겠습니다</a:t>
            </a:r>
            <a:r>
              <a:rPr lang="en-US" altLang="ko-KR"/>
              <a:t>.</a:t>
            </a:r>
          </a:p>
          <a:p>
            <a:r>
              <a:rPr lang="ko-KR" altLang="en-US"/>
              <a:t>화면에 보시면 </a:t>
            </a:r>
            <a:r>
              <a:rPr lang="en-US" altLang="ko-KR" b="1"/>
              <a:t>Step 1</a:t>
            </a:r>
            <a:r>
              <a:rPr lang="ko-KR" altLang="en-US" b="1"/>
              <a:t>부터 </a:t>
            </a:r>
            <a:r>
              <a:rPr lang="en-US" altLang="ko-KR" b="1"/>
              <a:t>Step 9</a:t>
            </a:r>
            <a:r>
              <a:rPr lang="ko-KR" altLang="en-US" b="1"/>
              <a:t>까지</a:t>
            </a:r>
            <a:r>
              <a:rPr lang="ko-KR" altLang="en-US"/>
              <a:t> 순서대로 배치되어 있는데요</a:t>
            </a:r>
            <a:r>
              <a:rPr lang="en-US" altLang="ko-KR"/>
              <a:t>, </a:t>
            </a:r>
            <a:r>
              <a:rPr lang="ko-KR" altLang="en-US"/>
              <a:t>이게 단순히 목차 나열이 아니라 </a:t>
            </a:r>
            <a:r>
              <a:rPr lang="ko-KR" altLang="en-US" b="1"/>
              <a:t>학습 경로</a:t>
            </a:r>
            <a:r>
              <a:rPr lang="ko-KR" altLang="en-US"/>
              <a:t>를 보여주는 겁니다</a:t>
            </a:r>
            <a:r>
              <a:rPr lang="en-US" altLang="ko-KR"/>
              <a:t>.</a:t>
            </a:r>
          </a:p>
          <a:p>
            <a:r>
              <a:rPr lang="ko-KR" altLang="en-US"/>
              <a:t>화살표 방향대로 따라가시면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첫 번째 줄</a:t>
            </a:r>
            <a:r>
              <a:rPr lang="en-US" altLang="ko-KR" b="1"/>
              <a:t>: </a:t>
            </a:r>
            <a:r>
              <a:rPr lang="ko-KR" altLang="en-US" b="1"/>
              <a:t>기초 다지기 </a:t>
            </a:r>
            <a:r>
              <a:rPr lang="en-US" altLang="ko-KR" b="1"/>
              <a:t>(Step 1 → 2 → 3)</a:t>
            </a:r>
          </a:p>
          <a:p>
            <a:r>
              <a:rPr lang="ko-KR" altLang="en-US"/>
              <a:t>먼저 </a:t>
            </a:r>
            <a:r>
              <a:rPr lang="ko-KR" altLang="en-US" b="1"/>
              <a:t>첫 번째 줄</a:t>
            </a:r>
            <a:r>
              <a:rPr lang="en-US" altLang="ko-KR"/>
              <a:t>, Step 1, 2, 3</a:t>
            </a:r>
            <a:r>
              <a:rPr lang="ko-KR" altLang="en-US"/>
              <a:t>을 보시죠</a:t>
            </a:r>
            <a:r>
              <a:rPr lang="en-US" altLang="ko-KR"/>
              <a:t>.</a:t>
            </a:r>
          </a:p>
          <a:p>
            <a:r>
              <a:rPr lang="en-US" altLang="ko-KR" b="1"/>
              <a:t>Step 1, </a:t>
            </a:r>
            <a:r>
              <a:rPr lang="ko-KR" altLang="en-US" b="1"/>
              <a:t>단위테스트 기초</a:t>
            </a:r>
            <a:r>
              <a:rPr lang="ko-KR" altLang="en-US"/>
              <a:t> </a:t>
            </a:r>
            <a:r>
              <a:rPr lang="en-US" altLang="ko-KR"/>
              <a:t>FIRST </a:t>
            </a:r>
            <a:r>
              <a:rPr lang="ko-KR" altLang="en-US"/>
              <a:t>원칙이 </a:t>
            </a:r>
            <a:r>
              <a:rPr lang="ko-KR" altLang="en-US" err="1"/>
              <a:t>뭔지</a:t>
            </a:r>
            <a:r>
              <a:rPr lang="en-US" altLang="ko-KR"/>
              <a:t>, TDD</a:t>
            </a:r>
            <a:r>
              <a:rPr lang="ko-KR" altLang="en-US"/>
              <a:t>가 </a:t>
            </a:r>
            <a:r>
              <a:rPr lang="ko-KR" altLang="en-US" err="1"/>
              <a:t>뭔지</a:t>
            </a:r>
            <a:r>
              <a:rPr lang="en-US" altLang="ko-KR"/>
              <a:t>, </a:t>
            </a:r>
            <a:r>
              <a:rPr lang="ko-KR" altLang="en-US"/>
              <a:t>왜 테스트를 해야 하는지 개념을 잡습니다</a:t>
            </a:r>
            <a:r>
              <a:rPr lang="en-US" altLang="ko-KR"/>
              <a:t>.</a:t>
            </a:r>
          </a:p>
          <a:p>
            <a:r>
              <a:rPr lang="en-US" altLang="ko-KR" b="1"/>
              <a:t>Step 2, C# </a:t>
            </a:r>
            <a:r>
              <a:rPr lang="ko-KR" altLang="en-US" b="1"/>
              <a:t>테스트 환경</a:t>
            </a:r>
            <a:r>
              <a:rPr lang="ko-KR" altLang="en-US"/>
              <a:t> 개념을 알았으면 환경을 </a:t>
            </a:r>
            <a:r>
              <a:rPr lang="ko-KR" altLang="en-US" err="1"/>
              <a:t>세팅해야죠</a:t>
            </a:r>
            <a:r>
              <a:rPr lang="en-US" altLang="ko-KR"/>
              <a:t>. Visual Studio</a:t>
            </a:r>
            <a:r>
              <a:rPr lang="ko-KR" altLang="en-US"/>
              <a:t>에서 </a:t>
            </a:r>
            <a:r>
              <a:rPr lang="en-US" altLang="ko-KR" err="1"/>
              <a:t>NUnit</a:t>
            </a:r>
            <a:r>
              <a:rPr lang="en-US" altLang="ko-KR"/>
              <a:t>, </a:t>
            </a:r>
            <a:r>
              <a:rPr lang="en-US" altLang="ko-KR" err="1"/>
              <a:t>xUnit</a:t>
            </a:r>
            <a:r>
              <a:rPr lang="en-US" altLang="ko-KR"/>
              <a:t> </a:t>
            </a:r>
            <a:r>
              <a:rPr lang="ko-KR" altLang="en-US"/>
              <a:t>설정하고 </a:t>
            </a:r>
            <a:r>
              <a:rPr lang="en-US" altLang="ko-KR"/>
              <a:t>Assert </a:t>
            </a:r>
            <a:r>
              <a:rPr lang="ko-KR" altLang="en-US"/>
              <a:t>사용법을 배웁니다</a:t>
            </a:r>
            <a:r>
              <a:rPr lang="en-US" altLang="ko-KR"/>
              <a:t>.</a:t>
            </a:r>
          </a:p>
          <a:p>
            <a:r>
              <a:rPr lang="en-US" altLang="ko-KR" b="1"/>
              <a:t>Step 3, </a:t>
            </a:r>
            <a:r>
              <a:rPr lang="ko-KR" altLang="en-US" b="1"/>
              <a:t>기초 실습</a:t>
            </a:r>
            <a:r>
              <a:rPr lang="ko-KR" altLang="en-US"/>
              <a:t> 바로 코드를 칩니다</a:t>
            </a:r>
            <a:r>
              <a:rPr lang="en-US" altLang="ko-KR"/>
              <a:t>. Calculator </a:t>
            </a:r>
            <a:r>
              <a:rPr lang="ko-KR" altLang="en-US"/>
              <a:t>클래스 만들고 </a:t>
            </a:r>
            <a:r>
              <a:rPr lang="en-US" altLang="ko-KR" err="1"/>
              <a:t>TestCase</a:t>
            </a:r>
            <a:r>
              <a:rPr lang="ko-KR" altLang="en-US"/>
              <a:t>로 여러 케이스를 테스트해봅니다</a:t>
            </a:r>
            <a:r>
              <a:rPr lang="en-US" altLang="ko-KR"/>
              <a:t>.</a:t>
            </a:r>
          </a:p>
          <a:p>
            <a:r>
              <a:rPr lang="ko-KR" altLang="en-US" err="1"/>
              <a:t>여기까지가</a:t>
            </a:r>
            <a:r>
              <a:rPr lang="ko-KR" altLang="en-US"/>
              <a:t> </a:t>
            </a:r>
            <a:r>
              <a:rPr lang="en-US" altLang="ko-KR" b="1"/>
              <a:t>1</a:t>
            </a:r>
            <a:r>
              <a:rPr lang="ko-KR" altLang="en-US" b="1"/>
              <a:t>일차 오전</a:t>
            </a:r>
            <a:r>
              <a:rPr lang="ko-KR" altLang="en-US"/>
              <a:t>에 끝납니다</a:t>
            </a:r>
            <a:r>
              <a:rPr lang="en-US" altLang="ko-KR"/>
              <a:t>. "</a:t>
            </a:r>
            <a:r>
              <a:rPr lang="ko-KR" altLang="en-US"/>
              <a:t>테스트 코드가 이런 거구나</a:t>
            </a:r>
            <a:r>
              <a:rPr lang="en-US" altLang="ko-KR"/>
              <a:t>" </a:t>
            </a:r>
            <a:r>
              <a:rPr lang="ko-KR" altLang="en-US"/>
              <a:t>감을 잡으시는 단계예요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두 번째 줄</a:t>
            </a:r>
            <a:r>
              <a:rPr lang="en-US" altLang="ko-KR" b="1"/>
              <a:t>: </a:t>
            </a:r>
            <a:r>
              <a:rPr lang="ko-KR" altLang="en-US" b="1"/>
              <a:t>실전 역량 </a:t>
            </a:r>
            <a:r>
              <a:rPr lang="en-US" altLang="ko-KR" b="1"/>
              <a:t>(Step 4 → 5 → 6)</a:t>
            </a:r>
          </a:p>
          <a:p>
            <a:r>
              <a:rPr lang="ko-KR" altLang="en-US"/>
              <a:t>다음 </a:t>
            </a:r>
            <a:r>
              <a:rPr lang="ko-KR" altLang="en-US" b="1"/>
              <a:t>두 번째 줄</a:t>
            </a:r>
            <a:r>
              <a:rPr lang="en-US" altLang="ko-KR"/>
              <a:t>, Step 4, 5, 6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Step 4, </a:t>
            </a:r>
            <a:r>
              <a:rPr lang="ko-KR" altLang="en-US" b="1"/>
              <a:t>의존성 처리</a:t>
            </a:r>
            <a:r>
              <a:rPr lang="en-US" altLang="ko-KR" b="1"/>
              <a:t>(</a:t>
            </a:r>
            <a:r>
              <a:rPr lang="en-US" altLang="ko-KR" b="1" err="1"/>
              <a:t>Moq</a:t>
            </a:r>
            <a:r>
              <a:rPr lang="en-US" altLang="ko-KR" b="1"/>
              <a:t>)</a:t>
            </a:r>
            <a:r>
              <a:rPr lang="ko-KR" altLang="en-US"/>
              <a:t> 실제 코드는 </a:t>
            </a:r>
            <a:r>
              <a:rPr lang="en-US" altLang="ko-KR"/>
              <a:t>DB</a:t>
            </a:r>
            <a:r>
              <a:rPr lang="ko-KR" altLang="en-US"/>
              <a:t>도 연결되어 있고</a:t>
            </a:r>
            <a:r>
              <a:rPr lang="en-US" altLang="ko-KR"/>
              <a:t>, </a:t>
            </a:r>
            <a:r>
              <a:rPr lang="ko-KR" altLang="en-US"/>
              <a:t>외부 </a:t>
            </a:r>
            <a:r>
              <a:rPr lang="en-US" altLang="ko-KR"/>
              <a:t>API</a:t>
            </a:r>
            <a:r>
              <a:rPr lang="ko-KR" altLang="en-US"/>
              <a:t>도 호출하잖아요</a:t>
            </a:r>
            <a:r>
              <a:rPr lang="en-US" altLang="ko-KR"/>
              <a:t>? </a:t>
            </a:r>
            <a:r>
              <a:rPr lang="ko-KR" altLang="en-US"/>
              <a:t>이런 </a:t>
            </a:r>
            <a:r>
              <a:rPr lang="ko-KR" altLang="en-US" b="1"/>
              <a:t>외부 의존성을 격리</a:t>
            </a:r>
            <a:r>
              <a:rPr lang="ko-KR" altLang="en-US"/>
              <a:t>해서 테스트하는 방법을 배웁니다</a:t>
            </a:r>
            <a:r>
              <a:rPr lang="en-US" altLang="ko-KR"/>
              <a:t>. </a:t>
            </a:r>
            <a:r>
              <a:rPr lang="ko-KR" altLang="en-US"/>
              <a:t>테스트 더블 </a:t>
            </a:r>
            <a:r>
              <a:rPr lang="en-US" altLang="ko-KR"/>
              <a:t>- Mock, Stub, Fake </a:t>
            </a:r>
            <a:r>
              <a:rPr lang="ko-KR" altLang="en-US"/>
              <a:t>개념이 여기서 나옵니다</a:t>
            </a:r>
            <a:r>
              <a:rPr lang="en-US" altLang="ko-KR"/>
              <a:t>.</a:t>
            </a:r>
          </a:p>
          <a:p>
            <a:r>
              <a:rPr lang="en-US" altLang="ko-KR" b="1"/>
              <a:t>Step 5, TDD </a:t>
            </a:r>
            <a:r>
              <a:rPr lang="ko-KR" altLang="en-US" b="1"/>
              <a:t>실전</a:t>
            </a:r>
            <a:r>
              <a:rPr lang="ko-KR" altLang="en-US"/>
              <a:t> 드디어 </a:t>
            </a:r>
            <a:r>
              <a:rPr lang="en-US" altLang="ko-KR"/>
              <a:t>TDD</a:t>
            </a:r>
            <a:r>
              <a:rPr lang="ko-KR" altLang="en-US"/>
              <a:t>입니다</a:t>
            </a:r>
            <a:r>
              <a:rPr lang="en-US" altLang="ko-KR"/>
              <a:t>! </a:t>
            </a:r>
            <a:r>
              <a:rPr lang="en-US" altLang="ko-KR" b="1"/>
              <a:t>Red-Green-Refactor</a:t>
            </a:r>
            <a:r>
              <a:rPr lang="ko-KR" altLang="en-US"/>
              <a:t> 사이클을 직접 경험해봅니다</a:t>
            </a:r>
            <a:r>
              <a:rPr lang="en-US" altLang="ko-KR"/>
              <a:t>. </a:t>
            </a:r>
            <a:r>
              <a:rPr lang="ko-KR" altLang="en-US"/>
              <a:t>테스트 먼저 작성하고 → 코드 작성하고 → </a:t>
            </a:r>
            <a:r>
              <a:rPr lang="ko-KR" altLang="en-US" err="1"/>
              <a:t>리팩토링하는</a:t>
            </a:r>
            <a:r>
              <a:rPr lang="ko-KR" altLang="en-US"/>
              <a:t> 그 흐름이요</a:t>
            </a:r>
            <a:r>
              <a:rPr lang="en-US" altLang="ko-KR"/>
              <a:t>.</a:t>
            </a:r>
          </a:p>
          <a:p>
            <a:r>
              <a:rPr lang="en-US" altLang="ko-KR" b="1"/>
              <a:t>Step 6, </a:t>
            </a:r>
            <a:r>
              <a:rPr lang="ko-KR" altLang="en-US" b="1"/>
              <a:t>고급 기법</a:t>
            </a:r>
            <a:r>
              <a:rPr lang="ko-KR" altLang="en-US"/>
              <a:t> 예외 테스트</a:t>
            </a:r>
            <a:r>
              <a:rPr lang="en-US" altLang="ko-KR"/>
              <a:t>, </a:t>
            </a:r>
            <a:r>
              <a:rPr lang="ko-KR" altLang="en-US"/>
              <a:t>비동기 테스트</a:t>
            </a:r>
            <a:r>
              <a:rPr lang="en-US" altLang="ko-KR"/>
              <a:t>, </a:t>
            </a:r>
            <a:r>
              <a:rPr lang="ko-KR" altLang="en-US" err="1"/>
              <a:t>경계값</a:t>
            </a:r>
            <a:r>
              <a:rPr lang="ko-KR" altLang="en-US"/>
              <a:t> 테스트 같은 심화 내용을 다룹니다</a:t>
            </a:r>
            <a:r>
              <a:rPr lang="en-US" altLang="ko-KR"/>
              <a:t>.</a:t>
            </a:r>
          </a:p>
          <a:p>
            <a:r>
              <a:rPr lang="ko-KR" altLang="en-US" err="1"/>
              <a:t>여기까지가</a:t>
            </a:r>
            <a:r>
              <a:rPr lang="ko-KR" altLang="en-US"/>
              <a:t> </a:t>
            </a:r>
            <a:r>
              <a:rPr lang="en-US" altLang="ko-KR" b="1"/>
              <a:t>1</a:t>
            </a:r>
            <a:r>
              <a:rPr lang="ko-KR" altLang="en-US" b="1"/>
              <a:t>일차 오후 </a:t>
            </a:r>
            <a:r>
              <a:rPr lang="en-US" altLang="ko-KR" b="1"/>
              <a:t>~ 2</a:t>
            </a:r>
            <a:r>
              <a:rPr lang="ko-KR" altLang="en-US" b="1"/>
              <a:t>일차 오전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 단계 끝나면 실무에서 테스트 코드 작성하는 데 문제없으실 겁니다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세 번째 줄</a:t>
            </a:r>
            <a:r>
              <a:rPr lang="en-US" altLang="ko-KR" b="1"/>
              <a:t>: </a:t>
            </a:r>
            <a:r>
              <a:rPr lang="ko-KR" altLang="en-US" b="1"/>
              <a:t>자동화와 프로젝트 </a:t>
            </a:r>
            <a:r>
              <a:rPr lang="en-US" altLang="ko-KR" b="1"/>
              <a:t>(Step 7 → 8 → 9)</a:t>
            </a:r>
          </a:p>
          <a:p>
            <a:r>
              <a:rPr lang="ko-KR" altLang="en-US"/>
              <a:t>마지막 </a:t>
            </a:r>
            <a:r>
              <a:rPr lang="ko-KR" altLang="en-US" b="1"/>
              <a:t>세 번째 줄</a:t>
            </a:r>
            <a:r>
              <a:rPr lang="en-US" altLang="ko-KR"/>
              <a:t>, Step 7, 8, 9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 b="1"/>
              <a:t>코드 커버리지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왼쪽에 </a:t>
            </a:r>
            <a:r>
              <a:rPr lang="en-US" altLang="ko-KR"/>
              <a:t>Step </a:t>
            </a:r>
            <a:r>
              <a:rPr lang="ko-KR" altLang="en-US"/>
              <a:t>번호가 </a:t>
            </a:r>
            <a:r>
              <a:rPr lang="ko-KR" altLang="en-US" err="1"/>
              <a:t>빠져있는데</a:t>
            </a:r>
            <a:r>
              <a:rPr lang="ko-KR" altLang="en-US"/>
              <a:t> </a:t>
            </a:r>
            <a:r>
              <a:rPr lang="en-US" altLang="ko-KR"/>
              <a:t>Step 7</a:t>
            </a:r>
            <a:r>
              <a:rPr lang="ko-KR" altLang="en-US"/>
              <a:t>입니다</a:t>
            </a:r>
            <a:r>
              <a:rPr lang="en-US" altLang="ko-KR"/>
              <a:t>) </a:t>
            </a:r>
            <a:r>
              <a:rPr lang="en-US" altLang="ko-KR" err="1"/>
              <a:t>ReportGenerator</a:t>
            </a:r>
            <a:r>
              <a:rPr lang="ko-KR" altLang="en-US"/>
              <a:t>로 커버리지 리포트 만들고</a:t>
            </a:r>
            <a:r>
              <a:rPr lang="en-US" altLang="ko-KR"/>
              <a:t>, </a:t>
            </a:r>
            <a:r>
              <a:rPr lang="ko-KR" altLang="en-US"/>
              <a:t>품질 분석하는 방법을 배웁니다</a:t>
            </a:r>
            <a:r>
              <a:rPr lang="en-US" altLang="ko-KR"/>
              <a:t>. "</a:t>
            </a:r>
            <a:r>
              <a:rPr lang="ko-KR" altLang="en-US"/>
              <a:t>내 테스트가 코드를 얼마나 커버하고 있는가</a:t>
            </a:r>
            <a:r>
              <a:rPr lang="en-US" altLang="ko-KR"/>
              <a:t>" </a:t>
            </a:r>
            <a:r>
              <a:rPr lang="ko-KR" altLang="en-US"/>
              <a:t>수치로 확인하는 거죠</a:t>
            </a:r>
            <a:r>
              <a:rPr lang="en-US" altLang="ko-KR"/>
              <a:t>.</a:t>
            </a:r>
          </a:p>
          <a:p>
            <a:r>
              <a:rPr lang="en-US" altLang="ko-KR" b="1"/>
              <a:t>Step 8, CI/CD </a:t>
            </a:r>
            <a:r>
              <a:rPr lang="ko-KR" altLang="en-US" b="1"/>
              <a:t>자동화</a:t>
            </a:r>
            <a:r>
              <a:rPr lang="ko-KR" altLang="en-US"/>
              <a:t> </a:t>
            </a:r>
            <a:r>
              <a:rPr lang="en-US" altLang="ko-KR"/>
              <a:t>GitHub Actions</a:t>
            </a:r>
            <a:r>
              <a:rPr lang="ko-KR" altLang="en-US"/>
              <a:t>로 파이프라인 구축합니다</a:t>
            </a:r>
            <a:r>
              <a:rPr lang="en-US" altLang="ko-KR"/>
              <a:t>. </a:t>
            </a:r>
            <a:r>
              <a:rPr lang="ko-KR" altLang="en-US"/>
              <a:t>코드 </a:t>
            </a:r>
            <a:r>
              <a:rPr lang="ko-KR" altLang="en-US" err="1"/>
              <a:t>푸시하면</a:t>
            </a:r>
            <a:r>
              <a:rPr lang="ko-KR" altLang="en-US"/>
              <a:t> 자동으로 테스트 돌아가게 만드는 거예요</a:t>
            </a:r>
            <a:r>
              <a:rPr lang="en-US" altLang="ko-KR"/>
              <a:t>. </a:t>
            </a:r>
            <a:r>
              <a:rPr lang="ko-KR" altLang="en-US"/>
              <a:t>이거 한번 세팅해두면 정말 편합니다</a:t>
            </a:r>
            <a:r>
              <a:rPr lang="en-US" altLang="ko-KR"/>
              <a:t>.</a:t>
            </a:r>
          </a:p>
          <a:p>
            <a:r>
              <a:rPr lang="en-US" altLang="ko-KR" b="1"/>
              <a:t>Step 9, </a:t>
            </a:r>
            <a:r>
              <a:rPr lang="ko-KR" altLang="en-US" b="1"/>
              <a:t>종합 프로젝트</a:t>
            </a:r>
            <a:r>
              <a:rPr lang="ko-KR" altLang="en-US"/>
              <a:t> 마지막입니다</a:t>
            </a:r>
            <a:r>
              <a:rPr lang="en-US" altLang="ko-KR"/>
              <a:t>. </a:t>
            </a:r>
            <a:r>
              <a:rPr lang="ko-KR" altLang="en-US"/>
              <a:t>지금까지 배운 모든 것을 총동원해서 </a:t>
            </a:r>
            <a:r>
              <a:rPr lang="ko-KR" altLang="en-US" b="1"/>
              <a:t>팀별 </a:t>
            </a:r>
            <a:r>
              <a:rPr lang="en-US" altLang="ko-KR" b="1"/>
              <a:t>TDD </a:t>
            </a:r>
            <a:r>
              <a:rPr lang="ko-KR" altLang="en-US" b="1"/>
              <a:t>프로젝트</a:t>
            </a:r>
            <a:r>
              <a:rPr lang="ko-KR" altLang="en-US"/>
              <a:t>를 진행합니다</a:t>
            </a:r>
            <a:r>
              <a:rPr lang="en-US" altLang="ko-KR"/>
              <a:t>. </a:t>
            </a:r>
            <a:r>
              <a:rPr lang="ko-KR" altLang="en-US"/>
              <a:t>실제로 처음부터 끝까지 </a:t>
            </a:r>
            <a:r>
              <a:rPr lang="en-US" altLang="ko-KR"/>
              <a:t>TDD</a:t>
            </a:r>
            <a:r>
              <a:rPr lang="ko-KR" altLang="en-US"/>
              <a:t>로 </a:t>
            </a:r>
            <a:r>
              <a:rPr lang="ko-KR" altLang="en-US" err="1"/>
              <a:t>개발해보시고</a:t>
            </a:r>
            <a:r>
              <a:rPr lang="en-US" altLang="ko-KR"/>
              <a:t>, </a:t>
            </a:r>
            <a:r>
              <a:rPr lang="ko-KR" altLang="en-US"/>
              <a:t>서로 </a:t>
            </a:r>
            <a:r>
              <a:rPr lang="ko-KR" altLang="en-US" b="1"/>
              <a:t>코드 리뷰</a:t>
            </a:r>
            <a:r>
              <a:rPr lang="ko-KR" altLang="en-US"/>
              <a:t>도 해봅니다</a:t>
            </a:r>
            <a:r>
              <a:rPr lang="en-US" altLang="ko-KR"/>
              <a:t>.</a:t>
            </a:r>
          </a:p>
          <a:p>
            <a:r>
              <a:rPr lang="ko-KR" altLang="en-US"/>
              <a:t>여기가 </a:t>
            </a:r>
            <a:r>
              <a:rPr lang="en-US" altLang="ko-KR" b="1"/>
              <a:t>2</a:t>
            </a:r>
            <a:r>
              <a:rPr lang="ko-KR" altLang="en-US" b="1"/>
              <a:t>일차 오후 </a:t>
            </a:r>
            <a:r>
              <a:rPr lang="en-US" altLang="ko-KR" b="1"/>
              <a:t>~ 3</a:t>
            </a:r>
            <a:r>
              <a:rPr lang="ko-KR" altLang="en-US" b="1"/>
              <a:t>일차</a:t>
            </a:r>
            <a:r>
              <a:rPr lang="ko-KR" altLang="en-US"/>
              <a:t> 내용입니다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로드맵 흐름 정리</a:t>
            </a:r>
          </a:p>
          <a:p>
            <a:r>
              <a:rPr lang="ko-KR" altLang="en-US"/>
              <a:t>전체 흐름을 다시 </a:t>
            </a:r>
            <a:r>
              <a:rPr lang="ko-KR" altLang="en-US" err="1"/>
              <a:t>정리하면요</a:t>
            </a:r>
            <a:r>
              <a:rPr lang="en-US" altLang="ko-KR"/>
              <a:t>,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기초 개념 → 환경 설정 → 기초 실습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↓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의존성 처리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→ 고급 기법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↓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커버리지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→ 종합 프로젝트</a:t>
            </a:r>
          </a:p>
          <a:p>
            <a:r>
              <a:rPr lang="ko-KR" altLang="en-US"/>
              <a:t>이렇게 </a:t>
            </a:r>
            <a:r>
              <a:rPr lang="ko-KR" altLang="en-US" b="1"/>
              <a:t>기초부터 실전 역량까지 단계적으로</a:t>
            </a:r>
            <a:r>
              <a:rPr lang="ko-KR" altLang="en-US"/>
              <a:t> 올라가는 구조입니다</a:t>
            </a:r>
            <a:r>
              <a:rPr lang="en-US" altLang="ko-KR"/>
              <a:t>.</a:t>
            </a:r>
          </a:p>
          <a:p>
            <a:r>
              <a:rPr lang="ko-KR" altLang="en-US"/>
              <a:t>앞 단계를 제대로 이해해야 다음 단계가 수월해요</a:t>
            </a:r>
            <a:r>
              <a:rPr lang="en-US" altLang="ko-KR"/>
              <a:t>. </a:t>
            </a:r>
            <a:r>
              <a:rPr lang="ko-KR" altLang="en-US"/>
              <a:t>그래서 실습 시간에 이해 안 되는 부분 있으시면 꼭 질문해주세요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하단 메시지 강조</a:t>
            </a:r>
          </a:p>
          <a:p>
            <a:r>
              <a:rPr lang="ko-KR" altLang="en-US"/>
              <a:t>화면 하단에 보시면 이런 문구가 있습니다</a:t>
            </a:r>
            <a:r>
              <a:rPr lang="en-US" altLang="ko-KR"/>
              <a:t>.</a:t>
            </a:r>
          </a:p>
          <a:p>
            <a:r>
              <a:rPr lang="en-US" altLang="ko-KR" b="1"/>
              <a:t>"</a:t>
            </a:r>
            <a:r>
              <a:rPr lang="ko-KR" altLang="en-US" b="1"/>
              <a:t>실무 이관 중심 설계</a:t>
            </a:r>
            <a:r>
              <a:rPr lang="en-US" altLang="ko-KR" b="1"/>
              <a:t>: </a:t>
            </a:r>
            <a:r>
              <a:rPr lang="ko-KR" altLang="en-US" b="1"/>
              <a:t>기초부터 실전 역량을 단계적으로 강화</a:t>
            </a:r>
            <a:r>
              <a:rPr lang="en-US" altLang="ko-KR" b="1"/>
              <a:t>"</a:t>
            </a:r>
            <a:endParaRPr lang="ko-KR" altLang="en-US"/>
          </a:p>
          <a:p>
            <a:r>
              <a:rPr lang="ko-KR" altLang="en-US"/>
              <a:t>이게 이번 교육의 핵심 철학입니다</a:t>
            </a:r>
            <a:r>
              <a:rPr lang="en-US" altLang="ko-KR"/>
              <a:t>.</a:t>
            </a:r>
          </a:p>
          <a:p>
            <a:r>
              <a:rPr lang="ko-KR" altLang="en-US"/>
              <a:t>그냥 </a:t>
            </a:r>
            <a:r>
              <a:rPr lang="en-US" altLang="ko-KR"/>
              <a:t>"</a:t>
            </a:r>
            <a:r>
              <a:rPr lang="ko-KR" altLang="en-US"/>
              <a:t>테스트 이론</a:t>
            </a:r>
            <a:r>
              <a:rPr lang="en-US" altLang="ko-KR"/>
              <a:t>" </a:t>
            </a:r>
            <a:r>
              <a:rPr lang="ko-KR" altLang="en-US"/>
              <a:t>배우는 게 아니라</a:t>
            </a:r>
            <a:r>
              <a:rPr lang="en-US" altLang="ko-KR"/>
              <a:t>, </a:t>
            </a:r>
            <a:r>
              <a:rPr lang="ko-KR" altLang="en-US"/>
              <a:t>교육 끝나고 </a:t>
            </a:r>
            <a:r>
              <a:rPr lang="ko-KR" altLang="en-US" b="1"/>
              <a:t>바로 실무에서 쓸 수 있는 역량</a:t>
            </a:r>
            <a:r>
              <a:rPr lang="ko-KR" altLang="en-US"/>
              <a:t>을 가져가시도록 설계했습니다</a:t>
            </a:r>
            <a:r>
              <a:rPr lang="en-US" altLang="ko-KR"/>
              <a:t>.</a:t>
            </a:r>
          </a:p>
          <a:p>
            <a:r>
              <a:rPr lang="en-US" altLang="ko-KR"/>
              <a:t>3</a:t>
            </a:r>
            <a:r>
              <a:rPr lang="ko-KR" altLang="en-US"/>
              <a:t>일 후에는 여러분 프로젝트에 테스트 코드 추가하시고</a:t>
            </a:r>
            <a:r>
              <a:rPr lang="en-US" altLang="ko-KR"/>
              <a:t>, CI/CD </a:t>
            </a:r>
            <a:r>
              <a:rPr lang="ko-KR" altLang="en-US"/>
              <a:t>파이프라인도 직접 구축하실 수 있게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 err="1"/>
              <a:t>클로징</a:t>
            </a:r>
            <a:endParaRPr lang="ko-KR" altLang="en-US" b="1"/>
          </a:p>
          <a:p>
            <a:r>
              <a:rPr lang="ko-KR" altLang="en-US"/>
              <a:t>로드맵 설명은 </a:t>
            </a:r>
            <a:r>
              <a:rPr lang="ko-KR" altLang="en-US" err="1"/>
              <a:t>여기까지입니다</a:t>
            </a:r>
            <a:r>
              <a:rPr lang="en-US" altLang="ko-KR"/>
              <a:t>.</a:t>
            </a:r>
          </a:p>
          <a:p>
            <a:r>
              <a:rPr lang="ko-KR" altLang="en-US"/>
              <a:t>큰 그림을 머릿속에 넣어두시고요</a:t>
            </a:r>
            <a:r>
              <a:rPr lang="en-US" altLang="ko-KR"/>
              <a:t>, </a:t>
            </a:r>
            <a:r>
              <a:rPr lang="ko-KR" altLang="en-US"/>
              <a:t>지금 우리가 어디에 있는지 중간중간 체크하면서 가겠습니다</a:t>
            </a:r>
            <a:r>
              <a:rPr lang="en-US" altLang="ko-KR"/>
              <a:t>.</a:t>
            </a:r>
          </a:p>
          <a:p>
            <a:r>
              <a:rPr lang="ko-KR" altLang="en-US"/>
              <a:t>그럼 </a:t>
            </a:r>
            <a:r>
              <a:rPr lang="en-US" altLang="ko-KR" b="1"/>
              <a:t>Step 1, </a:t>
            </a:r>
            <a:r>
              <a:rPr lang="ko-KR" altLang="en-US" b="1"/>
              <a:t>단위테스트 기초</a:t>
            </a:r>
            <a:r>
              <a:rPr lang="ko-KR" altLang="en-US"/>
              <a:t>부터 시작하겠습니다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🎤 강사 멘트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본격적으로 첫 번째 주제입니다</a:t>
            </a:r>
            <a:r>
              <a:rPr lang="en-US" altLang="ko-KR"/>
              <a:t>.</a:t>
            </a:r>
          </a:p>
          <a:p>
            <a:r>
              <a:rPr lang="en-US" altLang="ko-KR" b="1"/>
              <a:t>"</a:t>
            </a:r>
            <a:r>
              <a:rPr lang="ko-KR" altLang="en-US" b="1" err="1"/>
              <a:t>단위테스트란</a:t>
            </a:r>
            <a:r>
              <a:rPr lang="ko-KR" altLang="en-US" b="1"/>
              <a:t> 무엇인가</a:t>
            </a:r>
            <a:r>
              <a:rPr lang="en-US" altLang="ko-KR" b="1"/>
              <a:t>?"</a:t>
            </a:r>
            <a:endParaRPr lang="ko-KR" altLang="en-US"/>
          </a:p>
          <a:p>
            <a:r>
              <a:rPr lang="ko-KR" altLang="en-US"/>
              <a:t>이미 알고 계신 분도 계시겠지만</a:t>
            </a:r>
            <a:r>
              <a:rPr lang="en-US" altLang="ko-KR"/>
              <a:t>, </a:t>
            </a:r>
            <a:r>
              <a:rPr lang="ko-KR" altLang="en-US"/>
              <a:t>한번 정확히 정의하고 넘어가겠습니다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정의</a:t>
            </a:r>
          </a:p>
          <a:p>
            <a:r>
              <a:rPr lang="ko-KR" altLang="en-US"/>
              <a:t>화면 상단에 정의가 나와있습니다</a:t>
            </a:r>
            <a:r>
              <a:rPr lang="en-US" altLang="ko-KR"/>
              <a:t>. </a:t>
            </a:r>
            <a:r>
              <a:rPr lang="ko-KR" altLang="en-US"/>
              <a:t>같이 </a:t>
            </a:r>
            <a:r>
              <a:rPr lang="ko-KR" altLang="en-US" err="1"/>
              <a:t>읽어볼게요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단위테스트는 소프트웨어의 최소 단위</a:t>
            </a:r>
            <a:r>
              <a:rPr lang="en-US" altLang="ko-KR" i="1"/>
              <a:t>(</a:t>
            </a:r>
            <a:r>
              <a:rPr lang="ko-KR" altLang="en-US" i="1"/>
              <a:t>함수</a:t>
            </a:r>
            <a:r>
              <a:rPr lang="en-US" altLang="ko-KR" i="1"/>
              <a:t>/</a:t>
            </a:r>
            <a:r>
              <a:rPr lang="ko-KR" altLang="en-US" i="1"/>
              <a:t>메서드</a:t>
            </a:r>
            <a:r>
              <a:rPr lang="en-US" altLang="ko-KR" i="1"/>
              <a:t>)</a:t>
            </a:r>
            <a:r>
              <a:rPr lang="ko-KR" altLang="en-US" i="1"/>
              <a:t>를 격리된 환경에서 검증하는 테스트입니다</a:t>
            </a:r>
            <a:r>
              <a:rPr lang="en-US" altLang="ko-KR" i="1"/>
              <a:t>. </a:t>
            </a:r>
            <a:r>
              <a:rPr lang="ko-KR" altLang="en-US" i="1"/>
              <a:t>코드가 의도대로 작동하는지 확인하는 자동화된 테스트 코드를 작성해 반복 실행합니다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여기서 핵심 키워드 세 가지를 </a:t>
            </a:r>
            <a:r>
              <a:rPr lang="ko-KR" altLang="en-US" err="1"/>
              <a:t>짚어드릴게요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핵심 키워드 설명</a:t>
            </a:r>
          </a:p>
          <a:p>
            <a:r>
              <a:rPr lang="ko-KR" altLang="en-US" b="1"/>
              <a:t>첫째</a:t>
            </a:r>
            <a:r>
              <a:rPr lang="en-US" altLang="ko-KR" b="1"/>
              <a:t>, "</a:t>
            </a:r>
            <a:r>
              <a:rPr lang="ko-KR" altLang="en-US" b="1"/>
              <a:t>최소 단위</a:t>
            </a:r>
            <a:r>
              <a:rPr lang="en-US" altLang="ko-KR" b="1"/>
              <a:t>"</a:t>
            </a:r>
            <a:endParaRPr lang="ko-KR" altLang="en-US"/>
          </a:p>
          <a:p>
            <a:r>
              <a:rPr lang="ko-KR" altLang="en-US"/>
              <a:t>단위테스트의 </a:t>
            </a:r>
            <a:r>
              <a:rPr lang="en-US" altLang="ko-KR"/>
              <a:t>"</a:t>
            </a:r>
            <a:r>
              <a:rPr lang="ko-KR" altLang="en-US"/>
              <a:t>단위</a:t>
            </a:r>
            <a:r>
              <a:rPr lang="en-US" altLang="ko-KR"/>
              <a:t>"</a:t>
            </a:r>
            <a:r>
              <a:rPr lang="ko-KR" altLang="en-US"/>
              <a:t>가 </a:t>
            </a:r>
            <a:r>
              <a:rPr lang="ko-KR" altLang="en-US" err="1"/>
              <a:t>뭘까요</a:t>
            </a:r>
            <a:r>
              <a:rPr lang="en-US" altLang="ko-KR"/>
              <a:t>? </a:t>
            </a:r>
            <a:r>
              <a:rPr lang="ko-KR" altLang="en-US"/>
              <a:t>함수 하나</a:t>
            </a:r>
            <a:r>
              <a:rPr lang="en-US" altLang="ko-KR"/>
              <a:t>, </a:t>
            </a:r>
            <a:r>
              <a:rPr lang="ko-KR" altLang="en-US"/>
              <a:t>메서드 하나입니다</a:t>
            </a:r>
            <a:r>
              <a:rPr lang="en-US" altLang="ko-KR"/>
              <a:t>. </a:t>
            </a:r>
            <a:r>
              <a:rPr lang="ko-KR" altLang="en-US"/>
              <a:t>전체 시스템을 테스트하는 게 아니라</a:t>
            </a:r>
            <a:r>
              <a:rPr lang="en-US" altLang="ko-KR"/>
              <a:t>, </a:t>
            </a:r>
            <a:r>
              <a:rPr lang="ko-KR" altLang="en-US" b="1"/>
              <a:t>가장 작은 조각 하나</a:t>
            </a:r>
            <a:r>
              <a:rPr lang="ko-KR" altLang="en-US"/>
              <a:t>를 테스트하는 거예요</a:t>
            </a:r>
            <a:r>
              <a:rPr lang="en-US" altLang="ko-KR"/>
              <a:t>.</a:t>
            </a:r>
          </a:p>
          <a:p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계산기 프로그램이면 </a:t>
            </a:r>
            <a:r>
              <a:rPr lang="en-US" altLang="ko-KR"/>
              <a:t>"</a:t>
            </a:r>
            <a:r>
              <a:rPr lang="ko-KR" altLang="en-US"/>
              <a:t>덧셈 기능만</a:t>
            </a:r>
            <a:r>
              <a:rPr lang="en-US" altLang="ko-KR"/>
              <a:t>" </a:t>
            </a:r>
            <a:r>
              <a:rPr lang="ko-KR" altLang="en-US"/>
              <a:t>따로 테스트하는 겁니다</a:t>
            </a:r>
            <a:r>
              <a:rPr lang="en-US" altLang="ko-KR"/>
              <a:t>. "</a:t>
            </a:r>
            <a:r>
              <a:rPr lang="ko-KR" altLang="en-US"/>
              <a:t>계산기 전체가 잘 동작하나</a:t>
            </a:r>
            <a:r>
              <a:rPr lang="en-US" altLang="ko-KR"/>
              <a:t>?"</a:t>
            </a:r>
            <a:r>
              <a:rPr lang="ko-KR" altLang="en-US"/>
              <a:t>가 아니라 </a:t>
            </a:r>
            <a:r>
              <a:rPr lang="en-US" altLang="ko-KR"/>
              <a:t>"Add </a:t>
            </a:r>
            <a:r>
              <a:rPr lang="ko-KR" altLang="en-US"/>
              <a:t>메서드가 제대로 동작하나</a:t>
            </a:r>
            <a:r>
              <a:rPr lang="en-US" altLang="ko-KR"/>
              <a:t>?" </a:t>
            </a:r>
            <a:r>
              <a:rPr lang="ko-KR" altLang="en-US" err="1"/>
              <a:t>이거예요</a:t>
            </a:r>
            <a:r>
              <a:rPr lang="en-US" altLang="ko-KR"/>
              <a:t>.</a:t>
            </a:r>
          </a:p>
          <a:p>
            <a:r>
              <a:rPr lang="ko-KR" altLang="en-US" b="1"/>
              <a:t>둘째</a:t>
            </a:r>
            <a:r>
              <a:rPr lang="en-US" altLang="ko-KR" b="1"/>
              <a:t>, "</a:t>
            </a:r>
            <a:r>
              <a:rPr lang="ko-KR" altLang="en-US" b="1"/>
              <a:t>격리된 환경</a:t>
            </a:r>
            <a:r>
              <a:rPr lang="en-US" altLang="ko-KR" b="1"/>
              <a:t>"</a:t>
            </a:r>
            <a:endParaRPr lang="ko-KR" altLang="en-US"/>
          </a:p>
          <a:p>
            <a:r>
              <a:rPr lang="ko-KR" altLang="en-US"/>
              <a:t>이게 중요합니다</a:t>
            </a:r>
            <a:r>
              <a:rPr lang="en-US" altLang="ko-KR"/>
              <a:t>. </a:t>
            </a:r>
            <a:r>
              <a:rPr lang="ko-KR" altLang="en-US"/>
              <a:t>테스트할 때 </a:t>
            </a:r>
            <a:r>
              <a:rPr lang="en-US" altLang="ko-KR" b="1"/>
              <a:t>DB </a:t>
            </a:r>
            <a:r>
              <a:rPr lang="ko-KR" altLang="en-US" b="1"/>
              <a:t>연결하고</a:t>
            </a:r>
            <a:r>
              <a:rPr lang="en-US" altLang="ko-KR" b="1"/>
              <a:t>, </a:t>
            </a:r>
            <a:r>
              <a:rPr lang="ko-KR" altLang="en-US" b="1"/>
              <a:t>네트워크 호출하고</a:t>
            </a:r>
            <a:r>
              <a:rPr lang="ko-KR" altLang="en-US"/>
              <a:t> 이런 거 하면 안 돼요</a:t>
            </a:r>
            <a:r>
              <a:rPr lang="en-US" altLang="ko-KR"/>
              <a:t>. </a:t>
            </a:r>
            <a:r>
              <a:rPr lang="ko-KR" altLang="en-US"/>
              <a:t>그건 단위테스트가 아닙니다</a:t>
            </a:r>
            <a:r>
              <a:rPr lang="en-US" altLang="ko-KR"/>
              <a:t>.</a:t>
            </a:r>
          </a:p>
          <a:p>
            <a:r>
              <a:rPr lang="ko-KR" altLang="en-US"/>
              <a:t>순수하게 </a:t>
            </a:r>
            <a:r>
              <a:rPr lang="ko-KR" altLang="en-US" b="1"/>
              <a:t>그 메서드만</a:t>
            </a:r>
            <a:r>
              <a:rPr lang="ko-KR" altLang="en-US"/>
              <a:t> 테스트하는 거예요</a:t>
            </a:r>
            <a:r>
              <a:rPr lang="en-US" altLang="ko-KR"/>
              <a:t>. </a:t>
            </a:r>
            <a:r>
              <a:rPr lang="ko-KR" altLang="en-US"/>
              <a:t>외부 의존성은 나중에 </a:t>
            </a:r>
            <a:r>
              <a:rPr lang="en-US" altLang="ko-KR" err="1"/>
              <a:t>Moq</a:t>
            </a:r>
            <a:r>
              <a:rPr lang="ko-KR" altLang="en-US"/>
              <a:t>로 격리하는 방법을 배울 겁니다</a:t>
            </a:r>
            <a:r>
              <a:rPr lang="en-US" altLang="ko-KR"/>
              <a:t>.</a:t>
            </a:r>
          </a:p>
          <a:p>
            <a:r>
              <a:rPr lang="ko-KR" altLang="en-US" b="1"/>
              <a:t>셋째</a:t>
            </a:r>
            <a:r>
              <a:rPr lang="en-US" altLang="ko-KR" b="1"/>
              <a:t>, "</a:t>
            </a:r>
            <a:r>
              <a:rPr lang="ko-KR" altLang="en-US" b="1"/>
              <a:t>자동화된 테스트</a:t>
            </a:r>
            <a:r>
              <a:rPr lang="en-US" altLang="ko-KR" b="1"/>
              <a:t>"</a:t>
            </a:r>
            <a:endParaRPr lang="ko-KR" altLang="en-US"/>
          </a:p>
          <a:p>
            <a:r>
              <a:rPr lang="ko-KR" altLang="en-US"/>
              <a:t>손으로 </a:t>
            </a:r>
            <a:r>
              <a:rPr lang="en-US" altLang="ko-KR"/>
              <a:t>"2 </a:t>
            </a:r>
            <a:r>
              <a:rPr lang="ko-KR" altLang="en-US"/>
              <a:t>더하기 </a:t>
            </a:r>
            <a:r>
              <a:rPr lang="en-US" altLang="ko-KR"/>
              <a:t>3</a:t>
            </a:r>
            <a:r>
              <a:rPr lang="ko-KR" altLang="en-US"/>
              <a:t>은</a:t>
            </a:r>
            <a:r>
              <a:rPr lang="en-US" altLang="ko-KR"/>
              <a:t>... 5</a:t>
            </a:r>
            <a:r>
              <a:rPr lang="ko-KR" altLang="en-US"/>
              <a:t>네</a:t>
            </a:r>
            <a:r>
              <a:rPr lang="en-US" altLang="ko-KR"/>
              <a:t>, OK" </a:t>
            </a:r>
            <a:r>
              <a:rPr lang="ko-KR" altLang="en-US"/>
              <a:t>이렇게 확인하는 게 아닙니다</a:t>
            </a:r>
            <a:r>
              <a:rPr lang="en-US" altLang="ko-KR"/>
              <a:t>. </a:t>
            </a:r>
            <a:r>
              <a:rPr lang="ko-KR" altLang="en-US" b="1"/>
              <a:t>코드로 작성</a:t>
            </a:r>
            <a:r>
              <a:rPr lang="ko-KR" altLang="en-US"/>
              <a:t>해서 버튼 하나로 수백 개 테스트를 한 번에 돌리는 거예요</a:t>
            </a:r>
            <a:r>
              <a:rPr lang="en-US" altLang="ko-KR"/>
              <a:t>. </a:t>
            </a:r>
            <a:r>
              <a:rPr lang="ko-KR" altLang="en-US"/>
              <a:t>그래서 반복 실행이 가능하고</a:t>
            </a:r>
            <a:r>
              <a:rPr lang="en-US" altLang="ko-KR"/>
              <a:t>, CI/CD</a:t>
            </a:r>
            <a:r>
              <a:rPr lang="ko-KR" altLang="en-US"/>
              <a:t>에도 연동할 수 있는 겁니다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세 가지 장점</a:t>
            </a:r>
          </a:p>
          <a:p>
            <a:r>
              <a:rPr lang="ko-KR" altLang="en-US"/>
              <a:t>그럼 단위테스트를 왜 해야 할까요</a:t>
            </a:r>
            <a:r>
              <a:rPr lang="en-US" altLang="ko-KR"/>
              <a:t>? </a:t>
            </a:r>
            <a:r>
              <a:rPr lang="ko-KR" altLang="en-US"/>
              <a:t>화면에 세 가지 장점이 나와있습니다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장점 </a:t>
            </a:r>
            <a:r>
              <a:rPr lang="en-US" altLang="ko-KR" b="1"/>
              <a:t>1: </a:t>
            </a:r>
            <a:r>
              <a:rPr lang="ko-KR" altLang="en-US" b="1"/>
              <a:t>빠름 ⚡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</a:t>
            </a:r>
            <a:r>
              <a:rPr lang="ko-KR" altLang="en-US" b="1"/>
              <a:t>빠릅니다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외부 의존성 없이 빠르게 실행되며</a:t>
            </a:r>
            <a:r>
              <a:rPr lang="en-US" altLang="ko-KR" i="1"/>
              <a:t>, </a:t>
            </a:r>
            <a:r>
              <a:rPr lang="ko-KR" altLang="en-US" i="1"/>
              <a:t>각 테스트는 독립적으로 작동합니다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DB </a:t>
            </a:r>
            <a:r>
              <a:rPr lang="ko-KR" altLang="en-US"/>
              <a:t>연결할 필요 없고</a:t>
            </a:r>
            <a:r>
              <a:rPr lang="en-US" altLang="ko-KR"/>
              <a:t>, </a:t>
            </a:r>
            <a:r>
              <a:rPr lang="ko-KR" altLang="en-US"/>
              <a:t>서버 띄울 필요 없어요</a:t>
            </a:r>
            <a:r>
              <a:rPr lang="en-US" altLang="ko-KR"/>
              <a:t>. </a:t>
            </a:r>
            <a:r>
              <a:rPr lang="ko-KR" altLang="en-US"/>
              <a:t>그래서 테스트 수백 개를 </a:t>
            </a:r>
            <a:r>
              <a:rPr lang="ko-KR" altLang="en-US" b="1"/>
              <a:t>몇 초 만에</a:t>
            </a:r>
            <a:r>
              <a:rPr lang="ko-KR" altLang="en-US"/>
              <a:t> 돌릴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실제로 제가 경험한 프로젝트에서는 테스트 </a:t>
            </a:r>
            <a:r>
              <a:rPr lang="en-US" altLang="ko-KR"/>
              <a:t>500</a:t>
            </a:r>
            <a:r>
              <a:rPr lang="ko-KR" altLang="en-US"/>
              <a:t>개가 </a:t>
            </a:r>
            <a:r>
              <a:rPr lang="en-US" altLang="ko-KR"/>
              <a:t>10</a:t>
            </a:r>
            <a:r>
              <a:rPr lang="ko-KR" altLang="en-US"/>
              <a:t>초 안에 끝났어요</a:t>
            </a:r>
            <a:r>
              <a:rPr lang="en-US" altLang="ko-KR"/>
              <a:t>. </a:t>
            </a:r>
            <a:r>
              <a:rPr lang="ko-KR" altLang="en-US"/>
              <a:t>만약 수동으로 했으면 몇 시간 걸렸겠죠</a:t>
            </a:r>
            <a:r>
              <a:rPr lang="en-US" altLang="ko-KR"/>
              <a:t>?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장점 </a:t>
            </a:r>
            <a:r>
              <a:rPr lang="en-US" altLang="ko-KR" b="1"/>
              <a:t>2: </a:t>
            </a:r>
            <a:r>
              <a:rPr lang="ko-KR" altLang="en-US" b="1"/>
              <a:t>안전망 🛡️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</a:t>
            </a:r>
            <a:r>
              <a:rPr lang="ko-KR" altLang="en-US" b="1"/>
              <a:t>안전망 역할을 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 err="1"/>
              <a:t>리팩토링</a:t>
            </a:r>
            <a:r>
              <a:rPr lang="ko-KR" altLang="en-US" i="1"/>
              <a:t> 시 회귀 문제를 조기에 발견하고</a:t>
            </a:r>
            <a:r>
              <a:rPr lang="en-US" altLang="ko-KR" i="1"/>
              <a:t>, </a:t>
            </a:r>
            <a:r>
              <a:rPr lang="ko-KR" altLang="en-US" i="1"/>
              <a:t>코드 변경의 영향을 즉시 확인합니다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이게 진짜 핵심이에요</a:t>
            </a:r>
            <a:r>
              <a:rPr lang="en-US" altLang="ko-KR"/>
              <a:t>.</a:t>
            </a:r>
          </a:p>
          <a:p>
            <a:r>
              <a:rPr lang="ko-KR" altLang="en-US"/>
              <a:t>코드 수정했을 때 </a:t>
            </a:r>
            <a:r>
              <a:rPr lang="en-US" altLang="ko-KR"/>
              <a:t>"</a:t>
            </a:r>
            <a:r>
              <a:rPr lang="ko-KR" altLang="en-US"/>
              <a:t>어</a:t>
            </a:r>
            <a:r>
              <a:rPr lang="en-US" altLang="ko-KR"/>
              <a:t>, </a:t>
            </a:r>
            <a:r>
              <a:rPr lang="ko-KR" altLang="en-US"/>
              <a:t>다른 데가 깨지진 않았을까</a:t>
            </a:r>
            <a:r>
              <a:rPr lang="en-US" altLang="ko-KR"/>
              <a:t>?" </a:t>
            </a:r>
            <a:r>
              <a:rPr lang="ko-KR" altLang="en-US"/>
              <a:t>불안하잖아요</a:t>
            </a:r>
            <a:r>
              <a:rPr lang="en-US" altLang="ko-KR"/>
              <a:t>? </a:t>
            </a:r>
            <a:r>
              <a:rPr lang="ko-KR" altLang="en-US"/>
              <a:t>단위테스트가 있으면 수정 후 테스트 돌려보고</a:t>
            </a:r>
            <a:r>
              <a:rPr lang="en-US" altLang="ko-KR"/>
              <a:t>, </a:t>
            </a:r>
            <a:r>
              <a:rPr lang="ko-KR" altLang="en-US" b="1" err="1"/>
              <a:t>초록불</a:t>
            </a:r>
            <a:r>
              <a:rPr lang="ko-KR" altLang="en-US" b="1"/>
              <a:t> 뜨면 안심</a:t>
            </a:r>
            <a:r>
              <a:rPr lang="ko-KR" altLang="en-US"/>
              <a:t>하는 거예요</a:t>
            </a:r>
            <a:r>
              <a:rPr lang="en-US" altLang="ko-KR"/>
              <a:t>.</a:t>
            </a:r>
          </a:p>
          <a:p>
            <a:r>
              <a:rPr lang="ko-KR" altLang="en-US" err="1"/>
              <a:t>빨간불</a:t>
            </a:r>
            <a:r>
              <a:rPr lang="ko-KR" altLang="en-US"/>
              <a:t> 뜨면</a:t>
            </a:r>
            <a:r>
              <a:rPr lang="en-US" altLang="ko-KR"/>
              <a:t>? 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여기가 </a:t>
            </a:r>
            <a:r>
              <a:rPr lang="ko-KR" altLang="en-US" err="1"/>
              <a:t>영향받았구나</a:t>
            </a:r>
            <a:r>
              <a:rPr lang="en-US" altLang="ko-KR"/>
              <a:t>" </a:t>
            </a:r>
            <a:r>
              <a:rPr lang="ko-KR" altLang="en-US"/>
              <a:t>바로 알 수 있습니다</a:t>
            </a:r>
            <a:r>
              <a:rPr lang="en-US" altLang="ko-KR"/>
              <a:t>. </a:t>
            </a:r>
            <a:r>
              <a:rPr lang="ko-KR" altLang="en-US"/>
              <a:t>이게 바로 </a:t>
            </a:r>
            <a:r>
              <a:rPr lang="ko-KR" altLang="en-US" b="1"/>
              <a:t>안전망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없이 </a:t>
            </a:r>
            <a:r>
              <a:rPr lang="ko-KR" altLang="en-US" err="1"/>
              <a:t>리팩토링하는</a:t>
            </a:r>
            <a:r>
              <a:rPr lang="ko-KR" altLang="en-US"/>
              <a:t> 건 </a:t>
            </a:r>
            <a:r>
              <a:rPr lang="ko-KR" altLang="en-US" err="1"/>
              <a:t>안전줄</a:t>
            </a:r>
            <a:r>
              <a:rPr lang="ko-KR" altLang="en-US"/>
              <a:t> 없이 </a:t>
            </a:r>
            <a:r>
              <a:rPr lang="ko-KR" altLang="en-US" err="1"/>
              <a:t>번지점프하는</a:t>
            </a:r>
            <a:r>
              <a:rPr lang="ko-KR" altLang="en-US"/>
              <a:t> 것과 같아요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장점 </a:t>
            </a:r>
            <a:r>
              <a:rPr lang="en-US" altLang="ko-KR" b="1"/>
              <a:t>3: </a:t>
            </a:r>
            <a:r>
              <a:rPr lang="ko-KR" altLang="en-US" b="1"/>
              <a:t>설계 개선 📐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</a:t>
            </a:r>
            <a:r>
              <a:rPr lang="ko-KR" altLang="en-US" b="1"/>
              <a:t>설계가 좋아집니다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테스트하기 쉬운 코드를 작성하도록 유도해 결합도는 낮추고 응집도는 높입니다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이건 처음엔 잘 와닿지 않으실 수 있어요</a:t>
            </a:r>
            <a:r>
              <a:rPr lang="en-US" altLang="ko-KR"/>
              <a:t>.</a:t>
            </a:r>
          </a:p>
          <a:p>
            <a:r>
              <a:rPr lang="ko-KR" altLang="en-US"/>
              <a:t>근데 테스트 코드를 작성하다 보면 느끼게 됩니다</a:t>
            </a:r>
            <a:r>
              <a:rPr lang="en-US" altLang="ko-KR"/>
              <a:t>. "</a:t>
            </a:r>
            <a:r>
              <a:rPr lang="ko-KR" altLang="en-US"/>
              <a:t>어</a:t>
            </a:r>
            <a:r>
              <a:rPr lang="en-US" altLang="ko-KR"/>
              <a:t>, </a:t>
            </a:r>
            <a:r>
              <a:rPr lang="ko-KR" altLang="en-US"/>
              <a:t>이 메서드 테스트하기 너무 어려운데</a:t>
            </a:r>
            <a:r>
              <a:rPr lang="en-US" altLang="ko-KR"/>
              <a:t>?" </a:t>
            </a:r>
            <a:r>
              <a:rPr lang="ko-KR" altLang="en-US"/>
              <a:t>그러면 그 메서드가 </a:t>
            </a:r>
            <a:r>
              <a:rPr lang="ko-KR" altLang="en-US" b="1"/>
              <a:t>설계가 잘못된 거예요</a:t>
            </a:r>
            <a:r>
              <a:rPr lang="en-US" altLang="ko-KR"/>
              <a:t>.</a:t>
            </a:r>
          </a:p>
          <a:p>
            <a:r>
              <a:rPr lang="ko-KR" altLang="en-US"/>
              <a:t>테스트하기 어려운 코드는 대부분 </a:t>
            </a:r>
            <a:r>
              <a:rPr lang="ko-KR" altLang="en-US" b="1"/>
              <a:t>너무 많은 일을 하거나</a:t>
            </a:r>
            <a:r>
              <a:rPr lang="en-US" altLang="ko-KR"/>
              <a:t>, </a:t>
            </a:r>
            <a:r>
              <a:rPr lang="ko-KR" altLang="en-US" b="1"/>
              <a:t>의존성이 </a:t>
            </a:r>
            <a:r>
              <a:rPr lang="ko-KR" altLang="en-US" b="1" err="1"/>
              <a:t>꼬여있거나</a:t>
            </a:r>
            <a:r>
              <a:rPr lang="ko-KR" altLang="en-US"/>
              <a:t> 합니다</a:t>
            </a:r>
            <a:r>
              <a:rPr lang="en-US" altLang="ko-KR"/>
              <a:t>.</a:t>
            </a:r>
          </a:p>
          <a:p>
            <a:r>
              <a:rPr lang="ko-KR" altLang="en-US"/>
              <a:t>테스트를 작성하면서 자연스럽게 </a:t>
            </a:r>
            <a:r>
              <a:rPr lang="ko-KR" altLang="en-US" b="1"/>
              <a:t>좋은 설계</a:t>
            </a:r>
            <a:r>
              <a:rPr lang="ko-KR" altLang="en-US"/>
              <a:t>를 하게 됩니다</a:t>
            </a:r>
            <a:r>
              <a:rPr lang="en-US" altLang="ko-KR"/>
              <a:t>. </a:t>
            </a:r>
            <a:r>
              <a:rPr lang="ko-KR" altLang="en-US"/>
              <a:t>이게 </a:t>
            </a:r>
            <a:r>
              <a:rPr lang="en-US" altLang="ko-KR"/>
              <a:t>TDD</a:t>
            </a:r>
            <a:r>
              <a:rPr lang="ko-KR" altLang="en-US"/>
              <a:t>의 숨은 효과이기도 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예시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말로만 하면 감이 안 오시죠</a:t>
            </a:r>
            <a:r>
              <a:rPr lang="en-US" altLang="ko-KR"/>
              <a:t>? </a:t>
            </a:r>
            <a:r>
              <a:rPr lang="ko-KR" altLang="en-US"/>
              <a:t>하단에 간단한 예시 코드가 있습니다</a:t>
            </a:r>
            <a:r>
              <a:rPr lang="en-US" altLang="ko-KR"/>
              <a:t>.</a:t>
            </a:r>
          </a:p>
          <a:p>
            <a:r>
              <a:rPr lang="en-US" altLang="ko-KR"/>
              <a:t>Calculator </a:t>
            </a:r>
            <a:r>
              <a:rPr lang="ko-KR" altLang="en-US"/>
              <a:t>클래스를 테스트하는 코드인데요</a:t>
            </a:r>
            <a:r>
              <a:rPr lang="en-US" altLang="ko-KR"/>
              <a:t>, </a:t>
            </a:r>
            <a:r>
              <a:rPr lang="ko-KR" altLang="en-US"/>
              <a:t>같이 보시죠</a:t>
            </a:r>
            <a:r>
              <a:rPr lang="en-US" altLang="ko-KR"/>
              <a:t>.</a:t>
            </a:r>
          </a:p>
          <a:p>
            <a:r>
              <a:rPr lang="en-US" altLang="ko-KR" err="1"/>
              <a:t>csharp</a:t>
            </a:r>
            <a:endParaRPr lang="en-US" altLang="ko-KR"/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calc.Add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 줄씩 </a:t>
            </a:r>
            <a:r>
              <a:rPr lang="ko-KR" alt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`[Test]`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메서드가 테스트 메서드다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알려주는 표시입니다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메서드 이름입니다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이름을 보면 뭘 테스트하는지 알 수 있어야 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메서드가 두 숫자를 받아서 합을 반환한다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네이밍 규칙은 나중에 자세히 다룹니다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테스트할 대상을 생성합니다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(5, </a:t>
            </a:r>
            <a:r>
              <a:rPr lang="en-US" altLang="ko-KR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calc.Add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(2, 3));`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호출했을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같아야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같으면 **통과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다르면 **실패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이게 단위테스트의 가장 기본적인 형태입니다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간단하죠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ko-KR" alt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최소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격리된 환경에서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자동화된 코드로 검증하는 것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**왜 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빠르고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안전하고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설계가 좋아지니까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슬라이드에서는 좋은 단위테스트의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원칙**에 대해 알아보겠습니다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중요한 얘기를 하나 하겠습니다</a:t>
            </a:r>
            <a:r>
              <a:rPr lang="en-US" altLang="ko-KR"/>
              <a:t>.</a:t>
            </a:r>
          </a:p>
          <a:p>
            <a:r>
              <a:rPr lang="ko-KR" altLang="en-US"/>
              <a:t>개발자 입장에서는 </a:t>
            </a:r>
            <a:r>
              <a:rPr lang="en-US" altLang="ko-KR"/>
              <a:t>"</a:t>
            </a:r>
            <a:r>
              <a:rPr lang="ko-KR" altLang="en-US"/>
              <a:t>테스트 좋지</a:t>
            </a:r>
            <a:r>
              <a:rPr lang="en-US" altLang="ko-KR"/>
              <a:t>"</a:t>
            </a:r>
            <a:r>
              <a:rPr lang="ko-KR" altLang="en-US"/>
              <a:t>라고 생각하실 수 있는데</a:t>
            </a:r>
            <a:r>
              <a:rPr lang="en-US" altLang="ko-KR"/>
              <a:t>, </a:t>
            </a:r>
            <a:r>
              <a:rPr lang="ko-KR" altLang="en-US"/>
              <a:t>회사 입장에서</a:t>
            </a:r>
            <a:r>
              <a:rPr lang="en-US" altLang="ko-KR"/>
              <a:t>, </a:t>
            </a:r>
            <a:r>
              <a:rPr lang="ko-KR" altLang="en-US"/>
              <a:t>비즈니스 관점에서는 </a:t>
            </a:r>
            <a:r>
              <a:rPr lang="en-US" altLang="ko-KR" b="1"/>
              <a:t>"</a:t>
            </a:r>
            <a:r>
              <a:rPr lang="ko-KR" altLang="en-US" b="1"/>
              <a:t>그래서 뭐가 좋은데</a:t>
            </a:r>
            <a:r>
              <a:rPr lang="en-US" altLang="ko-KR" b="1"/>
              <a:t>?"</a:t>
            </a:r>
            <a:r>
              <a:rPr lang="ko-KR" altLang="en-US"/>
              <a:t> 이게 중요하거든요</a:t>
            </a:r>
            <a:r>
              <a:rPr lang="en-US" altLang="ko-KR"/>
              <a:t>.</a:t>
            </a:r>
          </a:p>
          <a:p>
            <a:r>
              <a:rPr lang="ko-KR" altLang="en-US"/>
              <a:t>단위테스트가 </a:t>
            </a:r>
            <a:r>
              <a:rPr lang="ko-KR" altLang="en-US" b="1"/>
              <a:t>왜 돈이 되는지</a:t>
            </a:r>
            <a:r>
              <a:rPr lang="en-US" altLang="ko-KR"/>
              <a:t>, </a:t>
            </a:r>
            <a:r>
              <a:rPr lang="ko-KR" altLang="en-US" b="1"/>
              <a:t>비즈니스 가치</a:t>
            </a:r>
            <a:r>
              <a:rPr lang="ko-KR" altLang="en-US"/>
              <a:t>를 설명드리겠습니다</a:t>
            </a:r>
            <a:r>
              <a:rPr lang="en-US" altLang="ko-KR"/>
              <a:t>.</a:t>
            </a:r>
          </a:p>
          <a:p>
            <a:r>
              <a:rPr lang="ko-KR" altLang="en-US"/>
              <a:t>나중에 팀장님이나 임원분들한테 </a:t>
            </a:r>
            <a:r>
              <a:rPr lang="en-US" altLang="ko-KR"/>
              <a:t>"</a:t>
            </a:r>
            <a:r>
              <a:rPr lang="ko-KR" altLang="en-US"/>
              <a:t>왜 테스트 코드 작성해야 하나요</a:t>
            </a:r>
            <a:r>
              <a:rPr lang="en-US" altLang="ko-KR"/>
              <a:t>?" </a:t>
            </a:r>
            <a:r>
              <a:rPr lang="ko-KR" altLang="en-US"/>
              <a:t>물으시면 이 내용으로 설득하시면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버그 비용 절감 💰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</a:t>
            </a:r>
            <a:r>
              <a:rPr lang="ko-KR" altLang="en-US" b="1"/>
              <a:t>버그 비용 절감입니다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화면에 중요한 숫자가 있어요</a:t>
            </a:r>
            <a:r>
              <a:rPr lang="en-US" altLang="ko-KR"/>
              <a:t>. </a:t>
            </a:r>
            <a:r>
              <a:rPr lang="en-US" altLang="ko-KR" i="1"/>
              <a:t>"</a:t>
            </a:r>
            <a:r>
              <a:rPr lang="ko-KR" altLang="en-US" i="1"/>
              <a:t>초기 단계에서 결함 발견 시 수정 비용은 프로덕션 단계의 약 </a:t>
            </a:r>
            <a:r>
              <a:rPr lang="en-US" altLang="ko-KR" b="1" i="1"/>
              <a:t>1/100 </a:t>
            </a:r>
            <a:r>
              <a:rPr lang="ko-KR" altLang="en-US" b="1" i="1"/>
              <a:t>수준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이게 무슨 말이냐면요</a:t>
            </a:r>
            <a:r>
              <a:rPr lang="en-US" altLang="ko-KR"/>
              <a:t>,</a:t>
            </a:r>
          </a:p>
          <a:p>
            <a:r>
              <a:rPr lang="ko-KR" altLang="en-US"/>
              <a:t>개발 중에 버그 발견하면 → 고치는 데 </a:t>
            </a:r>
            <a:r>
              <a:rPr lang="en-US" altLang="ko-KR" b="1"/>
              <a:t>1</a:t>
            </a:r>
            <a:r>
              <a:rPr lang="ko-KR" altLang="en-US" b="1"/>
              <a:t>시간</a:t>
            </a:r>
            <a:r>
              <a:rPr lang="ko-KR" altLang="en-US"/>
              <a:t> </a:t>
            </a:r>
            <a:r>
              <a:rPr lang="en-US" altLang="ko-KR"/>
              <a:t>QA </a:t>
            </a:r>
            <a:r>
              <a:rPr lang="ko-KR" altLang="en-US"/>
              <a:t>단계에서 발견하면 → </a:t>
            </a:r>
            <a:r>
              <a:rPr lang="en-US" altLang="ko-KR" b="1"/>
              <a:t>10</a:t>
            </a:r>
            <a:r>
              <a:rPr lang="ko-KR" altLang="en-US" b="1"/>
              <a:t>시간</a:t>
            </a:r>
            <a:r>
              <a:rPr lang="ko-KR" altLang="en-US"/>
              <a:t> 운영 중에 발견하면 → </a:t>
            </a:r>
            <a:r>
              <a:rPr lang="en-US" altLang="ko-KR" b="1"/>
              <a:t>100</a:t>
            </a:r>
            <a:r>
              <a:rPr lang="ko-KR" altLang="en-US" b="1"/>
              <a:t>시간</a:t>
            </a:r>
            <a:endParaRPr lang="ko-KR" altLang="en-US"/>
          </a:p>
          <a:p>
            <a:r>
              <a:rPr lang="ko-KR" altLang="en-US"/>
              <a:t>왜 그럴까요</a:t>
            </a:r>
            <a:r>
              <a:rPr lang="en-US" altLang="ko-KR"/>
              <a:t>? </a:t>
            </a:r>
            <a:r>
              <a:rPr lang="ko-KR" altLang="en-US"/>
              <a:t>운영 중에 버그 나면 일단 </a:t>
            </a:r>
            <a:r>
              <a:rPr lang="ko-KR" altLang="en-US" b="1"/>
              <a:t>고객한테 사과</a:t>
            </a:r>
            <a:r>
              <a:rPr lang="ko-KR" altLang="en-US"/>
              <a:t>해야 하고</a:t>
            </a:r>
            <a:r>
              <a:rPr lang="en-US" altLang="ko-KR"/>
              <a:t>, </a:t>
            </a:r>
            <a:r>
              <a:rPr lang="ko-KR" altLang="en-US" b="1"/>
              <a:t>원인 분석</a:t>
            </a:r>
            <a:r>
              <a:rPr lang="ko-KR" altLang="en-US"/>
              <a:t>하고</a:t>
            </a:r>
            <a:r>
              <a:rPr lang="en-US" altLang="ko-KR"/>
              <a:t>, </a:t>
            </a:r>
            <a:r>
              <a:rPr lang="ko-KR" altLang="en-US" b="1"/>
              <a:t>핫픽스</a:t>
            </a:r>
            <a:r>
              <a:rPr lang="ko-KR" altLang="en-US"/>
              <a:t> 만들고</a:t>
            </a:r>
            <a:r>
              <a:rPr lang="en-US" altLang="ko-KR"/>
              <a:t>, </a:t>
            </a:r>
            <a:r>
              <a:rPr lang="ko-KR" altLang="en-US" b="1"/>
              <a:t>긴급 배포</a:t>
            </a:r>
            <a:r>
              <a:rPr lang="ko-KR" altLang="en-US"/>
              <a:t>하고</a:t>
            </a:r>
            <a:r>
              <a:rPr lang="en-US" altLang="ko-KR"/>
              <a:t>, </a:t>
            </a:r>
            <a:r>
              <a:rPr lang="ko-KR" altLang="en-US" b="1"/>
              <a:t>모니터링</a:t>
            </a:r>
            <a:r>
              <a:rPr lang="ko-KR" altLang="en-US"/>
              <a:t>하고</a:t>
            </a:r>
            <a:r>
              <a:rPr lang="en-US" altLang="ko-KR"/>
              <a:t>... </a:t>
            </a:r>
            <a:r>
              <a:rPr lang="ko-KR" altLang="en-US"/>
              <a:t>거기다 </a:t>
            </a:r>
            <a:r>
              <a:rPr lang="ko-KR" altLang="en-US" b="1"/>
              <a:t>고객 신뢰도 손실</a:t>
            </a:r>
            <a:r>
              <a:rPr lang="ko-KR" altLang="en-US"/>
              <a:t>은 돈으로 계산도 안 됩니다</a:t>
            </a:r>
            <a:r>
              <a:rPr lang="en-US" altLang="ko-KR"/>
              <a:t>.</a:t>
            </a:r>
          </a:p>
          <a:p>
            <a:r>
              <a:rPr lang="ko-KR" altLang="en-US"/>
              <a:t>단위테스트는 버그를 </a:t>
            </a:r>
            <a:r>
              <a:rPr lang="ko-KR" altLang="en-US" b="1"/>
              <a:t>가장 빨리</a:t>
            </a:r>
            <a:r>
              <a:rPr lang="en-US" altLang="ko-KR" b="1"/>
              <a:t>, </a:t>
            </a:r>
            <a:r>
              <a:rPr lang="ko-KR" altLang="en-US" b="1"/>
              <a:t>가장 싸게</a:t>
            </a:r>
            <a:r>
              <a:rPr lang="ko-KR" altLang="en-US"/>
              <a:t> 잡는 방법입니다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리팩토링 속도 향상 🔧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</a:t>
            </a:r>
            <a:r>
              <a:rPr lang="ko-KR" altLang="en-US" b="1"/>
              <a:t>리팩토링 속도가 빨라집니다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코드 변경에 대한 회귀 테스트 자동화</a:t>
            </a:r>
            <a:r>
              <a:rPr lang="en-US" altLang="ko-KR" i="1"/>
              <a:t>, </a:t>
            </a:r>
            <a:r>
              <a:rPr lang="ko-KR" altLang="en-US" i="1"/>
              <a:t>안전한 리팩토링으로 기술 부채 감소와 품질 향상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여러분</a:t>
            </a:r>
            <a:r>
              <a:rPr lang="en-US" altLang="ko-KR"/>
              <a:t>, </a:t>
            </a:r>
            <a:r>
              <a:rPr lang="ko-KR" altLang="en-US"/>
              <a:t>레거시 코드 수정해보신 적 있으시죠</a:t>
            </a:r>
            <a:r>
              <a:rPr lang="en-US" altLang="ko-KR"/>
              <a:t>? "</a:t>
            </a:r>
            <a:r>
              <a:rPr lang="ko-KR" altLang="en-US"/>
              <a:t>이거 건드리면 어디가 깨질지 몰라</a:t>
            </a:r>
            <a:r>
              <a:rPr lang="en-US" altLang="ko-KR"/>
              <a:t>..." </a:t>
            </a:r>
            <a:r>
              <a:rPr lang="ko-KR" altLang="en-US"/>
              <a:t>이런 두려움 있잖아요</a:t>
            </a:r>
            <a:r>
              <a:rPr lang="en-US" altLang="ko-KR"/>
              <a:t>.</a:t>
            </a:r>
          </a:p>
          <a:p>
            <a:r>
              <a:rPr lang="ko-KR" altLang="en-US"/>
              <a:t>테스트가 없으면</a:t>
            </a:r>
            <a:r>
              <a:rPr lang="en-US" altLang="ko-KR"/>
              <a:t>? </a:t>
            </a:r>
            <a:r>
              <a:rPr lang="ko-KR" altLang="en-US" b="1"/>
              <a:t>무섭습니다</a:t>
            </a:r>
            <a:r>
              <a:rPr lang="en-US" altLang="ko-KR" b="1"/>
              <a:t>.</a:t>
            </a:r>
            <a:r>
              <a:rPr lang="ko-KR" altLang="en-US"/>
              <a:t> 그래서 안 건드립니다</a:t>
            </a:r>
            <a:r>
              <a:rPr lang="en-US" altLang="ko-KR"/>
              <a:t>. </a:t>
            </a:r>
            <a:r>
              <a:rPr lang="ko-KR" altLang="en-US"/>
              <a:t>결국 </a:t>
            </a:r>
            <a:r>
              <a:rPr lang="ko-KR" altLang="en-US" b="1"/>
              <a:t>기술 부채</a:t>
            </a:r>
            <a:r>
              <a:rPr lang="ko-KR" altLang="en-US"/>
              <a:t>가 쌓이고</a:t>
            </a:r>
            <a:r>
              <a:rPr lang="en-US" altLang="ko-KR"/>
              <a:t>, </a:t>
            </a:r>
            <a:r>
              <a:rPr lang="ko-KR" altLang="en-US"/>
              <a:t>코드는 점점 썩어갑니다</a:t>
            </a:r>
            <a:r>
              <a:rPr lang="en-US" altLang="ko-KR"/>
              <a:t>.</a:t>
            </a:r>
          </a:p>
          <a:p>
            <a:r>
              <a:rPr lang="ko-KR" altLang="en-US"/>
              <a:t>테스트가 있으면</a:t>
            </a:r>
            <a:r>
              <a:rPr lang="en-US" altLang="ko-KR"/>
              <a:t>? </a:t>
            </a:r>
            <a:r>
              <a:rPr lang="ko-KR" altLang="en-US" b="1"/>
              <a:t>자신있게 수정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테스트 돌려서 초록불 뜨면 </a:t>
            </a:r>
            <a:r>
              <a:rPr lang="en-US" altLang="ko-KR"/>
              <a:t>"OK, </a:t>
            </a:r>
            <a:r>
              <a:rPr lang="ko-KR" altLang="en-US"/>
              <a:t>안전해</a:t>
            </a:r>
            <a:r>
              <a:rPr lang="en-US" altLang="ko-KR"/>
              <a:t>" </a:t>
            </a:r>
            <a:r>
              <a:rPr lang="ko-KR" altLang="en-US"/>
              <a:t>확인되니까요</a:t>
            </a:r>
            <a:r>
              <a:rPr lang="en-US" altLang="ko-KR"/>
              <a:t>.</a:t>
            </a:r>
          </a:p>
          <a:p>
            <a:r>
              <a:rPr lang="ko-KR" altLang="en-US"/>
              <a:t>결국 리팩토링을 </a:t>
            </a:r>
            <a:r>
              <a:rPr lang="ko-KR" altLang="en-US" b="1"/>
              <a:t>자주</a:t>
            </a:r>
            <a:r>
              <a:rPr lang="en-US" altLang="ko-KR" b="1"/>
              <a:t>, </a:t>
            </a:r>
            <a:r>
              <a:rPr lang="ko-KR" altLang="en-US" b="1"/>
              <a:t>빠르게</a:t>
            </a:r>
            <a:r>
              <a:rPr lang="ko-KR" altLang="en-US"/>
              <a:t> 할 수 있고</a:t>
            </a:r>
            <a:r>
              <a:rPr lang="en-US" altLang="ko-KR"/>
              <a:t>, </a:t>
            </a:r>
            <a:r>
              <a:rPr lang="ko-KR" altLang="en-US"/>
              <a:t>코드 품질이 계속 </a:t>
            </a:r>
            <a:r>
              <a:rPr lang="ko-KR" altLang="en-US" b="1"/>
              <a:t>좋아지는 선순환</a:t>
            </a:r>
            <a:r>
              <a:rPr lang="ko-KR" altLang="en-US"/>
              <a:t>이 만들어집니다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배포 안정성 강화 🛡️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</a:t>
            </a:r>
            <a:r>
              <a:rPr lang="ko-KR" altLang="en-US" b="1"/>
              <a:t>배포가 안정적이 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프로덕션 환경의 예상치 못한 장애 감소</a:t>
            </a:r>
            <a:r>
              <a:rPr lang="en-US" altLang="ko-KR" i="1"/>
              <a:t>, </a:t>
            </a:r>
            <a:r>
              <a:rPr lang="ko-KR" altLang="en-US" i="1"/>
              <a:t>장애 복구 시간</a:t>
            </a:r>
            <a:r>
              <a:rPr lang="en-US" altLang="ko-KR" i="1"/>
              <a:t>(MTTR) </a:t>
            </a:r>
            <a:r>
              <a:rPr lang="ko-KR" altLang="en-US" i="1"/>
              <a:t>단축 및 가용성 증가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MTTR</a:t>
            </a:r>
            <a:r>
              <a:rPr lang="ko-KR" altLang="en-US"/>
              <a:t>이 뭐냐면요</a:t>
            </a:r>
            <a:r>
              <a:rPr lang="en-US" altLang="ko-KR"/>
              <a:t>, </a:t>
            </a:r>
            <a:r>
              <a:rPr lang="en-US" altLang="ko-KR" b="1"/>
              <a:t>Mean Time To Recovery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평균 복구 시간입니다</a:t>
            </a:r>
            <a:r>
              <a:rPr lang="en-US" altLang="ko-KR"/>
              <a:t>. </a:t>
            </a:r>
            <a:r>
              <a:rPr lang="ko-KR" altLang="en-US"/>
              <a:t>장애 나서 복구까지 걸리는 시간이에요</a:t>
            </a:r>
            <a:r>
              <a:rPr lang="en-US" altLang="ko-KR"/>
              <a:t>.</a:t>
            </a:r>
          </a:p>
          <a:p>
            <a:r>
              <a:rPr lang="ko-KR" altLang="en-US"/>
              <a:t>테스트가 잘 갖춰져 있으면</a:t>
            </a:r>
            <a:r>
              <a:rPr lang="en-US" altLang="ko-KR"/>
              <a:t>, </a:t>
            </a:r>
            <a:r>
              <a:rPr lang="ko-KR" altLang="en-US"/>
              <a:t>배포 전에 문제를 잡으니까 </a:t>
            </a:r>
            <a:r>
              <a:rPr lang="ko-KR" altLang="en-US" b="1"/>
              <a:t>장애 자체가 적고</a:t>
            </a:r>
            <a:r>
              <a:rPr lang="en-US" altLang="ko-KR"/>
              <a:t>, </a:t>
            </a:r>
            <a:r>
              <a:rPr lang="ko-KR" altLang="en-US"/>
              <a:t>장애가 나더라도 어디가 문제인지 </a:t>
            </a:r>
            <a:r>
              <a:rPr lang="ko-KR" altLang="en-US" b="1"/>
              <a:t>빨리 파악</a:t>
            </a:r>
            <a:r>
              <a:rPr lang="ko-KR" altLang="en-US"/>
              <a:t>됩니다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이 테스트가 깨졌네</a:t>
            </a:r>
            <a:r>
              <a:rPr lang="en-US" altLang="ko-KR"/>
              <a:t>? 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여기가 문제구나</a:t>
            </a:r>
            <a:r>
              <a:rPr lang="en-US" altLang="ko-KR"/>
              <a:t>" </a:t>
            </a:r>
            <a:r>
              <a:rPr lang="ko-KR" altLang="en-US"/>
              <a:t>바로 알 수 있거든요</a:t>
            </a:r>
            <a:r>
              <a:rPr lang="en-US" altLang="ko-KR"/>
              <a:t>.</a:t>
            </a:r>
          </a:p>
          <a:p>
            <a:r>
              <a:rPr lang="ko-KR" altLang="en-US"/>
              <a:t>가용성 </a:t>
            </a:r>
            <a:r>
              <a:rPr lang="en-US" altLang="ko-KR"/>
              <a:t>99.9%</a:t>
            </a:r>
            <a:r>
              <a:rPr lang="ko-KR" altLang="en-US"/>
              <a:t>와 </a:t>
            </a:r>
            <a:r>
              <a:rPr lang="en-US" altLang="ko-KR"/>
              <a:t>99.99%</a:t>
            </a:r>
            <a:r>
              <a:rPr lang="ko-KR" altLang="en-US"/>
              <a:t>의 차이</a:t>
            </a:r>
            <a:r>
              <a:rPr lang="en-US" altLang="ko-KR"/>
              <a:t>, </a:t>
            </a:r>
            <a:r>
              <a:rPr lang="ko-KR" altLang="en-US"/>
              <a:t>비즈니스에서는 </a:t>
            </a:r>
            <a:r>
              <a:rPr lang="ko-KR" altLang="en-US" b="1"/>
              <a:t>엄청난 차이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CI/CD </a:t>
            </a:r>
            <a:r>
              <a:rPr lang="ko-KR" altLang="en-US" b="1"/>
              <a:t>품질 게이트 🚦</a:t>
            </a:r>
          </a:p>
          <a:p>
            <a:r>
              <a:rPr lang="ko-KR" altLang="en-US" b="1"/>
              <a:t>네 번째</a:t>
            </a:r>
            <a:r>
              <a:rPr lang="en-US" altLang="ko-KR" b="1"/>
              <a:t>, CI/CD</a:t>
            </a:r>
            <a:r>
              <a:rPr lang="ko-KR" altLang="en-US" b="1"/>
              <a:t>의 품질 게이트 역할을 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지속적 통합 환경의 핵심 품질 지표로 활용</a:t>
            </a:r>
            <a:r>
              <a:rPr lang="en-US" altLang="ko-KR" i="1"/>
              <a:t>, </a:t>
            </a:r>
            <a:r>
              <a:rPr lang="ko-KR" altLang="en-US" i="1"/>
              <a:t>자동화된 릴리스 파이프라인의 기반 구축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요즘 개발은 하루에도 몇 번씩 배포하잖아요</a:t>
            </a:r>
            <a:r>
              <a:rPr lang="en-US" altLang="ko-KR"/>
              <a:t>. </a:t>
            </a:r>
            <a:r>
              <a:rPr lang="ko-KR" altLang="en-US"/>
              <a:t>근데 매번 사람이 </a:t>
            </a:r>
            <a:r>
              <a:rPr lang="en-US" altLang="ko-KR"/>
              <a:t>"</a:t>
            </a:r>
            <a:r>
              <a:rPr lang="ko-KR" altLang="en-US"/>
              <a:t>이거 괜찮나</a:t>
            </a:r>
            <a:r>
              <a:rPr lang="en-US" altLang="ko-KR"/>
              <a:t>?" </a:t>
            </a:r>
            <a:r>
              <a:rPr lang="ko-KR" altLang="en-US"/>
              <a:t>확인할 수 없어요</a:t>
            </a:r>
            <a:r>
              <a:rPr lang="en-US" altLang="ko-KR"/>
              <a:t>.</a:t>
            </a:r>
          </a:p>
          <a:p>
            <a:r>
              <a:rPr lang="ko-KR" altLang="en-US"/>
              <a:t>그래서 </a:t>
            </a:r>
            <a:r>
              <a:rPr lang="ko-KR" altLang="en-US" b="1"/>
              <a:t>자동화된 품질 게이트</a:t>
            </a:r>
            <a:r>
              <a:rPr lang="ko-KR" altLang="en-US"/>
              <a:t>가 필요합니다</a:t>
            </a:r>
            <a:r>
              <a:rPr lang="en-US" altLang="ko-KR"/>
              <a:t>.</a:t>
            </a:r>
          </a:p>
          <a:p>
            <a:r>
              <a:rPr lang="ko-KR" altLang="en-US"/>
              <a:t>코드 푸시 → 테스트 자동 실행 → </a:t>
            </a:r>
            <a:r>
              <a:rPr lang="ko-KR" altLang="en-US" b="1"/>
              <a:t>통과하면 배포</a:t>
            </a:r>
            <a:r>
              <a:rPr lang="en-US" altLang="ko-KR" b="1"/>
              <a:t>, </a:t>
            </a:r>
            <a:r>
              <a:rPr lang="ko-KR" altLang="en-US" b="1"/>
              <a:t>실패하면 차단</a:t>
            </a:r>
            <a:endParaRPr lang="ko-KR" altLang="en-US"/>
          </a:p>
          <a:p>
            <a:r>
              <a:rPr lang="ko-KR" altLang="en-US"/>
              <a:t>이게 </a:t>
            </a:r>
            <a:r>
              <a:rPr lang="en-US" altLang="ko-KR"/>
              <a:t>CI/CD</a:t>
            </a:r>
            <a:r>
              <a:rPr lang="ko-KR" altLang="en-US"/>
              <a:t>의 핵심이고</a:t>
            </a:r>
            <a:r>
              <a:rPr lang="en-US" altLang="ko-KR"/>
              <a:t>, </a:t>
            </a:r>
            <a:r>
              <a:rPr lang="ko-KR" altLang="en-US"/>
              <a:t>단위테스트가 그 </a:t>
            </a:r>
            <a:r>
              <a:rPr lang="ko-KR" altLang="en-US" b="1"/>
              <a:t>첫 번째 관문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없이 </a:t>
            </a:r>
            <a:r>
              <a:rPr lang="en-US" altLang="ko-KR"/>
              <a:t>CI/CD </a:t>
            </a:r>
            <a:r>
              <a:rPr lang="ko-KR" altLang="en-US"/>
              <a:t>구축하면</a:t>
            </a:r>
            <a:r>
              <a:rPr lang="en-US" altLang="ko-KR"/>
              <a:t>? </a:t>
            </a:r>
            <a:r>
              <a:rPr lang="ko-KR" altLang="en-US"/>
              <a:t>그냥 </a:t>
            </a:r>
            <a:r>
              <a:rPr lang="ko-KR" altLang="en-US" b="1"/>
              <a:t>자동으로 버그 배포하는 시스템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ROI (</a:t>
            </a:r>
            <a:r>
              <a:rPr lang="ko-KR" altLang="en-US" b="1"/>
              <a:t>투자수익률</a:t>
            </a:r>
            <a:r>
              <a:rPr lang="en-US" altLang="ko-KR" b="1"/>
              <a:t>) </a:t>
            </a:r>
            <a:r>
              <a:rPr lang="ko-KR" altLang="en-US" b="1"/>
              <a:t>📈</a:t>
            </a:r>
          </a:p>
          <a:p>
            <a:r>
              <a:rPr lang="ko-KR" altLang="en-US"/>
              <a:t>마지막으로 하단에 </a:t>
            </a:r>
            <a:r>
              <a:rPr lang="en-US" altLang="ko-KR" b="1"/>
              <a:t>ROI, </a:t>
            </a:r>
            <a:r>
              <a:rPr lang="ko-KR" altLang="en-US" b="1"/>
              <a:t>투자수익률</a:t>
            </a:r>
            <a:r>
              <a:rPr lang="ko-KR" altLang="en-US"/>
              <a:t> 이야기가 있습니다</a:t>
            </a:r>
            <a:r>
              <a:rPr lang="en-US" altLang="ko-KR"/>
              <a:t>.</a:t>
            </a:r>
          </a:p>
          <a:p>
            <a:r>
              <a:rPr lang="ko-KR" altLang="en-US"/>
              <a:t>같이 읽어볼게요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단위테스트에 투자하는 초기 시간 대비</a:t>
            </a:r>
            <a:r>
              <a:rPr lang="en-US" altLang="ko-KR" i="1"/>
              <a:t>, </a:t>
            </a:r>
            <a:r>
              <a:rPr lang="ko-KR" altLang="en-US" i="1"/>
              <a:t>디버깅 및 유지보수 시간 감소</a:t>
            </a:r>
            <a:r>
              <a:rPr lang="en-US" altLang="ko-KR" i="1"/>
              <a:t>, </a:t>
            </a:r>
            <a:r>
              <a:rPr lang="ko-KR" altLang="en-US" i="1"/>
              <a:t>고객 만족도 증가</a:t>
            </a:r>
            <a:r>
              <a:rPr lang="en-US" altLang="ko-KR" i="1"/>
              <a:t>, </a:t>
            </a:r>
            <a:r>
              <a:rPr lang="ko-KR" altLang="en-US" i="1"/>
              <a:t>신뢰성 있는 릴리스 주기 단축 등 </a:t>
            </a:r>
            <a:r>
              <a:rPr lang="ko-KR" altLang="en-US" b="1" i="1"/>
              <a:t>장기적 이득이 큽니다</a:t>
            </a:r>
            <a:r>
              <a:rPr lang="en-US" altLang="ko-KR" b="1" i="1"/>
              <a:t>.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솔직히 말씀드리면</a:t>
            </a:r>
            <a:r>
              <a:rPr lang="en-US" altLang="ko-KR"/>
              <a:t>, </a:t>
            </a:r>
            <a:r>
              <a:rPr lang="ko-KR" altLang="en-US"/>
              <a:t>테스트 코드 작성하면 </a:t>
            </a:r>
            <a:r>
              <a:rPr lang="ko-KR" altLang="en-US" b="1"/>
              <a:t>처음엔 시간이 더 걸립니다</a:t>
            </a:r>
            <a:r>
              <a:rPr lang="en-US" altLang="ko-KR" b="1"/>
              <a:t>.</a:t>
            </a:r>
            <a:r>
              <a:rPr lang="ko-KR" altLang="en-US"/>
              <a:t>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그냥 기능 코드만 짜면 빨리 끝나는데</a:t>
            </a:r>
            <a:r>
              <a:rPr lang="en-US" altLang="ko-KR"/>
              <a:t>..."</a:t>
            </a:r>
            <a:r>
              <a:rPr lang="ko-KR" altLang="en-US"/>
              <a:t>라고 생각하실 수 있어요</a:t>
            </a:r>
            <a:r>
              <a:rPr lang="en-US" altLang="ko-KR"/>
              <a:t>.</a:t>
            </a:r>
          </a:p>
          <a:p>
            <a:r>
              <a:rPr lang="ko-KR" altLang="en-US"/>
              <a:t>근데 프로젝트가 </a:t>
            </a:r>
            <a:r>
              <a:rPr lang="en-US" altLang="ko-KR" b="1"/>
              <a:t>3</a:t>
            </a:r>
            <a:r>
              <a:rPr lang="ko-KR" altLang="en-US" b="1"/>
              <a:t>개월</a:t>
            </a:r>
            <a:r>
              <a:rPr lang="en-US" altLang="ko-KR" b="1"/>
              <a:t>, 6</a:t>
            </a:r>
            <a:r>
              <a:rPr lang="ko-KR" altLang="en-US" b="1"/>
              <a:t>개월</a:t>
            </a:r>
            <a:r>
              <a:rPr lang="en-US" altLang="ko-KR" b="1"/>
              <a:t>, 1</a:t>
            </a:r>
            <a:r>
              <a:rPr lang="ko-KR" altLang="en-US" b="1"/>
              <a:t>년</a:t>
            </a:r>
            <a:r>
              <a:rPr lang="ko-KR" altLang="en-US"/>
              <a:t> 지나면</a:t>
            </a:r>
            <a:r>
              <a:rPr lang="en-US" altLang="ko-KR"/>
              <a:t>? </a:t>
            </a:r>
            <a:r>
              <a:rPr lang="ko-KR" altLang="en-US"/>
              <a:t>테스트 있는 프로젝트와 없는 프로젝트의 </a:t>
            </a:r>
            <a:r>
              <a:rPr lang="ko-KR" altLang="en-US" b="1"/>
              <a:t>속도 차이가 역전</a:t>
            </a:r>
            <a:r>
              <a:rPr lang="ko-KR" altLang="en-US"/>
              <a:t>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ROI </a:t>
            </a:r>
            <a:r>
              <a:rPr lang="ko-KR" altLang="en-US" b="1"/>
              <a:t>비유</a:t>
            </a:r>
          </a:p>
          <a:p>
            <a:r>
              <a:rPr lang="ko-KR" altLang="en-US"/>
              <a:t>비유를 하나 드릴게요</a:t>
            </a:r>
            <a:r>
              <a:rPr lang="en-US" altLang="ko-KR"/>
              <a:t>.</a:t>
            </a:r>
          </a:p>
          <a:p>
            <a:r>
              <a:rPr lang="ko-KR" altLang="en-US" b="1"/>
              <a:t>테스트 없이 개발하는 건</a:t>
            </a:r>
            <a:r>
              <a:rPr lang="ko-KR" altLang="en-US"/>
              <a:t> 신용카드로 긁는 것과 같아요</a:t>
            </a:r>
            <a:r>
              <a:rPr lang="en-US" altLang="ko-KR"/>
              <a:t>. </a:t>
            </a:r>
            <a:r>
              <a:rPr lang="ko-KR" altLang="en-US"/>
              <a:t>당장은 빠르고 편해요</a:t>
            </a:r>
            <a:r>
              <a:rPr lang="en-US" altLang="ko-KR"/>
              <a:t>. </a:t>
            </a:r>
            <a:r>
              <a:rPr lang="ko-KR" altLang="en-US"/>
              <a:t>돈 안 내도 되니까</a:t>
            </a:r>
            <a:r>
              <a:rPr lang="en-US" altLang="ko-KR"/>
              <a:t>. </a:t>
            </a:r>
            <a:r>
              <a:rPr lang="ko-KR" altLang="en-US"/>
              <a:t>근데 나중에 </a:t>
            </a:r>
            <a:r>
              <a:rPr lang="ko-KR" altLang="en-US" b="1"/>
              <a:t>이자 폭탄</a:t>
            </a:r>
            <a:r>
              <a:rPr lang="ko-KR" altLang="en-US"/>
              <a:t> 맞습니다</a:t>
            </a:r>
            <a:r>
              <a:rPr lang="en-US" altLang="ko-KR"/>
              <a:t>. </a:t>
            </a:r>
            <a:r>
              <a:rPr lang="ko-KR" altLang="en-US"/>
              <a:t>그게 </a:t>
            </a:r>
            <a:r>
              <a:rPr lang="ko-KR" altLang="en-US" b="1"/>
              <a:t>기술 부채</a:t>
            </a:r>
            <a:r>
              <a:rPr lang="ko-KR" altLang="en-US"/>
              <a:t>예요</a:t>
            </a:r>
            <a:r>
              <a:rPr lang="en-US" altLang="ko-KR"/>
              <a:t>.</a:t>
            </a:r>
          </a:p>
          <a:p>
            <a:r>
              <a:rPr lang="ko-KR" altLang="en-US" b="1"/>
              <a:t>테스트 작성하면서 개발하는 건</a:t>
            </a:r>
            <a:r>
              <a:rPr lang="ko-KR" altLang="en-US"/>
              <a:t> 현금 결제와 같아요</a:t>
            </a:r>
            <a:r>
              <a:rPr lang="en-US" altLang="ko-KR"/>
              <a:t>. </a:t>
            </a:r>
            <a:r>
              <a:rPr lang="ko-KR" altLang="en-US"/>
              <a:t>당장은 좀 불편해요</a:t>
            </a:r>
            <a:r>
              <a:rPr lang="en-US" altLang="ko-KR"/>
              <a:t>. </a:t>
            </a:r>
            <a:r>
              <a:rPr lang="ko-KR" altLang="en-US"/>
              <a:t>돈 먼저 내야 하니까</a:t>
            </a:r>
            <a:r>
              <a:rPr lang="en-US" altLang="ko-KR"/>
              <a:t>. </a:t>
            </a:r>
            <a:r>
              <a:rPr lang="ko-KR" altLang="en-US"/>
              <a:t>근데 나중에 </a:t>
            </a:r>
            <a:r>
              <a:rPr lang="ko-KR" altLang="en-US" b="1"/>
              <a:t>빚이 없습니다</a:t>
            </a:r>
            <a:r>
              <a:rPr lang="en-US" altLang="ko-KR" b="1"/>
              <a:t>.</a:t>
            </a:r>
            <a:r>
              <a:rPr lang="ko-KR" altLang="en-US"/>
              <a:t> 오히려 **저축</a:t>
            </a:r>
            <a:r>
              <a:rPr lang="en-US" altLang="ko-KR"/>
              <a:t>(</a:t>
            </a:r>
            <a:r>
              <a:rPr lang="ko-KR" altLang="en-US"/>
              <a:t>자산</a:t>
            </a:r>
            <a:r>
              <a:rPr lang="en-US" altLang="ko-KR"/>
              <a:t>)**</a:t>
            </a:r>
            <a:r>
              <a:rPr lang="ko-KR" altLang="en-US"/>
              <a:t>이 쌓여요</a:t>
            </a:r>
            <a:r>
              <a:rPr lang="en-US" altLang="ko-KR"/>
              <a:t>.</a:t>
            </a:r>
          </a:p>
          <a:p>
            <a:r>
              <a:rPr lang="ko-KR" altLang="en-US"/>
              <a:t>여러분은 어떤 방식으로 개발하고 싶으신가요</a:t>
            </a:r>
            <a:r>
              <a:rPr lang="en-US" altLang="ko-KR"/>
              <a:t>?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/>
              <a:t>단위테스트의 비즈니스 가치는</a:t>
            </a:r>
          </a:p>
          <a:p>
            <a:r>
              <a:rPr lang="en-US" altLang="ko-KR"/>
              <a:t>1️⃣ </a:t>
            </a:r>
            <a:r>
              <a:rPr lang="ko-KR" altLang="en-US" b="1"/>
              <a:t>버그 비용 절감</a:t>
            </a:r>
            <a:r>
              <a:rPr lang="ko-KR" altLang="en-US"/>
              <a:t> </a:t>
            </a:r>
            <a:r>
              <a:rPr lang="en-US" altLang="ko-KR"/>
              <a:t>- 1/100 </a:t>
            </a:r>
            <a:r>
              <a:rPr lang="ko-KR" altLang="en-US"/>
              <a:t>비용으로 버그 수정 </a:t>
            </a:r>
            <a:r>
              <a:rPr lang="en-US" altLang="ko-KR"/>
              <a:t>2️⃣ </a:t>
            </a:r>
            <a:r>
              <a:rPr lang="ko-KR" altLang="en-US" b="1"/>
              <a:t>리팩토링 속도 향상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기술 부채 감소 </a:t>
            </a:r>
            <a:r>
              <a:rPr lang="en-US" altLang="ko-KR"/>
              <a:t>3️⃣ </a:t>
            </a:r>
            <a:r>
              <a:rPr lang="ko-KR" altLang="en-US" b="1"/>
              <a:t>배포 안정성 강화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장애 감소</a:t>
            </a:r>
            <a:r>
              <a:rPr lang="en-US" altLang="ko-KR"/>
              <a:t>, </a:t>
            </a:r>
            <a:r>
              <a:rPr lang="ko-KR" altLang="en-US"/>
              <a:t>빠른 복구 </a:t>
            </a:r>
            <a:r>
              <a:rPr lang="en-US" altLang="ko-KR"/>
              <a:t>4️⃣ </a:t>
            </a:r>
            <a:r>
              <a:rPr lang="en-US" altLang="ko-KR" b="1"/>
              <a:t>CI/CD </a:t>
            </a:r>
            <a:r>
              <a:rPr lang="ko-KR" altLang="en-US" b="1"/>
              <a:t>품질 게이트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자동화된 품질 관리</a:t>
            </a:r>
          </a:p>
          <a:p>
            <a:r>
              <a:rPr lang="ko-KR" altLang="en-US"/>
              <a:t>그리고 이 모든 게 합쳐져서 </a:t>
            </a:r>
            <a:r>
              <a:rPr lang="en-US" altLang="ko-KR" b="1"/>
              <a:t>ROI, </a:t>
            </a:r>
            <a:r>
              <a:rPr lang="ko-KR" altLang="en-US" b="1"/>
              <a:t>장기적 투자수익</a:t>
            </a:r>
            <a:r>
              <a:rPr lang="ko-KR" altLang="en-US"/>
              <a:t>으로 돌아옵니다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테스트는 비용이 아니라 </a:t>
            </a:r>
            <a:r>
              <a:rPr lang="ko-KR" altLang="en-US" b="1"/>
              <a:t>투자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다음으로 넘어가겠습니다</a:t>
            </a:r>
            <a:r>
              <a:rPr lang="en-US" altLang="ko-KR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매우 중요한 개념을 배울 겁니다</a:t>
            </a:r>
            <a:r>
              <a:rPr lang="en-US" altLang="ko-KR"/>
              <a:t>.</a:t>
            </a:r>
          </a:p>
          <a:p>
            <a:r>
              <a:rPr lang="en-US" altLang="ko-KR" b="1"/>
              <a:t>"</a:t>
            </a:r>
            <a:r>
              <a:rPr lang="ko-KR" altLang="en-US" b="1"/>
              <a:t>좋은 단위테스트란 뭘까요</a:t>
            </a:r>
            <a:r>
              <a:rPr lang="en-US" altLang="ko-KR" b="1"/>
              <a:t>?"</a:t>
            </a:r>
            <a:endParaRPr lang="ko-KR" altLang="en-US"/>
          </a:p>
          <a:p>
            <a:r>
              <a:rPr lang="ko-KR" altLang="en-US"/>
              <a:t>그냥 테스트 코드 작성한다고 다 좋은 테스트가 아니에요</a:t>
            </a:r>
            <a:r>
              <a:rPr lang="en-US" altLang="ko-KR"/>
              <a:t>. </a:t>
            </a:r>
            <a:r>
              <a:rPr lang="ko-KR" altLang="en-US"/>
              <a:t>오히려 </a:t>
            </a:r>
            <a:r>
              <a:rPr lang="ko-KR" altLang="en-US" b="1"/>
              <a:t>잘못된 테스트는 없느니만 못합니다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그래서 좋은 테스트의 기준이 필요한데</a:t>
            </a:r>
            <a:r>
              <a:rPr lang="en-US" altLang="ko-KR"/>
              <a:t>, </a:t>
            </a:r>
            <a:r>
              <a:rPr lang="ko-KR" altLang="en-US"/>
              <a:t>그게 바로 </a:t>
            </a:r>
            <a:r>
              <a:rPr lang="en-US" altLang="ko-KR" b="1"/>
              <a:t>FIRST </a:t>
            </a:r>
            <a:r>
              <a:rPr lang="ko-KR" altLang="en-US" b="1"/>
              <a:t>원칙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FIRST </a:t>
            </a:r>
            <a:r>
              <a:rPr lang="ko-KR" altLang="en-US" b="1"/>
              <a:t>원칙 소개</a:t>
            </a:r>
          </a:p>
          <a:p>
            <a:r>
              <a:rPr lang="ko-KR" altLang="en-US"/>
              <a:t>화면 상단을 보시면 </a:t>
            </a:r>
            <a:r>
              <a:rPr lang="en-US" altLang="ko-KR"/>
              <a:t>FIRST</a:t>
            </a:r>
            <a:r>
              <a:rPr lang="ko-KR" altLang="en-US"/>
              <a:t>가 뭔지 나와있어요</a:t>
            </a:r>
            <a:r>
              <a:rPr lang="en-US" altLang="ko-KR"/>
              <a:t>.</a:t>
            </a:r>
          </a:p>
          <a:p>
            <a:r>
              <a:rPr lang="en-US" altLang="ko-KR" b="1"/>
              <a:t>F.I.R.S.T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다섯 글자의 약자입니다</a:t>
            </a:r>
            <a:r>
              <a:rPr lang="en-US" altLang="ko-KR"/>
              <a:t>.</a:t>
            </a:r>
          </a:p>
          <a:p>
            <a:r>
              <a:rPr lang="en-US" altLang="ko-KR" b="1"/>
              <a:t>F</a:t>
            </a:r>
            <a:r>
              <a:rPr lang="ko-KR" altLang="en-US"/>
              <a:t> </a:t>
            </a:r>
            <a:r>
              <a:rPr lang="en-US" altLang="ko-KR"/>
              <a:t>- Fast (</a:t>
            </a:r>
            <a:r>
              <a:rPr lang="ko-KR" altLang="en-US"/>
              <a:t>빠르게</a:t>
            </a:r>
            <a:r>
              <a:rPr lang="en-US" altLang="ko-KR"/>
              <a:t>)</a:t>
            </a:r>
          </a:p>
          <a:p>
            <a:r>
              <a:rPr lang="en-US" altLang="ko-KR" b="1"/>
              <a:t>I</a:t>
            </a:r>
            <a:r>
              <a:rPr lang="ko-KR" altLang="en-US"/>
              <a:t> </a:t>
            </a:r>
            <a:r>
              <a:rPr lang="en-US" altLang="ko-KR"/>
              <a:t>- Independent (</a:t>
            </a:r>
            <a:r>
              <a:rPr lang="ko-KR" altLang="en-US"/>
              <a:t>독립적으로</a:t>
            </a:r>
            <a:r>
              <a:rPr lang="en-US" altLang="ko-KR"/>
              <a:t>)</a:t>
            </a:r>
          </a:p>
          <a:p>
            <a:r>
              <a:rPr lang="en-US" altLang="ko-KR" b="1"/>
              <a:t>R</a:t>
            </a:r>
            <a:r>
              <a:rPr lang="ko-KR" altLang="en-US"/>
              <a:t> </a:t>
            </a:r>
            <a:r>
              <a:rPr lang="en-US" altLang="ko-KR"/>
              <a:t>- Repeatable (</a:t>
            </a:r>
            <a:r>
              <a:rPr lang="ko-KR" altLang="en-US"/>
              <a:t>반복 가능하게</a:t>
            </a:r>
            <a:r>
              <a:rPr lang="en-US" altLang="ko-KR"/>
              <a:t>)</a:t>
            </a:r>
          </a:p>
          <a:p>
            <a:r>
              <a:rPr lang="en-US" altLang="ko-KR" b="1"/>
              <a:t>S</a:t>
            </a:r>
            <a:r>
              <a:rPr lang="ko-KR" altLang="en-US"/>
              <a:t> </a:t>
            </a:r>
            <a:r>
              <a:rPr lang="en-US" altLang="ko-KR"/>
              <a:t>- Self-Validating (</a:t>
            </a:r>
            <a:r>
              <a:rPr lang="ko-KR" altLang="en-US"/>
              <a:t>자가 검증</a:t>
            </a:r>
            <a:r>
              <a:rPr lang="en-US" altLang="ko-KR"/>
              <a:t>)</a:t>
            </a:r>
          </a:p>
          <a:p>
            <a:r>
              <a:rPr lang="en-US" altLang="ko-KR" b="1"/>
              <a:t>T</a:t>
            </a:r>
            <a:r>
              <a:rPr lang="ko-KR" altLang="en-US"/>
              <a:t> </a:t>
            </a:r>
            <a:r>
              <a:rPr lang="en-US" altLang="ko-KR"/>
              <a:t>- Timely (</a:t>
            </a:r>
            <a:r>
              <a:rPr lang="ko-KR" altLang="en-US"/>
              <a:t>적시에</a:t>
            </a:r>
            <a:r>
              <a:rPr lang="en-US" altLang="ko-KR"/>
              <a:t>)</a:t>
            </a:r>
          </a:p>
          <a:p>
            <a:r>
              <a:rPr lang="ko-KR" altLang="en-US"/>
              <a:t>이 다섯 가지가 </a:t>
            </a:r>
            <a:r>
              <a:rPr lang="ko-KR" altLang="en-US" b="1"/>
              <a:t>좋은 단위테스트의 조건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테스트 코드 작성하실 때 이 기준으로 점검해보시면 됩니다</a:t>
            </a:r>
            <a:r>
              <a:rPr lang="en-US" altLang="ko-KR"/>
              <a:t>.</a:t>
            </a:r>
          </a:p>
          <a:p>
            <a:r>
              <a:rPr lang="ko-KR" altLang="en-US"/>
              <a:t>각각 뭔지 간단히 설명드릴게요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 - Fast (</a:t>
            </a:r>
            <a:r>
              <a:rPr lang="ko-KR" altLang="en-US" b="1"/>
              <a:t>빠르게</a:t>
            </a:r>
            <a:r>
              <a:rPr lang="en-US" altLang="ko-KR" b="1"/>
              <a:t>) ⚡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Fast - </a:t>
            </a:r>
            <a:r>
              <a:rPr lang="ko-KR" altLang="en-US" b="1"/>
              <a:t>빠르게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테스트는 </a:t>
            </a:r>
            <a:r>
              <a:rPr lang="ko-KR" altLang="en-US" b="1"/>
              <a:t>빨라야 합니다</a:t>
            </a:r>
            <a:r>
              <a:rPr lang="en-US" altLang="ko-KR" b="1"/>
              <a:t>.</a:t>
            </a:r>
            <a:r>
              <a:rPr lang="ko-KR" altLang="en-US"/>
              <a:t> 테스트 하나 돌리는 데 </a:t>
            </a:r>
            <a:r>
              <a:rPr lang="en-US" altLang="ko-KR"/>
              <a:t>10</a:t>
            </a:r>
            <a:r>
              <a:rPr lang="ko-KR" altLang="en-US"/>
              <a:t>초 걸리면</a:t>
            </a:r>
            <a:r>
              <a:rPr lang="en-US" altLang="ko-KR"/>
              <a:t>? </a:t>
            </a:r>
            <a:r>
              <a:rPr lang="ko-KR" altLang="en-US"/>
              <a:t>안 돌립니다</a:t>
            </a:r>
            <a:r>
              <a:rPr lang="en-US" altLang="ko-KR"/>
              <a:t>. </a:t>
            </a:r>
            <a:r>
              <a:rPr lang="ko-KR" altLang="en-US"/>
              <a:t>귀찮아서요</a:t>
            </a:r>
            <a:r>
              <a:rPr lang="en-US" altLang="ko-KR"/>
              <a:t>.</a:t>
            </a:r>
          </a:p>
          <a:p>
            <a:r>
              <a:rPr lang="ko-KR" altLang="en-US"/>
              <a:t>좋은 단위테스트는 </a:t>
            </a:r>
            <a:r>
              <a:rPr lang="ko-KR" altLang="en-US" b="1"/>
              <a:t>밀리초 단위</a:t>
            </a:r>
            <a:r>
              <a:rPr lang="ko-KR" altLang="en-US"/>
              <a:t>로 끝나야 해요</a:t>
            </a:r>
            <a:r>
              <a:rPr lang="en-US" altLang="ko-KR"/>
              <a:t>. </a:t>
            </a:r>
            <a:r>
              <a:rPr lang="ko-KR" altLang="en-US"/>
              <a:t>그래야 수백 개 테스트를 몇 초 만에 돌릴 수 있고</a:t>
            </a:r>
            <a:r>
              <a:rPr lang="en-US" altLang="ko-KR"/>
              <a:t>, </a:t>
            </a:r>
            <a:r>
              <a:rPr lang="ko-KR" altLang="en-US"/>
              <a:t>개발하면서 </a:t>
            </a:r>
            <a:r>
              <a:rPr lang="ko-KR" altLang="en-US" b="1"/>
              <a:t>수시로</a:t>
            </a:r>
            <a:r>
              <a:rPr lang="ko-KR" altLang="en-US"/>
              <a:t> 돌려볼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테스트가 느리면 아무도 안 돌려요</a:t>
            </a:r>
            <a:r>
              <a:rPr lang="en-US" altLang="ko-KR"/>
              <a:t>. </a:t>
            </a:r>
            <a:r>
              <a:rPr lang="ko-KR" altLang="en-US"/>
              <a:t>무용지물이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I - Independent (</a:t>
            </a:r>
            <a:r>
              <a:rPr lang="ko-KR" altLang="en-US" b="1"/>
              <a:t>독립적으로</a:t>
            </a:r>
            <a:r>
              <a:rPr lang="en-US" altLang="ko-KR" b="1"/>
              <a:t>) </a:t>
            </a:r>
            <a:r>
              <a:rPr lang="ko-KR" altLang="en-US" b="1"/>
              <a:t>🔀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Independent - </a:t>
            </a:r>
            <a:r>
              <a:rPr lang="ko-KR" altLang="en-US" b="1"/>
              <a:t>독립적으로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각 테스트는 </a:t>
            </a:r>
            <a:r>
              <a:rPr lang="ko-KR" altLang="en-US" b="1"/>
              <a:t>서로 영향을 주면 안 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테스트</a:t>
            </a:r>
            <a:r>
              <a:rPr lang="en-US" altLang="ko-KR"/>
              <a:t>A </a:t>
            </a:r>
            <a:r>
              <a:rPr lang="ko-KR" altLang="en-US"/>
              <a:t>실행 → 테스트</a:t>
            </a:r>
            <a:r>
              <a:rPr lang="en-US" altLang="ko-KR"/>
              <a:t>B </a:t>
            </a:r>
            <a:r>
              <a:rPr lang="ko-KR" altLang="en-US"/>
              <a:t>실패</a:t>
            </a:r>
            <a:r>
              <a:rPr lang="en-US" altLang="ko-KR"/>
              <a:t>? </a:t>
            </a:r>
            <a:r>
              <a:rPr lang="ko-KR" altLang="en-US"/>
              <a:t>이러면 안 돼요</a:t>
            </a:r>
            <a:r>
              <a:rPr lang="en-US" altLang="ko-KR"/>
              <a:t>. </a:t>
            </a:r>
            <a:r>
              <a:rPr lang="ko-KR" altLang="en-US"/>
              <a:t>테스트 순서 바꿨다고 결과가 달라지면 안 됩니다</a:t>
            </a:r>
            <a:r>
              <a:rPr lang="en-US" altLang="ko-KR"/>
              <a:t>.</a:t>
            </a:r>
          </a:p>
          <a:p>
            <a:r>
              <a:rPr lang="ko-KR" altLang="en-US"/>
              <a:t>각 테스트는 </a:t>
            </a:r>
            <a:r>
              <a:rPr lang="ko-KR" altLang="en-US" b="1"/>
              <a:t>혼자서도 돌아가고</a:t>
            </a:r>
            <a:r>
              <a:rPr lang="en-US" altLang="ko-KR"/>
              <a:t>, </a:t>
            </a:r>
            <a:r>
              <a:rPr lang="ko-KR" altLang="en-US" b="1"/>
              <a:t>어떤 순서로 돌려도</a:t>
            </a:r>
            <a:r>
              <a:rPr lang="ko-KR" altLang="en-US"/>
              <a:t> 같은 결과가 나와야 합니다</a:t>
            </a:r>
            <a:r>
              <a:rPr lang="en-US" altLang="ko-KR"/>
              <a:t>.</a:t>
            </a:r>
          </a:p>
          <a:p>
            <a:r>
              <a:rPr lang="ko-KR" altLang="en-US"/>
              <a:t>서로 데이터 공유하거나</a:t>
            </a:r>
            <a:r>
              <a:rPr lang="en-US" altLang="ko-KR"/>
              <a:t>, </a:t>
            </a:r>
            <a:r>
              <a:rPr lang="ko-KR" altLang="en-US"/>
              <a:t>전역 상태 건드리면 안 돼요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 - Repeatable (</a:t>
            </a:r>
            <a:r>
              <a:rPr lang="ko-KR" altLang="en-US" b="1"/>
              <a:t>반복 가능하게</a:t>
            </a:r>
            <a:r>
              <a:rPr lang="en-US" altLang="ko-KR" b="1"/>
              <a:t>) </a:t>
            </a:r>
            <a:r>
              <a:rPr lang="ko-KR" altLang="en-US" b="1"/>
              <a:t>🔄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Repeatable - </a:t>
            </a:r>
            <a:r>
              <a:rPr lang="ko-KR" altLang="en-US" b="1"/>
              <a:t>반복 가능하게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오늘 돌리면 성공</a:t>
            </a:r>
            <a:r>
              <a:rPr lang="en-US" altLang="ko-KR"/>
              <a:t>, </a:t>
            </a:r>
            <a:r>
              <a:rPr lang="ko-KR" altLang="en-US"/>
              <a:t>내일 돌리면 실패</a:t>
            </a:r>
            <a:r>
              <a:rPr lang="en-US" altLang="ko-KR"/>
              <a:t>? </a:t>
            </a:r>
            <a:r>
              <a:rPr lang="ko-KR" altLang="en-US"/>
              <a:t>이러면 안 됩니다</a:t>
            </a:r>
            <a:r>
              <a:rPr lang="en-US" altLang="ko-KR"/>
              <a:t>.</a:t>
            </a:r>
          </a:p>
          <a:p>
            <a:r>
              <a:rPr lang="ko-KR" altLang="en-US" b="1"/>
              <a:t>언제</a:t>
            </a:r>
            <a:r>
              <a:rPr lang="en-US" altLang="ko-KR" b="1"/>
              <a:t>, </a:t>
            </a:r>
            <a:r>
              <a:rPr lang="ko-KR" altLang="en-US" b="1"/>
              <a:t>어디서</a:t>
            </a:r>
            <a:r>
              <a:rPr lang="en-US" altLang="ko-KR" b="1"/>
              <a:t>, </a:t>
            </a:r>
            <a:r>
              <a:rPr lang="ko-KR" altLang="en-US" b="1"/>
              <a:t>누가 돌려도</a:t>
            </a:r>
            <a:r>
              <a:rPr lang="ko-KR" altLang="en-US"/>
              <a:t> 같은 결과가 나와야 해요</a:t>
            </a:r>
            <a:r>
              <a:rPr lang="en-US" altLang="ko-KR"/>
              <a:t>.</a:t>
            </a:r>
          </a:p>
          <a:p>
            <a:r>
              <a:rPr lang="ko-KR" altLang="en-US"/>
              <a:t>그래서 테스트에 </a:t>
            </a:r>
            <a:r>
              <a:rPr lang="ko-KR" altLang="en-US" b="1"/>
              <a:t>현재 시간</a:t>
            </a:r>
            <a:r>
              <a:rPr lang="en-US" altLang="ko-KR"/>
              <a:t>, </a:t>
            </a:r>
            <a:r>
              <a:rPr lang="ko-KR" altLang="en-US" b="1"/>
              <a:t>랜덤 값</a:t>
            </a:r>
            <a:r>
              <a:rPr lang="en-US" altLang="ko-KR"/>
              <a:t>, </a:t>
            </a:r>
            <a:r>
              <a:rPr lang="ko-KR" altLang="en-US" b="1"/>
              <a:t>외부 </a:t>
            </a:r>
            <a:r>
              <a:rPr lang="en-US" altLang="ko-KR" b="1"/>
              <a:t>API </a:t>
            </a:r>
            <a:r>
              <a:rPr lang="ko-KR" altLang="en-US" b="1"/>
              <a:t>호출</a:t>
            </a:r>
            <a:r>
              <a:rPr lang="ko-KR" altLang="en-US"/>
              <a:t> 같은 거 넣으면 안 됩니다</a:t>
            </a:r>
            <a:r>
              <a:rPr lang="en-US" altLang="ko-KR"/>
              <a:t>. </a:t>
            </a:r>
            <a:r>
              <a:rPr lang="ko-KR" altLang="en-US"/>
              <a:t>이런 건 나중에 </a:t>
            </a:r>
            <a:r>
              <a:rPr lang="en-US" altLang="ko-KR"/>
              <a:t>Mock</a:t>
            </a:r>
            <a:r>
              <a:rPr lang="ko-KR" altLang="en-US"/>
              <a:t>으로 처리하는 방법 배울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 - Self-Validating (</a:t>
            </a:r>
            <a:r>
              <a:rPr lang="ko-KR" altLang="en-US" b="1"/>
              <a:t>자가 검증</a:t>
            </a:r>
            <a:r>
              <a:rPr lang="en-US" altLang="ko-KR" b="1"/>
              <a:t>) ✅</a:t>
            </a:r>
          </a:p>
          <a:p>
            <a:r>
              <a:rPr lang="ko-KR" altLang="en-US" b="1"/>
              <a:t>네 번째</a:t>
            </a:r>
            <a:r>
              <a:rPr lang="en-US" altLang="ko-KR" b="1"/>
              <a:t>, Self-Validating - </a:t>
            </a:r>
            <a:r>
              <a:rPr lang="ko-KR" altLang="en-US" b="1"/>
              <a:t>자가 검증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테스트 결과가 </a:t>
            </a:r>
            <a:r>
              <a:rPr lang="ko-KR" altLang="en-US" b="1"/>
              <a:t>성공</a:t>
            </a:r>
            <a:r>
              <a:rPr lang="en-US" altLang="ko-KR" b="1"/>
              <a:t>/</a:t>
            </a:r>
            <a:r>
              <a:rPr lang="ko-KR" altLang="en-US" b="1"/>
              <a:t>실패로 명확</a:t>
            </a:r>
            <a:r>
              <a:rPr lang="ko-KR" altLang="en-US"/>
              <a:t>해야 합니다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콘솔에 출력된 거 눈으로 확인해봐</a:t>
            </a:r>
            <a:r>
              <a:rPr lang="en-US" altLang="ko-KR"/>
              <a:t>" - </a:t>
            </a:r>
            <a:r>
              <a:rPr lang="ko-KR" altLang="en-US"/>
              <a:t>이건 테스트가 아닙니다</a:t>
            </a:r>
            <a:r>
              <a:rPr lang="en-US" altLang="ko-KR"/>
              <a:t>. </a:t>
            </a:r>
            <a:r>
              <a:rPr lang="ko-KR" altLang="en-US"/>
              <a:t>사람이 판단하면 안 돼요</a:t>
            </a:r>
            <a:r>
              <a:rPr lang="en-US" altLang="ko-KR"/>
              <a:t>.</a:t>
            </a:r>
          </a:p>
          <a:p>
            <a:r>
              <a:rPr lang="en-US" altLang="ko-KR" b="1"/>
              <a:t>Assert</a:t>
            </a:r>
            <a:r>
              <a:rPr lang="ko-KR" altLang="en-US"/>
              <a:t>로 명확하게</a:t>
            </a:r>
            <a:r>
              <a:rPr lang="en-US" altLang="ko-KR"/>
              <a:t>!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Assert.AreEqual(expected, actual)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같으면 성공</a:t>
            </a:r>
            <a:r>
              <a:rPr lang="en-US" altLang="ko-KR"/>
              <a:t>, </a:t>
            </a:r>
            <a:r>
              <a:rPr lang="ko-KR" altLang="en-US"/>
              <a:t>다르면 실패</a:t>
            </a:r>
            <a:r>
              <a:rPr lang="en-US" altLang="ko-KR"/>
              <a:t>. </a:t>
            </a:r>
            <a:r>
              <a:rPr lang="ko-KR" altLang="en-US"/>
              <a:t>기계가 자동으로 판단해야 합니다</a:t>
            </a:r>
            <a:r>
              <a:rPr lang="en-US" altLang="ko-KR"/>
              <a:t>.</a:t>
            </a:r>
          </a:p>
          <a:p>
            <a:r>
              <a:rPr lang="ko-KR" altLang="en-US"/>
              <a:t>그래야 </a:t>
            </a:r>
            <a:r>
              <a:rPr lang="en-US" altLang="ko-KR"/>
              <a:t>CI/CD</a:t>
            </a:r>
            <a:r>
              <a:rPr lang="ko-KR" altLang="en-US"/>
              <a:t>에서 자동으로 돌릴 수 있잖아요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 - Timely (</a:t>
            </a:r>
            <a:r>
              <a:rPr lang="ko-KR" altLang="en-US" b="1"/>
              <a:t>적시에</a:t>
            </a:r>
            <a:r>
              <a:rPr lang="en-US" altLang="ko-KR" b="1"/>
              <a:t>) ⏰</a:t>
            </a:r>
          </a:p>
          <a:p>
            <a:r>
              <a:rPr lang="ko-KR" altLang="en-US" b="1"/>
              <a:t>다섯 번째</a:t>
            </a:r>
            <a:r>
              <a:rPr lang="en-US" altLang="ko-KR" b="1"/>
              <a:t>, Timely - </a:t>
            </a:r>
            <a:r>
              <a:rPr lang="ko-KR" altLang="en-US" b="1"/>
              <a:t>적시에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테스트는 </a:t>
            </a:r>
            <a:r>
              <a:rPr lang="ko-KR" altLang="en-US" b="1"/>
              <a:t>제때 작성</a:t>
            </a:r>
            <a:r>
              <a:rPr lang="ko-KR" altLang="en-US"/>
              <a:t>해야 합니다</a:t>
            </a:r>
            <a:r>
              <a:rPr lang="en-US" altLang="ko-KR"/>
              <a:t>.</a:t>
            </a:r>
          </a:p>
          <a:p>
            <a:r>
              <a:rPr lang="ko-KR" altLang="en-US"/>
              <a:t>기능 코드 다 만들고 나서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테스트 짜야지</a:t>
            </a:r>
            <a:r>
              <a:rPr lang="en-US" altLang="ko-KR"/>
              <a:t>..." </a:t>
            </a:r>
            <a:r>
              <a:rPr lang="ko-KR" altLang="en-US"/>
              <a:t>하면</a:t>
            </a:r>
            <a:r>
              <a:rPr lang="en-US" altLang="ko-KR"/>
              <a:t>? </a:t>
            </a:r>
            <a:r>
              <a:rPr lang="ko-KR" altLang="en-US"/>
              <a:t>귀찮아서 안 짜게 됩니다</a:t>
            </a:r>
            <a:r>
              <a:rPr lang="en-US" altLang="ko-KR"/>
              <a:t>. </a:t>
            </a:r>
            <a:r>
              <a:rPr lang="ko-KR" altLang="en-US"/>
              <a:t>솔직히요</a:t>
            </a:r>
            <a:r>
              <a:rPr lang="en-US" altLang="ko-KR"/>
              <a:t>.</a:t>
            </a:r>
          </a:p>
          <a:p>
            <a:r>
              <a:rPr lang="ko-KR" altLang="en-US"/>
              <a:t>가장 좋은 건 </a:t>
            </a:r>
            <a:r>
              <a:rPr lang="en-US" altLang="ko-KR" b="1"/>
              <a:t>TDD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테스트를 먼저 작성하는 거예요</a:t>
            </a:r>
            <a:r>
              <a:rPr lang="en-US" altLang="ko-KR"/>
              <a:t>. </a:t>
            </a:r>
            <a:r>
              <a:rPr lang="ko-KR" altLang="en-US"/>
              <a:t>아니면 적어도 </a:t>
            </a:r>
            <a:r>
              <a:rPr lang="ko-KR" altLang="en-US" b="1"/>
              <a:t>기능 코드와 동시에</a:t>
            </a:r>
            <a:r>
              <a:rPr lang="ko-KR" altLang="en-US"/>
              <a:t> 작성하세요</a:t>
            </a:r>
            <a:r>
              <a:rPr lang="en-US" altLang="ko-KR"/>
              <a:t>.</a:t>
            </a:r>
          </a:p>
          <a:p>
            <a:r>
              <a:rPr lang="ko-KR" altLang="en-US"/>
              <a:t>나중에 몰아서 짜면 테스트 작성이 </a:t>
            </a:r>
            <a:r>
              <a:rPr lang="ko-KR" altLang="en-US" b="1"/>
              <a:t>고역</a:t>
            </a:r>
            <a:r>
              <a:rPr lang="ko-KR" altLang="en-US"/>
              <a:t>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FIRST </a:t>
            </a:r>
            <a:r>
              <a:rPr lang="ko-KR" altLang="en-US" b="1"/>
              <a:t>원칙을 사용하는 이유</a:t>
            </a:r>
          </a:p>
          <a:p>
            <a:r>
              <a:rPr lang="ko-KR" altLang="en-US"/>
              <a:t>그럼 </a:t>
            </a:r>
            <a:r>
              <a:rPr lang="en-US" altLang="ko-KR"/>
              <a:t>FIRST </a:t>
            </a:r>
            <a:r>
              <a:rPr lang="ko-KR" altLang="en-US"/>
              <a:t>원칙을 왜 지켜야 할까요</a:t>
            </a:r>
            <a:r>
              <a:rPr lang="en-US" altLang="ko-KR"/>
              <a:t>? </a:t>
            </a:r>
            <a:r>
              <a:rPr lang="ko-KR" altLang="en-US"/>
              <a:t>화면에 세 가지 이유가 나와있습니다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이유 </a:t>
            </a:r>
            <a:r>
              <a:rPr lang="en-US" altLang="ko-KR" b="1"/>
              <a:t>1: </a:t>
            </a:r>
            <a:r>
              <a:rPr lang="ko-KR" altLang="en-US" b="1"/>
              <a:t>명확한 기준 ⚡</a:t>
            </a:r>
          </a:p>
          <a:p>
            <a:r>
              <a:rPr lang="ko-KR" altLang="en-US" b="1"/>
              <a:t>첫째</a:t>
            </a:r>
            <a:r>
              <a:rPr lang="en-US" altLang="ko-KR" b="1"/>
              <a:t>, </a:t>
            </a:r>
            <a:r>
              <a:rPr lang="ko-KR" altLang="en-US" b="1"/>
              <a:t>명확한 기준을 제공합니다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"</a:t>
            </a:r>
            <a:r>
              <a:rPr lang="ko-KR" altLang="en-US"/>
              <a:t>좋은 테스트가 뭐야</a:t>
            </a:r>
            <a:r>
              <a:rPr lang="en-US" altLang="ko-KR"/>
              <a:t>?"</a:t>
            </a:r>
            <a:r>
              <a:rPr lang="ko-KR" altLang="en-US"/>
              <a:t>라는 질문에 답이 생깁니다</a:t>
            </a:r>
            <a:r>
              <a:rPr lang="en-US" altLang="ko-KR"/>
              <a:t>. FIRST </a:t>
            </a:r>
            <a:r>
              <a:rPr lang="ko-KR" altLang="en-US"/>
              <a:t>원칙에 맞으면 좋은 테스트</a:t>
            </a:r>
            <a:r>
              <a:rPr lang="en-US" altLang="ko-KR"/>
              <a:t>, </a:t>
            </a:r>
            <a:r>
              <a:rPr lang="ko-KR" altLang="en-US"/>
              <a:t>안 맞으면 개선이 필요한 테스트</a:t>
            </a:r>
            <a:r>
              <a:rPr lang="en-US" altLang="ko-KR"/>
              <a:t>.</a:t>
            </a:r>
          </a:p>
          <a:p>
            <a:r>
              <a:rPr lang="ko-KR" altLang="en-US"/>
              <a:t>팀 전체가 </a:t>
            </a:r>
            <a:r>
              <a:rPr lang="ko-KR" altLang="en-US" b="1"/>
              <a:t>일관된 품질</a:t>
            </a:r>
            <a:r>
              <a:rPr lang="ko-KR" altLang="en-US"/>
              <a:t>의 테스트를 작성할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이유 </a:t>
            </a:r>
            <a:r>
              <a:rPr lang="en-US" altLang="ko-KR" b="1"/>
              <a:t>2: </a:t>
            </a:r>
            <a:r>
              <a:rPr lang="ko-KR" altLang="en-US" b="1"/>
              <a:t>테스트 품질 향상 ✅</a:t>
            </a:r>
          </a:p>
          <a:p>
            <a:r>
              <a:rPr lang="ko-KR" altLang="en-US" b="1"/>
              <a:t>둘째</a:t>
            </a:r>
            <a:r>
              <a:rPr lang="en-US" altLang="ko-KR" b="1"/>
              <a:t>, </a:t>
            </a:r>
            <a:r>
              <a:rPr lang="ko-KR" altLang="en-US" b="1"/>
              <a:t>테스트 품질이 향상됩니다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FIRST</a:t>
            </a:r>
            <a:r>
              <a:rPr lang="ko-KR" altLang="en-US"/>
              <a:t>를 지키면 </a:t>
            </a:r>
            <a:r>
              <a:rPr lang="ko-KR" altLang="en-US" b="1"/>
              <a:t>유지보수하기 쉽고</a:t>
            </a:r>
            <a:r>
              <a:rPr lang="en-US" altLang="ko-KR"/>
              <a:t>, </a:t>
            </a:r>
            <a:r>
              <a:rPr lang="ko-KR" altLang="en-US" b="1"/>
              <a:t>신뢰할 수 있는</a:t>
            </a:r>
            <a:r>
              <a:rPr lang="ko-KR" altLang="en-US"/>
              <a:t> 테스트가 만들어집니다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이 테스트 믿어도 돼</a:t>
            </a:r>
            <a:r>
              <a:rPr lang="en-US" altLang="ko-KR"/>
              <a:t>?" </a:t>
            </a:r>
            <a:r>
              <a:rPr lang="ko-KR" altLang="en-US"/>
              <a:t>의심 안 해도 되는 거죠</a:t>
            </a:r>
            <a:r>
              <a:rPr lang="en-US" altLang="ko-KR"/>
              <a:t>. </a:t>
            </a:r>
            <a:r>
              <a:rPr lang="ko-KR" altLang="en-US"/>
              <a:t>초록불 뜨면 진짜 </a:t>
            </a:r>
            <a:r>
              <a:rPr lang="en-US" altLang="ko-KR"/>
              <a:t>OK, </a:t>
            </a:r>
            <a:r>
              <a:rPr lang="ko-KR" altLang="en-US"/>
              <a:t>빨간불 뜨면 진짜 문제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이유 </a:t>
            </a:r>
            <a:r>
              <a:rPr lang="en-US" altLang="ko-KR" b="1"/>
              <a:t>3: CI/CD </a:t>
            </a:r>
            <a:r>
              <a:rPr lang="ko-KR" altLang="en-US" b="1"/>
              <a:t>지원 🔄</a:t>
            </a:r>
          </a:p>
          <a:p>
            <a:r>
              <a:rPr lang="ko-KR" altLang="en-US" b="1"/>
              <a:t>셋째</a:t>
            </a:r>
            <a:r>
              <a:rPr lang="en-US" altLang="ko-KR" b="1"/>
              <a:t>, CI/CD</a:t>
            </a:r>
            <a:r>
              <a:rPr lang="ko-KR" altLang="en-US" b="1"/>
              <a:t>에 적합해집니다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자동화된 빌드</a:t>
            </a:r>
            <a:r>
              <a:rPr lang="en-US" altLang="ko-KR"/>
              <a:t>, </a:t>
            </a:r>
            <a:r>
              <a:rPr lang="ko-KR" altLang="en-US"/>
              <a:t>자동화된 배포</a:t>
            </a:r>
            <a:r>
              <a:rPr lang="en-US" altLang="ko-KR"/>
              <a:t>. </a:t>
            </a:r>
            <a:r>
              <a:rPr lang="ko-KR" altLang="en-US"/>
              <a:t>이게 되려면 테스트도 </a:t>
            </a:r>
            <a:r>
              <a:rPr lang="ko-KR" altLang="en-US" b="1"/>
              <a:t>자동으로 돌아가야</a:t>
            </a:r>
            <a:r>
              <a:rPr lang="ko-KR" altLang="en-US"/>
              <a:t> 합니다</a:t>
            </a:r>
            <a:r>
              <a:rPr lang="en-US" altLang="ko-KR"/>
              <a:t>.</a:t>
            </a:r>
          </a:p>
          <a:p>
            <a:r>
              <a:rPr lang="ko-KR" altLang="en-US"/>
              <a:t>빠르고</a:t>
            </a:r>
            <a:r>
              <a:rPr lang="en-US" altLang="ko-KR"/>
              <a:t>(F), </a:t>
            </a:r>
            <a:r>
              <a:rPr lang="ko-KR" altLang="en-US"/>
              <a:t>독립적이고</a:t>
            </a:r>
            <a:r>
              <a:rPr lang="en-US" altLang="ko-KR"/>
              <a:t>(I), </a:t>
            </a:r>
            <a:r>
              <a:rPr lang="ko-KR" altLang="en-US"/>
              <a:t>반복 가능하고</a:t>
            </a:r>
            <a:r>
              <a:rPr lang="en-US" altLang="ko-KR"/>
              <a:t>(R), </a:t>
            </a:r>
            <a:r>
              <a:rPr lang="ko-KR" altLang="en-US"/>
              <a:t>자가 검증되는</a:t>
            </a:r>
            <a:r>
              <a:rPr lang="en-US" altLang="ko-KR"/>
              <a:t>(S) </a:t>
            </a:r>
            <a:r>
              <a:rPr lang="ko-KR" altLang="en-US"/>
              <a:t>테스트만 </a:t>
            </a:r>
            <a:r>
              <a:rPr lang="en-US" altLang="ko-KR"/>
              <a:t>CI/CD </a:t>
            </a:r>
            <a:r>
              <a:rPr lang="ko-KR" altLang="en-US"/>
              <a:t>파이프라인에 넣을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예시</a:t>
            </a:r>
          </a:p>
          <a:p>
            <a:r>
              <a:rPr lang="ko-KR" altLang="en-US"/>
              <a:t>하단에 </a:t>
            </a:r>
            <a:r>
              <a:rPr lang="en-US" altLang="ko-KR"/>
              <a:t>FIRST </a:t>
            </a:r>
            <a:r>
              <a:rPr lang="ko-KR" altLang="en-US"/>
              <a:t>원칙을 적용한 테스트 예시가 있습니다</a:t>
            </a:r>
            <a:r>
              <a:rPr lang="en-US" altLang="ko-KR"/>
              <a:t>. </a:t>
            </a:r>
            <a:r>
              <a:rPr lang="ko-KR" altLang="en-US"/>
              <a:t>같이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FIRST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원칙을 따른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IsValidEmail_WithValidFormat_ReturnsTrue()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EmailValidator();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validator.IsValidEmail("user@example.com");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테스트가 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지키는지 하나씩 체크해볼까요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(Fast)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호출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 안에 끝납니다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(Independent)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다른 테스트에 의존하지 않아요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EmailValidator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만들잖아요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(Repeatable)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언제 돌려도 결과 같습니다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의존 없어요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(Self-Validating)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`Assert.IsTrue(result)`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결과가 명확합니다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(Timely)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이건 코드만 봐서는 모르지만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개발할 때 같이 작성했다고 가정하면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이게 **좋은 단위테스트**입니다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원칙**은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빠르게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ndependent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독립적으로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epeatable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반복 가능하게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elf-Validating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자가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imely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적시에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다섯 가지입니다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코드 작성하실 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원칙에 맞나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한번씩 점검해보세요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그러면 자연스럽게 좋은 테스트를 작성하게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슬라이드에서 각 원칙을 더 자세히 살펴보겠습니다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FIRST </a:t>
            </a:r>
            <a:r>
              <a:rPr lang="ko-KR" altLang="en-US"/>
              <a:t>원칙 첫 번째입니다</a:t>
            </a:r>
            <a:r>
              <a:rPr lang="en-US" altLang="ko-KR"/>
              <a:t>.</a:t>
            </a:r>
          </a:p>
          <a:p>
            <a:r>
              <a:rPr lang="en-US" altLang="ko-KR" b="1"/>
              <a:t>F - Fast, </a:t>
            </a:r>
            <a:r>
              <a:rPr lang="ko-KR" altLang="en-US" b="1"/>
              <a:t>빠르게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이게 왜 첫 번째일까요</a:t>
            </a:r>
            <a:r>
              <a:rPr lang="en-US" altLang="ko-KR"/>
              <a:t>? </a:t>
            </a:r>
            <a:r>
              <a:rPr lang="ko-KR" altLang="en-US"/>
              <a:t>테스트가 느리면 </a:t>
            </a:r>
            <a:r>
              <a:rPr lang="ko-KR" altLang="en-US" b="1"/>
              <a:t>아무도 안 돌리기 때문입니다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아무리 좋은 테스트도 실행 안 하면 의미 없잖아요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밀리초</a:t>
            </a:r>
            <a:r>
              <a:rPr lang="en-US" altLang="ko-KR" b="1"/>
              <a:t>~</a:t>
            </a:r>
            <a:r>
              <a:rPr lang="ko-KR" altLang="en-US" b="1"/>
              <a:t>초 단위 실행 ⚡</a:t>
            </a:r>
          </a:p>
          <a:p>
            <a:r>
              <a:rPr lang="ko-KR" altLang="en-US"/>
              <a:t>첫 번째 박스를 보시죠</a:t>
            </a:r>
            <a:r>
              <a:rPr lang="en-US" altLang="ko-KR"/>
              <a:t>. </a:t>
            </a:r>
            <a:r>
              <a:rPr lang="ko-KR" altLang="en-US" b="1"/>
              <a:t>밀리초</a:t>
            </a:r>
            <a:r>
              <a:rPr lang="en-US" altLang="ko-KR" b="1"/>
              <a:t>~</a:t>
            </a:r>
            <a:r>
              <a:rPr lang="ko-KR" altLang="en-US" b="1"/>
              <a:t>초 단위 실행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테스트는 가능한 빠르게 실행되어야 합니다</a:t>
            </a:r>
            <a:r>
              <a:rPr lang="en-US" altLang="ko-KR" i="1"/>
              <a:t>. </a:t>
            </a:r>
            <a:r>
              <a:rPr lang="ko-KR" altLang="en-US" i="1"/>
              <a:t>이상적으로 각 테스트는 밀리초 단위로</a:t>
            </a:r>
            <a:r>
              <a:rPr lang="en-US" altLang="ko-KR" i="1"/>
              <a:t>, </a:t>
            </a:r>
            <a:r>
              <a:rPr lang="ko-KR" altLang="en-US" i="1"/>
              <a:t>전체 테스트 묶음은 수 초 내로 완료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숫자로 말씀드릴게요</a:t>
            </a:r>
            <a:r>
              <a:rPr lang="en-US" altLang="ko-KR"/>
              <a:t>.</a:t>
            </a:r>
          </a:p>
          <a:p>
            <a:r>
              <a:rPr lang="ko-KR" altLang="en-US" b="1"/>
              <a:t>테스트 </a:t>
            </a:r>
            <a:r>
              <a:rPr lang="en-US" altLang="ko-KR" b="1"/>
              <a:t>1</a:t>
            </a:r>
            <a:r>
              <a:rPr lang="ko-KR" altLang="en-US" b="1"/>
              <a:t>개</a:t>
            </a:r>
            <a:r>
              <a:rPr lang="en-US" altLang="ko-KR"/>
              <a:t>: 110 </a:t>
            </a:r>
            <a:r>
              <a:rPr lang="ko-KR" altLang="en-US"/>
              <a:t>밀리초 </a:t>
            </a:r>
            <a:r>
              <a:rPr lang="en-US" altLang="ko-KR"/>
              <a:t>(0.0010.01</a:t>
            </a:r>
            <a:r>
              <a:rPr lang="ko-KR" altLang="en-US"/>
              <a:t>초</a:t>
            </a:r>
            <a:r>
              <a:rPr lang="en-US" altLang="ko-KR"/>
              <a:t>)</a:t>
            </a:r>
          </a:p>
          <a:p>
            <a:r>
              <a:rPr lang="ko-KR" altLang="en-US" b="1"/>
              <a:t>테스트 </a:t>
            </a:r>
            <a:r>
              <a:rPr lang="en-US" altLang="ko-KR" b="1"/>
              <a:t>100</a:t>
            </a:r>
            <a:r>
              <a:rPr lang="ko-KR" altLang="en-US" b="1"/>
              <a:t>개</a:t>
            </a:r>
            <a:r>
              <a:rPr lang="en-US" altLang="ko-KR"/>
              <a:t>: 1</a:t>
            </a:r>
            <a:r>
              <a:rPr lang="ko-KR" altLang="en-US"/>
              <a:t>초 이내</a:t>
            </a:r>
          </a:p>
          <a:p>
            <a:r>
              <a:rPr lang="ko-KR" altLang="en-US" b="1"/>
              <a:t>테스트 </a:t>
            </a:r>
            <a:r>
              <a:rPr lang="en-US" altLang="ko-KR" b="1"/>
              <a:t>500</a:t>
            </a:r>
            <a:r>
              <a:rPr lang="ko-KR" altLang="en-US" b="1"/>
              <a:t>개</a:t>
            </a:r>
            <a:r>
              <a:rPr lang="en-US" altLang="ko-KR"/>
              <a:t>: 5</a:t>
            </a:r>
            <a:r>
              <a:rPr lang="ko-KR" altLang="en-US"/>
              <a:t>초 이내</a:t>
            </a:r>
          </a:p>
          <a:p>
            <a:r>
              <a:rPr lang="ko-KR" altLang="en-US"/>
              <a:t>이 정도가 </a:t>
            </a:r>
            <a:r>
              <a:rPr lang="ko-KR" altLang="en-US" b="1"/>
              <a:t>이상적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하나 돌리는 데 </a:t>
            </a:r>
            <a:r>
              <a:rPr lang="en-US" altLang="ko-KR"/>
              <a:t>1</a:t>
            </a:r>
            <a:r>
              <a:rPr lang="ko-KR" altLang="en-US"/>
              <a:t>초 걸리면</a:t>
            </a:r>
            <a:r>
              <a:rPr lang="en-US" altLang="ko-KR"/>
              <a:t>? 100</a:t>
            </a:r>
            <a:r>
              <a:rPr lang="ko-KR" altLang="en-US"/>
              <a:t>개 돌리면 </a:t>
            </a:r>
            <a:r>
              <a:rPr lang="en-US" altLang="ko-KR"/>
              <a:t>100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거의 </a:t>
            </a:r>
            <a:r>
              <a:rPr lang="en-US" altLang="ko-KR" b="1"/>
              <a:t>2</a:t>
            </a:r>
            <a:r>
              <a:rPr lang="ko-KR" altLang="en-US" b="1"/>
              <a:t>분</a:t>
            </a:r>
            <a:r>
              <a:rPr lang="ko-KR" altLang="en-US"/>
              <a:t>이에요</a:t>
            </a:r>
            <a:r>
              <a:rPr lang="en-US" altLang="ko-KR"/>
              <a:t>. </a:t>
            </a:r>
            <a:r>
              <a:rPr lang="ko-KR" altLang="en-US"/>
              <a:t>그럼 개발하다가 </a:t>
            </a:r>
            <a:r>
              <a:rPr lang="en-US" altLang="ko-KR"/>
              <a:t>"</a:t>
            </a:r>
            <a:r>
              <a:rPr lang="ko-KR" altLang="en-US"/>
              <a:t>테스트 돌리기 귀찮네</a:t>
            </a:r>
            <a:r>
              <a:rPr lang="en-US" altLang="ko-KR"/>
              <a:t>..." </a:t>
            </a:r>
            <a:r>
              <a:rPr lang="ko-KR" altLang="en-US"/>
              <a:t>하게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느린 </a:t>
            </a:r>
            <a:r>
              <a:rPr lang="en-US" altLang="ko-KR" b="1"/>
              <a:t>I/O </a:t>
            </a:r>
            <a:r>
              <a:rPr lang="ko-KR" altLang="en-US" b="1"/>
              <a:t>제거 🗄️</a:t>
            </a:r>
          </a:p>
          <a:p>
            <a:r>
              <a:rPr lang="ko-KR" altLang="en-US"/>
              <a:t>두 번째 박스</a:t>
            </a:r>
            <a:r>
              <a:rPr lang="en-US" altLang="ko-KR"/>
              <a:t>, </a:t>
            </a:r>
            <a:r>
              <a:rPr lang="ko-KR" altLang="en-US" b="1"/>
              <a:t>느린 </a:t>
            </a:r>
            <a:r>
              <a:rPr lang="en-US" altLang="ko-KR" b="1"/>
              <a:t>I/O </a:t>
            </a:r>
            <a:r>
              <a:rPr lang="ko-KR" altLang="en-US" b="1"/>
              <a:t>제거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"DB, </a:t>
            </a:r>
            <a:r>
              <a:rPr lang="ko-KR" altLang="en-US" i="1"/>
              <a:t>파일 시스템</a:t>
            </a:r>
            <a:r>
              <a:rPr lang="en-US" altLang="ko-KR" i="1"/>
              <a:t>, </a:t>
            </a:r>
            <a:r>
              <a:rPr lang="ko-KR" altLang="en-US" i="1"/>
              <a:t>네트워크 호출 배제</a:t>
            </a:r>
            <a:r>
              <a:rPr lang="en-US" altLang="ko-KR" i="1"/>
              <a:t>. </a:t>
            </a:r>
            <a:r>
              <a:rPr lang="ko-KR" altLang="en-US" i="1"/>
              <a:t>외부 서비스나 </a:t>
            </a:r>
            <a:r>
              <a:rPr lang="en-US" altLang="ko-KR" i="1"/>
              <a:t>API </a:t>
            </a:r>
            <a:r>
              <a:rPr lang="ko-KR" altLang="en-US" i="1"/>
              <a:t>의존성은 모의 객체</a:t>
            </a:r>
            <a:r>
              <a:rPr lang="en-US" altLang="ko-KR" i="1"/>
              <a:t>(Mock)</a:t>
            </a:r>
            <a:r>
              <a:rPr lang="ko-KR" altLang="en-US" i="1"/>
              <a:t>로 대체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테스트가 느려지는 </a:t>
            </a:r>
            <a:r>
              <a:rPr lang="ko-KR" altLang="en-US" b="1"/>
              <a:t>주범</a:t>
            </a:r>
            <a:r>
              <a:rPr lang="ko-KR" altLang="en-US"/>
              <a:t>이 뭘까요</a:t>
            </a:r>
            <a:r>
              <a:rPr lang="en-US" altLang="ko-KR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느린 작업 순위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🐌 네트워크 호출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(API)    →  100ms ~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 초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🐌 데이터베이스 쿼리      →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10ms ~ 100ms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🐌 파일 읽기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쓰기        →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1ms ~ 10ms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 내 연산         →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0.001ms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마이크로초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보시면 </a:t>
            </a:r>
            <a:r>
              <a:rPr lang="ko-KR" altLang="en-US" b="1"/>
              <a:t>네트워크</a:t>
            </a:r>
            <a:r>
              <a:rPr lang="en-US" altLang="ko-KR" b="1"/>
              <a:t>, DB, </a:t>
            </a:r>
            <a:r>
              <a:rPr lang="ko-KR" altLang="en-US" b="1"/>
              <a:t>파일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이게 다 </a:t>
            </a:r>
            <a:r>
              <a:rPr lang="en-US" altLang="ko-KR" b="1"/>
              <a:t>I/O </a:t>
            </a:r>
            <a:r>
              <a:rPr lang="ko-KR" altLang="en-US" b="1"/>
              <a:t>작업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단위테스트에서는 이런 거 </a:t>
            </a:r>
            <a:r>
              <a:rPr lang="ko-KR" altLang="en-US" b="1"/>
              <a:t>빼야</a:t>
            </a:r>
            <a:r>
              <a:rPr lang="ko-KR" altLang="en-US"/>
              <a:t> 해요</a:t>
            </a:r>
            <a:r>
              <a:rPr lang="en-US" altLang="ko-KR"/>
              <a:t>.</a:t>
            </a:r>
          </a:p>
          <a:p>
            <a:r>
              <a:rPr lang="ko-KR" altLang="en-US"/>
              <a:t>그럼 어떻게 테스트하냐고요</a:t>
            </a:r>
            <a:r>
              <a:rPr lang="en-US" altLang="ko-KR"/>
              <a:t>? </a:t>
            </a:r>
            <a:r>
              <a:rPr lang="en-US" altLang="ko-KR" b="1"/>
              <a:t>Mock</a:t>
            </a:r>
            <a:r>
              <a:rPr lang="ko-KR" altLang="en-US"/>
              <a:t>으로 대체합니다</a:t>
            </a:r>
            <a:r>
              <a:rPr lang="en-US" altLang="ko-KR"/>
              <a:t>. </a:t>
            </a:r>
            <a:r>
              <a:rPr lang="ko-KR" altLang="en-US"/>
              <a:t>이건 나중에 </a:t>
            </a:r>
            <a:r>
              <a:rPr lang="en-US" altLang="ko-KR"/>
              <a:t>Moq </a:t>
            </a:r>
            <a:r>
              <a:rPr lang="ko-KR" altLang="en-US"/>
              <a:t>시간에 자세히 다룰게요</a:t>
            </a:r>
            <a:r>
              <a:rPr lang="en-US" altLang="ko-KR"/>
              <a:t>.</a:t>
            </a:r>
          </a:p>
          <a:p>
            <a:r>
              <a:rPr lang="ko-KR" altLang="en-US"/>
              <a:t>일단 지금은 </a:t>
            </a:r>
            <a:r>
              <a:rPr lang="en-US" altLang="ko-KR"/>
              <a:t>"</a:t>
            </a:r>
            <a:r>
              <a:rPr lang="ko-KR" altLang="en-US"/>
              <a:t>단위테스트에서 </a:t>
            </a:r>
            <a:r>
              <a:rPr lang="en-US" altLang="ko-KR"/>
              <a:t>DB </a:t>
            </a:r>
            <a:r>
              <a:rPr lang="ko-KR" altLang="en-US"/>
              <a:t>연결하면 안 되는구나</a:t>
            </a:r>
            <a:r>
              <a:rPr lang="en-US" altLang="ko-KR"/>
              <a:t>" </a:t>
            </a:r>
            <a:r>
              <a:rPr lang="ko-KR" altLang="en-US"/>
              <a:t>이것만 기억하세요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묶음 병렬 실행 🔀</a:t>
            </a:r>
          </a:p>
          <a:p>
            <a:r>
              <a:rPr lang="ko-KR" altLang="en-US"/>
              <a:t>세 번째 박스</a:t>
            </a:r>
            <a:r>
              <a:rPr lang="en-US" altLang="ko-KR"/>
              <a:t>, </a:t>
            </a:r>
            <a:r>
              <a:rPr lang="ko-KR" altLang="en-US" b="1"/>
              <a:t>테스트 묶음 병렬 실행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독립적인 테스트 설계로 병렬 실행 가능</a:t>
            </a:r>
            <a:r>
              <a:rPr lang="en-US" altLang="ko-KR" i="1"/>
              <a:t>. CI/CD </a:t>
            </a:r>
            <a:r>
              <a:rPr lang="ko-KR" altLang="en-US" i="1"/>
              <a:t>파이프라인에서 빠른 피드백 루프 확보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테스트가 </a:t>
            </a:r>
            <a:r>
              <a:rPr lang="ko-KR" altLang="en-US" b="1"/>
              <a:t>독립적</a:t>
            </a:r>
            <a:r>
              <a:rPr lang="ko-KR" altLang="en-US"/>
              <a:t>이면 뭐가 좋을까요</a:t>
            </a:r>
            <a:r>
              <a:rPr lang="en-US" altLang="ko-KR"/>
              <a:t>? </a:t>
            </a:r>
            <a:r>
              <a:rPr lang="ko-KR" altLang="en-US" b="1"/>
              <a:t>동시에</a:t>
            </a:r>
            <a:r>
              <a:rPr lang="ko-KR" altLang="en-US"/>
              <a:t> 돌릴 수 있습니다</a:t>
            </a:r>
            <a:r>
              <a:rPr lang="en-US" altLang="ko-KR"/>
              <a:t>!</a:t>
            </a:r>
          </a:p>
          <a:p>
            <a:r>
              <a:rPr lang="ko-KR" altLang="en-US"/>
              <a:t>테스트 </a:t>
            </a:r>
            <a:r>
              <a:rPr lang="en-US" altLang="ko-KR"/>
              <a:t>100</a:t>
            </a:r>
            <a:r>
              <a:rPr lang="ko-KR" altLang="en-US"/>
              <a:t>개를 순차적으로 돌리면 </a:t>
            </a:r>
            <a:r>
              <a:rPr lang="en-US" altLang="ko-KR"/>
              <a:t>10</a:t>
            </a:r>
            <a:r>
              <a:rPr lang="ko-KR" altLang="en-US"/>
              <a:t>초 걸린다고 해봅시다</a:t>
            </a:r>
            <a:r>
              <a:rPr lang="en-US" altLang="ko-KR"/>
              <a:t>. </a:t>
            </a:r>
            <a:r>
              <a:rPr lang="ko-KR" altLang="en-US"/>
              <a:t>근데 </a:t>
            </a:r>
            <a:r>
              <a:rPr lang="en-US" altLang="ko-KR"/>
              <a:t>10</a:t>
            </a:r>
            <a:r>
              <a:rPr lang="ko-KR" altLang="en-US"/>
              <a:t>개씩 병렬로 돌리면</a:t>
            </a:r>
            <a:r>
              <a:rPr lang="en-US" altLang="ko-KR"/>
              <a:t>? </a:t>
            </a:r>
            <a:r>
              <a:rPr lang="en-US" altLang="ko-KR" b="1"/>
              <a:t>1</a:t>
            </a:r>
            <a:r>
              <a:rPr lang="ko-KR" altLang="en-US" b="1"/>
              <a:t>초</a:t>
            </a:r>
            <a:r>
              <a:rPr lang="ko-KR" altLang="en-US"/>
              <a:t>에 끝나요</a:t>
            </a:r>
            <a:r>
              <a:rPr lang="en-US" altLang="ko-KR"/>
              <a:t>.</a:t>
            </a:r>
          </a:p>
          <a:p>
            <a:r>
              <a:rPr lang="ko-KR" altLang="en-US"/>
              <a:t>이게 </a:t>
            </a:r>
            <a:r>
              <a:rPr lang="en-US" altLang="ko-KR"/>
              <a:t>CI/CD</a:t>
            </a:r>
            <a:r>
              <a:rPr lang="ko-KR" altLang="en-US"/>
              <a:t>에서 특히 중요합니다</a:t>
            </a:r>
            <a:r>
              <a:rPr lang="en-US" altLang="ko-KR"/>
              <a:t>. </a:t>
            </a:r>
            <a:r>
              <a:rPr lang="ko-KR" altLang="en-US"/>
              <a:t>코드 푸시하고 </a:t>
            </a:r>
            <a:r>
              <a:rPr lang="en-US" altLang="ko-KR"/>
              <a:t>10</a:t>
            </a:r>
            <a:r>
              <a:rPr lang="ko-KR" altLang="en-US"/>
              <a:t>분 기다리면 답답하잖아요</a:t>
            </a:r>
            <a:r>
              <a:rPr lang="en-US" altLang="ko-KR"/>
              <a:t>. </a:t>
            </a:r>
            <a:r>
              <a:rPr lang="ko-KR" altLang="en-US"/>
              <a:t>빠른 피드백이 </a:t>
            </a:r>
            <a:r>
              <a:rPr lang="ko-KR" altLang="en-US" b="1"/>
              <a:t>생산성의 핵심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빠른 테스트의 중요성 🎯</a:t>
            </a:r>
          </a:p>
          <a:p>
            <a:r>
              <a:rPr lang="ko-KR" altLang="en-US"/>
              <a:t>네 번째 박스</a:t>
            </a:r>
            <a:r>
              <a:rPr lang="en-US" altLang="ko-KR"/>
              <a:t>, </a:t>
            </a:r>
            <a:r>
              <a:rPr lang="ko-KR" altLang="en-US" b="1"/>
              <a:t>빠른 테스트의 중요성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개발자 피드백 루프 단축으로 생산성 향상</a:t>
            </a:r>
            <a:r>
              <a:rPr lang="en-US" altLang="ko-KR" i="1"/>
              <a:t>. </a:t>
            </a:r>
            <a:r>
              <a:rPr lang="ko-KR" altLang="en-US" i="1"/>
              <a:t>실행이 느린 테스트는 개발자들이 실행을 회피하게 됨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이게 </a:t>
            </a:r>
            <a:r>
              <a:rPr lang="ko-KR" altLang="en-US" b="1"/>
              <a:t>핵심</a:t>
            </a:r>
            <a:r>
              <a:rPr lang="ko-KR" altLang="en-US"/>
              <a:t>이에요</a:t>
            </a:r>
            <a:r>
              <a:rPr lang="en-US" altLang="ko-KR"/>
              <a:t>.</a:t>
            </a:r>
          </a:p>
          <a:p>
            <a:r>
              <a:rPr lang="ko-KR" altLang="en-US"/>
              <a:t>테스트가 빠르면 → 자주 돌림 → 버그 빨리 발견 → 품질 향상 테스트가 느리면 → 안 돌림 → 버그 늦게 발견 → 품질 저하</a:t>
            </a:r>
          </a:p>
          <a:p>
            <a:r>
              <a:rPr lang="ko-KR" altLang="en-US"/>
              <a:t>인간 심리입니다</a:t>
            </a:r>
            <a:r>
              <a:rPr lang="en-US" altLang="ko-KR"/>
              <a:t>.</a:t>
            </a:r>
          </a:p>
          <a:p>
            <a:r>
              <a:rPr lang="ko-KR" altLang="en-US"/>
              <a:t>여러분</a:t>
            </a:r>
            <a:r>
              <a:rPr lang="en-US" altLang="ko-KR"/>
              <a:t>, </a:t>
            </a:r>
            <a:r>
              <a:rPr lang="ko-KR" altLang="en-US"/>
              <a:t>솔직히 테스트 돌리는 데 </a:t>
            </a:r>
            <a:r>
              <a:rPr lang="en-US" altLang="ko-KR"/>
              <a:t>5</a:t>
            </a:r>
            <a:r>
              <a:rPr lang="ko-KR" altLang="en-US"/>
              <a:t>분 걸리면 어떻게 하시겠어요</a:t>
            </a:r>
            <a:r>
              <a:rPr lang="en-US" altLang="ko-KR"/>
              <a:t>? "</a:t>
            </a:r>
            <a:r>
              <a:rPr lang="ko-KR" altLang="en-US"/>
              <a:t>나중에 한꺼번에 돌려야지</a:t>
            </a:r>
            <a:r>
              <a:rPr lang="en-US" altLang="ko-KR"/>
              <a:t>..." </a:t>
            </a:r>
            <a:r>
              <a:rPr lang="ko-KR" altLang="en-US"/>
              <a:t>하게 됩니다</a:t>
            </a:r>
            <a:r>
              <a:rPr lang="en-US" altLang="ko-KR"/>
              <a:t>.</a:t>
            </a:r>
          </a:p>
          <a:p>
            <a:r>
              <a:rPr lang="ko-KR" altLang="en-US"/>
              <a:t>근데 </a:t>
            </a:r>
            <a:r>
              <a:rPr lang="en-US" altLang="ko-KR" b="1"/>
              <a:t>5</a:t>
            </a:r>
            <a:r>
              <a:rPr lang="ko-KR" altLang="en-US" b="1"/>
              <a:t>초</a:t>
            </a:r>
            <a:r>
              <a:rPr lang="ko-KR" altLang="en-US"/>
              <a:t>면</a:t>
            </a:r>
            <a:r>
              <a:rPr lang="en-US" altLang="ko-KR"/>
              <a:t>? </a:t>
            </a:r>
            <a:r>
              <a:rPr lang="ko-KR" altLang="en-US"/>
              <a:t>코드 수정할 때마다 돌려보게 돼요</a:t>
            </a:r>
            <a:r>
              <a:rPr lang="en-US" altLang="ko-KR"/>
              <a:t>. </a:t>
            </a:r>
            <a:r>
              <a:rPr lang="ko-KR" altLang="en-US"/>
              <a:t>이 차이가 </a:t>
            </a:r>
            <a:r>
              <a:rPr lang="ko-KR" altLang="en-US" b="1"/>
              <a:t>엄청납니다</a:t>
            </a:r>
            <a:r>
              <a:rPr lang="en-US" altLang="ko-KR" b="1"/>
              <a:t>.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피드백 루프 비교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피드백 루프 비교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⚡ 빠른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 → 테스트 → 결과 → 코드 수정 → 테스트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  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     │         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└─────────────────────────────┘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하루에 수십 번 반복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🚀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🐌 느린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 → 테스트 → ☕ 커피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→ 코드 수정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            │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└────────────────────────────────┘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하루에 몇 번 못 돌림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😴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결국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한꺼번에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돌림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Fast </a:t>
            </a:r>
            <a:r>
              <a:rPr lang="ko-KR" altLang="en-US" b="1"/>
              <a:t>원칙 실천 방법 💡</a:t>
            </a:r>
          </a:p>
          <a:p>
            <a:r>
              <a:rPr lang="ko-KR" altLang="en-US"/>
              <a:t>하단에 </a:t>
            </a:r>
            <a:r>
              <a:rPr lang="ko-KR" altLang="en-US" b="1"/>
              <a:t>실천 방법</a:t>
            </a:r>
            <a:r>
              <a:rPr lang="ko-KR" altLang="en-US"/>
              <a:t>이 나와있습니다</a:t>
            </a:r>
            <a:r>
              <a:rPr lang="en-US" altLang="ko-KR"/>
              <a:t>. </a:t>
            </a:r>
            <a:r>
              <a:rPr lang="ko-KR" altLang="en-US"/>
              <a:t>같이 읽어볼게요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실행 시간이 </a:t>
            </a:r>
            <a:r>
              <a:rPr lang="en-US" altLang="ko-KR" i="1"/>
              <a:t>1</a:t>
            </a:r>
            <a:r>
              <a:rPr lang="ko-KR" altLang="en-US" i="1"/>
              <a:t>초 이상 소요된다면</a:t>
            </a:r>
            <a:r>
              <a:rPr lang="en-US" altLang="ko-KR" i="1"/>
              <a:t>, </a:t>
            </a:r>
            <a:r>
              <a:rPr lang="ko-KR" altLang="en-US" i="1"/>
              <a:t>테스트 코드를 검토하여 외부 의존성 격리</a:t>
            </a:r>
            <a:r>
              <a:rPr lang="en-US" altLang="ko-KR" i="1"/>
              <a:t>, </a:t>
            </a:r>
            <a:r>
              <a:rPr lang="ko-KR" altLang="en-US" i="1"/>
              <a:t>무거운 로직 분리</a:t>
            </a:r>
            <a:r>
              <a:rPr lang="en-US" altLang="ko-KR" i="1"/>
              <a:t>, </a:t>
            </a:r>
            <a:r>
              <a:rPr lang="ko-KR" altLang="en-US" i="1"/>
              <a:t>테스트 범위 축소 등을 통해 실행 속도를 개선해야 합니다</a:t>
            </a:r>
            <a:r>
              <a:rPr lang="en-US" altLang="ko-KR" i="1"/>
              <a:t>. </a:t>
            </a:r>
            <a:r>
              <a:rPr lang="ko-KR" altLang="en-US" i="1"/>
              <a:t>느린 테스트는 지속적 통합</a:t>
            </a:r>
            <a:r>
              <a:rPr lang="en-US" altLang="ko-KR" i="1"/>
              <a:t>(CI) </a:t>
            </a:r>
            <a:r>
              <a:rPr lang="ko-KR" altLang="en-US" i="1"/>
              <a:t>및 </a:t>
            </a:r>
            <a:r>
              <a:rPr lang="en-US" altLang="ko-KR" i="1"/>
              <a:t>TDD</a:t>
            </a:r>
            <a:r>
              <a:rPr lang="ko-KR" altLang="en-US" i="1"/>
              <a:t>의 효율성을 저해합니다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/>
              <a:t>테스트가 느릴 때 체크해야 할 것들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🔍 느린 테스트 체크리스트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연결하고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파일 읽고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쓰고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네트워크 호출하나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Thread.Sleep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제거하거나 시간 줄이기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너무 많은 데이터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데이터 최소화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하나의 테스트가 너무 많은 걸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분리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⏱️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미만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예시</a:t>
            </a:r>
          </a:p>
          <a:p>
            <a:r>
              <a:rPr lang="ko-KR" altLang="en-US"/>
              <a:t>간단한 예시를 보여드릴게요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GetUser_WithValidId_ReturnsUser_Slow()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UserRepository(realDbConnection);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repository.GetById(1);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쿼리 실행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GetUser_WithValidId_ReturnsUser_Fast()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메모리에서 즉시 반환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mockRepo.Object.GetById(1);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 안에 완료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 테스트는 **실제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**에 연결합니다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느려요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아래 테스트는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**을 사용합니다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빨라요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차이를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시간에 직접 경험해보실 겁니다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원칙**은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**밀리초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단위**로 빠르게 실행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**느린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**병렬 실행** 가능하게 설계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빠른 **피드백 루프**로 생산성 향상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 한 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테스트는 안 돌린다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돌리는 테스트는 없는 것과 같다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독립적으로** 살펴보겠습니다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/>
              <a:t>FIRST </a:t>
            </a:r>
            <a:r>
              <a:rPr lang="ko-KR" altLang="en-US"/>
              <a:t>원칙 중 </a:t>
            </a:r>
            <a:r>
              <a:rPr lang="en-US" altLang="ko-KR" b="1"/>
              <a:t>I</a:t>
            </a:r>
            <a:r>
              <a:rPr lang="ko-KR" altLang="en-US"/>
              <a:t>와 </a:t>
            </a:r>
            <a:r>
              <a:rPr lang="en-US" altLang="ko-KR" b="1"/>
              <a:t>R</a:t>
            </a:r>
            <a:r>
              <a:rPr lang="ko-KR" altLang="en-US"/>
              <a:t>을 같이 살펴보겠습니다</a:t>
            </a:r>
            <a:r>
              <a:rPr lang="en-US" altLang="ko-KR"/>
              <a:t>.</a:t>
            </a:r>
          </a:p>
          <a:p>
            <a:r>
              <a:rPr lang="en-US" altLang="ko-KR" b="1"/>
              <a:t>I - Independent (</a:t>
            </a:r>
            <a:r>
              <a:rPr lang="ko-KR" altLang="en-US" b="1"/>
              <a:t>독립적으로</a:t>
            </a:r>
            <a:r>
              <a:rPr lang="en-US" altLang="ko-KR" b="1"/>
              <a:t>)</a:t>
            </a:r>
            <a:r>
              <a:rPr lang="ko-KR" altLang="en-US"/>
              <a:t> </a:t>
            </a:r>
            <a:r>
              <a:rPr lang="en-US" altLang="ko-KR" b="1"/>
              <a:t>R - Repeatable (</a:t>
            </a:r>
            <a:r>
              <a:rPr lang="ko-KR" altLang="en-US" b="1"/>
              <a:t>반복 가능하게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ko-KR" altLang="en-US"/>
              <a:t>이 두 가지를 같이 다루는 이유가 있어요</a:t>
            </a:r>
            <a:r>
              <a:rPr lang="en-US" altLang="ko-KR"/>
              <a:t>. </a:t>
            </a:r>
            <a:r>
              <a:rPr lang="ko-KR" altLang="en-US"/>
              <a:t>서로 밀접하게 연관되어 있거든요</a:t>
            </a:r>
            <a:r>
              <a:rPr lang="en-US" altLang="ko-KR"/>
              <a:t>.</a:t>
            </a:r>
          </a:p>
          <a:p>
            <a:r>
              <a:rPr lang="ko-KR" altLang="en-US" b="1"/>
              <a:t>독립적이어야 반복 가능하고</a:t>
            </a:r>
            <a:r>
              <a:rPr lang="en-US" altLang="ko-KR" b="1"/>
              <a:t>, </a:t>
            </a:r>
            <a:r>
              <a:rPr lang="ko-KR" altLang="en-US" b="1"/>
              <a:t>반복 가능하려면 독립적이어야</a:t>
            </a:r>
            <a:r>
              <a:rPr lang="ko-KR" altLang="en-US"/>
              <a:t>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간 순서 독립성 🔀</a:t>
            </a:r>
          </a:p>
          <a:p>
            <a:r>
              <a:rPr lang="ko-KR" altLang="en-US"/>
              <a:t>첫 번째 박스</a:t>
            </a:r>
            <a:r>
              <a:rPr lang="en-US" altLang="ko-KR"/>
              <a:t>, </a:t>
            </a:r>
            <a:r>
              <a:rPr lang="ko-KR" altLang="en-US" b="1"/>
              <a:t>테스트 간 순서 독립성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테스트는 다른 테스트와 독립적이어야 합니다</a:t>
            </a:r>
            <a:r>
              <a:rPr lang="en-US" altLang="ko-KR" i="1"/>
              <a:t>. </a:t>
            </a:r>
            <a:r>
              <a:rPr lang="ko-KR" altLang="en-US" i="1"/>
              <a:t>테스트 실행 순서에 의존하면 안 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무슨 말이냐면요</a:t>
            </a:r>
            <a:r>
              <a:rPr lang="en-US" altLang="ko-KR"/>
              <a:t>,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❌ 잘못된 예시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생성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 = 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조회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 = 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(Test1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결과에 의존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Test3: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삭제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 = 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Test2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단독 실행 →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(userId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Test1, Test3, Test2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순서로 실행 →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Test1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Test2, Test3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연쇄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이렇게 되면 </a:t>
            </a:r>
            <a:r>
              <a:rPr lang="ko-KR" altLang="en-US" b="1"/>
              <a:t>디버깅이 지옥</a:t>
            </a:r>
            <a:r>
              <a:rPr lang="ko-KR" altLang="en-US"/>
              <a:t>이 됩니다</a:t>
            </a:r>
            <a:r>
              <a:rPr lang="en-US" altLang="ko-KR"/>
              <a:t>. "</a:t>
            </a:r>
            <a:r>
              <a:rPr lang="ko-KR" altLang="en-US"/>
              <a:t>어</a:t>
            </a:r>
            <a:r>
              <a:rPr lang="en-US" altLang="ko-KR"/>
              <a:t>? Test2</a:t>
            </a:r>
            <a:r>
              <a:rPr lang="ko-KR" altLang="en-US"/>
              <a:t>가 왜 실패하지</a:t>
            </a:r>
            <a:r>
              <a:rPr lang="en-US" altLang="ko-KR"/>
              <a:t>?" → </a:t>
            </a:r>
            <a:r>
              <a:rPr lang="ko-KR" altLang="en-US"/>
              <a:t>알고 보니 </a:t>
            </a:r>
            <a:r>
              <a:rPr lang="en-US" altLang="ko-KR"/>
              <a:t>Test1</a:t>
            </a:r>
            <a:r>
              <a:rPr lang="ko-KR" altLang="en-US"/>
              <a:t>이 안 돌아서</a:t>
            </a:r>
            <a:r>
              <a:rPr lang="en-US" altLang="ko-KR"/>
              <a:t>...</a:t>
            </a:r>
          </a:p>
          <a:p>
            <a:r>
              <a:rPr lang="ko-KR" altLang="en-US"/>
              <a:t>테스트는 </a:t>
            </a:r>
            <a:r>
              <a:rPr lang="ko-KR" altLang="en-US" b="1"/>
              <a:t>어떤 순서로 돌려도</a:t>
            </a:r>
            <a:r>
              <a:rPr lang="en-US" altLang="ko-KR"/>
              <a:t>, </a:t>
            </a:r>
            <a:r>
              <a:rPr lang="ko-KR" altLang="en-US" b="1"/>
              <a:t>단독으로 돌려도</a:t>
            </a:r>
            <a:r>
              <a:rPr lang="ko-KR" altLang="en-US"/>
              <a:t> 같은 결과가 나와야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상태 독립성 🔄</a:t>
            </a:r>
          </a:p>
          <a:p>
            <a:r>
              <a:rPr lang="ko-KR" altLang="en-US"/>
              <a:t>두 번째 박스</a:t>
            </a:r>
            <a:r>
              <a:rPr lang="en-US" altLang="ko-KR"/>
              <a:t>, </a:t>
            </a:r>
            <a:r>
              <a:rPr lang="ko-KR" altLang="en-US" b="1"/>
              <a:t>상태 독립성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간 공유 상태를 피해야 합니다</a:t>
            </a:r>
            <a:r>
              <a:rPr lang="en-US" altLang="ko-KR" i="1"/>
              <a:t>. </a:t>
            </a:r>
            <a:r>
              <a:rPr lang="ko-KR" altLang="en-US" i="1"/>
              <a:t>각 테스트는 필요한 상태를 스스로 설정합니다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 b="1"/>
              <a:t>공유 상태</a:t>
            </a:r>
            <a:r>
              <a:rPr lang="ko-KR" altLang="en-US"/>
              <a:t>가 문제의 원인이에요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상태 공유 문제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전역 변수 공유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User currentUser;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전역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Test1: currentUser = new User("Alice");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Test2: Assert(currentUser.Name == "Bob");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테스트가 자체 상태 설정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var user = new User("Alice");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것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Assert(user.Name == "Alice");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Test2: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var user = new User("Bob");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것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Assert(user.Name == "Bob");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각 테스트는 </a:t>
            </a:r>
            <a:r>
              <a:rPr lang="ko-KR" altLang="en-US" b="1"/>
              <a:t>자기가 필요한 것을 직접 준비</a:t>
            </a:r>
            <a:r>
              <a:rPr lang="ko-KR" altLang="en-US"/>
              <a:t>해야 합니다</a:t>
            </a:r>
            <a:r>
              <a:rPr lang="en-US" altLang="ko-KR"/>
              <a:t>. </a:t>
            </a:r>
            <a:r>
              <a:rPr lang="ko-KR" altLang="en-US"/>
              <a:t>다른 테스트가 만들어 놓은 거 가져다 쓰면 안 돼요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환경 독립성 🌍</a:t>
            </a:r>
          </a:p>
          <a:p>
            <a:r>
              <a:rPr lang="ko-KR" altLang="en-US"/>
              <a:t>세 번째 박스</a:t>
            </a:r>
            <a:r>
              <a:rPr lang="en-US" altLang="ko-KR"/>
              <a:t>, </a:t>
            </a:r>
            <a:r>
              <a:rPr lang="ko-KR" altLang="en-US" b="1"/>
              <a:t>환경 독립성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어떤 환경에서든 동일한 결과를 내야 합니다</a:t>
            </a:r>
            <a:r>
              <a:rPr lang="en-US" altLang="ko-KR" i="1"/>
              <a:t>. </a:t>
            </a:r>
            <a:r>
              <a:rPr lang="ko-KR" altLang="en-US" i="1"/>
              <a:t>개발</a:t>
            </a:r>
            <a:r>
              <a:rPr lang="en-US" altLang="ko-KR" i="1"/>
              <a:t>, </a:t>
            </a:r>
            <a:r>
              <a:rPr lang="ko-KR" altLang="en-US" i="1"/>
              <a:t>테스트</a:t>
            </a:r>
            <a:r>
              <a:rPr lang="en-US" altLang="ko-KR" i="1"/>
              <a:t>, CI </a:t>
            </a:r>
            <a:r>
              <a:rPr lang="ko-KR" altLang="en-US" i="1"/>
              <a:t>환경 등에서 동일하게 동작해야 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이런 경험 있으신가요</a:t>
            </a:r>
            <a:r>
              <a:rPr lang="en-US" altLang="ko-KR"/>
              <a:t>?</a:t>
            </a:r>
          </a:p>
          <a:p>
            <a:r>
              <a:rPr lang="en-US" altLang="ko-KR"/>
              <a:t>"</a:t>
            </a:r>
            <a:r>
              <a:rPr lang="ko-KR" altLang="en-US"/>
              <a:t>내 </a:t>
            </a:r>
            <a:r>
              <a:rPr lang="en-US" altLang="ko-KR"/>
              <a:t>PC</a:t>
            </a:r>
            <a:r>
              <a:rPr lang="ko-KR" altLang="en-US"/>
              <a:t>에서는 되는데</a:t>
            </a:r>
            <a:r>
              <a:rPr lang="en-US" altLang="ko-KR"/>
              <a:t>...?" "CI </a:t>
            </a:r>
            <a:r>
              <a:rPr lang="ko-KR" altLang="en-US"/>
              <a:t>서버에서는 왜 실패하지</a:t>
            </a:r>
            <a:r>
              <a:rPr lang="en-US" altLang="ko-KR"/>
              <a:t>?"</a:t>
            </a:r>
          </a:p>
          <a:p>
            <a:r>
              <a:rPr lang="ko-KR" altLang="en-US"/>
              <a:t>이게 </a:t>
            </a:r>
            <a:r>
              <a:rPr lang="ko-KR" altLang="en-US" b="1"/>
              <a:t>환경 의존성</a:t>
            </a:r>
            <a:r>
              <a:rPr lang="ko-KR" altLang="en-US"/>
              <a:t> 문제입니다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환경 의존성 문제 예시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환경에 따라 결과가 달라지는 경우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경로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"C:\Users\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\data.txt"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이 경로가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Environment.GetEnvironmentVariable("API_KEY")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서버에 설정 안 되어 있으면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KST,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비교 테스트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로케일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"1,000"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미국에서는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"1.000"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파싱 테스트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테스트는 </a:t>
            </a:r>
            <a:r>
              <a:rPr lang="ko-KR" altLang="en-US" b="1"/>
              <a:t>내 </a:t>
            </a:r>
            <a:r>
              <a:rPr lang="en-US" altLang="ko-KR" b="1"/>
              <a:t>PC</a:t>
            </a:r>
            <a:r>
              <a:rPr lang="en-US" altLang="ko-KR"/>
              <a:t>, </a:t>
            </a:r>
            <a:r>
              <a:rPr lang="ko-KR" altLang="en-US" b="1"/>
              <a:t>동료 </a:t>
            </a:r>
            <a:r>
              <a:rPr lang="en-US" altLang="ko-KR" b="1"/>
              <a:t>PC</a:t>
            </a:r>
            <a:r>
              <a:rPr lang="en-US" altLang="ko-KR"/>
              <a:t>, </a:t>
            </a:r>
            <a:r>
              <a:rPr lang="en-US" altLang="ko-KR" b="1"/>
              <a:t>CI </a:t>
            </a:r>
            <a:r>
              <a:rPr lang="ko-KR" altLang="en-US" b="1"/>
              <a:t>서버</a:t>
            </a:r>
            <a:r>
              <a:rPr lang="ko-KR" altLang="en-US"/>
              <a:t> 어디서든 같은 결과가 나와야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고정 입력 사용 🔒</a:t>
            </a:r>
          </a:p>
          <a:p>
            <a:r>
              <a:rPr lang="ko-KR" altLang="en-US"/>
              <a:t>네 번째 박스</a:t>
            </a:r>
            <a:r>
              <a:rPr lang="en-US" altLang="ko-KR"/>
              <a:t>, </a:t>
            </a:r>
            <a:r>
              <a:rPr lang="ko-KR" altLang="en-US" b="1"/>
              <a:t>고정 입력 사용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시간</a:t>
            </a:r>
            <a:r>
              <a:rPr lang="en-US" altLang="ko-KR" i="1"/>
              <a:t>, </a:t>
            </a:r>
            <a:r>
              <a:rPr lang="ko-KR" altLang="en-US" i="1"/>
              <a:t>랜덤 값</a:t>
            </a:r>
            <a:r>
              <a:rPr lang="en-US" altLang="ko-KR" i="1"/>
              <a:t>, </a:t>
            </a:r>
            <a:r>
              <a:rPr lang="ko-KR" altLang="en-US" i="1"/>
              <a:t>환경변수 등을 고정합니다</a:t>
            </a:r>
            <a:r>
              <a:rPr lang="en-US" altLang="ko-KR" i="1"/>
              <a:t>. </a:t>
            </a:r>
            <a:r>
              <a:rPr lang="ko-KR" altLang="en-US" i="1"/>
              <a:t>테스트 결과의 일관성과 예측 가능성을 확보합니다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이게 **</a:t>
            </a:r>
            <a:r>
              <a:rPr lang="en-US" altLang="ko-KR"/>
              <a:t>Repeatable(</a:t>
            </a:r>
            <a:r>
              <a:rPr lang="ko-KR" altLang="en-US"/>
              <a:t>반복 가능</a:t>
            </a:r>
            <a:r>
              <a:rPr lang="en-US" altLang="ko-KR"/>
              <a:t>)**</a:t>
            </a:r>
            <a:r>
              <a:rPr lang="ko-KR" altLang="en-US"/>
              <a:t>의 핵심이에요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비결정적 요소들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🎲 랜덤 값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id = Guid.NewGuid();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var id = new Guid("550e8400-...");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고정값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⏰ 현재 시간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now = DateTime.Now;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var now = new DateTime(2024, 1, 15, 10, 30, 0);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🎰 랜덤 숫자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num = new Random().Next();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var num = 42;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고정값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오늘 돌리면 성공</a:t>
            </a:r>
            <a:r>
              <a:rPr lang="en-US" altLang="ko-KR"/>
              <a:t>, </a:t>
            </a:r>
            <a:r>
              <a:rPr lang="ko-KR" altLang="en-US"/>
              <a:t>내일 돌리면 실패</a:t>
            </a:r>
            <a:r>
              <a:rPr lang="en-US" altLang="ko-KR"/>
              <a:t>? </a:t>
            </a:r>
            <a:r>
              <a:rPr lang="ko-KR" altLang="en-US"/>
              <a:t>이러면 </a:t>
            </a:r>
            <a:r>
              <a:rPr lang="ko-KR" altLang="en-US" b="1"/>
              <a:t>테스트를 신뢰할 수 없습니다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100</a:t>
            </a:r>
            <a:r>
              <a:rPr lang="ko-KR" altLang="en-US"/>
              <a:t>번을 돌려도 </a:t>
            </a:r>
            <a:r>
              <a:rPr lang="en-US" altLang="ko-KR"/>
              <a:t>100</a:t>
            </a:r>
            <a:r>
              <a:rPr lang="ko-KR" altLang="en-US"/>
              <a:t>번 다 같은 결과가 나와야 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시간 의존성 해결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시간에 의존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IsExpired_BadTest()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Coupon(DateTime.Now.AddDays(-1));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어제 만료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Assert.IsTrue(coupon.IsExpired());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자정에 돌리면 실패할 수도 있음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시간을 주입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ITimeProvider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IsExpired_GoodTest()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fixedTime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6, 15, 12, 0, 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mockTime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Mock&lt;ITimeProvider&gt;();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mockTime.Setup(t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t.Now).Returns(fixedTime);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expiryDate: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6, 14),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하루 전 만료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timeProvider: mockTime.Object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Assert.IsTrue(coupon.IsExpired());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결과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/>
              <a:t>시간을 </a:t>
            </a:r>
            <a:r>
              <a:rPr lang="ko-KR" altLang="en-US" b="1"/>
              <a:t>직접 사용하지 말고</a:t>
            </a:r>
            <a:r>
              <a:rPr lang="en-US" altLang="ko-KR"/>
              <a:t>, </a:t>
            </a:r>
            <a:r>
              <a:rPr lang="ko-KR" altLang="en-US" b="1"/>
              <a:t>주입받아서</a:t>
            </a:r>
            <a:r>
              <a:rPr lang="ko-KR" altLang="en-US"/>
              <a:t> 테스트에서 제어할 수 있게 만드세요</a:t>
            </a:r>
            <a:r>
              <a:rPr lang="en-US" altLang="ko-KR"/>
              <a:t>. </a:t>
            </a:r>
            <a:r>
              <a:rPr lang="ko-KR" altLang="en-US"/>
              <a:t>이게 **의존성 주입</a:t>
            </a:r>
            <a:r>
              <a:rPr lang="en-US" altLang="ko-KR"/>
              <a:t>(DI)**</a:t>
            </a:r>
            <a:r>
              <a:rPr lang="ko-KR" altLang="en-US"/>
              <a:t>의 기본 개념이기도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베스트 프랙티스 💡</a:t>
            </a:r>
          </a:p>
          <a:p>
            <a:r>
              <a:rPr lang="ko-KR" altLang="en-US"/>
              <a:t>하단에 </a:t>
            </a:r>
            <a:r>
              <a:rPr lang="ko-KR" altLang="en-US" b="1"/>
              <a:t>베스트 프랙티스</a:t>
            </a:r>
            <a:r>
              <a:rPr lang="ko-KR" altLang="en-US"/>
              <a:t>가 정리되어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"SetUp/TearDown </a:t>
            </a:r>
            <a:r>
              <a:rPr lang="ko-KR" altLang="en-US" i="1"/>
              <a:t>메서드를 활용해 테스트마다 깨끗한 상태를 유지하고</a:t>
            </a:r>
            <a:r>
              <a:rPr lang="en-US" altLang="ko-KR" i="1"/>
              <a:t>, </a:t>
            </a:r>
            <a:r>
              <a:rPr lang="ko-KR" altLang="en-US" i="1"/>
              <a:t>시간</a:t>
            </a:r>
            <a:r>
              <a:rPr lang="en-US" altLang="ko-KR" i="1"/>
              <a:t>/</a:t>
            </a:r>
            <a:r>
              <a:rPr lang="ko-KR" altLang="en-US" i="1"/>
              <a:t>랜덤 의존성은 인터페이스로 추상화하여 테스트에서 제어할 수 있도록 만듭니다</a:t>
            </a:r>
            <a:r>
              <a:rPr lang="en-US" altLang="ko-KR" i="1"/>
              <a:t>. </a:t>
            </a:r>
            <a:r>
              <a:rPr lang="ko-KR" altLang="en-US" i="1"/>
              <a:t>글로벌 상태를 피하고</a:t>
            </a:r>
            <a:r>
              <a:rPr lang="en-US" altLang="ko-KR" i="1"/>
              <a:t>, </a:t>
            </a:r>
            <a:r>
              <a:rPr lang="ko-KR" altLang="en-US" i="1"/>
              <a:t>데이터베이스 연결이나 외부 </a:t>
            </a:r>
            <a:r>
              <a:rPr lang="en-US" altLang="ko-KR" i="1"/>
              <a:t>API </a:t>
            </a:r>
            <a:r>
              <a:rPr lang="ko-KR" altLang="en-US" i="1"/>
              <a:t>호출 같은 외부 의존성은 격리합니다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베스트 프랙티스 체크리스트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SetUp/TearDown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[SetUp]: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 깨끗한 상태 준비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[TearDown]: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후 정리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의존성 추상화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DateTime.Now → ITimeProvider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Random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고정값 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환경변수 → 설정 객체 주입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글로벌 상태 피하기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static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 공유 금지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싱글톤 주의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외부 의존성 격리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DB → Mock Repository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API → Mock HttpClient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SetUp/TearDown </a:t>
            </a:r>
            <a:r>
              <a:rPr lang="ko-KR" altLang="en-US" b="1"/>
              <a:t>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 _mockRepo;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 테스트마다 새로운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→ 깨끗한 상태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UserService(_mockRepo.Object);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후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필요시 정리 작업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Test1() {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_service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깨끗한 상태 *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Test2() {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_service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또 깨끗한 상태 *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b="1"/>
              <a:t>SetUp</a:t>
            </a:r>
            <a:r>
              <a:rPr lang="ko-KR" altLang="en-US"/>
              <a:t>이 매 테스트 전에 실행되니까</a:t>
            </a:r>
            <a:r>
              <a:rPr lang="en-US" altLang="ko-KR"/>
              <a:t>, </a:t>
            </a:r>
            <a:r>
              <a:rPr lang="ko-KR" altLang="en-US"/>
              <a:t>각 테스트는 항상 </a:t>
            </a:r>
            <a:r>
              <a:rPr lang="ko-KR" altLang="en-US" b="1"/>
              <a:t>깨끗한 상태</a:t>
            </a:r>
            <a:r>
              <a:rPr lang="ko-KR" altLang="en-US"/>
              <a:t>에서 시작합니다</a:t>
            </a:r>
            <a:r>
              <a:rPr lang="en-US" altLang="ko-KR"/>
              <a:t>. </a:t>
            </a:r>
            <a:r>
              <a:rPr lang="ko-KR" altLang="en-US"/>
              <a:t>이게 </a:t>
            </a:r>
            <a:r>
              <a:rPr lang="ko-KR" altLang="en-US" b="1"/>
              <a:t>독립성</a:t>
            </a:r>
            <a:r>
              <a:rPr lang="ko-KR" altLang="en-US"/>
              <a:t>을 보장하는 핵심 기법이에요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</a:t>
            </a:r>
          </a:p>
          <a:p>
            <a:r>
              <a:rPr lang="en-US" altLang="ko-KR" b="1"/>
              <a:t>I - Independent (</a:t>
            </a:r>
            <a:r>
              <a:rPr lang="ko-KR" altLang="en-US" b="1"/>
              <a:t>독립적으로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ko-KR" altLang="en-US"/>
              <a:t>테스트 간 </a:t>
            </a:r>
            <a:r>
              <a:rPr lang="ko-KR" altLang="en-US" b="1"/>
              <a:t>순서 무관</a:t>
            </a:r>
            <a:endParaRPr lang="ko-KR" altLang="en-US"/>
          </a:p>
          <a:p>
            <a:r>
              <a:rPr lang="ko-KR" altLang="en-US" b="1"/>
              <a:t>공유 상태 없이</a:t>
            </a:r>
            <a:r>
              <a:rPr lang="ko-KR" altLang="en-US"/>
              <a:t> 각자 준비</a:t>
            </a:r>
          </a:p>
          <a:p>
            <a:r>
              <a:rPr lang="ko-KR" altLang="en-US"/>
              <a:t>어떤 </a:t>
            </a:r>
            <a:r>
              <a:rPr lang="ko-KR" altLang="en-US" b="1"/>
              <a:t>환경에서든</a:t>
            </a:r>
            <a:r>
              <a:rPr lang="ko-KR" altLang="en-US"/>
              <a:t> 동일 결과</a:t>
            </a:r>
          </a:p>
          <a:p>
            <a:r>
              <a:rPr lang="en-US" altLang="ko-KR" b="1"/>
              <a:t>R - Repeatable (</a:t>
            </a:r>
            <a:r>
              <a:rPr lang="ko-KR" altLang="en-US" b="1"/>
              <a:t>반복 가능하게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ko-KR" altLang="en-US" b="1"/>
              <a:t>고정 입력</a:t>
            </a:r>
            <a:r>
              <a:rPr lang="ko-KR" altLang="en-US"/>
              <a:t> 사용 </a:t>
            </a:r>
            <a:r>
              <a:rPr lang="en-US" altLang="ko-KR"/>
              <a:t>(</a:t>
            </a:r>
            <a:r>
              <a:rPr lang="ko-KR" altLang="en-US"/>
              <a:t>랜덤</a:t>
            </a:r>
            <a:r>
              <a:rPr lang="en-US" altLang="ko-KR"/>
              <a:t>, </a:t>
            </a:r>
            <a:r>
              <a:rPr lang="ko-KR" altLang="en-US"/>
              <a:t>시간 </a:t>
            </a:r>
            <a:r>
              <a:rPr lang="en-US" altLang="ko-KR"/>
              <a:t>X)</a:t>
            </a:r>
          </a:p>
          <a:p>
            <a:r>
              <a:rPr lang="en-US" altLang="ko-KR" b="1"/>
              <a:t>100</a:t>
            </a:r>
            <a:r>
              <a:rPr lang="ko-KR" altLang="en-US" b="1"/>
              <a:t>번 돌려도</a:t>
            </a:r>
            <a:r>
              <a:rPr lang="ko-KR" altLang="en-US"/>
              <a:t> 같은 결과</a:t>
            </a:r>
          </a:p>
          <a:p>
            <a:r>
              <a:rPr lang="ko-KR" altLang="en-US" b="1"/>
              <a:t>예측 가능</a:t>
            </a:r>
            <a:r>
              <a:rPr lang="ko-KR" altLang="en-US"/>
              <a:t>하고 </a:t>
            </a:r>
            <a:r>
              <a:rPr lang="ko-KR" altLang="en-US" b="1"/>
              <a:t>신뢰할 수 있는</a:t>
            </a:r>
            <a:r>
              <a:rPr lang="ko-KR" altLang="en-US"/>
              <a:t> 테스트</a:t>
            </a:r>
          </a:p>
          <a:p>
            <a:r>
              <a:rPr lang="ko-KR" altLang="en-US"/>
              <a:t>핵심 질문</a:t>
            </a:r>
            <a:r>
              <a:rPr lang="en-US" altLang="ko-KR"/>
              <a:t>: </a:t>
            </a:r>
            <a:r>
              <a:rPr lang="en-US" altLang="ko-KR" b="1"/>
              <a:t>"</a:t>
            </a:r>
            <a:r>
              <a:rPr lang="ko-KR" altLang="en-US" b="1"/>
              <a:t>이 테스트</a:t>
            </a:r>
            <a:r>
              <a:rPr lang="en-US" altLang="ko-KR" b="1"/>
              <a:t>, </a:t>
            </a:r>
            <a:r>
              <a:rPr lang="ko-KR" altLang="en-US" b="1"/>
              <a:t>내일 돌려도 같은 결과 나올까</a:t>
            </a:r>
            <a:r>
              <a:rPr lang="en-US" altLang="ko-KR" b="1"/>
              <a:t>?"</a:t>
            </a:r>
            <a:endParaRPr lang="ko-KR" altLang="en-US"/>
          </a:p>
          <a:p>
            <a:r>
              <a:rPr lang="ko-KR" altLang="en-US"/>
              <a:t>확신이 없으면 </a:t>
            </a:r>
            <a:r>
              <a:rPr lang="en-US" altLang="ko-KR" b="1"/>
              <a:t>Independent</a:t>
            </a:r>
            <a:r>
              <a:rPr lang="ko-KR" altLang="en-US" b="1"/>
              <a:t>와 </a:t>
            </a:r>
            <a:r>
              <a:rPr lang="en-US" altLang="ko-KR" b="1"/>
              <a:t>Repeatable</a:t>
            </a:r>
            <a:r>
              <a:rPr lang="ko-KR" altLang="en-US"/>
              <a:t>을 점검해보세요</a:t>
            </a:r>
            <a:r>
              <a:rPr lang="en-US" altLang="ko-KR"/>
              <a:t>.</a:t>
            </a:r>
          </a:p>
          <a:p>
            <a:r>
              <a:rPr lang="ko-KR" altLang="en-US"/>
              <a:t>다음은 </a:t>
            </a:r>
            <a:r>
              <a:rPr lang="en-US" altLang="ko-KR" b="1"/>
              <a:t>S - Self-Validating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FIRST </a:t>
            </a:r>
            <a:r>
              <a:rPr lang="ko-KR" altLang="en-US"/>
              <a:t>원칙의 마지막 두 가지입니다</a:t>
            </a:r>
            <a:r>
              <a:rPr lang="en-US" altLang="ko-KR"/>
              <a:t>.</a:t>
            </a:r>
          </a:p>
          <a:p>
            <a:r>
              <a:rPr lang="en-US" altLang="ko-KR" b="1"/>
              <a:t>S - Self-Validating (</a:t>
            </a:r>
            <a:r>
              <a:rPr lang="ko-KR" altLang="en-US" b="1"/>
              <a:t>자가 검증</a:t>
            </a:r>
            <a:r>
              <a:rPr lang="en-US" altLang="ko-KR" b="1"/>
              <a:t>)</a:t>
            </a:r>
            <a:r>
              <a:rPr lang="ko-KR" altLang="en-US"/>
              <a:t> </a:t>
            </a:r>
            <a:r>
              <a:rPr lang="en-US" altLang="ko-KR" b="1"/>
              <a:t>T - Timely (</a:t>
            </a:r>
            <a:r>
              <a:rPr lang="ko-KR" altLang="en-US" b="1"/>
              <a:t>적시에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ko-KR" altLang="en-US"/>
              <a:t>이 두 가지도 서로 연관이 깊어서 함께 설명드리겠습니다</a:t>
            </a:r>
            <a:r>
              <a:rPr lang="en-US" altLang="ko-KR"/>
              <a:t>.</a:t>
            </a:r>
          </a:p>
          <a:p>
            <a:r>
              <a:rPr lang="en-US" altLang="ko-KR"/>
              <a:t>S</a:t>
            </a:r>
            <a:r>
              <a:rPr lang="ko-KR" altLang="en-US"/>
              <a:t>는 </a:t>
            </a:r>
            <a:r>
              <a:rPr lang="en-US" altLang="ko-KR"/>
              <a:t>"</a:t>
            </a:r>
            <a:r>
              <a:rPr lang="ko-KR" altLang="en-US"/>
              <a:t>테스트가 </a:t>
            </a:r>
            <a:r>
              <a:rPr lang="ko-KR" altLang="en-US" b="1"/>
              <a:t>스스로</a:t>
            </a:r>
            <a:r>
              <a:rPr lang="ko-KR" altLang="en-US"/>
              <a:t> 판단한다</a:t>
            </a:r>
            <a:r>
              <a:rPr lang="en-US" altLang="ko-KR"/>
              <a:t>" T</a:t>
            </a:r>
            <a:r>
              <a:rPr lang="ko-KR" altLang="en-US"/>
              <a:t>는 </a:t>
            </a:r>
            <a:r>
              <a:rPr lang="en-US" altLang="ko-KR"/>
              <a:t>"</a:t>
            </a:r>
            <a:r>
              <a:rPr lang="ko-KR" altLang="en-US"/>
              <a:t>테스트를 </a:t>
            </a:r>
            <a:r>
              <a:rPr lang="ko-KR" altLang="en-US" b="1"/>
              <a:t>제때</a:t>
            </a:r>
            <a:r>
              <a:rPr lang="ko-KR" altLang="en-US"/>
              <a:t> 작성한다</a:t>
            </a:r>
            <a:r>
              <a:rPr lang="en-US" altLang="ko-KR"/>
              <a:t>"</a:t>
            </a:r>
          </a:p>
          <a:p>
            <a:r>
              <a:rPr lang="ko-KR" altLang="en-US"/>
              <a:t>둘 다 실무에서 정말 중요합니다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성공</a:t>
            </a:r>
            <a:r>
              <a:rPr lang="en-US" altLang="ko-KR" b="1"/>
              <a:t>/</a:t>
            </a:r>
            <a:r>
              <a:rPr lang="ko-KR" altLang="en-US" b="1"/>
              <a:t>실패 이분 결과 ✅❌</a:t>
            </a:r>
          </a:p>
          <a:p>
            <a:r>
              <a:rPr lang="ko-KR" altLang="en-US"/>
              <a:t>첫 번째 박스</a:t>
            </a:r>
            <a:r>
              <a:rPr lang="en-US" altLang="ko-KR"/>
              <a:t>, </a:t>
            </a:r>
            <a:r>
              <a:rPr lang="ko-KR" altLang="en-US" b="1"/>
              <a:t>성공</a:t>
            </a:r>
            <a:r>
              <a:rPr lang="en-US" altLang="ko-KR" b="1"/>
              <a:t>/</a:t>
            </a:r>
            <a:r>
              <a:rPr lang="ko-KR" altLang="en-US" b="1"/>
              <a:t>실패 이분 결과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테스트는 스스로 성공 또는 실패를 명확히 판단해야 합니다</a:t>
            </a:r>
            <a:r>
              <a:rPr lang="en-US" altLang="ko-KR" i="1"/>
              <a:t>. </a:t>
            </a:r>
            <a:r>
              <a:rPr lang="ko-KR" altLang="en-US" i="1"/>
              <a:t>수동 해석이나 로그 확인 과정이 필요하면 안 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이게 무슨 말이냐면요</a:t>
            </a:r>
            <a:r>
              <a:rPr lang="en-US" altLang="ko-KR"/>
              <a:t>,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Self-Validating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위반 예시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CalculateTotal_Test()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cart = new ShoppingCart();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cart.Add(100);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cart.Add(200);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Console.WriteLine($"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{cart.Total}");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300"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300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맞나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내가 계산해봐야겠네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🤔 사람이 판단해야 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Self-Validating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이건 </a:t>
            </a:r>
            <a:r>
              <a:rPr lang="ko-KR" altLang="en-US" b="1"/>
              <a:t>테스트가 아닙니다</a:t>
            </a:r>
            <a:r>
              <a:rPr lang="en-US" altLang="ko-KR" b="1"/>
              <a:t>.</a:t>
            </a:r>
            <a:r>
              <a:rPr lang="ko-KR" altLang="en-US"/>
              <a:t> 그냥 출력이에요</a:t>
            </a:r>
            <a:r>
              <a:rPr lang="en-US" altLang="ko-KR"/>
              <a:t>. </a:t>
            </a:r>
            <a:r>
              <a:rPr lang="ko-KR" altLang="en-US"/>
              <a:t>사람이 눈으로 보고 </a:t>
            </a:r>
            <a:r>
              <a:rPr lang="en-US" altLang="ko-KR"/>
              <a:t>"</a:t>
            </a:r>
            <a:r>
              <a:rPr lang="ko-KR" altLang="en-US"/>
              <a:t>맞네</a:t>
            </a:r>
            <a:r>
              <a:rPr lang="en-US" altLang="ko-KR"/>
              <a:t>, </a:t>
            </a:r>
            <a:r>
              <a:rPr lang="ko-KR" altLang="en-US"/>
              <a:t>틀리네</a:t>
            </a:r>
            <a:r>
              <a:rPr lang="en-US" altLang="ko-KR"/>
              <a:t>" </a:t>
            </a:r>
            <a:r>
              <a:rPr lang="ko-KR" altLang="en-US"/>
              <a:t>판단해야 하잖아요</a:t>
            </a:r>
            <a:r>
              <a:rPr lang="en-US" altLang="ko-KR"/>
              <a:t>.</a:t>
            </a:r>
          </a:p>
          <a:p>
            <a:r>
              <a:rPr lang="ko-KR" altLang="en-US"/>
              <a:t>진짜 테스트는 </a:t>
            </a:r>
            <a:r>
              <a:rPr lang="ko-KR" altLang="en-US" b="1"/>
              <a:t>기계가 스스로 판단</a:t>
            </a:r>
            <a:r>
              <a:rPr lang="ko-KR" altLang="en-US"/>
              <a:t>해야 합니다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Self-Validating - Assert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명확하게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CalculateTotal_ReturnsCorrectSum()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cart.Add(100);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cart.Add(200);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Assert.AreEqual(300, cart.Total);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판단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ko-KR" altLang="en-US"/>
              <a:t>가 있으면 </a:t>
            </a:r>
            <a:r>
              <a:rPr lang="ko-KR" altLang="en-US" b="1"/>
              <a:t>초록불</a:t>
            </a:r>
            <a:r>
              <a:rPr lang="ko-KR" altLang="en-US"/>
              <a:t> 또는 </a:t>
            </a:r>
            <a:r>
              <a:rPr lang="ko-KR" altLang="en-US" b="1"/>
              <a:t>빨간불</a:t>
            </a:r>
            <a:r>
              <a:rPr lang="en-US" altLang="ko-KR"/>
              <a:t>. </a:t>
            </a:r>
            <a:r>
              <a:rPr lang="ko-KR" altLang="en-US"/>
              <a:t>사람이 개입할 필요가 없습니다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사전조건</a:t>
            </a:r>
            <a:r>
              <a:rPr lang="en-US" altLang="ko-KR" b="1"/>
              <a:t>/</a:t>
            </a:r>
            <a:r>
              <a:rPr lang="ko-KR" altLang="en-US" b="1"/>
              <a:t>사후조건 명확화 📋</a:t>
            </a:r>
          </a:p>
          <a:p>
            <a:r>
              <a:rPr lang="ko-KR" altLang="en-US"/>
              <a:t>두 번째 박스</a:t>
            </a:r>
            <a:r>
              <a:rPr lang="en-US" altLang="ko-KR"/>
              <a:t>, </a:t>
            </a:r>
            <a:r>
              <a:rPr lang="ko-KR" altLang="en-US" b="1"/>
              <a:t>사전조건</a:t>
            </a:r>
            <a:r>
              <a:rPr lang="en-US" altLang="ko-KR" b="1"/>
              <a:t>/</a:t>
            </a:r>
            <a:r>
              <a:rPr lang="ko-KR" altLang="en-US" b="1"/>
              <a:t>사후조건 명확화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테스트에 필요한 모든 데이터와 예상 결과를 명시합니다</a:t>
            </a:r>
            <a:r>
              <a:rPr lang="en-US" altLang="ko-KR" i="1"/>
              <a:t>. </a:t>
            </a:r>
            <a:r>
              <a:rPr lang="ko-KR" altLang="en-US" i="1"/>
              <a:t>외부 확인 없이도 결과 검증이 완전해야 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좋은 테스트는 </a:t>
            </a:r>
            <a:r>
              <a:rPr lang="ko-KR" altLang="en-US" b="1"/>
              <a:t>테스트 코드만 보면</a:t>
            </a:r>
            <a:r>
              <a:rPr lang="ko-KR" altLang="en-US"/>
              <a:t> 다 알 수 있어야 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(Arrange-Act-Assert)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Withdraw_SufficientBalance_DecreasesBalance()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사전조건 명확히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account = new BankAccount(initialBalance: 1000);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account.Withdraw(300);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사후조건 명확히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Assert.AreEqual(700, account.Balance);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📖 코드만 봐도 알 수 있는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잔액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외부 문서나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불필요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완전함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Arrange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이런 상황에서 </a:t>
            </a:r>
            <a:r>
              <a:rPr lang="en-US" altLang="ko-KR"/>
              <a:t>(</a:t>
            </a:r>
            <a:r>
              <a:rPr lang="ko-KR" altLang="en-US"/>
              <a:t>사전조건</a:t>
            </a:r>
            <a:r>
              <a:rPr lang="en-US" altLang="ko-KR"/>
              <a:t>) </a:t>
            </a:r>
            <a:r>
              <a:rPr lang="en-US" altLang="ko-KR" b="1"/>
              <a:t>Act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이렇게 했을 때 </a:t>
            </a:r>
            <a:r>
              <a:rPr lang="en-US" altLang="ko-KR" b="1"/>
              <a:t>Assert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이런 결과가 나와야 한다 </a:t>
            </a:r>
            <a:r>
              <a:rPr lang="en-US" altLang="ko-KR"/>
              <a:t>(</a:t>
            </a:r>
            <a:r>
              <a:rPr lang="ko-KR" altLang="en-US"/>
              <a:t>사후조건</a:t>
            </a:r>
            <a:r>
              <a:rPr lang="en-US" altLang="ko-KR"/>
              <a:t>)</a:t>
            </a:r>
          </a:p>
          <a:p>
            <a:r>
              <a:rPr lang="ko-KR" altLang="en-US"/>
              <a:t>이 </a:t>
            </a:r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ko-KR" altLang="en-US"/>
              <a:t>을 기억하세요</a:t>
            </a:r>
            <a:r>
              <a:rPr lang="en-US" altLang="ko-KR"/>
              <a:t>. </a:t>
            </a:r>
            <a:r>
              <a:rPr lang="ko-KR" altLang="en-US"/>
              <a:t>테스트의 기본 구조입니다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작성 전 또는 직후에 작성 ⏰</a:t>
            </a:r>
          </a:p>
          <a:p>
            <a:r>
              <a:rPr lang="ko-KR" altLang="en-US"/>
              <a:t>세 번째 박스</a:t>
            </a:r>
            <a:r>
              <a:rPr lang="en-US" altLang="ko-KR"/>
              <a:t>, </a:t>
            </a:r>
            <a:r>
              <a:rPr lang="ko-KR" altLang="en-US" b="1"/>
              <a:t>코드 작성 전 또는 직후에 작성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"TDD</a:t>
            </a:r>
            <a:r>
              <a:rPr lang="ko-KR" altLang="en-US" i="1"/>
              <a:t>에서는 코드 작성 전에</a:t>
            </a:r>
            <a:r>
              <a:rPr lang="en-US" altLang="ko-KR" i="1"/>
              <a:t>, </a:t>
            </a:r>
            <a:r>
              <a:rPr lang="ko-KR" altLang="en-US" i="1"/>
              <a:t>테스트 후기 방식에서는 기능 구현 직후에 테스트를 작성합니다</a:t>
            </a:r>
            <a:r>
              <a:rPr lang="en-US" altLang="ko-KR" i="1"/>
              <a:t>. </a:t>
            </a:r>
            <a:r>
              <a:rPr lang="ko-KR" altLang="en-US" i="1"/>
              <a:t>시간이 지날수록 테스트 작성의 가치와 정확성이 떨어집니다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이게 </a:t>
            </a:r>
            <a:r>
              <a:rPr lang="en-US" altLang="ko-KR" b="1"/>
              <a:t>Timely</a:t>
            </a:r>
            <a:r>
              <a:rPr lang="ko-KR" altLang="en-US"/>
              <a:t>의 핵심이에요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작성 타이밍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Best: TDD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먼저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→ 코드 작성 → 리팩토링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 요구사항이 머릿속에 생생할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Good: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구현 직후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코드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│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└─ 아직 로직이 기억날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Bad: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몰아서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코드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│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뭐였지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기억 안남│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엣지 케이스 놓침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솔직히 말씀드릴게요</a:t>
            </a:r>
            <a:r>
              <a:rPr lang="en-US" altLang="ko-KR"/>
              <a:t>.</a:t>
            </a:r>
          </a:p>
          <a:p>
            <a:r>
              <a:rPr lang="en-US" altLang="ko-KR"/>
              <a:t>2</a:t>
            </a:r>
            <a:r>
              <a:rPr lang="ko-KR" altLang="en-US"/>
              <a:t>주 전에 짠 코드에 테스트 작성해보신 적 있으신가요</a:t>
            </a:r>
            <a:r>
              <a:rPr lang="en-US" altLang="ko-KR"/>
              <a:t>? "</a:t>
            </a:r>
            <a:r>
              <a:rPr lang="ko-KR" altLang="en-US"/>
              <a:t>이게 왜 이렇게 짰지</a:t>
            </a:r>
            <a:r>
              <a:rPr lang="en-US" altLang="ko-KR"/>
              <a:t>...?" </a:t>
            </a:r>
            <a:r>
              <a:rPr lang="ko-KR" altLang="en-US"/>
              <a:t>기억이 안 나요</a:t>
            </a:r>
            <a:r>
              <a:rPr lang="en-US" altLang="ko-KR"/>
              <a:t>.</a:t>
            </a:r>
          </a:p>
          <a:p>
            <a:r>
              <a:rPr lang="ko-KR" altLang="en-US"/>
              <a:t>테스트는 </a:t>
            </a:r>
            <a:r>
              <a:rPr lang="ko-KR" altLang="en-US" b="1"/>
              <a:t>기억이 생생할 때</a:t>
            </a:r>
            <a:r>
              <a:rPr lang="ko-KR" altLang="en-US"/>
              <a:t> 작성해야 합니다</a:t>
            </a:r>
            <a:r>
              <a:rPr lang="en-US" altLang="ko-KR"/>
              <a:t>. </a:t>
            </a:r>
            <a:r>
              <a:rPr lang="ko-KR" altLang="en-US"/>
              <a:t>그래야 </a:t>
            </a:r>
            <a:r>
              <a:rPr lang="ko-KR" altLang="en-US" b="1"/>
              <a:t>정확한 테스트</a:t>
            </a:r>
            <a:r>
              <a:rPr lang="ko-KR" altLang="en-US"/>
              <a:t>를 작성할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즉각적인 피드백 제공 🔄</a:t>
            </a:r>
          </a:p>
          <a:p>
            <a:r>
              <a:rPr lang="ko-KR" altLang="en-US"/>
              <a:t>네 번째 박스</a:t>
            </a:r>
            <a:r>
              <a:rPr lang="en-US" altLang="ko-KR"/>
              <a:t>, </a:t>
            </a:r>
            <a:r>
              <a:rPr lang="ko-KR" altLang="en-US" b="1"/>
              <a:t>즉각적인 피드백 제공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테스트는 빠르게 실행되어 즉각적인 피드백을 제공해야 합니다</a:t>
            </a:r>
            <a:r>
              <a:rPr lang="en-US" altLang="ko-KR" i="1"/>
              <a:t>. </a:t>
            </a:r>
            <a:r>
              <a:rPr lang="ko-KR" altLang="en-US" i="1"/>
              <a:t>코드 변경 후 바로 테스트하여 문제를 조기에 발견합니다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이건 </a:t>
            </a:r>
            <a:r>
              <a:rPr lang="en-US" altLang="ko-KR" b="1"/>
              <a:t>Fast </a:t>
            </a:r>
            <a:r>
              <a:rPr lang="ko-KR" altLang="en-US" b="1"/>
              <a:t>원칙</a:t>
            </a:r>
            <a:r>
              <a:rPr lang="ko-KR" altLang="en-US"/>
              <a:t>과도 연결되는 내용이에요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즉각적 피드백의 가치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코드 수정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├─── 즉시 테스트 ─── ❌ 실패 ───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     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                        └───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수정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 생생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└───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후 테스트 ─── ❌ 실패 ───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바꿨더라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...?"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│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└───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원인 찾기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빠른 피드백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수정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 생산성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버그는 </a:t>
            </a:r>
            <a:r>
              <a:rPr lang="ko-KR" altLang="en-US" b="1"/>
              <a:t>발견이 빠를수록 수정이 쉽습니다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방금 작성한 코드에서 버그 나면</a:t>
            </a:r>
            <a:r>
              <a:rPr lang="en-US" altLang="ko-KR"/>
              <a:t>? </a:t>
            </a:r>
            <a:r>
              <a:rPr lang="ko-KR" altLang="en-US"/>
              <a:t>바로 알죠</a:t>
            </a:r>
            <a:r>
              <a:rPr lang="en-US" altLang="ko-KR"/>
              <a:t>. 2</a:t>
            </a:r>
            <a:r>
              <a:rPr lang="ko-KR" altLang="en-US"/>
              <a:t>주 전 코드에서 버그 나면</a:t>
            </a:r>
            <a:r>
              <a:rPr lang="en-US" altLang="ko-KR"/>
              <a:t>? </a:t>
            </a:r>
            <a:r>
              <a:rPr lang="ko-KR" altLang="en-US"/>
              <a:t>원인 찾는 데만 한참 걸려요</a:t>
            </a:r>
            <a:r>
              <a:rPr lang="en-US" altLang="ko-KR"/>
              <a:t>.</a:t>
            </a:r>
          </a:p>
          <a:p>
            <a:r>
              <a:rPr lang="ko-KR" altLang="en-US"/>
              <a:t>그래서 </a:t>
            </a:r>
            <a:r>
              <a:rPr lang="ko-KR" altLang="en-US" b="1"/>
              <a:t>테스트를 자주</a:t>
            </a:r>
            <a:r>
              <a:rPr lang="en-US" altLang="ko-KR" b="1"/>
              <a:t>, </a:t>
            </a:r>
            <a:r>
              <a:rPr lang="ko-KR" altLang="en-US" b="1"/>
              <a:t>빠르게</a:t>
            </a:r>
            <a:r>
              <a:rPr lang="ko-KR" altLang="en-US"/>
              <a:t> 돌려야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Self-Validating </a:t>
            </a:r>
            <a:r>
              <a:rPr lang="ko-KR" altLang="en-US" b="1"/>
              <a:t>코드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Self-Validating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사람이 판단해야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ProcessOrder_BadTest()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Order(100);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_service.Process(order);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Console.WriteLine($"Result: {result}");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Console.WriteLine($"Status: {order.Status}");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눈으로 확인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Self-Validating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판단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ProcessOrder_GoodTest()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Order(amount: 100);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_service.Process(order);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Assert.IsTrue(result.IsSuccess);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Assert.AreEqual(OrderStatus.Completed, order.Status);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Assert.AreEqual(100, result.ProcessedAmount);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/>
              <a:t>좋은 테스트는 </a:t>
            </a:r>
            <a:r>
              <a:rPr lang="en-US" altLang="ko-KR" b="1"/>
              <a:t>Assert</a:t>
            </a:r>
            <a:r>
              <a:rPr lang="ko-KR" altLang="en-US" b="1"/>
              <a:t>가 명확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무엇을 검증하는지 코드만 봐도 알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FIRST </a:t>
            </a:r>
            <a:r>
              <a:rPr lang="ko-KR" altLang="en-US" b="1"/>
              <a:t>원칙 적용 팁 💡</a:t>
            </a:r>
          </a:p>
          <a:p>
            <a:r>
              <a:rPr lang="ko-KR" altLang="en-US"/>
              <a:t>하단에 </a:t>
            </a:r>
            <a:r>
              <a:rPr lang="ko-KR" altLang="en-US" b="1"/>
              <a:t>적용 팁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"Self-Validating</a:t>
            </a:r>
            <a:r>
              <a:rPr lang="ko-KR" altLang="en-US" i="1"/>
              <a:t>과 </a:t>
            </a:r>
            <a:r>
              <a:rPr lang="en-US" altLang="ko-KR" i="1"/>
              <a:t>Timely </a:t>
            </a:r>
            <a:r>
              <a:rPr lang="ko-KR" altLang="en-US" i="1"/>
              <a:t>원칙은 서로 연관성이 높습니다</a:t>
            </a:r>
            <a:r>
              <a:rPr lang="en-US" altLang="ko-KR" i="1"/>
              <a:t>. </a:t>
            </a:r>
            <a:r>
              <a:rPr lang="ko-KR" altLang="en-US" i="1"/>
              <a:t>테스트를 적시에 작성할 때 검증 기준이 명확하며</a:t>
            </a:r>
            <a:r>
              <a:rPr lang="en-US" altLang="ko-KR" i="1"/>
              <a:t>, </a:t>
            </a:r>
            <a:r>
              <a:rPr lang="ko-KR" altLang="en-US" i="1"/>
              <a:t>자가 검증이 확실한 테스트는 지속적인 통합</a:t>
            </a:r>
            <a:r>
              <a:rPr lang="en-US" altLang="ko-KR" i="1"/>
              <a:t>(CI) </a:t>
            </a:r>
            <a:r>
              <a:rPr lang="ko-KR" altLang="en-US" i="1"/>
              <a:t>환경에서 더 큰 가치를 발휘합니다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정리하면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시너지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적시에 작성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기억 생생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└─→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기준이 명확해짐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│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└─→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Self-Validating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완성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│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└─→ 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 검증 가능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│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└─→ 품질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🎉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반대로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늦게 작성 → 기억 흐릿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불명확 → 신뢰할 수 없음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</a:t>
            </a:r>
          </a:p>
          <a:p>
            <a:r>
              <a:rPr lang="en-US" altLang="ko-KR" b="1"/>
              <a:t>S - Self-Validating (</a:t>
            </a:r>
            <a:r>
              <a:rPr lang="ko-KR" altLang="en-US" b="1"/>
              <a:t>자가 검증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en-US" altLang="ko-KR" b="1"/>
              <a:t>Assert</a:t>
            </a:r>
            <a:r>
              <a:rPr lang="ko-KR" altLang="en-US"/>
              <a:t>로 성공</a:t>
            </a:r>
            <a:r>
              <a:rPr lang="en-US" altLang="ko-KR"/>
              <a:t>/</a:t>
            </a:r>
            <a:r>
              <a:rPr lang="ko-KR" altLang="en-US"/>
              <a:t>실패 명확하게</a:t>
            </a:r>
          </a:p>
          <a:p>
            <a:r>
              <a:rPr lang="ko-KR" altLang="en-US"/>
              <a:t>사람이 판단하면 안 됨</a:t>
            </a:r>
          </a:p>
          <a:p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en-US" altLang="ko-KR"/>
              <a:t>: Arrange-Act-Assert</a:t>
            </a:r>
          </a:p>
          <a:p>
            <a:r>
              <a:rPr lang="en-US" altLang="ko-KR" b="1"/>
              <a:t>T - Timely (</a:t>
            </a:r>
            <a:r>
              <a:rPr lang="ko-KR" altLang="en-US" b="1"/>
              <a:t>적시에</a:t>
            </a:r>
            <a:r>
              <a:rPr lang="en-US" altLang="ko-KR" b="1"/>
              <a:t>)</a:t>
            </a:r>
            <a:endParaRPr lang="ko-KR" altLang="en-US"/>
          </a:p>
          <a:p>
            <a:r>
              <a:rPr lang="en-US" altLang="ko-KR" b="1"/>
              <a:t>TDD</a:t>
            </a:r>
            <a:r>
              <a:rPr lang="en-US" altLang="ko-KR"/>
              <a:t>: </a:t>
            </a:r>
            <a:r>
              <a:rPr lang="ko-KR" altLang="en-US"/>
              <a:t>코드 작성 전에 테스트</a:t>
            </a:r>
          </a:p>
          <a:p>
            <a:r>
              <a:rPr lang="ko-KR" altLang="en-US"/>
              <a:t>최소한 </a:t>
            </a:r>
            <a:r>
              <a:rPr lang="ko-KR" altLang="en-US" b="1"/>
              <a:t>기능 구현 직후</a:t>
            </a:r>
            <a:r>
              <a:rPr lang="ko-KR" altLang="en-US"/>
              <a:t>에 작성</a:t>
            </a:r>
          </a:p>
          <a:p>
            <a:r>
              <a:rPr lang="ko-KR" altLang="en-US" b="1"/>
              <a:t>나중에 몰아서</a:t>
            </a:r>
            <a:r>
              <a:rPr lang="ko-KR" altLang="en-US"/>
              <a:t>는 최악</a:t>
            </a:r>
            <a:r>
              <a:rPr lang="en-US" altLang="ko-KR"/>
              <a:t>!</a:t>
            </a:r>
          </a:p>
          <a:p>
            <a:r>
              <a:rPr lang="ko-KR" altLang="en-US"/>
              <a:t>핵심 질문</a:t>
            </a:r>
            <a:r>
              <a:rPr lang="en-US" altLang="ko-KR"/>
              <a:t>: </a:t>
            </a:r>
            <a:r>
              <a:rPr lang="en-US" altLang="ko-KR" b="1"/>
              <a:t>"</a:t>
            </a:r>
            <a:r>
              <a:rPr lang="ko-KR" altLang="en-US" b="1"/>
              <a:t>이 테스트</a:t>
            </a:r>
            <a:r>
              <a:rPr lang="en-US" altLang="ko-KR" b="1"/>
              <a:t>, </a:t>
            </a:r>
            <a:r>
              <a:rPr lang="ko-KR" altLang="en-US" b="1"/>
              <a:t>사람 눈으로 확인 안 해도 되나</a:t>
            </a:r>
            <a:r>
              <a:rPr lang="en-US" altLang="ko-KR" b="1"/>
              <a:t>?"</a:t>
            </a:r>
            <a:r>
              <a:rPr lang="ko-KR" altLang="en-US"/>
              <a:t> → </a:t>
            </a:r>
            <a:r>
              <a:rPr lang="en-US" altLang="ko-KR"/>
              <a:t>Self-Validating </a:t>
            </a:r>
            <a:r>
              <a:rPr lang="en-US" altLang="ko-KR" b="1"/>
              <a:t>"</a:t>
            </a:r>
            <a:r>
              <a:rPr lang="ko-KR" altLang="en-US" b="1"/>
              <a:t>이 테스트</a:t>
            </a:r>
            <a:r>
              <a:rPr lang="en-US" altLang="ko-KR" b="1"/>
              <a:t>, </a:t>
            </a:r>
            <a:r>
              <a:rPr lang="ko-KR" altLang="en-US" b="1"/>
              <a:t>언제 작성했나</a:t>
            </a:r>
            <a:r>
              <a:rPr lang="en-US" altLang="ko-KR" b="1"/>
              <a:t>? </a:t>
            </a:r>
            <a:r>
              <a:rPr lang="ko-KR" altLang="en-US" b="1"/>
              <a:t>늦진 않았나</a:t>
            </a:r>
            <a:r>
              <a:rPr lang="en-US" altLang="ko-KR" b="1"/>
              <a:t>?"</a:t>
            </a:r>
            <a:r>
              <a:rPr lang="ko-KR" altLang="en-US"/>
              <a:t> → </a:t>
            </a:r>
            <a:r>
              <a:rPr lang="en-US" altLang="ko-KR"/>
              <a:t>Timely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이렇게 </a:t>
            </a:r>
            <a:r>
              <a:rPr lang="en-US" altLang="ko-KR" b="1"/>
              <a:t>FIRST </a:t>
            </a:r>
            <a:r>
              <a:rPr lang="ko-KR" altLang="en-US" b="1"/>
              <a:t>원칙</a:t>
            </a:r>
            <a:r>
              <a:rPr lang="ko-KR" altLang="en-US"/>
              <a:t> 다섯 가지를 모두 살펴봤습니다</a:t>
            </a:r>
            <a:r>
              <a:rPr lang="en-US" altLang="ko-KR"/>
              <a:t>. </a:t>
            </a:r>
            <a:r>
              <a:rPr lang="ko-KR" altLang="en-US"/>
              <a:t>다음은 이 원칙을 적용한 실습을 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정말 중요한 주제입니다</a:t>
            </a:r>
            <a:r>
              <a:rPr lang="en-US" altLang="ko-KR"/>
              <a:t>.</a:t>
            </a:r>
          </a:p>
          <a:p>
            <a:r>
              <a:rPr lang="en-US" altLang="ko-KR" b="1"/>
              <a:t>TDD - Test-Driven Development, </a:t>
            </a:r>
            <a:r>
              <a:rPr lang="ko-KR" altLang="en-US" b="1"/>
              <a:t>테스트 주도 개발</a:t>
            </a:r>
            <a:endParaRPr lang="ko-KR" altLang="en-US"/>
          </a:p>
          <a:p>
            <a:r>
              <a:rPr lang="ko-KR" altLang="en-US"/>
              <a:t>이름부터 특이하죠</a:t>
            </a:r>
            <a:r>
              <a:rPr lang="en-US" altLang="ko-KR"/>
              <a:t>? "</a:t>
            </a:r>
            <a:r>
              <a:rPr lang="ko-KR" altLang="en-US"/>
              <a:t>테스트가 개발을 주도한다</a:t>
            </a:r>
            <a:r>
              <a:rPr lang="en-US" altLang="ko-KR"/>
              <a:t>"</a:t>
            </a:r>
          </a:p>
          <a:p>
            <a:r>
              <a:rPr lang="ko-KR" altLang="en-US"/>
              <a:t>보통 개발하면 </a:t>
            </a:r>
            <a:r>
              <a:rPr lang="ko-KR" altLang="en-US" b="1"/>
              <a:t>코드 먼저 → 테스트 나중</a:t>
            </a:r>
            <a:r>
              <a:rPr lang="ko-KR" altLang="en-US"/>
              <a:t>이잖아요</a:t>
            </a:r>
            <a:r>
              <a:rPr lang="en-US" altLang="ko-KR"/>
              <a:t>? TDD</a:t>
            </a:r>
            <a:r>
              <a:rPr lang="ko-KR" altLang="en-US"/>
              <a:t>는 반대입니다</a:t>
            </a:r>
            <a:r>
              <a:rPr lang="en-US" altLang="ko-KR"/>
              <a:t>. </a:t>
            </a:r>
            <a:r>
              <a:rPr lang="ko-KR" altLang="en-US" b="1"/>
              <a:t>테스트 먼저 → 코드 나중</a:t>
            </a:r>
            <a:endParaRPr lang="ko-KR" altLang="en-US"/>
          </a:p>
          <a:p>
            <a:r>
              <a:rPr lang="en-US" altLang="ko-KR"/>
              <a:t>"</a:t>
            </a:r>
            <a:r>
              <a:rPr lang="ko-KR" altLang="en-US"/>
              <a:t>그게 말이 돼</a:t>
            </a:r>
            <a:r>
              <a:rPr lang="en-US" altLang="ko-KR"/>
              <a:t>?" </a:t>
            </a:r>
            <a:r>
              <a:rPr lang="ko-KR" altLang="en-US"/>
              <a:t>하실 수 있는데</a:t>
            </a:r>
            <a:r>
              <a:rPr lang="en-US" altLang="ko-KR"/>
              <a:t>, </a:t>
            </a:r>
            <a:r>
              <a:rPr lang="ko-KR" altLang="en-US"/>
              <a:t>이게 </a:t>
            </a:r>
            <a:r>
              <a:rPr lang="ko-KR" altLang="en-US" b="1"/>
              <a:t>굉장히 강력한 방법론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 </a:t>
            </a:r>
            <a:r>
              <a:rPr lang="ko-KR" altLang="en-US" b="1"/>
              <a:t>정의</a:t>
            </a:r>
          </a:p>
          <a:p>
            <a:r>
              <a:rPr lang="ko-KR" altLang="en-US"/>
              <a:t>화면 상단에 정의가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코드를 먼저 작성한 후 실제 코드를 구현하는 개발 방법론입니다</a:t>
            </a:r>
            <a:r>
              <a:rPr lang="en-US" altLang="ko-KR" i="1"/>
              <a:t>. Red-Green-Refactor </a:t>
            </a:r>
            <a:r>
              <a:rPr lang="ko-KR" altLang="en-US" i="1"/>
              <a:t>사이클을 통해 요구사항을 테스트로 구체화하고</a:t>
            </a:r>
            <a:r>
              <a:rPr lang="en-US" altLang="ko-KR" i="1"/>
              <a:t>, </a:t>
            </a:r>
            <a:r>
              <a:rPr lang="ko-KR" altLang="en-US" i="1"/>
              <a:t>점진적인 개발과 리팩토링을 반복하며 코드 품질을 향상시킵니다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핵심은 </a:t>
            </a:r>
            <a:r>
              <a:rPr lang="en-US" altLang="ko-KR" b="1"/>
              <a:t>Red-Green-Refactor</a:t>
            </a:r>
            <a:r>
              <a:rPr lang="ko-KR" altLang="en-US"/>
              <a:t> 이 세 단계입니다</a:t>
            </a:r>
            <a:r>
              <a:rPr lang="en-US" altLang="ko-KR"/>
              <a:t>. </a:t>
            </a:r>
            <a:r>
              <a:rPr lang="ko-KR" altLang="en-US"/>
              <a:t>이 사이클을 계속 돌리는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Red-Green-Refactor </a:t>
            </a:r>
            <a:r>
              <a:rPr lang="ko-KR" altLang="en-US" b="1"/>
              <a:t>사이클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시각화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┌─────────┐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┌───▶│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1.Red  │───┐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   │   │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 │실패하는 │   │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 │테스트작성│   │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 └─────────┘   │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               ▼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┌─────────┐        ┌─────────┐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3.Refactor│        │ 2.Green │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   │◀───────│   🟢    │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코드   │        │테스트를  │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개선   │        │통과하는  │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└────┬────┘        │최소코드 │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│             └─────────┘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│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└────────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─────────▶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 사이클을 </a:t>
            </a:r>
            <a:r>
              <a:rPr lang="ko-KR" altLang="en-US" b="1"/>
              <a:t>신호등</a:t>
            </a:r>
            <a:r>
              <a:rPr lang="ko-KR" altLang="en-US"/>
              <a:t>에 비유하면 기억하기 쉬워요</a:t>
            </a:r>
            <a:r>
              <a:rPr lang="en-US" altLang="ko-KR"/>
              <a:t>. </a:t>
            </a:r>
            <a:r>
              <a:rPr lang="ko-KR" altLang="en-US"/>
              <a:t>빨간불 → 초록불 → 리팩토링 → 다시 빨간불 → </a:t>
            </a:r>
            <a:r>
              <a:rPr lang="en-US" altLang="ko-KR"/>
              <a:t>...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Red - </a:t>
            </a:r>
            <a:r>
              <a:rPr lang="ko-KR" altLang="en-US" b="1"/>
              <a:t>실패하는 테스트 작성 🔴</a:t>
            </a:r>
          </a:p>
          <a:p>
            <a:r>
              <a:rPr lang="ko-KR" altLang="en-US"/>
              <a:t>첫 번째 단계</a:t>
            </a:r>
            <a:r>
              <a:rPr lang="en-US" altLang="ko-KR"/>
              <a:t>, </a:t>
            </a:r>
            <a:r>
              <a:rPr lang="en-US" altLang="ko-KR" b="1"/>
              <a:t>Red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실패하는 테스트 작성</a:t>
            </a:r>
            <a:r>
              <a:rPr lang="en-US" altLang="ko-KR" i="1"/>
              <a:t>. </a:t>
            </a:r>
            <a:r>
              <a:rPr lang="ko-KR" altLang="en-US" i="1"/>
              <a:t>구현 전에 요구사항을 검증하는 테스트를 먼저 작성합니다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이게 처음엔 </a:t>
            </a:r>
            <a:r>
              <a:rPr lang="ko-KR" altLang="en-US" b="1"/>
              <a:t>어색합니다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"</a:t>
            </a:r>
            <a:r>
              <a:rPr lang="ko-KR" altLang="en-US"/>
              <a:t>아직 코드도 없는데 테스트를 어떻게 작성해</a:t>
            </a:r>
            <a:r>
              <a:rPr lang="en-US" altLang="ko-KR"/>
              <a:t>?"</a:t>
            </a:r>
          </a:p>
          <a:p>
            <a:r>
              <a:rPr lang="ko-KR" altLang="en-US"/>
              <a:t>맞아요</a:t>
            </a:r>
            <a:r>
              <a:rPr lang="en-US" altLang="ko-KR"/>
              <a:t>. </a:t>
            </a:r>
            <a:r>
              <a:rPr lang="ko-KR" altLang="en-US"/>
              <a:t>코드가 없으니까 당연히 </a:t>
            </a:r>
            <a:r>
              <a:rPr lang="ko-KR" altLang="en-US" b="1"/>
              <a:t>실패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그게 바로 </a:t>
            </a:r>
            <a:r>
              <a:rPr lang="en-US" altLang="ko-KR" b="1"/>
              <a:t>Red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빨간불이에요</a:t>
            </a:r>
            <a:r>
              <a:rPr lang="en-US" altLang="ko-KR"/>
              <a:t>.</a:t>
            </a:r>
          </a:p>
          <a:p>
            <a:r>
              <a:rPr lang="ko-KR" altLang="en-US"/>
              <a:t>핵심은 </a:t>
            </a:r>
            <a:r>
              <a:rPr lang="en-US" altLang="ko-KR" b="1"/>
              <a:t>"</a:t>
            </a:r>
            <a:r>
              <a:rPr lang="ko-KR" altLang="en-US" b="1"/>
              <a:t>무엇을 만들 것인가</a:t>
            </a:r>
            <a:r>
              <a:rPr lang="en-US" altLang="ko-KR" b="1"/>
              <a:t>"</a:t>
            </a:r>
            <a:r>
              <a:rPr lang="ko-KR" altLang="en-US" b="1"/>
              <a:t>를 먼저 정의</a:t>
            </a:r>
            <a:r>
              <a:rPr lang="ko-KR" altLang="en-US"/>
              <a:t>하는 겁니다</a:t>
            </a:r>
            <a:r>
              <a:rPr lang="en-US" altLang="ko-KR"/>
              <a:t>. </a:t>
            </a:r>
            <a:r>
              <a:rPr lang="ko-KR" altLang="en-US"/>
              <a:t>테스트가 </a:t>
            </a:r>
            <a:r>
              <a:rPr lang="ko-KR" altLang="en-US" b="1"/>
              <a:t>명세서</a:t>
            </a:r>
            <a:r>
              <a:rPr lang="ko-KR" altLang="en-US"/>
              <a:t> 역할을 하는 거죠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Red: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클래스가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Add_EmptyString_ReturnsZero()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컴파일 에러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Assert.AreEqual(0, calc.Add(""));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당연히 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/>
              <a:t>이 테스트를 실행하면</a:t>
            </a:r>
            <a:r>
              <a:rPr lang="en-US" altLang="ko-KR"/>
              <a:t>? </a:t>
            </a:r>
            <a:r>
              <a:rPr lang="ko-KR" altLang="en-US" b="1"/>
              <a:t>빨간불</a:t>
            </a:r>
            <a:r>
              <a:rPr lang="en-US" altLang="ko-KR" b="1"/>
              <a:t>!</a:t>
            </a:r>
            <a:r>
              <a:rPr lang="ko-KR" altLang="en-US"/>
              <a:t> 클래스 자체가 없으니까요</a:t>
            </a:r>
            <a:r>
              <a:rPr lang="en-US" altLang="ko-KR"/>
              <a:t>.</a:t>
            </a:r>
          </a:p>
          <a:p>
            <a:r>
              <a:rPr lang="ko-KR" altLang="en-US"/>
              <a:t>이게 정상입니다</a:t>
            </a:r>
            <a:r>
              <a:rPr lang="en-US" altLang="ko-KR"/>
              <a:t>. </a:t>
            </a:r>
            <a:r>
              <a:rPr lang="en-US" altLang="ko-KR" b="1"/>
              <a:t>Red </a:t>
            </a:r>
            <a:r>
              <a:rPr lang="ko-KR" altLang="en-US" b="1"/>
              <a:t>단계 완료</a:t>
            </a:r>
            <a:r>
              <a:rPr lang="en-US" altLang="ko-KR" b="1"/>
              <a:t>!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2. Green - </a:t>
            </a:r>
            <a:r>
              <a:rPr lang="ko-KR" altLang="en-US" b="1"/>
              <a:t>테스트 통과 코드 작성 🟢</a:t>
            </a:r>
          </a:p>
          <a:p>
            <a:r>
              <a:rPr lang="ko-KR" altLang="en-US"/>
              <a:t>두 번째 단계</a:t>
            </a:r>
            <a:r>
              <a:rPr lang="en-US" altLang="ko-KR"/>
              <a:t>, </a:t>
            </a:r>
            <a:r>
              <a:rPr lang="en-US" altLang="ko-KR" b="1"/>
              <a:t>Green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통과 코드 작성</a:t>
            </a:r>
            <a:r>
              <a:rPr lang="en-US" altLang="ko-KR" i="1"/>
              <a:t>. </a:t>
            </a:r>
            <a:r>
              <a:rPr lang="ko-KR" altLang="en-US" i="1"/>
              <a:t>테스트를 통과하는 가장 간단한 코드를 작성합니다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여기서 중요한 건 </a:t>
            </a:r>
            <a:r>
              <a:rPr lang="en-US" altLang="ko-KR" b="1"/>
              <a:t>"</a:t>
            </a:r>
            <a:r>
              <a:rPr lang="ko-KR" altLang="en-US" b="1"/>
              <a:t>가장 간단한</a:t>
            </a:r>
            <a:r>
              <a:rPr lang="en-US" altLang="ko-KR" b="1"/>
              <a:t>"</a:t>
            </a:r>
            <a:r>
              <a:rPr lang="ko-KR" altLang="en-US"/>
              <a:t> 이에요</a:t>
            </a:r>
            <a:r>
              <a:rPr lang="en-US" altLang="ko-KR"/>
              <a:t>.</a:t>
            </a:r>
          </a:p>
          <a:p>
            <a:r>
              <a:rPr lang="ko-KR" altLang="en-US"/>
              <a:t>완벽한 코드 </a:t>
            </a:r>
            <a:r>
              <a:rPr lang="en-US" altLang="ko-KR"/>
              <a:t>X </a:t>
            </a:r>
            <a:r>
              <a:rPr lang="ko-KR" altLang="en-US"/>
              <a:t>확장 가능한 코드 </a:t>
            </a:r>
            <a:r>
              <a:rPr lang="en-US" altLang="ko-KR"/>
              <a:t>X </a:t>
            </a:r>
            <a:r>
              <a:rPr lang="ko-KR" altLang="en-US" b="1"/>
              <a:t>그냥 테스트 통과만 하면 되는 최소 코드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Green: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통과하는 최소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"</a:t>
            </a:r>
            <a:r>
              <a:rPr lang="ko-KR" altLang="en-US"/>
              <a:t>이게 뭐야</a:t>
            </a:r>
            <a:r>
              <a:rPr lang="en-US" altLang="ko-KR"/>
              <a:t>? </a:t>
            </a:r>
            <a:r>
              <a:rPr lang="ko-KR" altLang="en-US"/>
              <a:t>그냥 </a:t>
            </a:r>
            <a:r>
              <a:rPr lang="en-US" altLang="ko-KR"/>
              <a:t>0 </a:t>
            </a:r>
            <a:r>
              <a:rPr lang="ko-KR" altLang="en-US"/>
              <a:t>반환하면 끝이야</a:t>
            </a:r>
            <a:r>
              <a:rPr lang="en-US" altLang="ko-KR"/>
              <a:t>?"</a:t>
            </a:r>
          </a:p>
          <a:p>
            <a:r>
              <a:rPr lang="ko-KR" altLang="en-US"/>
              <a:t>네</a:t>
            </a:r>
            <a:r>
              <a:rPr lang="en-US" altLang="ko-KR"/>
              <a:t>, </a:t>
            </a:r>
            <a:r>
              <a:rPr lang="ko-KR" altLang="en-US" b="1"/>
              <a:t>끝입니다</a:t>
            </a:r>
            <a:r>
              <a:rPr lang="en-US" altLang="ko-KR" b="1"/>
              <a:t>.</a:t>
            </a:r>
            <a:r>
              <a:rPr lang="ko-KR" altLang="en-US"/>
              <a:t> 테스트가 뭐였죠</a:t>
            </a:r>
            <a:r>
              <a:rPr lang="en-US" altLang="ko-KR"/>
              <a:t>? "</a:t>
            </a:r>
            <a:r>
              <a:rPr lang="ko-KR" altLang="en-US"/>
              <a:t>빈 문자열 넣으면 </a:t>
            </a:r>
            <a:r>
              <a:rPr lang="en-US" altLang="ko-KR"/>
              <a:t>0 </a:t>
            </a:r>
            <a:r>
              <a:rPr lang="ko-KR" altLang="en-US"/>
              <a:t>반환해야 한다</a:t>
            </a:r>
            <a:r>
              <a:rPr lang="en-US" altLang="ko-KR"/>
              <a:t>"</a:t>
            </a:r>
          </a:p>
          <a:p>
            <a:r>
              <a:rPr lang="en-US" altLang="ko-KR"/>
              <a:t>0 </a:t>
            </a:r>
            <a:r>
              <a:rPr lang="ko-KR" altLang="en-US"/>
              <a:t>반환하니까 </a:t>
            </a:r>
            <a:r>
              <a:rPr lang="ko-KR" altLang="en-US" b="1"/>
              <a:t>테스트 통과</a:t>
            </a:r>
            <a:r>
              <a:rPr lang="en-US" altLang="ko-KR" b="1"/>
              <a:t>!</a:t>
            </a:r>
            <a:r>
              <a:rPr lang="ko-KR" altLang="en-US"/>
              <a:t> 🟢 </a:t>
            </a:r>
            <a:r>
              <a:rPr lang="ko-KR" altLang="en-US" b="1"/>
              <a:t>초록불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en-US" altLang="ko-KR"/>
              <a:t>"</a:t>
            </a:r>
            <a:r>
              <a:rPr lang="ko-KR" altLang="en-US"/>
              <a:t>그럼 다른 케이스는요</a:t>
            </a:r>
            <a:r>
              <a:rPr lang="en-US" altLang="ko-KR"/>
              <a:t>?" </a:t>
            </a:r>
            <a:r>
              <a:rPr lang="ko-KR" altLang="en-US"/>
              <a:t>그건 </a:t>
            </a:r>
            <a:r>
              <a:rPr lang="ko-KR" altLang="en-US" b="1"/>
              <a:t>다음 </a:t>
            </a:r>
            <a:r>
              <a:rPr lang="en-US" altLang="ko-KR" b="1"/>
              <a:t>Red</a:t>
            </a:r>
            <a:r>
              <a:rPr lang="ko-KR" altLang="en-US" b="1"/>
              <a:t>에서</a:t>
            </a:r>
            <a:r>
              <a:rPr lang="ko-KR" altLang="en-US"/>
              <a:t> 다룹니다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3. Refactor - </a:t>
            </a:r>
            <a:r>
              <a:rPr lang="ko-KR" altLang="en-US" b="1"/>
              <a:t>코드 개선 🔄</a:t>
            </a:r>
          </a:p>
          <a:p>
            <a:r>
              <a:rPr lang="ko-KR" altLang="en-US"/>
              <a:t>세 번째 단계</a:t>
            </a:r>
            <a:r>
              <a:rPr lang="en-US" altLang="ko-KR"/>
              <a:t>, </a:t>
            </a:r>
            <a:r>
              <a:rPr lang="en-US" altLang="ko-KR" b="1"/>
              <a:t>Refactor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코드 개선 및 리팩토링</a:t>
            </a:r>
            <a:r>
              <a:rPr lang="en-US" altLang="ko-KR" i="1"/>
              <a:t>. </a:t>
            </a:r>
            <a:r>
              <a:rPr lang="ko-KR" altLang="en-US" i="1"/>
              <a:t>테스트를 통과하는 상태를 유지하며 코드 품질을 향상시킵니다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Green </a:t>
            </a:r>
            <a:r>
              <a:rPr lang="ko-KR" altLang="en-US"/>
              <a:t>단계에서는 </a:t>
            </a:r>
            <a:r>
              <a:rPr lang="ko-KR" altLang="en-US" b="1"/>
              <a:t>빠르게 통과</a:t>
            </a:r>
            <a:r>
              <a:rPr lang="ko-KR" altLang="en-US"/>
              <a:t>시키는 게 목표였죠</a:t>
            </a:r>
            <a:r>
              <a:rPr lang="en-US" altLang="ko-KR"/>
              <a:t>. </a:t>
            </a:r>
            <a:r>
              <a:rPr lang="ko-KR" altLang="en-US"/>
              <a:t>그래서 코드가 좀 지저분할 수 있어요</a:t>
            </a:r>
            <a:r>
              <a:rPr lang="en-US" altLang="ko-KR"/>
              <a:t>.</a:t>
            </a:r>
          </a:p>
          <a:p>
            <a:r>
              <a:rPr lang="en-US" altLang="ko-KR"/>
              <a:t>Refactor</a:t>
            </a:r>
            <a:r>
              <a:rPr lang="ko-KR" altLang="en-US"/>
              <a:t>에서는 </a:t>
            </a:r>
            <a:r>
              <a:rPr lang="ko-KR" altLang="en-US" b="1"/>
              <a:t>테스트는 그대로 통과시키면서</a:t>
            </a:r>
            <a:r>
              <a:rPr lang="ko-KR" altLang="en-US"/>
              <a:t> 코드를 깔끔하게 다듬습니다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규칙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테스트는 계속 통과해야 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초록불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제거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이름 개선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코드 구조 정리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새로운 기능 추가 금지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그건 다음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Refactor </a:t>
            </a:r>
            <a:r>
              <a:rPr lang="ko-KR" altLang="en-US"/>
              <a:t>끝나면 다시 </a:t>
            </a:r>
            <a:r>
              <a:rPr lang="en-US" altLang="ko-KR" b="1"/>
              <a:t>Red</a:t>
            </a:r>
            <a:r>
              <a:rPr lang="ko-KR" altLang="en-US"/>
              <a:t>로 돌아갑니다</a:t>
            </a:r>
            <a:r>
              <a:rPr lang="en-US" altLang="ko-KR"/>
              <a:t>. </a:t>
            </a:r>
            <a:r>
              <a:rPr lang="ko-KR" altLang="en-US"/>
              <a:t>새로운 테스트 케이스 추가하고</a:t>
            </a:r>
            <a:r>
              <a:rPr lang="en-US" altLang="ko-KR"/>
              <a:t>, </a:t>
            </a:r>
            <a:r>
              <a:rPr lang="ko-KR" altLang="en-US"/>
              <a:t>사이클 반복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</a:t>
            </a:r>
            <a:r>
              <a:rPr lang="ko-KR" altLang="en-US" b="1"/>
              <a:t>의 핵심 가치</a:t>
            </a:r>
          </a:p>
          <a:p>
            <a:r>
              <a:rPr lang="ko-KR" altLang="en-US"/>
              <a:t>왼쪽 하단에 </a:t>
            </a:r>
            <a:r>
              <a:rPr lang="en-US" altLang="ko-KR" b="1"/>
              <a:t>TDD</a:t>
            </a:r>
            <a:r>
              <a:rPr lang="ko-KR" altLang="en-US" b="1"/>
              <a:t>의 핵심 가치</a:t>
            </a:r>
            <a:r>
              <a:rPr lang="ko-KR" altLang="en-US"/>
              <a:t> 두 가지가 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설계 중심 개발 🎯</a:t>
            </a:r>
          </a:p>
          <a:p>
            <a:r>
              <a:rPr lang="ko-KR" altLang="en-US" b="1"/>
              <a:t>첫째</a:t>
            </a:r>
            <a:r>
              <a:rPr lang="en-US" altLang="ko-KR" b="1"/>
              <a:t>, </a:t>
            </a:r>
            <a:r>
              <a:rPr lang="ko-KR" altLang="en-US" b="1"/>
              <a:t>설계 중심 개발입니다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테스트를 먼저 작성함으로써 더 나은 설계와 </a:t>
            </a:r>
            <a:r>
              <a:rPr lang="en-US" altLang="ko-KR" i="1"/>
              <a:t>API</a:t>
            </a:r>
            <a:r>
              <a:rPr lang="ko-KR" altLang="en-US" i="1"/>
              <a:t>를 자연스럽게 도출합니다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테스트를 먼저 작성하면 **</a:t>
            </a:r>
            <a:r>
              <a:rPr lang="en-US" altLang="ko-KR"/>
              <a:t>"</a:t>
            </a:r>
            <a:r>
              <a:rPr lang="ko-KR" altLang="en-US"/>
              <a:t>이 코드를 어떻게 사용할까</a:t>
            </a:r>
            <a:r>
              <a:rPr lang="en-US" altLang="ko-KR"/>
              <a:t>?"**</a:t>
            </a:r>
            <a:r>
              <a:rPr lang="ko-KR" altLang="en-US"/>
              <a:t>를 먼저 생각하게 돼요</a:t>
            </a:r>
            <a:r>
              <a:rPr lang="en-US" altLang="ko-KR"/>
              <a:t>.</a:t>
            </a:r>
          </a:p>
          <a:p>
            <a:r>
              <a:rPr lang="ko-KR" altLang="en-US"/>
              <a:t>그러면 자연스럽게 </a:t>
            </a:r>
            <a:r>
              <a:rPr lang="ko-KR" altLang="en-US" b="1"/>
              <a:t>사용하기 쉬운 </a:t>
            </a:r>
            <a:r>
              <a:rPr lang="en-US" altLang="ko-KR" b="1"/>
              <a:t>API</a:t>
            </a:r>
            <a:r>
              <a:rPr lang="ko-KR" altLang="en-US"/>
              <a:t>가 나옵니다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테스트하기 어려운 코드 </a:t>
            </a:r>
            <a:r>
              <a:rPr lang="en-US" altLang="ko-KR"/>
              <a:t>= </a:t>
            </a:r>
            <a:r>
              <a:rPr lang="ko-KR" altLang="en-US"/>
              <a:t>사용하기 어려운 코드 테스트하기 쉬운 코드 </a:t>
            </a:r>
            <a:r>
              <a:rPr lang="en-US" altLang="ko-KR"/>
              <a:t>= </a:t>
            </a:r>
            <a:r>
              <a:rPr lang="ko-KR" altLang="en-US"/>
              <a:t>사용하기 쉬운 코드</a:t>
            </a:r>
          </a:p>
          <a:p>
            <a:r>
              <a:rPr lang="en-US" altLang="ko-KR"/>
              <a:t>TDD</a:t>
            </a:r>
            <a:r>
              <a:rPr lang="ko-KR" altLang="en-US"/>
              <a:t>를 하면 </a:t>
            </a:r>
            <a:r>
              <a:rPr lang="ko-KR" altLang="en-US" b="1"/>
              <a:t>좋은 설계가 자연스럽게</a:t>
            </a:r>
            <a:r>
              <a:rPr lang="ko-KR" altLang="en-US"/>
              <a:t> 따라옵니다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회귀 방지 안전망 🛡️</a:t>
            </a:r>
          </a:p>
          <a:p>
            <a:r>
              <a:rPr lang="ko-KR" altLang="en-US" b="1"/>
              <a:t>둘째</a:t>
            </a:r>
            <a:r>
              <a:rPr lang="en-US" altLang="ko-KR" b="1"/>
              <a:t>, </a:t>
            </a:r>
            <a:r>
              <a:rPr lang="ko-KR" altLang="en-US" b="1"/>
              <a:t>회귀 방지 안전망입니다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모든 기능에 테스트가 있어 변경 시 기존 기능이 손상되지 않았는지 확인합니다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TDD</a:t>
            </a:r>
            <a:r>
              <a:rPr lang="ko-KR" altLang="en-US"/>
              <a:t>로 개발하면 </a:t>
            </a:r>
            <a:r>
              <a:rPr lang="ko-KR" altLang="en-US" b="1"/>
              <a:t>모든 기능에 테스트가 붙어있게</a:t>
            </a:r>
            <a:r>
              <a:rPr lang="ko-KR" altLang="en-US"/>
              <a:t> 됩니다</a:t>
            </a:r>
            <a:r>
              <a:rPr lang="en-US" altLang="ko-KR"/>
              <a:t>. </a:t>
            </a:r>
            <a:r>
              <a:rPr lang="ko-KR" altLang="en-US"/>
              <a:t>왜냐면 테스트 먼저 작성했으니까요</a:t>
            </a:r>
            <a:r>
              <a:rPr lang="en-US" altLang="ko-KR"/>
              <a:t>.</a:t>
            </a:r>
          </a:p>
          <a:p>
            <a:r>
              <a:rPr lang="ko-KR" altLang="en-US"/>
              <a:t>나중에 코드 수정할 때</a:t>
            </a:r>
            <a:r>
              <a:rPr lang="en-US" altLang="ko-KR"/>
              <a:t>? </a:t>
            </a:r>
            <a:r>
              <a:rPr lang="ko-KR" altLang="en-US"/>
              <a:t>테스트 돌려서 </a:t>
            </a:r>
            <a:r>
              <a:rPr lang="ko-KR" altLang="en-US" b="1"/>
              <a:t>초록불</a:t>
            </a:r>
            <a:r>
              <a:rPr lang="ko-KR" altLang="en-US"/>
              <a:t>이면 안심</a:t>
            </a:r>
            <a:r>
              <a:rPr lang="en-US" altLang="ko-KR"/>
              <a:t>! </a:t>
            </a:r>
            <a:r>
              <a:rPr lang="ko-KR" altLang="en-US" b="1"/>
              <a:t>빨간불</a:t>
            </a:r>
            <a:r>
              <a:rPr lang="ko-KR" altLang="en-US"/>
              <a:t>이면 뭔가 깨진 거 → 바로 수정</a:t>
            </a:r>
            <a:r>
              <a:rPr lang="en-US" altLang="ko-KR"/>
              <a:t>!</a:t>
            </a:r>
          </a:p>
          <a:p>
            <a:r>
              <a:rPr lang="ko-KR" altLang="en-US"/>
              <a:t>이게 </a:t>
            </a:r>
            <a:r>
              <a:rPr lang="ko-KR" altLang="en-US" b="1"/>
              <a:t>안전망</a:t>
            </a:r>
            <a:r>
              <a:rPr lang="ko-KR" altLang="en-US"/>
              <a:t> 역할을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실전 예시</a:t>
            </a:r>
            <a:r>
              <a:rPr lang="en-US" altLang="ko-KR" b="1"/>
              <a:t>: </a:t>
            </a:r>
            <a:r>
              <a:rPr lang="ko-KR" altLang="en-US" b="1"/>
              <a:t>문자열 계산기 </a:t>
            </a:r>
            <a:r>
              <a:rPr lang="en-US" altLang="ko-KR" b="1"/>
              <a:t>TDD</a:t>
            </a:r>
          </a:p>
          <a:p>
            <a:r>
              <a:rPr lang="ko-KR" altLang="en-US"/>
              <a:t>오른쪽에 </a:t>
            </a:r>
            <a:r>
              <a:rPr lang="ko-KR" altLang="en-US" b="1"/>
              <a:t>실전 예시</a:t>
            </a:r>
            <a:r>
              <a:rPr lang="ko-KR" altLang="en-US"/>
              <a:t>가 있습니다</a:t>
            </a:r>
            <a:r>
              <a:rPr lang="en-US" altLang="ko-KR"/>
              <a:t>. </a:t>
            </a:r>
            <a:r>
              <a:rPr lang="ko-KR" altLang="en-US"/>
              <a:t>문자열 계산기를 </a:t>
            </a:r>
            <a:r>
              <a:rPr lang="en-US" altLang="ko-KR"/>
              <a:t>TDD</a:t>
            </a:r>
            <a:r>
              <a:rPr lang="ko-KR" altLang="en-US"/>
              <a:t>로 개발해볼게요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Red: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Add_EmptyString_ReturnsZero()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Assert.AreEqual(0, calc.Add(""));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→ 🔴 빨간불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Green: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s) {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→ 🟢 초록불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Refactor: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지금은 할 게 없음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이미 단순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4.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테스트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Add_SingleNumber_ReturnsThatNumber()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Assert.AreEqual(1, calc.Add("1"));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→ 🔴 빨간불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반환하니까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5. Green: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통과하도록 수정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(string.IsNullOrEmpty(s))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int.Parse(s);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→ 🟢 초록불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계속 사이클을 돌면서 기능 확장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/>
              <a:t>보시는 것처럼 </a:t>
            </a:r>
            <a:r>
              <a:rPr lang="ko-KR" altLang="en-US" b="1"/>
              <a:t>작은 단계</a:t>
            </a:r>
            <a:r>
              <a:rPr lang="ko-KR" altLang="en-US"/>
              <a:t>로 조금씩 발전시키는 거예요</a:t>
            </a:r>
            <a:r>
              <a:rPr lang="en-US" altLang="ko-KR"/>
              <a:t>.</a:t>
            </a:r>
          </a:p>
          <a:p>
            <a:r>
              <a:rPr lang="ko-KR" altLang="en-US"/>
              <a:t>한 번에 완벽한 코드를 짜는 게 아니라</a:t>
            </a:r>
            <a:r>
              <a:rPr lang="en-US" altLang="ko-KR"/>
              <a:t>, </a:t>
            </a:r>
            <a:r>
              <a:rPr lang="en-US" altLang="ko-KR" b="1"/>
              <a:t>Red → Green → Refactor</a:t>
            </a:r>
            <a:r>
              <a:rPr lang="ko-KR" altLang="en-US"/>
              <a:t> 사이클을 반복하면서 점진적으로 기능을 완성해나갑니다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 </a:t>
            </a:r>
            <a:r>
              <a:rPr lang="ko-KR" altLang="en-US" b="1"/>
              <a:t>사이클 예시 흐름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문자열 계산기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흐름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Round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┌─────┐   ┌─────┐   ┌─────┐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 🔴  │ → │ 🟢  │ → │ 🔄  │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 →0│   │ret 0│   │ OK  │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└─────┘   └─────┘   └─────┘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Round 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하나      ▼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┌─────┐   ┌─────┐   ┌─────┐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 🔴  │ → │ 🟢  │ → │ 🔄  │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"1"→1│   │parse│   │ OK  │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└─────┘   └─────┘   └─────┘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Round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숫자 덧셈   ▼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┌─────┐   ┌─────┐   ┌─────┐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 🔴          │ → │ 🟢  │ → │ 🔄  │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"1,2“         │   │split│   │ OK  │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│ →3          │   │+sum │   │     │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└─────┘   └─────┘   └─────┘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▼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TDD</a:t>
            </a:r>
            <a:r>
              <a:rPr lang="ko-KR" altLang="en-US"/>
              <a:t>는</a:t>
            </a:r>
          </a:p>
          <a:p>
            <a:r>
              <a:rPr lang="en-US" altLang="ko-KR" b="1"/>
              <a:t>Red</a:t>
            </a:r>
            <a:r>
              <a:rPr lang="ko-KR" altLang="en-US"/>
              <a:t> 🔴 </a:t>
            </a:r>
            <a:r>
              <a:rPr lang="en-US" altLang="ko-KR"/>
              <a:t>- </a:t>
            </a:r>
            <a:r>
              <a:rPr lang="ko-KR" altLang="en-US"/>
              <a:t>실패하는 테스트 먼저 작성 </a:t>
            </a:r>
            <a:r>
              <a:rPr lang="en-US" altLang="ko-KR" b="1"/>
              <a:t>Green</a:t>
            </a:r>
            <a:r>
              <a:rPr lang="ko-KR" altLang="en-US"/>
              <a:t> 🟢 </a:t>
            </a:r>
            <a:r>
              <a:rPr lang="en-US" altLang="ko-KR"/>
              <a:t>- </a:t>
            </a:r>
            <a:r>
              <a:rPr lang="ko-KR" altLang="en-US"/>
              <a:t>테스트 통과하는 최소 코드 작성 </a:t>
            </a:r>
            <a:r>
              <a:rPr lang="en-US" altLang="ko-KR" b="1"/>
              <a:t>Refactor</a:t>
            </a:r>
            <a:r>
              <a:rPr lang="ko-KR" altLang="en-US"/>
              <a:t> 🔄 </a:t>
            </a:r>
            <a:r>
              <a:rPr lang="en-US" altLang="ko-KR"/>
              <a:t>- </a:t>
            </a:r>
            <a:r>
              <a:rPr lang="ko-KR" altLang="en-US"/>
              <a:t>코드 품질 개선 </a:t>
            </a:r>
            <a:r>
              <a:rPr lang="en-US" altLang="ko-KR"/>
              <a:t>(</a:t>
            </a:r>
            <a:r>
              <a:rPr lang="ko-KR" altLang="en-US"/>
              <a:t>테스트 통과 유지</a:t>
            </a:r>
            <a:r>
              <a:rPr lang="en-US" altLang="ko-KR"/>
              <a:t>)</a:t>
            </a:r>
          </a:p>
          <a:p>
            <a:r>
              <a:rPr lang="ko-KR" altLang="en-US"/>
              <a:t>이 사이클을 </a:t>
            </a:r>
            <a:r>
              <a:rPr lang="ko-KR" altLang="en-US" b="1"/>
              <a:t>계속 반복</a:t>
            </a:r>
            <a:r>
              <a:rPr lang="ko-KR" altLang="en-US"/>
              <a:t>하는 개발 방법론입니다</a:t>
            </a:r>
            <a:r>
              <a:rPr lang="en-US" altLang="ko-KR"/>
              <a:t>.</a:t>
            </a:r>
          </a:p>
          <a:p>
            <a:r>
              <a:rPr lang="ko-KR" altLang="en-US"/>
              <a:t>핵심 가치</a:t>
            </a:r>
            <a:r>
              <a:rPr lang="en-US" altLang="ko-KR"/>
              <a:t>:</a:t>
            </a:r>
          </a:p>
          <a:p>
            <a:r>
              <a:rPr lang="ko-KR" altLang="en-US" b="1"/>
              <a:t>설계 중심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좋은 </a:t>
            </a:r>
            <a:r>
              <a:rPr lang="en-US" altLang="ko-KR"/>
              <a:t>API</a:t>
            </a:r>
            <a:r>
              <a:rPr lang="ko-KR" altLang="en-US"/>
              <a:t>가 자연스럽게 나옴</a:t>
            </a:r>
          </a:p>
          <a:p>
            <a:r>
              <a:rPr lang="ko-KR" altLang="en-US" b="1"/>
              <a:t>안전망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모든 기능에 테스트가 있음</a:t>
            </a:r>
          </a:p>
          <a:p>
            <a:r>
              <a:rPr lang="ko-KR" altLang="en-US"/>
              <a:t>처음엔 어색하실 거예요</a:t>
            </a:r>
            <a:r>
              <a:rPr lang="en-US" altLang="ko-KR"/>
              <a:t>. </a:t>
            </a:r>
            <a:r>
              <a:rPr lang="ko-KR" altLang="en-US"/>
              <a:t>근데 한번 익숙해지시면 </a:t>
            </a:r>
            <a:r>
              <a:rPr lang="en-US" altLang="ko-KR" b="1"/>
              <a:t>"</a:t>
            </a:r>
            <a:r>
              <a:rPr lang="ko-KR" altLang="en-US" b="1"/>
              <a:t>이게 없이 어떻게 개발했지</a:t>
            </a:r>
            <a:r>
              <a:rPr lang="en-US" altLang="ko-KR" b="1"/>
              <a:t>?"</a:t>
            </a:r>
            <a:r>
              <a:rPr lang="ko-KR" altLang="en-US"/>
              <a:t> 하실 겁니다</a:t>
            </a:r>
            <a:r>
              <a:rPr lang="en-US" altLang="ko-KR"/>
              <a:t>.</a:t>
            </a:r>
          </a:p>
          <a:p>
            <a:r>
              <a:rPr lang="en-US" altLang="ko-KR"/>
              <a:t>Step 5</a:t>
            </a:r>
            <a:r>
              <a:rPr lang="ko-KR" altLang="en-US"/>
              <a:t>에서 직접 </a:t>
            </a:r>
            <a:r>
              <a:rPr lang="en-US" altLang="ko-KR"/>
              <a:t>TDD </a:t>
            </a:r>
            <a:r>
              <a:rPr lang="ko-KR" altLang="en-US"/>
              <a:t>실습을 해볼 예정이니</a:t>
            </a:r>
            <a:r>
              <a:rPr lang="en-US" altLang="ko-KR"/>
              <a:t>, </a:t>
            </a:r>
            <a:r>
              <a:rPr lang="ko-KR" altLang="en-US"/>
              <a:t>기대해주세요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TDD</a:t>
            </a:r>
            <a:r>
              <a:rPr lang="ko-KR" altLang="en-US"/>
              <a:t>가 좋다는 건 알겠는데요</a:t>
            </a:r>
            <a:r>
              <a:rPr lang="en-US" altLang="ko-KR"/>
              <a:t>, </a:t>
            </a:r>
            <a:r>
              <a:rPr lang="ko-KR" altLang="en-US" b="1"/>
              <a:t>잘못 적용하면</a:t>
            </a:r>
            <a:r>
              <a:rPr lang="ko-KR" altLang="en-US"/>
              <a:t> 오히려 독이 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이번에는 </a:t>
            </a:r>
            <a:r>
              <a:rPr lang="en-US" altLang="ko-KR" b="1"/>
              <a:t>TDD </a:t>
            </a:r>
            <a:r>
              <a:rPr lang="ko-KR" altLang="en-US" b="1"/>
              <a:t>안티패턴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 b="1"/>
              <a:t>하지 말아야 할 것들</a:t>
            </a:r>
            <a:r>
              <a:rPr lang="ko-KR" altLang="en-US"/>
              <a:t>을 살펴보겠습니다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이거 알아두시면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나 지금 잘못하고 있구나</a:t>
            </a:r>
            <a:r>
              <a:rPr lang="en-US" altLang="ko-KR"/>
              <a:t>" </a:t>
            </a:r>
            <a:r>
              <a:rPr lang="ko-KR" altLang="en-US"/>
              <a:t>스스로 점검할 수 있어요</a:t>
            </a:r>
            <a:r>
              <a:rPr lang="en-US" altLang="ko-KR"/>
              <a:t>.</a:t>
            </a:r>
          </a:p>
          <a:p>
            <a:r>
              <a:rPr lang="ko-KR" altLang="en-US"/>
              <a:t>실무에서 정말 흔하게 발생하는 실수들입니다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안티패턴 </a:t>
            </a:r>
            <a:r>
              <a:rPr lang="en-US" altLang="ko-KR" b="1"/>
              <a:t>1: </a:t>
            </a:r>
            <a:r>
              <a:rPr lang="ko-KR" altLang="en-US" b="1"/>
              <a:t>테스트 없는 대규모 구현 🚫</a:t>
            </a:r>
          </a:p>
          <a:p>
            <a:r>
              <a:rPr lang="ko-KR" altLang="en-US"/>
              <a:t>첫 번째 안티패턴</a:t>
            </a:r>
            <a:r>
              <a:rPr lang="en-US" altLang="ko-KR"/>
              <a:t>, </a:t>
            </a:r>
            <a:r>
              <a:rPr lang="ko-KR" altLang="en-US" b="1"/>
              <a:t>테스트 없는 대규모 구현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많은 코드를 한 번에 작성하고 나중에 테스트를 추가하는 방식</a:t>
            </a:r>
            <a:r>
              <a:rPr lang="en-US" altLang="ko-KR" i="1"/>
              <a:t>. TDD</a:t>
            </a:r>
            <a:r>
              <a:rPr lang="ko-KR" altLang="en-US" i="1"/>
              <a:t>의 짧은 피드백 사이클을 무시하게 됨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이게 가장 흔한 실수예요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❌ 잘못된 방식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일단 기능 다 만들고 테스트는 나중에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~"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작성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테스트 짜볼까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테스트해야 하지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테스트하려면 구조를 바꿔야 하네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귀찮다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넘어가자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없는 코드 탄생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💀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TDD</a:t>
            </a:r>
            <a:r>
              <a:rPr lang="ko-KR" altLang="en-US"/>
              <a:t>의 핵심은 </a:t>
            </a:r>
            <a:r>
              <a:rPr lang="ko-KR" altLang="en-US" b="1"/>
              <a:t>짧은 사이클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→ 코드 </a:t>
            </a:r>
            <a:r>
              <a:rPr lang="en-US" altLang="ko-KR"/>
              <a:t>10</a:t>
            </a:r>
            <a:r>
              <a:rPr lang="ko-KR" altLang="en-US"/>
              <a:t>줄 → 테스트 → 코드 </a:t>
            </a:r>
            <a:r>
              <a:rPr lang="en-US" altLang="ko-KR"/>
              <a:t>10</a:t>
            </a:r>
            <a:r>
              <a:rPr lang="ko-KR" altLang="en-US"/>
              <a:t>줄</a:t>
            </a:r>
          </a:p>
          <a:p>
            <a:r>
              <a:rPr lang="ko-KR" altLang="en-US"/>
              <a:t>이렇게 </a:t>
            </a:r>
            <a:r>
              <a:rPr lang="ko-KR" altLang="en-US" b="1"/>
              <a:t>작은 단위로</a:t>
            </a:r>
            <a:r>
              <a:rPr lang="ko-KR" altLang="en-US"/>
              <a:t> 반복해야 해요</a:t>
            </a:r>
            <a:r>
              <a:rPr lang="en-US" altLang="ko-KR"/>
              <a:t>. </a:t>
            </a:r>
            <a:r>
              <a:rPr lang="ko-KR" altLang="en-US"/>
              <a:t>코드 </a:t>
            </a:r>
            <a:r>
              <a:rPr lang="en-US" altLang="ko-KR"/>
              <a:t>500</a:t>
            </a:r>
            <a:r>
              <a:rPr lang="ko-KR" altLang="en-US"/>
              <a:t>줄 짜고 테스트</a:t>
            </a:r>
            <a:r>
              <a:rPr lang="en-US" altLang="ko-KR"/>
              <a:t>? </a:t>
            </a:r>
            <a:r>
              <a:rPr lang="ko-KR" altLang="en-US"/>
              <a:t>그건 </a:t>
            </a:r>
            <a:r>
              <a:rPr lang="en-US" altLang="ko-KR"/>
              <a:t>TDD</a:t>
            </a:r>
            <a:r>
              <a:rPr lang="ko-KR" altLang="en-US"/>
              <a:t>가 아닙니다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✅ 올바른 방식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작성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5~10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작성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리팩토링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더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안티패턴 </a:t>
            </a:r>
            <a:r>
              <a:rPr lang="en-US" altLang="ko-KR" b="1"/>
              <a:t>2: </a:t>
            </a:r>
            <a:r>
              <a:rPr lang="ko-KR" altLang="en-US" b="1"/>
              <a:t>과도한 통합테스트 의존 ⚠️</a:t>
            </a:r>
          </a:p>
          <a:p>
            <a:r>
              <a:rPr lang="ko-KR" altLang="en-US"/>
              <a:t>두 번째 안티패턴</a:t>
            </a:r>
            <a:r>
              <a:rPr lang="en-US" altLang="ko-KR"/>
              <a:t>, </a:t>
            </a:r>
            <a:r>
              <a:rPr lang="ko-KR" altLang="en-US" b="1"/>
              <a:t>과도한 통합테스트 의존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단위테스트를 건너뛰고 통합테스트에만 의존</a:t>
            </a:r>
            <a:r>
              <a:rPr lang="en-US" altLang="ko-KR" i="1"/>
              <a:t>. </a:t>
            </a:r>
            <a:r>
              <a:rPr lang="ko-KR" altLang="en-US" i="1"/>
              <a:t>실행 속도 저하 및 테스트 실패 원인 파악 어려움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단위테스트와 통합테스트의 차이를 먼저 볼게요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단위테스트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통합테스트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 Test)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 하나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하나 테스트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DB,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없음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원인 명확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메서드가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(Integration Test)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컴포넌트 함께 테스트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DB, 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🐌 느림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원인 불명확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어디가 문제지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...?")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통합테스트가 나쁜 건 아니에요</a:t>
            </a:r>
            <a:r>
              <a:rPr lang="en-US" altLang="ko-KR"/>
              <a:t>. </a:t>
            </a:r>
            <a:r>
              <a:rPr lang="ko-KR" altLang="en-US"/>
              <a:t>근데 </a:t>
            </a:r>
            <a:r>
              <a:rPr lang="ko-KR" altLang="en-US" b="1"/>
              <a:t>단위테스트 없이</a:t>
            </a:r>
            <a:r>
              <a:rPr lang="ko-KR" altLang="en-US"/>
              <a:t> 통합테스트만 있으면 문제입니다</a:t>
            </a:r>
            <a:r>
              <a:rPr lang="en-US" altLang="ko-KR"/>
              <a:t>.</a:t>
            </a:r>
          </a:p>
          <a:p>
            <a:r>
              <a:rPr lang="ko-KR" altLang="en-US"/>
              <a:t>통합테스트 실패 → </a:t>
            </a:r>
            <a:r>
              <a:rPr lang="en-US" altLang="ko-KR"/>
              <a:t>"DB </a:t>
            </a:r>
            <a:r>
              <a:rPr lang="ko-KR" altLang="en-US"/>
              <a:t>문제</a:t>
            </a:r>
            <a:r>
              <a:rPr lang="en-US" altLang="ko-KR"/>
              <a:t>? </a:t>
            </a:r>
            <a:r>
              <a:rPr lang="ko-KR" altLang="en-US"/>
              <a:t>네트워크 문제</a:t>
            </a:r>
            <a:r>
              <a:rPr lang="en-US" altLang="ko-KR"/>
              <a:t>? </a:t>
            </a:r>
            <a:r>
              <a:rPr lang="ko-KR" altLang="en-US"/>
              <a:t>코드 문제</a:t>
            </a:r>
            <a:r>
              <a:rPr lang="en-US" altLang="ko-KR"/>
              <a:t>?" </a:t>
            </a:r>
            <a:r>
              <a:rPr lang="ko-KR" altLang="en-US"/>
              <a:t>원인 찾는 데 </a:t>
            </a:r>
            <a:r>
              <a:rPr lang="ko-KR" altLang="en-US" b="1"/>
              <a:t>한참</a:t>
            </a:r>
            <a:r>
              <a:rPr lang="ko-KR" altLang="en-US"/>
              <a:t> 걸려요</a:t>
            </a:r>
            <a:r>
              <a:rPr lang="en-US" altLang="ko-KR"/>
              <a:t>.</a:t>
            </a:r>
          </a:p>
          <a:p>
            <a:r>
              <a:rPr lang="ko-KR" altLang="en-US"/>
              <a:t>단위테스트 실패 → </a:t>
            </a:r>
            <a:r>
              <a:rPr lang="en-US" altLang="ko-KR"/>
              <a:t>"Add </a:t>
            </a:r>
            <a:r>
              <a:rPr lang="ko-KR" altLang="en-US"/>
              <a:t>메서드가 잘못됐네</a:t>
            </a:r>
            <a:r>
              <a:rPr lang="en-US" altLang="ko-KR"/>
              <a:t>!" </a:t>
            </a:r>
            <a:r>
              <a:rPr lang="ko-KR" altLang="en-US" b="1"/>
              <a:t>바로</a:t>
            </a:r>
            <a:r>
              <a:rPr lang="ko-KR" altLang="en-US"/>
              <a:t> 알 수 있습니다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피라미드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/\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/  \      E2E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/────\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/      \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/────────\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/          \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⭐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/────────────\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피라미드가 뒤집히면 안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단위테스트를 가장 많이</a:t>
            </a:r>
            <a:r>
              <a:rPr lang="en-US" altLang="ko-KR"/>
              <a:t>, </a:t>
            </a:r>
            <a:r>
              <a:rPr lang="ko-KR" altLang="en-US"/>
              <a:t>통합테스트는 적당히</a:t>
            </a:r>
            <a:r>
              <a:rPr lang="en-US" altLang="ko-KR"/>
              <a:t>, E2E</a:t>
            </a:r>
            <a:r>
              <a:rPr lang="ko-KR" altLang="en-US"/>
              <a:t>는 최소한</a:t>
            </a:r>
            <a:r>
              <a:rPr lang="en-US" altLang="ko-KR"/>
              <a:t>. </a:t>
            </a:r>
            <a:r>
              <a:rPr lang="ko-KR" altLang="en-US"/>
              <a:t>이게 </a:t>
            </a:r>
            <a:r>
              <a:rPr lang="ko-KR" altLang="en-US" b="1"/>
              <a:t>테스트 피라미드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안티패턴 </a:t>
            </a:r>
            <a:r>
              <a:rPr lang="en-US" altLang="ko-KR" b="1"/>
              <a:t>3: </a:t>
            </a:r>
            <a:r>
              <a:rPr lang="ko-KR" altLang="en-US" b="1"/>
              <a:t>불안정 테스트</a:t>
            </a:r>
            <a:r>
              <a:rPr lang="en-US" altLang="ko-KR" b="1"/>
              <a:t>(Flaky) </a:t>
            </a:r>
            <a:r>
              <a:rPr lang="ko-KR" altLang="en-US" b="1"/>
              <a:t>방치 🎰</a:t>
            </a:r>
          </a:p>
          <a:p>
            <a:r>
              <a:rPr lang="ko-KR" altLang="en-US"/>
              <a:t>세 번째 안티패턴</a:t>
            </a:r>
            <a:r>
              <a:rPr lang="en-US" altLang="ko-KR"/>
              <a:t>, </a:t>
            </a:r>
            <a:r>
              <a:rPr lang="ko-KR" altLang="en-US" b="1"/>
              <a:t>불안정 테스트 방치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간헐적으로 실패하는 테스트를 무시</a:t>
            </a:r>
            <a:r>
              <a:rPr lang="en-US" altLang="ko-KR" i="1"/>
              <a:t>. </a:t>
            </a:r>
            <a:r>
              <a:rPr lang="ko-KR" altLang="en-US" i="1"/>
              <a:t>테스트 신뢰성 저하 및 빌드 실패 증가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 b="1"/>
              <a:t>Flaky Test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들어보셨나요</a:t>
            </a:r>
            <a:r>
              <a:rPr lang="en-US" altLang="ko-KR"/>
              <a:t>? "</a:t>
            </a:r>
            <a:r>
              <a:rPr lang="ko-KR" altLang="en-US"/>
              <a:t>어쩔 때는 성공</a:t>
            </a:r>
            <a:r>
              <a:rPr lang="en-US" altLang="ko-KR"/>
              <a:t>, </a:t>
            </a:r>
            <a:r>
              <a:rPr lang="ko-KR" altLang="en-US"/>
              <a:t>어쩔 때는 실패</a:t>
            </a:r>
            <a:r>
              <a:rPr lang="en-US" altLang="ko-KR"/>
              <a:t>"</a:t>
            </a:r>
            <a:r>
              <a:rPr lang="ko-KR" altLang="en-US"/>
              <a:t>하는 테스트예요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증상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월요일 아침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월요일 오후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화요일 아침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화요일 오후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수요일 아침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돌려봐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 됐네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넘어가자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🎰 이게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문제가 뭐냐면요</a:t>
            </a:r>
            <a:r>
              <a:rPr lang="en-US" altLang="ko-KR"/>
              <a:t>, </a:t>
            </a:r>
            <a:r>
              <a:rPr lang="ko-KR" altLang="en-US"/>
              <a:t>이게 쌓이면 </a:t>
            </a:r>
            <a:r>
              <a:rPr lang="ko-KR" altLang="en-US" b="1"/>
              <a:t>테스트 전체를 못 믿게</a:t>
            </a:r>
            <a:r>
              <a:rPr lang="ko-KR" altLang="en-US"/>
              <a:t> 됩니다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빨간불 떴네</a:t>
            </a:r>
            <a:r>
              <a:rPr lang="en-US" altLang="ko-KR"/>
              <a:t>... </a:t>
            </a:r>
            <a:r>
              <a:rPr lang="ko-KR" altLang="en-US"/>
              <a:t>그냥 </a:t>
            </a:r>
            <a:r>
              <a:rPr lang="en-US" altLang="ko-KR"/>
              <a:t>Flaky</a:t>
            </a:r>
            <a:r>
              <a:rPr lang="ko-KR" altLang="en-US"/>
              <a:t>겠지</a:t>
            </a:r>
            <a:r>
              <a:rPr lang="en-US" altLang="ko-KR"/>
              <a:t>. </a:t>
            </a:r>
            <a:r>
              <a:rPr lang="ko-KR" altLang="en-US"/>
              <a:t>무시하자</a:t>
            </a:r>
            <a:r>
              <a:rPr lang="en-US" altLang="ko-KR"/>
              <a:t>."</a:t>
            </a:r>
          </a:p>
          <a:p>
            <a:r>
              <a:rPr lang="ko-KR" altLang="en-US"/>
              <a:t>근데 그게 </a:t>
            </a:r>
            <a:r>
              <a:rPr lang="ko-KR" altLang="en-US" b="1"/>
              <a:t>진짜 버그</a:t>
            </a:r>
            <a:r>
              <a:rPr lang="ko-KR" altLang="en-US"/>
              <a:t>였다면</a:t>
            </a:r>
            <a:r>
              <a:rPr lang="en-US" altLang="ko-KR"/>
              <a:t>? </a:t>
            </a:r>
            <a:r>
              <a:rPr lang="ko-KR" altLang="en-US"/>
              <a:t>😱</a:t>
            </a:r>
          </a:p>
          <a:p>
            <a:r>
              <a:rPr lang="en-US" altLang="ko-KR" b="1"/>
              <a:t>Flaky </a:t>
            </a:r>
            <a:r>
              <a:rPr lang="ko-KR" altLang="en-US" b="1"/>
              <a:t>테스트 원인</a:t>
            </a:r>
            <a:r>
              <a:rPr lang="en-US" altLang="ko-KR" b="1"/>
              <a:t>: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원인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⏰ 시간 의존성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→ 시간에 따라 결과 다름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🎲 랜덤 값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→ 실행마다 결과 다름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🔀 테스트 순서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의존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🌐 외부 시스템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→ 네트워크 상태에 따라 실패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💊 해결책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(Independent, Repeatable)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Flaky </a:t>
            </a:r>
            <a:r>
              <a:rPr lang="ko-KR" altLang="en-US"/>
              <a:t>테스트는 </a:t>
            </a:r>
            <a:r>
              <a:rPr lang="ko-KR" altLang="en-US" b="1"/>
              <a:t>발견 즉시 수정</a:t>
            </a:r>
            <a:r>
              <a:rPr lang="ko-KR" altLang="en-US"/>
              <a:t>하세요</a:t>
            </a:r>
            <a:r>
              <a:rPr lang="en-US" altLang="ko-KR"/>
              <a:t>. </a:t>
            </a:r>
            <a:r>
              <a:rPr lang="ko-KR" altLang="en-US"/>
              <a:t>방치하면 테스트 문화 자체가 무너집니다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안티패턴 </a:t>
            </a:r>
            <a:r>
              <a:rPr lang="en-US" altLang="ko-KR" b="1"/>
              <a:t>4: </a:t>
            </a:r>
            <a:r>
              <a:rPr lang="ko-KR" altLang="en-US" b="1"/>
              <a:t>테스트 후 리팩토링 없음 🔧</a:t>
            </a:r>
          </a:p>
          <a:p>
            <a:r>
              <a:rPr lang="ko-KR" altLang="en-US"/>
              <a:t>네 번째 안티패턴</a:t>
            </a:r>
            <a:r>
              <a:rPr lang="en-US" altLang="ko-KR"/>
              <a:t>, </a:t>
            </a:r>
            <a:r>
              <a:rPr lang="ko-KR" altLang="en-US" b="1"/>
              <a:t>테스트 후 리팩토링 없음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"Red-Green </a:t>
            </a:r>
            <a:r>
              <a:rPr lang="ko-KR" altLang="en-US" i="1"/>
              <a:t>단계 후 </a:t>
            </a:r>
            <a:r>
              <a:rPr lang="en-US" altLang="ko-KR" i="1"/>
              <a:t>Refactor </a:t>
            </a:r>
            <a:r>
              <a:rPr lang="ko-KR" altLang="en-US" i="1"/>
              <a:t>단계 생략</a:t>
            </a:r>
            <a:r>
              <a:rPr lang="en-US" altLang="ko-KR" i="1"/>
              <a:t>. </a:t>
            </a:r>
            <a:r>
              <a:rPr lang="ko-KR" altLang="en-US" i="1"/>
              <a:t>코드 품질 저하 및 중복 발생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TDD </a:t>
            </a:r>
            <a:r>
              <a:rPr lang="ko-KR" altLang="en-US"/>
              <a:t>사이클이 뭐였죠</a:t>
            </a:r>
            <a:r>
              <a:rPr lang="en-US" altLang="ko-KR"/>
              <a:t>? </a:t>
            </a:r>
            <a:r>
              <a:rPr lang="en-US" altLang="ko-KR" b="1"/>
              <a:t>Red → Green → Refactor</a:t>
            </a:r>
            <a:endParaRPr lang="ko-KR" altLang="en-US"/>
          </a:p>
          <a:p>
            <a:r>
              <a:rPr lang="ko-KR" altLang="en-US"/>
              <a:t>근데 많은 분들이 이렇게 해요</a:t>
            </a:r>
            <a:r>
              <a:rPr lang="en-US" altLang="ko-KR"/>
              <a:t>: </a:t>
            </a:r>
            <a:r>
              <a:rPr lang="en-US" altLang="ko-KR" b="1"/>
              <a:t>Red → Green → "</a:t>
            </a:r>
            <a:r>
              <a:rPr lang="ko-KR" altLang="en-US" b="1"/>
              <a:t>야호</a:t>
            </a:r>
            <a:r>
              <a:rPr lang="en-US" altLang="ko-KR" b="1"/>
              <a:t>! </a:t>
            </a:r>
            <a:r>
              <a:rPr lang="ko-KR" altLang="en-US" b="1"/>
              <a:t>됐다</a:t>
            </a:r>
            <a:r>
              <a:rPr lang="en-US" altLang="ko-KR" b="1"/>
              <a:t>!" → </a:t>
            </a:r>
            <a:r>
              <a:rPr lang="ko-KR" altLang="en-US" b="1"/>
              <a:t>다음 기능</a:t>
            </a:r>
            <a:endParaRPr lang="ko-KR" altLang="en-US"/>
          </a:p>
          <a:p>
            <a:r>
              <a:rPr lang="en-US" altLang="ko-KR"/>
              <a:t>Refactor</a:t>
            </a:r>
            <a:r>
              <a:rPr lang="ko-KR" altLang="en-US"/>
              <a:t>를 </a:t>
            </a:r>
            <a:r>
              <a:rPr lang="ko-KR" altLang="en-US" b="1"/>
              <a:t>건너뛰는</a:t>
            </a:r>
            <a:r>
              <a:rPr lang="ko-KR" altLang="en-US"/>
              <a:t> 거예요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생략의 결과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┌──────────────────────────────────────────────────────┐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(a == 1) return "one";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 (a == 2) return "two";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└──────────────────────────────────────────────────────┘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┌──────────────────────────────────────────────────────┐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(a == 1) return "one";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 (a == 2) return "two";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 (a == 3) return "three";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 (a == 4) return "four";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 (a == 5) return "five";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...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└──────────────────────────────────────────────────────┘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스파게티 코드 탄생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🍝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했다면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┌──────────────────────────────────────────────────────┐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names = new[] { "", "one", "two", ... };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return names[a];                                    │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└──────────────────────────────────────────────────────┘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Green </a:t>
            </a:r>
            <a:r>
              <a:rPr lang="ko-KR" altLang="en-US"/>
              <a:t>단계에서는 **</a:t>
            </a:r>
            <a:r>
              <a:rPr lang="en-US" altLang="ko-KR"/>
              <a:t>"</a:t>
            </a:r>
            <a:r>
              <a:rPr lang="ko-KR" altLang="en-US"/>
              <a:t>일단 통과시키자</a:t>
            </a:r>
            <a:r>
              <a:rPr lang="en-US" altLang="ko-KR"/>
              <a:t>"**</a:t>
            </a:r>
            <a:r>
              <a:rPr lang="ko-KR" altLang="en-US"/>
              <a:t>가 목표이기 때문에 코드가 지저분할 수 있어요</a:t>
            </a:r>
            <a:r>
              <a:rPr lang="en-US" altLang="ko-KR"/>
              <a:t>.</a:t>
            </a:r>
          </a:p>
          <a:p>
            <a:r>
              <a:rPr lang="ko-KR" altLang="en-US"/>
              <a:t>그걸 </a:t>
            </a:r>
            <a:r>
              <a:rPr lang="en-US" altLang="ko-KR" b="1"/>
              <a:t>Refactor</a:t>
            </a:r>
            <a:r>
              <a:rPr lang="ko-KR" altLang="en-US" b="1"/>
              <a:t>에서 정리</a:t>
            </a:r>
            <a:r>
              <a:rPr lang="ko-KR" altLang="en-US"/>
              <a:t>해야 합니다</a:t>
            </a:r>
            <a:r>
              <a:rPr lang="en-US" altLang="ko-KR"/>
              <a:t>. </a:t>
            </a:r>
            <a:r>
              <a:rPr lang="ko-KR" altLang="en-US"/>
              <a:t>이걸 안 하면 </a:t>
            </a:r>
            <a:r>
              <a:rPr lang="ko-KR" altLang="en-US" b="1"/>
              <a:t>기술 부채</a:t>
            </a:r>
            <a:r>
              <a:rPr lang="ko-KR" altLang="en-US"/>
              <a:t>가 쌓여요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 </a:t>
            </a:r>
            <a:r>
              <a:rPr lang="ko-KR" altLang="en-US" b="1"/>
              <a:t>성공의 핵심 💡</a:t>
            </a:r>
          </a:p>
          <a:p>
            <a:r>
              <a:rPr lang="ko-KR" altLang="en-US"/>
              <a:t>하단에 </a:t>
            </a:r>
            <a:r>
              <a:rPr lang="en-US" altLang="ko-KR" b="1"/>
              <a:t>TDD </a:t>
            </a:r>
            <a:r>
              <a:rPr lang="ko-KR" altLang="en-US" b="1"/>
              <a:t>성공의 핵심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위 안티패턴을 피하고</a:t>
            </a:r>
            <a:r>
              <a:rPr lang="en-US" altLang="ko-KR" i="1"/>
              <a:t>, </a:t>
            </a:r>
            <a:r>
              <a:rPr lang="ko-KR" altLang="en-US" i="1"/>
              <a:t>작은 단위로 테스트</a:t>
            </a:r>
            <a:r>
              <a:rPr lang="en-US" altLang="ko-KR" i="1"/>
              <a:t>-</a:t>
            </a:r>
            <a:r>
              <a:rPr lang="ko-KR" altLang="en-US" i="1"/>
              <a:t>구현</a:t>
            </a:r>
            <a:r>
              <a:rPr lang="en-US" altLang="ko-KR" i="1"/>
              <a:t>-</a:t>
            </a:r>
            <a:r>
              <a:rPr lang="ko-KR" altLang="en-US" i="1"/>
              <a:t>리팩토링 사이클을 충실히 반복하는 것이 </a:t>
            </a:r>
            <a:r>
              <a:rPr lang="en-US" altLang="ko-KR" i="1"/>
              <a:t>TDD </a:t>
            </a:r>
            <a:r>
              <a:rPr lang="ko-KR" altLang="en-US" i="1"/>
              <a:t>성공의 핵심입니다</a:t>
            </a:r>
            <a:r>
              <a:rPr lang="en-US" altLang="ko-KR" i="1"/>
              <a:t>. </a:t>
            </a:r>
            <a:r>
              <a:rPr lang="ko-KR" altLang="en-US" i="1"/>
              <a:t>테스트는 코드 품질의 안전망이자 설계 개선의 도구입니다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성공 체크리스트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✅ 작은 단위로 진행하고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개 →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5~10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줄 →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단위테스트를 충분히 작성하고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?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통합테스트에만 의존하지 않기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✅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테스트를 방치하지 않고 바로 수정하나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간헐적 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즉시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✅ 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단계를 건너뛰지 않나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(Green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후 반드시 코드 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TDD </a:t>
            </a:r>
            <a:r>
              <a:rPr lang="ko-KR" altLang="en-US" b="1"/>
              <a:t>안티패턴</a:t>
            </a:r>
            <a:r>
              <a:rPr lang="ko-KR" altLang="en-US"/>
              <a:t> 네 가지</a:t>
            </a:r>
            <a:r>
              <a:rPr lang="en-US" altLang="ko-KR"/>
              <a:t>:</a:t>
            </a:r>
          </a:p>
          <a:p>
            <a:r>
              <a:rPr lang="en-US" altLang="ko-KR"/>
              <a:t>1️⃣ </a:t>
            </a:r>
            <a:r>
              <a:rPr lang="ko-KR" altLang="en-US" b="1"/>
              <a:t>테스트 없는 대규모 구현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작은 단위로 반복하세요 </a:t>
            </a:r>
            <a:r>
              <a:rPr lang="en-US" altLang="ko-KR"/>
              <a:t>2️⃣ </a:t>
            </a:r>
            <a:r>
              <a:rPr lang="ko-KR" altLang="en-US" b="1"/>
              <a:t>과도한 통합테스트 의존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단위테스트를 충분히</a:t>
            </a:r>
            <a:r>
              <a:rPr lang="en-US" altLang="ko-KR"/>
              <a:t>! 3️⃣ </a:t>
            </a:r>
            <a:r>
              <a:rPr lang="en-US" altLang="ko-KR" b="1"/>
              <a:t>Flaky </a:t>
            </a:r>
            <a:r>
              <a:rPr lang="ko-KR" altLang="en-US" b="1"/>
              <a:t>테스트 방치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발견 즉시 수정</a:t>
            </a:r>
            <a:r>
              <a:rPr lang="en-US" altLang="ko-KR"/>
              <a:t>! 4️⃣ </a:t>
            </a:r>
            <a:r>
              <a:rPr lang="en-US" altLang="ko-KR" b="1"/>
              <a:t>Refactor </a:t>
            </a:r>
            <a:r>
              <a:rPr lang="ko-KR" altLang="en-US" b="1"/>
              <a:t>생략</a:t>
            </a:r>
            <a:r>
              <a:rPr lang="ko-KR" altLang="en-US"/>
              <a:t> </a:t>
            </a:r>
            <a:r>
              <a:rPr lang="en-US" altLang="ko-KR"/>
              <a:t>- Green </a:t>
            </a:r>
            <a:r>
              <a:rPr lang="ko-KR" altLang="en-US"/>
              <a:t>후 반드시 정리</a:t>
            </a:r>
            <a:r>
              <a:rPr lang="en-US" altLang="ko-KR"/>
              <a:t>!</a:t>
            </a:r>
          </a:p>
          <a:p>
            <a:r>
              <a:rPr lang="ko-KR" altLang="en-US"/>
              <a:t>이 네 가지만 피해도 </a:t>
            </a:r>
            <a:r>
              <a:rPr lang="en-US" altLang="ko-KR"/>
              <a:t>TDD </a:t>
            </a:r>
            <a:r>
              <a:rPr lang="ko-KR" altLang="en-US"/>
              <a:t>성공률이 </a:t>
            </a:r>
            <a:r>
              <a:rPr lang="ko-KR" altLang="en-US" b="1"/>
              <a:t>확 올라갑니다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TDD</a:t>
            </a:r>
            <a:r>
              <a:rPr lang="ko-KR" altLang="en-US"/>
              <a:t>는 </a:t>
            </a:r>
            <a:r>
              <a:rPr lang="ko-KR" altLang="en-US" b="1"/>
              <a:t>습관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처음엔 어색하지만</a:t>
            </a:r>
            <a:r>
              <a:rPr lang="en-US" altLang="ko-KR"/>
              <a:t>, </a:t>
            </a:r>
            <a:r>
              <a:rPr lang="ko-KR" altLang="en-US"/>
              <a:t>꾸준히 하면 자연스러워져요</a:t>
            </a:r>
            <a:r>
              <a:rPr lang="en-US" altLang="ko-KR"/>
              <a:t>.</a:t>
            </a:r>
          </a:p>
          <a:p>
            <a:r>
              <a:rPr lang="ko-KR" altLang="en-US"/>
              <a:t>다음 시간에 직접 실습하면서 몸으로 익혀보겠습니다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📋 개발 환경 요구사항 슬라이드 강의 스크립트</a:t>
            </a:r>
          </a:p>
          <a:p>
            <a:r>
              <a:rPr lang="ko-KR" altLang="en-US" b="1"/>
              <a:t>🎤 강사 멘트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실습 환경 얘기를 해볼게요</a:t>
            </a:r>
            <a:r>
              <a:rPr lang="en-US" altLang="ko-KR"/>
              <a:t>.</a:t>
            </a:r>
          </a:p>
          <a:p>
            <a:r>
              <a:rPr lang="en-US" altLang="ko-KR" b="1"/>
              <a:t>C# </a:t>
            </a:r>
            <a:r>
              <a:rPr lang="ko-KR" altLang="en-US" b="1"/>
              <a:t>단위테스트 실습</a:t>
            </a:r>
            <a:r>
              <a:rPr lang="ko-KR" altLang="en-US"/>
              <a:t>을 위해 여러분 </a:t>
            </a:r>
            <a:r>
              <a:rPr lang="en-US" altLang="ko-KR"/>
              <a:t>PC</a:t>
            </a:r>
            <a:r>
              <a:rPr lang="ko-KR" altLang="en-US"/>
              <a:t>에 뭐가 설치되어 있어야 하는지 확인하겠습니다</a:t>
            </a:r>
            <a:r>
              <a:rPr lang="en-US" altLang="ko-KR"/>
              <a:t>.</a:t>
            </a:r>
          </a:p>
          <a:p>
            <a:r>
              <a:rPr lang="ko-KR" altLang="en-US"/>
              <a:t>왼쪽은 </a:t>
            </a:r>
            <a:r>
              <a:rPr lang="ko-KR" altLang="en-US" b="1"/>
              <a:t>필수 설치 항목</a:t>
            </a:r>
            <a:r>
              <a:rPr lang="en-US" altLang="ko-KR"/>
              <a:t>, </a:t>
            </a:r>
            <a:r>
              <a:rPr lang="ko-KR" altLang="en-US"/>
              <a:t>오른쪽은 </a:t>
            </a:r>
            <a:r>
              <a:rPr lang="ko-KR" altLang="en-US" b="1"/>
              <a:t>권장 설치 항목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필수는 꼭 있어야 하고</a:t>
            </a:r>
            <a:r>
              <a:rPr lang="en-US" altLang="ko-KR"/>
              <a:t>, </a:t>
            </a:r>
            <a:r>
              <a:rPr lang="ko-KR" altLang="en-US"/>
              <a:t>권장은 있으면 좋은 것들이에요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필수 설치 항목 ⭐</a:t>
            </a:r>
          </a:p>
          <a:p>
            <a:r>
              <a:rPr lang="ko-KR" altLang="en-US"/>
              <a:t>왼쪽 </a:t>
            </a:r>
            <a:r>
              <a:rPr lang="ko-KR" altLang="en-US" b="1"/>
              <a:t>필수 설치 항목</a:t>
            </a:r>
            <a:r>
              <a:rPr lang="ko-KR" altLang="en-US"/>
              <a:t>부터 볼게요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.NET 8 SDK ✅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.NET 8 SDK</a:t>
            </a:r>
            <a:r>
              <a:rPr lang="ko-KR" altLang="en-US" b="1"/>
              <a:t>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최신 </a:t>
            </a:r>
            <a:r>
              <a:rPr lang="en-US" altLang="ko-KR" i="1"/>
              <a:t>.NET SDK </a:t>
            </a:r>
            <a:r>
              <a:rPr lang="ko-KR" altLang="en-US" i="1"/>
              <a:t>설치 필요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.NET SDK</a:t>
            </a:r>
            <a:r>
              <a:rPr lang="ko-KR" altLang="en-US"/>
              <a:t>가 없으면 </a:t>
            </a:r>
            <a:r>
              <a:rPr lang="en-US" altLang="ko-KR"/>
              <a:t>C# </a:t>
            </a:r>
            <a:r>
              <a:rPr lang="ko-KR" altLang="en-US"/>
              <a:t>프로젝트 자체를 만들 수가 없어요</a:t>
            </a:r>
            <a:r>
              <a:rPr lang="en-US" altLang="ko-KR"/>
              <a:t>. </a:t>
            </a:r>
            <a:r>
              <a:rPr lang="ko-KR" altLang="en-US"/>
              <a:t>빌드도 안 되고</a:t>
            </a:r>
            <a:r>
              <a:rPr lang="en-US" altLang="ko-KR"/>
              <a:t>, </a:t>
            </a:r>
            <a:r>
              <a:rPr lang="ko-KR" altLang="en-US"/>
              <a:t>테스트도 안 됩니다</a:t>
            </a:r>
            <a:r>
              <a:rPr lang="en-US" altLang="ko-KR"/>
              <a:t>.</a:t>
            </a:r>
          </a:p>
          <a:p>
            <a:r>
              <a:rPr lang="ko-KR" altLang="en-US"/>
              <a:t>현재 최신 </a:t>
            </a:r>
            <a:r>
              <a:rPr lang="en-US" altLang="ko-KR"/>
              <a:t>LTS </a:t>
            </a:r>
            <a:r>
              <a:rPr lang="ko-KR" altLang="en-US"/>
              <a:t>버전인 </a:t>
            </a:r>
            <a:r>
              <a:rPr lang="en-US" altLang="ko-KR" b="1"/>
              <a:t>.NET 8</a:t>
            </a:r>
            <a:r>
              <a:rPr lang="ko-KR" altLang="en-US"/>
              <a:t>을 사용할 겁니다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8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확인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터미널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 프롬프트에서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&gt; dotnet --version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8.0.xxx                      ← 8.0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시작하면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OK! ✅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명령을 찾을 수 없다면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https://dotnet.microsoft.com/download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설치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잠깐 확인해볼까요</a:t>
            </a:r>
            <a:r>
              <a:rPr lang="en-US" altLang="ko-KR"/>
              <a:t>? </a:t>
            </a:r>
            <a:r>
              <a:rPr lang="ko-KR" altLang="en-US"/>
              <a:t>터미널 열고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--version</a:t>
            </a:r>
            <a:r>
              <a:rPr lang="ko-KR" altLang="en-US"/>
              <a:t> 입력해보세요</a:t>
            </a:r>
            <a:r>
              <a:rPr lang="en-US" altLang="ko-KR"/>
              <a:t>.</a:t>
            </a:r>
          </a:p>
          <a:p>
            <a:r>
              <a:rPr lang="en-US" altLang="ko-KR"/>
              <a:t>8.0.xxx</a:t>
            </a:r>
            <a:r>
              <a:rPr lang="ko-KR" altLang="en-US"/>
              <a:t>로 나오면 </a:t>
            </a:r>
            <a:r>
              <a:rPr lang="en-US" altLang="ko-KR"/>
              <a:t>OK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Visual Studio 2022 ✅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Visual Studio 2022</a:t>
            </a:r>
            <a:r>
              <a:rPr lang="ko-KR" altLang="en-US" b="1"/>
              <a:t>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"Community </a:t>
            </a:r>
            <a:r>
              <a:rPr lang="ko-KR" altLang="en-US" i="1"/>
              <a:t>이상</a:t>
            </a:r>
            <a:r>
              <a:rPr lang="en-US" altLang="ko-KR" i="1"/>
              <a:t>, .NET </a:t>
            </a:r>
            <a:r>
              <a:rPr lang="ko-KR" altLang="en-US" i="1"/>
              <a:t>데스크톱 개발 워크로드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Visual Studio 2022 </a:t>
            </a:r>
            <a:r>
              <a:rPr lang="en-US" altLang="ko-KR" b="1"/>
              <a:t>Community </a:t>
            </a:r>
            <a:r>
              <a:rPr lang="ko-KR" altLang="en-US" b="1"/>
              <a:t>버전</a:t>
            </a:r>
            <a:r>
              <a:rPr lang="ko-KR" altLang="en-US"/>
              <a:t>은 </a:t>
            </a:r>
            <a:r>
              <a:rPr lang="ko-KR" altLang="en-US" b="1"/>
              <a:t>무료</a:t>
            </a:r>
            <a:r>
              <a:rPr lang="ko-KR" altLang="en-US"/>
              <a:t>입니다</a:t>
            </a:r>
            <a:r>
              <a:rPr lang="en-US" altLang="ko-KR"/>
              <a:t>. Professional</a:t>
            </a:r>
            <a:r>
              <a:rPr lang="ko-KR" altLang="en-US"/>
              <a:t>이나 </a:t>
            </a:r>
            <a:r>
              <a:rPr lang="en-US" altLang="ko-KR"/>
              <a:t>Enterprise </a:t>
            </a:r>
            <a:r>
              <a:rPr lang="ko-KR" altLang="en-US"/>
              <a:t>있으시면 당연히 그거 쓰셔도 되고요</a:t>
            </a:r>
            <a:r>
              <a:rPr lang="en-US" altLang="ko-KR"/>
              <a:t>.</a:t>
            </a:r>
          </a:p>
          <a:p>
            <a:r>
              <a:rPr lang="ko-KR" altLang="en-US"/>
              <a:t>중요한 건 설치할 때 </a:t>
            </a:r>
            <a:r>
              <a:rPr lang="ko-KR" altLang="en-US" b="1"/>
              <a:t>워크로드 선택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2022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워크로드 선택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Studio Installer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데스크톱 개발        ← 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ASP.NET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및 웹 개발        ← 웹 프로젝트 하신다면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이미 설치된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Visual Studio Installer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 → 워크로드 추가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".NET </a:t>
            </a:r>
            <a:r>
              <a:rPr lang="ko-KR" altLang="en-US"/>
              <a:t>데스크톱 개발</a:t>
            </a:r>
            <a:r>
              <a:rPr lang="en-US" altLang="ko-KR"/>
              <a:t>" </a:t>
            </a:r>
            <a:r>
              <a:rPr lang="ko-KR" altLang="en-US"/>
              <a:t>워크로드가 </a:t>
            </a:r>
            <a:r>
              <a:rPr lang="ko-KR" altLang="en-US" b="1"/>
              <a:t>필수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이게 없으면 </a:t>
            </a:r>
            <a:r>
              <a:rPr lang="en-US" altLang="ko-KR"/>
              <a:t>C# </a:t>
            </a:r>
            <a:r>
              <a:rPr lang="ko-KR" altLang="en-US"/>
              <a:t>프로젝트 생성이 안 돼요</a:t>
            </a:r>
            <a:r>
              <a:rPr lang="en-US" altLang="ko-KR"/>
              <a:t>.</a:t>
            </a:r>
          </a:p>
          <a:p>
            <a:r>
              <a:rPr lang="en-US" altLang="ko-KR"/>
              <a:t>VS Code </a:t>
            </a:r>
            <a:r>
              <a:rPr lang="ko-KR" altLang="en-US"/>
              <a:t>쓰시는 분도 계실 텐데</a:t>
            </a:r>
            <a:r>
              <a:rPr lang="en-US" altLang="ko-KR"/>
              <a:t>, </a:t>
            </a:r>
            <a:r>
              <a:rPr lang="ko-KR" altLang="en-US"/>
              <a:t>이번 실습에서는 </a:t>
            </a:r>
            <a:r>
              <a:rPr lang="en-US" altLang="ko-KR" b="1"/>
              <a:t>Visual Studio 2022</a:t>
            </a:r>
            <a:r>
              <a:rPr lang="ko-KR" altLang="en-US"/>
              <a:t>를 기준으로 진행합니다</a:t>
            </a:r>
            <a:r>
              <a:rPr lang="en-US" altLang="ko-KR"/>
              <a:t>. </a:t>
            </a:r>
            <a:r>
              <a:rPr lang="ko-KR" altLang="en-US"/>
              <a:t>테스트 탐색기 같은 기능이 </a:t>
            </a:r>
            <a:r>
              <a:rPr lang="en-US" altLang="ko-KR"/>
              <a:t>VS</a:t>
            </a:r>
            <a:r>
              <a:rPr lang="ko-KR" altLang="en-US"/>
              <a:t>가 더 편해요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NuGet </a:t>
            </a:r>
            <a:r>
              <a:rPr lang="ko-KR" altLang="en-US" b="1"/>
              <a:t>패키지 관리자 ✅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NuGet </a:t>
            </a:r>
            <a:r>
              <a:rPr lang="ko-KR" altLang="en-US" b="1"/>
              <a:t>패키지 관리자입니다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테스트 프레임워크</a:t>
            </a:r>
            <a:r>
              <a:rPr lang="en-US" altLang="ko-KR" i="1"/>
              <a:t>/</a:t>
            </a:r>
            <a:r>
              <a:rPr lang="ko-KR" altLang="en-US" i="1"/>
              <a:t>도구 설치용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NuGet</a:t>
            </a:r>
            <a:r>
              <a:rPr lang="ko-KR" altLang="en-US"/>
              <a:t>은 </a:t>
            </a:r>
            <a:r>
              <a:rPr lang="en-US" altLang="ko-KR"/>
              <a:t>.NET</a:t>
            </a:r>
            <a:r>
              <a:rPr lang="ko-KR" altLang="en-US"/>
              <a:t>의 </a:t>
            </a:r>
            <a:r>
              <a:rPr lang="ko-KR" altLang="en-US" b="1"/>
              <a:t>패키지 매니저</a:t>
            </a:r>
            <a:r>
              <a:rPr lang="ko-KR" altLang="en-US"/>
              <a:t>입니다</a:t>
            </a:r>
            <a:r>
              <a:rPr lang="en-US" altLang="ko-KR"/>
              <a:t>. Python</a:t>
            </a:r>
            <a:r>
              <a:rPr lang="ko-KR" altLang="en-US"/>
              <a:t>의 </a:t>
            </a:r>
            <a:r>
              <a:rPr lang="en-US" altLang="ko-KR"/>
              <a:t>pip, Node.js</a:t>
            </a:r>
            <a:r>
              <a:rPr lang="ko-KR" altLang="en-US"/>
              <a:t>의 </a:t>
            </a:r>
            <a:r>
              <a:rPr lang="en-US" altLang="ko-KR"/>
              <a:t>npm </a:t>
            </a:r>
            <a:r>
              <a:rPr lang="ko-KR" altLang="en-US"/>
              <a:t>같은 역할이에요</a:t>
            </a:r>
            <a:r>
              <a:rPr lang="en-US" altLang="ko-KR"/>
              <a:t>.</a:t>
            </a:r>
          </a:p>
          <a:p>
            <a:r>
              <a:rPr lang="ko-KR" altLang="en-US"/>
              <a:t>테스트 프레임워크인 </a:t>
            </a:r>
            <a:r>
              <a:rPr lang="en-US" altLang="ko-KR" b="1"/>
              <a:t>NUnit</a:t>
            </a:r>
            <a:r>
              <a:rPr lang="en-US" altLang="ko-KR"/>
              <a:t>, Mock </a:t>
            </a:r>
            <a:r>
              <a:rPr lang="ko-KR" altLang="en-US"/>
              <a:t>라이브러리인 </a:t>
            </a:r>
            <a:r>
              <a:rPr lang="en-US" altLang="ko-KR" b="1"/>
              <a:t>Moq</a:t>
            </a:r>
            <a:r>
              <a:rPr lang="ko-KR" altLang="en-US"/>
              <a:t> 등을 전부 </a:t>
            </a:r>
            <a:r>
              <a:rPr lang="en-US" altLang="ko-KR"/>
              <a:t>NuGet</a:t>
            </a:r>
            <a:r>
              <a:rPr lang="ko-KR" altLang="en-US"/>
              <a:t>으로 설치합니다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설치할 것들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실습에서 설치할 패키지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프레임워크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NUnit3TestAdapter      -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                   -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  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좋은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설치는 실습 시간에 같이 진행합니다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NuGet</a:t>
            </a:r>
            <a:r>
              <a:rPr lang="ko-KR" altLang="en-US"/>
              <a:t>은 </a:t>
            </a:r>
            <a:r>
              <a:rPr lang="en-US" altLang="ko-KR"/>
              <a:t>Visual Studio</a:t>
            </a:r>
            <a:r>
              <a:rPr lang="ko-KR" altLang="en-US"/>
              <a:t>에 </a:t>
            </a:r>
            <a:r>
              <a:rPr lang="ko-KR" altLang="en-US" b="1"/>
              <a:t>기본 내장</a:t>
            </a:r>
            <a:r>
              <a:rPr lang="ko-KR" altLang="en-US"/>
              <a:t>되어 있어요</a:t>
            </a:r>
            <a:r>
              <a:rPr lang="en-US" altLang="ko-KR"/>
              <a:t>. </a:t>
            </a:r>
            <a:r>
              <a:rPr lang="ko-KR" altLang="en-US"/>
              <a:t>따로 설치할 건 없고</a:t>
            </a:r>
            <a:r>
              <a:rPr lang="en-US" altLang="ko-KR"/>
              <a:t>, VS 2022</a:t>
            </a:r>
            <a:r>
              <a:rPr lang="ko-KR" altLang="en-US"/>
              <a:t>만 있으면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권장 설치 항목 ➕</a:t>
            </a:r>
          </a:p>
          <a:p>
            <a:r>
              <a:rPr lang="ko-KR" altLang="en-US"/>
              <a:t>이제 오른쪽 </a:t>
            </a:r>
            <a:r>
              <a:rPr lang="ko-KR" altLang="en-US" b="1"/>
              <a:t>권장 설치 항목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필수는 아니지만 있으면 훨씬 편해요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Fine Code Coverage ✅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Fine Code Coverage</a:t>
            </a:r>
            <a:r>
              <a:rPr lang="ko-KR" altLang="en-US" b="1"/>
              <a:t>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"VS </a:t>
            </a:r>
            <a:r>
              <a:rPr lang="ko-KR" altLang="en-US" i="1"/>
              <a:t>확장</a:t>
            </a:r>
            <a:r>
              <a:rPr lang="en-US" altLang="ko-KR" i="1"/>
              <a:t>, </a:t>
            </a:r>
            <a:r>
              <a:rPr lang="ko-KR" altLang="en-US" i="1"/>
              <a:t>커버리지 시각화 도구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코드 커버리지가 뭐냐면</a:t>
            </a:r>
            <a:r>
              <a:rPr lang="en-US" altLang="ko-KR"/>
              <a:t>, "</a:t>
            </a:r>
            <a:r>
              <a:rPr lang="ko-KR" altLang="en-US"/>
              <a:t>내 테스트가 코드를 </a:t>
            </a:r>
            <a:r>
              <a:rPr lang="ko-KR" altLang="en-US" b="1"/>
              <a:t>얼마나 커버</a:t>
            </a:r>
            <a:r>
              <a:rPr lang="ko-KR" altLang="en-US"/>
              <a:t>하고 있는가</a:t>
            </a:r>
            <a:r>
              <a:rPr lang="en-US" altLang="ko-KR"/>
              <a:t>"</a:t>
            </a:r>
            <a:r>
              <a:rPr lang="ko-KR" altLang="en-US"/>
              <a:t>를 보여주는 거예요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 Code Coverage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Add(int a, int b)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테스트됨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(a &lt; 0)        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테스트 안됨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throw new Exception();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a + b;     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테스트됨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에디터에서 바로 보임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여기는 테스트 안 됐네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설치 방법은</a:t>
            </a:r>
            <a:r>
              <a:rPr lang="en-US" altLang="ko-KR"/>
              <a:t>: </a:t>
            </a:r>
            <a:r>
              <a:rPr lang="ko-KR" altLang="en-US" b="1"/>
              <a:t>확장 → 확장 관리 → </a:t>
            </a:r>
            <a:r>
              <a:rPr lang="en-US" altLang="ko-KR" b="1"/>
              <a:t>"Fine Code Coverage" </a:t>
            </a:r>
            <a:r>
              <a:rPr lang="ko-KR" altLang="en-US" b="1"/>
              <a:t>검색 → 설치</a:t>
            </a:r>
            <a:endParaRPr lang="ko-KR" altLang="en-US"/>
          </a:p>
          <a:p>
            <a:r>
              <a:rPr lang="ko-KR" altLang="en-US"/>
              <a:t>나중에 커버리지 시간에 자세히 다룰게요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Git </a:t>
            </a:r>
            <a:r>
              <a:rPr lang="ko-KR" altLang="en-US" b="1"/>
              <a:t>버전 관리 ✅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Git </a:t>
            </a:r>
            <a:r>
              <a:rPr lang="ko-KR" altLang="en-US" b="1"/>
              <a:t>버전 관리입니다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"GitHub Actions </a:t>
            </a:r>
            <a:r>
              <a:rPr lang="ko-KR" altLang="en-US" i="1"/>
              <a:t>연동용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CI/CD </a:t>
            </a:r>
            <a:r>
              <a:rPr lang="ko-KR" altLang="en-US"/>
              <a:t>실습할 때 </a:t>
            </a:r>
            <a:r>
              <a:rPr lang="en-US" altLang="ko-KR" b="1"/>
              <a:t>GitHub Actions</a:t>
            </a:r>
            <a:r>
              <a:rPr lang="ko-KR" altLang="en-US"/>
              <a:t>를 사용할 거예요</a:t>
            </a:r>
            <a:r>
              <a:rPr lang="en-US" altLang="ko-KR"/>
              <a:t>. </a:t>
            </a:r>
            <a:r>
              <a:rPr lang="ko-KR" altLang="en-US"/>
              <a:t>그러려면 </a:t>
            </a:r>
            <a:r>
              <a:rPr lang="en-US" altLang="ko-KR" b="1"/>
              <a:t>Git</a:t>
            </a:r>
            <a:r>
              <a:rPr lang="ko-KR" altLang="en-US"/>
              <a:t>이 설치되어 있어야 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확인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터미널에서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&gt; git --version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git version 2.43.0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나오면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OK! ✅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https://git-scm.com/download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설치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계정도 필요합니다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없으면 미리 만들어주세요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Git </a:t>
            </a:r>
            <a:r>
              <a:rPr lang="ko-KR" altLang="en-US"/>
              <a:t>없으신 분은 지금 설치해주시고</a:t>
            </a:r>
            <a:r>
              <a:rPr lang="en-US" altLang="ko-KR"/>
              <a:t>, </a:t>
            </a:r>
            <a:r>
              <a:rPr lang="en-US" altLang="ko-KR" b="1"/>
              <a:t>GitHub </a:t>
            </a:r>
            <a:r>
              <a:rPr lang="ko-KR" altLang="en-US" b="1"/>
              <a:t>계정</a:t>
            </a:r>
            <a:r>
              <a:rPr lang="ko-KR" altLang="en-US"/>
              <a:t>도 없으신 분은 미리 만들어주세요</a:t>
            </a:r>
            <a:r>
              <a:rPr lang="en-US" altLang="ko-KR"/>
              <a:t>. CI/CD </a:t>
            </a:r>
            <a:r>
              <a:rPr lang="ko-KR" altLang="en-US"/>
              <a:t>실습 때 필요합니다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확인 방법 </a:t>
            </a:r>
            <a:r>
              <a:rPr lang="en-US" altLang="ko-KR" b="1"/>
              <a:t>ℹ️</a:t>
            </a:r>
          </a:p>
          <a:p>
            <a:r>
              <a:rPr lang="ko-KR" altLang="en-US"/>
              <a:t>하단에 </a:t>
            </a:r>
            <a:r>
              <a:rPr lang="ko-KR" altLang="en-US" b="1"/>
              <a:t>확인 방법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"dotnet --version</a:t>
            </a:r>
            <a:r>
              <a:rPr lang="ko-KR" altLang="en-US" i="1"/>
              <a:t>으로 </a:t>
            </a:r>
            <a:r>
              <a:rPr lang="en-US" altLang="ko-KR" i="1"/>
              <a:t>SDK </a:t>
            </a:r>
            <a:r>
              <a:rPr lang="ko-KR" altLang="en-US" i="1"/>
              <a:t>버전 확인</a:t>
            </a:r>
            <a:r>
              <a:rPr lang="en-US" altLang="ko-KR" i="1"/>
              <a:t>. </a:t>
            </a:r>
            <a:r>
              <a:rPr lang="ko-KR" altLang="en-US" i="1"/>
              <a:t>교육 당일 노트북 지참 필수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지금 바로 확인해보실까요</a:t>
            </a:r>
            <a:r>
              <a:rPr lang="en-US" altLang="ko-KR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환경 점검 체크리스트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터미널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/PowerShell/CMD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열고 다음 명령어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dotnet --version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8.0.xxx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나오면 ✅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git --version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나오면 ✅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Visual Studio 2022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새 프로젝트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보이면 ✅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문제 있으신 분은 지금 손 들어주세요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</a:t>
            </a:r>
          </a:p>
          <a:p>
            <a:r>
              <a:rPr lang="ko-KR" altLang="en-US" b="1"/>
              <a:t>필수 설치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✅ </a:t>
            </a:r>
            <a:r>
              <a:rPr lang="en-US" altLang="ko-KR"/>
              <a:t>.NET 8 SDK -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--version</a:t>
            </a:r>
            <a:r>
              <a:rPr lang="ko-KR" altLang="en-US"/>
              <a:t>으로 확인</a:t>
            </a:r>
          </a:p>
          <a:p>
            <a:r>
              <a:rPr lang="ko-KR" altLang="en-US"/>
              <a:t>✅ </a:t>
            </a:r>
            <a:r>
              <a:rPr lang="en-US" altLang="ko-KR"/>
              <a:t>Visual Studio 2022 - Community </a:t>
            </a:r>
            <a:r>
              <a:rPr lang="ko-KR" altLang="en-US"/>
              <a:t>이상</a:t>
            </a:r>
            <a:r>
              <a:rPr lang="en-US" altLang="ko-KR"/>
              <a:t>, .NET </a:t>
            </a:r>
            <a:r>
              <a:rPr lang="ko-KR" altLang="en-US"/>
              <a:t>워크로드</a:t>
            </a:r>
          </a:p>
          <a:p>
            <a:r>
              <a:rPr lang="ko-KR" altLang="en-US"/>
              <a:t>✅ </a:t>
            </a:r>
            <a:r>
              <a:rPr lang="en-US" altLang="ko-KR"/>
              <a:t>NuGet - VS</a:t>
            </a:r>
            <a:r>
              <a:rPr lang="ko-KR" altLang="en-US"/>
              <a:t>에 기본 내장</a:t>
            </a:r>
          </a:p>
          <a:p>
            <a:r>
              <a:rPr lang="ko-KR" altLang="en-US" b="1"/>
              <a:t>권장 설치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➕ </a:t>
            </a:r>
            <a:r>
              <a:rPr lang="en-US" altLang="ko-KR"/>
              <a:t>Fine Code Coverage - </a:t>
            </a:r>
            <a:r>
              <a:rPr lang="ko-KR" altLang="en-US"/>
              <a:t>커버리지 시각화</a:t>
            </a:r>
          </a:p>
          <a:p>
            <a:r>
              <a:rPr lang="ko-KR" altLang="en-US"/>
              <a:t>➕ </a:t>
            </a:r>
            <a:r>
              <a:rPr lang="en-US" altLang="ko-KR"/>
              <a:t>Git - GitHub Actions </a:t>
            </a:r>
            <a:r>
              <a:rPr lang="ko-KR" altLang="en-US"/>
              <a:t>연동용</a:t>
            </a:r>
          </a:p>
          <a:p>
            <a:r>
              <a:rPr lang="ko-KR" altLang="en-US" b="1"/>
              <a:t>지금 바로 확인해주세요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환경 문제로 실습 못 하시면 정말 아깝습니다</a:t>
            </a:r>
            <a:r>
              <a:rPr lang="en-US" altLang="ko-KR"/>
              <a:t>. </a:t>
            </a:r>
            <a:r>
              <a:rPr lang="ko-KR" altLang="en-US"/>
              <a:t>문제 있으신 분은 지금 말씀해주시면 도와드릴게요</a:t>
            </a:r>
            <a:r>
              <a:rPr lang="en-US" altLang="ko-KR"/>
              <a:t>.</a:t>
            </a:r>
          </a:p>
          <a:p>
            <a:r>
              <a:rPr lang="ko-KR" altLang="en-US"/>
              <a:t>다음 시간에 본격적으로 프로젝트 설정 실습 들어가겠습니다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핵심 메시지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환경 설정 체크리스트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⭐ 필수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8 SDK          → dotnet --version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Visual Studio 2022  →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워크로드 설치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              →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내장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➕ 권장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 Code Coverage  →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 설치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                → git --version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계정  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실습용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💬 강조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문제로 실습 못 하면 아깝습니다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확인하고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있으면 지금 해결합시다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🎯 수강생 참여 유도</a:t>
            </a:r>
          </a:p>
          <a:p>
            <a:r>
              <a:rPr lang="ko-KR" altLang="en-US"/>
              <a:t>설명 후 즉석 점검</a:t>
            </a:r>
            <a:r>
              <a:rPr lang="en-US" altLang="ko-KR"/>
              <a:t>:</a:t>
            </a:r>
          </a:p>
          <a:p>
            <a:r>
              <a:rPr lang="en-US" altLang="ko-KR"/>
              <a:t>"</a:t>
            </a:r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다들 터미널 열어보세요</a:t>
            </a:r>
            <a:r>
              <a:rPr lang="en-US" altLang="ko-KR"/>
              <a:t>!" "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--version</a:t>
            </a:r>
            <a:r>
              <a:rPr lang="ko-KR" altLang="en-US"/>
              <a:t> 입력하시고 결과 나오시는 분 손 들어주세요</a:t>
            </a:r>
            <a:r>
              <a:rPr lang="en-US" altLang="ko-KR"/>
              <a:t>!" "</a:t>
            </a:r>
            <a:r>
              <a:rPr lang="ko-KR" altLang="en-US"/>
              <a:t>좋습니다</a:t>
            </a:r>
            <a:r>
              <a:rPr lang="en-US" altLang="ko-KR"/>
              <a:t>! </a:t>
            </a:r>
            <a:r>
              <a:rPr lang="ko-KR" altLang="en-US"/>
              <a:t>안 되시는 분</a:t>
            </a:r>
            <a:r>
              <a:rPr lang="en-US" altLang="ko-KR"/>
              <a:t>?"</a:t>
            </a:r>
          </a:p>
          <a:p>
            <a:r>
              <a:rPr lang="en-US" altLang="ko-KR"/>
              <a:t>"Git</a:t>
            </a:r>
            <a:r>
              <a:rPr lang="ko-KR" altLang="en-US"/>
              <a:t>도 확인해볼까요</a:t>
            </a:r>
            <a:r>
              <a:rPr lang="en-US" altLang="ko-KR"/>
              <a:t>?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--version</a:t>
            </a:r>
            <a:r>
              <a:rPr lang="en-US" altLang="ko-KR"/>
              <a:t>!"</a:t>
            </a:r>
          </a:p>
          <a:p>
            <a:r>
              <a:rPr lang="en-US" altLang="ko-KR"/>
              <a:t>"</a:t>
            </a:r>
            <a:r>
              <a:rPr lang="ko-KR" altLang="en-US"/>
              <a:t>문제 있으신 분은 쉬는 시간에 도와드릴게요</a:t>
            </a:r>
            <a:r>
              <a:rPr lang="en-US" altLang="ko-KR"/>
              <a:t>."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📋 </a:t>
            </a:r>
            <a:r>
              <a:rPr lang="en-US" altLang="ko-KR" b="1"/>
              <a:t>Visual Studio </a:t>
            </a:r>
            <a:r>
              <a:rPr lang="ko-KR" altLang="en-US" b="1"/>
              <a:t>테스트 설정 슬라이드 강의 스크립트</a:t>
            </a:r>
          </a:p>
          <a:p>
            <a:r>
              <a:rPr lang="ko-KR" altLang="en-US" b="1"/>
              <a:t>🎤 강사 멘트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본격적으로 </a:t>
            </a:r>
            <a:r>
              <a:rPr lang="en-US" altLang="ko-KR" b="1"/>
              <a:t>Visual Studio</a:t>
            </a:r>
            <a:r>
              <a:rPr lang="ko-KR" altLang="en-US" b="1"/>
              <a:t>에서 테스트 환경을 구축</a:t>
            </a:r>
            <a:r>
              <a:rPr lang="ko-KR" altLang="en-US"/>
              <a:t>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화면에 보시는 대로 </a:t>
            </a:r>
            <a:r>
              <a:rPr lang="en-US" altLang="ko-KR" b="1"/>
              <a:t>4</a:t>
            </a:r>
            <a:r>
              <a:rPr lang="ko-KR" altLang="en-US" b="1"/>
              <a:t>단계</a:t>
            </a:r>
            <a:r>
              <a:rPr lang="ko-KR" altLang="en-US"/>
              <a:t>로 진행됩니다</a:t>
            </a:r>
            <a:r>
              <a:rPr lang="en-US" altLang="ko-KR"/>
              <a:t>. </a:t>
            </a:r>
            <a:r>
              <a:rPr lang="ko-KR" altLang="en-US"/>
              <a:t>한 단계씩 같이 따라해보시죠</a:t>
            </a:r>
            <a:r>
              <a:rPr lang="en-US" altLang="ko-KR"/>
              <a:t>.</a:t>
            </a:r>
          </a:p>
          <a:p>
            <a:r>
              <a:rPr lang="en-US" altLang="ko-KR" b="1"/>
              <a:t>Visual Studio </a:t>
            </a:r>
            <a:r>
              <a:rPr lang="ko-KR" altLang="en-US" b="1"/>
              <a:t>열어주세요</a:t>
            </a:r>
            <a:r>
              <a:rPr lang="en-US" altLang="ko-KR" b="1"/>
              <a:t>!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1: Test Explorer </a:t>
            </a:r>
            <a:r>
              <a:rPr lang="ko-KR" altLang="en-US" b="1"/>
              <a:t>활성화 🔍</a:t>
            </a:r>
          </a:p>
          <a:p>
            <a:r>
              <a:rPr lang="ko-KR" altLang="en-US" b="1"/>
              <a:t>첫 번째 단계</a:t>
            </a:r>
            <a:r>
              <a:rPr lang="en-US" altLang="ko-KR" b="1"/>
              <a:t>, Test Explorer </a:t>
            </a:r>
            <a:r>
              <a:rPr lang="ko-KR" altLang="en-US" b="1"/>
              <a:t>활성화입니다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메뉴</a:t>
            </a:r>
            <a:r>
              <a:rPr lang="en-US" altLang="ko-KR" i="1"/>
              <a:t>: [</a:t>
            </a:r>
            <a:r>
              <a:rPr lang="ko-KR" altLang="en-US" i="1"/>
              <a:t>보기</a:t>
            </a:r>
            <a:r>
              <a:rPr lang="en-US" altLang="ko-KR" i="1"/>
              <a:t>] &gt; [</a:t>
            </a:r>
            <a:r>
              <a:rPr lang="ko-KR" altLang="en-US" i="1"/>
              <a:t>테스트 탐색기</a:t>
            </a:r>
            <a:r>
              <a:rPr lang="en-US" altLang="ko-KR" i="1"/>
              <a:t>] </a:t>
            </a:r>
            <a:r>
              <a:rPr lang="ko-KR" altLang="en-US" i="1"/>
              <a:t>또는 </a:t>
            </a:r>
            <a:r>
              <a:rPr lang="en-US" altLang="ko-KR" i="1"/>
              <a:t>Ctrl+E, T"</a:t>
            </a:r>
            <a:endParaRPr lang="ko-KR" altLang="en-US"/>
          </a:p>
          <a:p>
            <a:r>
              <a:rPr lang="en-US" altLang="ko-KR" b="1"/>
              <a:t>Test Explorer</a:t>
            </a:r>
            <a:r>
              <a:rPr lang="ko-KR" altLang="en-US"/>
              <a:t>가 뭐냐면요</a:t>
            </a:r>
            <a:r>
              <a:rPr lang="en-US" altLang="ko-KR"/>
              <a:t>, </a:t>
            </a:r>
            <a:r>
              <a:rPr lang="ko-KR" altLang="en-US"/>
              <a:t>테스트를 </a:t>
            </a:r>
            <a:r>
              <a:rPr lang="ko-KR" altLang="en-US" b="1"/>
              <a:t>실행하고 결과를 보는 창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이게 없으면 테스트 돌리기가 불편해요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열기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메뉴에서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보기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(View)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탐색기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(Test Explorer)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단축키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Ctrl + E, T  (Ctrl+E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누르고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누르기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이 단축키 외워두세요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씁니다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같이 해볼까요</a:t>
            </a:r>
            <a:r>
              <a:rPr lang="en-US" altLang="ko-KR"/>
              <a:t>?</a:t>
            </a:r>
          </a:p>
          <a:p>
            <a:r>
              <a:rPr lang="en-US" altLang="ko-KR" b="1"/>
              <a:t>Ctrl+E, T</a:t>
            </a:r>
            <a:r>
              <a:rPr lang="ko-KR" altLang="en-US"/>
              <a:t> 눌러보세요</a:t>
            </a:r>
            <a:r>
              <a:rPr lang="en-US" altLang="ko-KR"/>
              <a:t>!</a:t>
            </a:r>
          </a:p>
          <a:p>
            <a:r>
              <a:rPr lang="ko-KR" altLang="en-US"/>
              <a:t>왼쪽이나 오른쪽에 </a:t>
            </a:r>
            <a:r>
              <a:rPr lang="ko-KR" altLang="en-US" b="1"/>
              <a:t>테스트 탐색기</a:t>
            </a:r>
            <a:r>
              <a:rPr lang="ko-KR" altLang="en-US"/>
              <a:t> 창이 뜨셨나요</a:t>
            </a:r>
            <a:r>
              <a:rPr lang="en-US" altLang="ko-KR"/>
              <a:t>? </a:t>
            </a:r>
            <a:r>
              <a:rPr lang="ko-KR" altLang="en-US"/>
              <a:t>아직 테스트가 없어서 비어있을 거예요</a:t>
            </a:r>
            <a:r>
              <a:rPr lang="en-US" altLang="ko-KR"/>
              <a:t>. </a:t>
            </a:r>
            <a:r>
              <a:rPr lang="ko-KR" altLang="en-US"/>
              <a:t>정상입니다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2: </a:t>
            </a:r>
            <a:r>
              <a:rPr lang="ko-KR" altLang="en-US" b="1"/>
              <a:t>테스트 프로젝트 생성 📁</a:t>
            </a:r>
          </a:p>
          <a:p>
            <a:r>
              <a:rPr lang="ko-KR" altLang="en-US" b="1"/>
              <a:t>두 번째 단계</a:t>
            </a:r>
            <a:r>
              <a:rPr lang="en-US" altLang="ko-KR" b="1"/>
              <a:t>, </a:t>
            </a:r>
            <a:r>
              <a:rPr lang="ko-KR" altLang="en-US" b="1"/>
              <a:t>테스트 프로젝트 생성입니다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솔루션 우클릭 </a:t>
            </a:r>
            <a:r>
              <a:rPr lang="en-US" altLang="ko-KR" i="1"/>
              <a:t>&gt; [</a:t>
            </a:r>
            <a:r>
              <a:rPr lang="ko-KR" altLang="en-US" i="1"/>
              <a:t>추가</a:t>
            </a:r>
            <a:r>
              <a:rPr lang="en-US" altLang="ko-KR" i="1"/>
              <a:t>] &gt; [</a:t>
            </a:r>
            <a:r>
              <a:rPr lang="ko-KR" altLang="en-US" i="1"/>
              <a:t>새 프로젝트</a:t>
            </a:r>
            <a:r>
              <a:rPr lang="en-US" altLang="ko-KR" i="1"/>
              <a:t>] &gt; [NUnit/xUnit </a:t>
            </a:r>
            <a:r>
              <a:rPr lang="ko-KR" altLang="en-US" i="1"/>
              <a:t>테스트 프로젝트</a:t>
            </a:r>
            <a:r>
              <a:rPr lang="en-US" altLang="ko-KR" i="1"/>
              <a:t>]"</a:t>
            </a:r>
            <a:endParaRPr lang="ko-KR" altLang="en-US"/>
          </a:p>
          <a:p>
            <a:r>
              <a:rPr lang="ko-KR" altLang="en-US"/>
              <a:t>테스트 코드는 </a:t>
            </a:r>
            <a:r>
              <a:rPr lang="ko-KR" altLang="en-US" b="1"/>
              <a:t>별도의 프로젝트</a:t>
            </a:r>
            <a:r>
              <a:rPr lang="ko-KR" altLang="en-US"/>
              <a:t>에 작성합니다</a:t>
            </a:r>
            <a:r>
              <a:rPr lang="en-US" altLang="ko-KR"/>
              <a:t>. </a:t>
            </a:r>
            <a:r>
              <a:rPr lang="ko-KR" altLang="en-US"/>
              <a:t>실제 코드와 테스트 코드를 분리하는 거예요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프로젝트 생성 순서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탐색기에서 솔루션 이름 우클릭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→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검색창에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"NUnit"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"NUnit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5️⃣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이름 입력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MyApp.Tests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6️⃣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명명 규칙</a:t>
            </a:r>
            <a:r>
              <a:rPr lang="ko-KR" altLang="en-US"/>
              <a:t>이 중요합니다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프로젝트명</a:t>
            </a:r>
            <a:r>
              <a:rPr lang="en-US" altLang="ko-KR" i="1"/>
              <a:t>.Tests"</a:t>
            </a:r>
            <a:endParaRPr lang="ko-KR" altLang="en-US"/>
          </a:p>
          <a:p>
            <a:r>
              <a:rPr lang="ko-KR" altLang="en-US"/>
              <a:t>예를 들어</a:t>
            </a:r>
            <a:r>
              <a:rPr lang="en-US" altLang="ko-KR"/>
              <a:t>:</a:t>
            </a:r>
          </a:p>
          <a:p>
            <a:r>
              <a:rPr lang="ko-KR" altLang="en-US"/>
              <a:t>원본 프로젝트</a:t>
            </a:r>
            <a:r>
              <a:rPr lang="en-US" altLang="ko-KR"/>
              <a:t>: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Calculator</a:t>
            </a:r>
            <a:endParaRPr lang="ko-KR" altLang="en-US"/>
          </a:p>
          <a:p>
            <a:r>
              <a:rPr lang="ko-KR" altLang="en-US"/>
              <a:t>테스트 프로젝트</a:t>
            </a:r>
            <a:r>
              <a:rPr lang="en-US" altLang="ko-KR"/>
              <a:t>: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Calculator.Tests</a:t>
            </a:r>
            <a:endParaRPr lang="ko-KR" altLang="en-US"/>
          </a:p>
          <a:p>
            <a:r>
              <a:rPr lang="ko-KR" altLang="en-US"/>
              <a:t>이렇게 하면 뭐가 테스트 프로젝트인지 </a:t>
            </a:r>
            <a:r>
              <a:rPr lang="ko-KR" altLang="en-US" b="1"/>
              <a:t>한눈에</a:t>
            </a:r>
            <a:r>
              <a:rPr lang="ko-KR" altLang="en-US"/>
              <a:t> 알 수 있어요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솔루션 구조 예시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MySolution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코드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UserService.cs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MyApp.Tests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CalculatorTests.cs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UserServiceTests.cs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xUnit </a:t>
            </a:r>
            <a:r>
              <a:rPr lang="ko-KR" altLang="en-US"/>
              <a:t>쓰시는 분은 </a:t>
            </a:r>
            <a:r>
              <a:rPr lang="en-US" altLang="ko-KR"/>
              <a:t>"xUnit </a:t>
            </a:r>
            <a:r>
              <a:rPr lang="ko-KR" altLang="en-US"/>
              <a:t>테스트 프로젝트</a:t>
            </a:r>
            <a:r>
              <a:rPr lang="en-US" altLang="ko-KR"/>
              <a:t>" </a:t>
            </a:r>
            <a:r>
              <a:rPr lang="ko-KR" altLang="en-US"/>
              <a:t>선택하시면 됩니다</a:t>
            </a:r>
            <a:r>
              <a:rPr lang="en-US" altLang="ko-KR"/>
              <a:t>. </a:t>
            </a:r>
            <a:r>
              <a:rPr lang="ko-KR" altLang="en-US"/>
              <a:t>이번 실습에서는 </a:t>
            </a:r>
            <a:r>
              <a:rPr lang="en-US" altLang="ko-KR" b="1"/>
              <a:t>NUnit</a:t>
            </a:r>
            <a:r>
              <a:rPr lang="ko-KR" altLang="en-US"/>
              <a:t>을 기준으로 진행할게요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3: NuGet </a:t>
            </a:r>
            <a:r>
              <a:rPr lang="ko-KR" altLang="en-US" b="1"/>
              <a:t>패키지 설치 📦</a:t>
            </a:r>
          </a:p>
          <a:p>
            <a:r>
              <a:rPr lang="ko-KR" altLang="en-US" b="1"/>
              <a:t>세 번째 단계</a:t>
            </a:r>
            <a:r>
              <a:rPr lang="en-US" altLang="ko-KR" b="1"/>
              <a:t>, NuGet </a:t>
            </a:r>
            <a:r>
              <a:rPr lang="ko-KR" altLang="en-US" b="1"/>
              <a:t>패키지 설치입니다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화면에 명령어가 있네요</a:t>
            </a:r>
            <a:r>
              <a:rPr lang="en-US" altLang="ko-KR"/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 package Microsoft.NET.Test.Sdk NUnit NUnit3TestAdapter Coverlet.collector</a:t>
            </a:r>
          </a:p>
          <a:p>
            <a:r>
              <a:rPr lang="ko-KR" altLang="en-US"/>
              <a:t>근데 </a:t>
            </a:r>
            <a:r>
              <a:rPr lang="en-US" altLang="ko-KR"/>
              <a:t>NUnit </a:t>
            </a:r>
            <a:r>
              <a:rPr lang="ko-KR" altLang="en-US"/>
              <a:t>테스트 프로젝트로 만들면 </a:t>
            </a:r>
            <a:r>
              <a:rPr lang="ko-KR" altLang="en-US" b="1"/>
              <a:t>대부분 자동 설치</a:t>
            </a:r>
            <a:r>
              <a:rPr lang="ko-KR" altLang="en-US"/>
              <a:t>됩니다</a:t>
            </a:r>
            <a:r>
              <a:rPr lang="en-US" altLang="ko-KR"/>
              <a:t>. </a:t>
            </a:r>
            <a:r>
              <a:rPr lang="ko-KR" altLang="en-US"/>
              <a:t>혹시 안 되어 있으면 이 명령어로 추가하시면 돼요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필수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설명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Microsoft.NET.Test.Sdk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실행을 위한 기본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프레임워크 본체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NUnit3TestAdapter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Visual Studio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없으면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인식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X)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수집 도구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GUI</a:t>
            </a:r>
            <a:r>
              <a:rPr lang="ko-KR" altLang="en-US"/>
              <a:t>로 설치하시려면</a:t>
            </a:r>
            <a:r>
              <a:rPr lang="en-US" altLang="ko-KR"/>
              <a:t>:</a:t>
            </a:r>
          </a:p>
          <a:p>
            <a:r>
              <a:rPr lang="ko-KR" altLang="en-US" b="1"/>
              <a:t>테스트 프로젝트 우클릭 → </a:t>
            </a:r>
            <a:r>
              <a:rPr lang="en-US" altLang="ko-KR" b="1"/>
              <a:t>NuGet </a:t>
            </a:r>
            <a:r>
              <a:rPr lang="ko-KR" altLang="en-US" b="1"/>
              <a:t>패키지 관리 → 찾아보기 → 검색 → 설치</a:t>
            </a:r>
            <a:endParaRPr lang="ko-KR" altLang="en-US"/>
          </a:p>
          <a:p>
            <a:r>
              <a:rPr lang="ko-KR" altLang="en-US"/>
              <a:t>나중에 </a:t>
            </a:r>
            <a:r>
              <a:rPr lang="en-US" altLang="ko-KR" b="1"/>
              <a:t>Moq</a:t>
            </a:r>
            <a:r>
              <a:rPr lang="en-US" altLang="ko-KR"/>
              <a:t>, </a:t>
            </a:r>
            <a:r>
              <a:rPr lang="en-US" altLang="ko-KR" b="1"/>
              <a:t>FluentAssertions</a:t>
            </a:r>
            <a:r>
              <a:rPr lang="ko-KR" altLang="en-US"/>
              <a:t> 같은 것도 이 방법으로 추가합니다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나중에 추가할 패키지들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                        →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(Step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  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좋은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  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(Step 7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4: </a:t>
            </a:r>
            <a:r>
              <a:rPr lang="ko-KR" altLang="en-US" b="1"/>
              <a:t>프로젝트 참조 추가 🔗</a:t>
            </a:r>
          </a:p>
          <a:p>
            <a:r>
              <a:rPr lang="ko-KR" altLang="en-US" b="1"/>
              <a:t>네 번째 단계</a:t>
            </a:r>
            <a:r>
              <a:rPr lang="en-US" altLang="ko-KR" b="1"/>
              <a:t>, </a:t>
            </a:r>
            <a:r>
              <a:rPr lang="ko-KR" altLang="en-US" b="1"/>
              <a:t>프로젝트 참조 추가입니다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 i="1"/>
              <a:t>"</a:t>
            </a:r>
            <a:r>
              <a:rPr lang="ko-KR" altLang="en-US" i="1"/>
              <a:t>테스트 프로젝트 </a:t>
            </a:r>
            <a:r>
              <a:rPr lang="en-US" altLang="ko-KR" i="1"/>
              <a:t>&gt; [</a:t>
            </a:r>
            <a:r>
              <a:rPr lang="ko-KR" altLang="en-US" i="1"/>
              <a:t>종속성</a:t>
            </a:r>
            <a:r>
              <a:rPr lang="en-US" altLang="ko-KR" i="1"/>
              <a:t>] &gt; [</a:t>
            </a:r>
            <a:r>
              <a:rPr lang="ko-KR" altLang="en-US" i="1"/>
              <a:t>프로젝트 참조 추가</a:t>
            </a:r>
            <a:r>
              <a:rPr lang="en-US" altLang="ko-KR" i="1"/>
              <a:t>]"</a:t>
            </a:r>
            <a:endParaRPr lang="ko-KR" altLang="en-US"/>
          </a:p>
          <a:p>
            <a:r>
              <a:rPr lang="ko-KR" altLang="en-US"/>
              <a:t>이게 뭐냐면요</a:t>
            </a:r>
            <a:r>
              <a:rPr lang="en-US" altLang="ko-KR"/>
              <a:t>, </a:t>
            </a:r>
            <a:r>
              <a:rPr lang="ko-KR" altLang="en-US"/>
              <a:t>테스트 프로젝트에서 </a:t>
            </a:r>
            <a:r>
              <a:rPr lang="ko-KR" altLang="en-US" b="1"/>
              <a:t>원본 프로젝트의 코드를 사용</a:t>
            </a:r>
            <a:r>
              <a:rPr lang="ko-KR" altLang="en-US"/>
              <a:t>하려면 </a:t>
            </a:r>
            <a:r>
              <a:rPr lang="ko-KR" altLang="en-US" b="1"/>
              <a:t>참조를 추가</a:t>
            </a:r>
            <a:r>
              <a:rPr lang="ko-KR" altLang="en-US"/>
              <a:t>해야 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프로젝트 참조 추가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탐색기에서 테스트 프로젝트 펼치기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종속성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우클릭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참조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MyApp)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 ☑️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테스트 프로젝트에서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클래스를 사용할 수 있음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이거 안 하면 테스트 코드에서 원본 클래스를 </a:t>
            </a:r>
            <a:r>
              <a:rPr lang="ko-KR" altLang="en-US" b="1"/>
              <a:t>인식 못 해요</a:t>
            </a:r>
            <a:r>
              <a:rPr lang="en-US" altLang="ko-KR"/>
              <a:t>.</a:t>
            </a:r>
          </a:p>
          <a:p>
            <a:r>
              <a:rPr lang="en-US" altLang="ko-KR"/>
              <a:t>"Calculator</a:t>
            </a:r>
            <a:r>
              <a:rPr lang="ko-KR" altLang="en-US"/>
              <a:t>를 찾을 수 없습니다</a:t>
            </a:r>
            <a:r>
              <a:rPr lang="en-US" altLang="ko-KR"/>
              <a:t>" </a:t>
            </a:r>
            <a:r>
              <a:rPr lang="ko-KR" altLang="en-US"/>
              <a:t>이런 에러 나면 </a:t>
            </a:r>
            <a:r>
              <a:rPr lang="ko-KR" altLang="en-US" b="1"/>
              <a:t>참조 추가 안 한 거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참조 추가 후에야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프로젝트 네임스페이스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MyApp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**팁**이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태그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이름으로 검색하거나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필터링하여 특정 테스트를 찾을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꿀팁 몇 가지 알려드릴게요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꿀팁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🔍 검색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테스트 이름으로 검색 가능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"Calculator"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검색하면 관련 테스트만 표시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🏷️ 필터링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통과한 테스트만 보기 🟢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실패한 테스트만 보기 🔴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실행 안 한 테스트만 보기 ⚪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▶️ 실행 옵션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전체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Ctrl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R, A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Ctrl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R, T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실패한 것만 다시 실행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단축키 외워두세요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R, A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Ctrl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R, 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설정 흐름 요약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설정 전체 흐름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열기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E, T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 프로젝트 생성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솔루션 우클릭 → 추가 → 새 프로젝트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.Tests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NUnit, NUnit3TestAdapter, Coverlet.collector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프로젝트 참조 추가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종속성 → 프로젝트 참조 추가 → 원본 프로젝트 선택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 작성 준비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Visual Studio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설정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Ctrl+E, 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**테스트 프로젝트 생성**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프로젝트명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확인**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NUnit, TestAdapter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**프로젝트 참조 추가**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원본 프로젝트 연결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단계만 하시면 **테스트 작성 준비 끝**입니다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실제로 테스트 코드를 작성해보겠습니다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혹시 설정 중 문제 있으신 분 계신가요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.NET </a:t>
            </a:r>
            <a:r>
              <a:rPr lang="ko-KR" altLang="en-US" b="1"/>
              <a:t>테스트에 필요한 패키지들</a:t>
            </a:r>
            <a:r>
              <a:rPr lang="ko-KR" altLang="en-US"/>
              <a:t>을 자세히 살펴보겠습니다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앞에서 </a:t>
            </a:r>
            <a:r>
              <a:rPr lang="en-US" altLang="ko-KR"/>
              <a:t>NuGet </a:t>
            </a:r>
            <a:r>
              <a:rPr lang="ko-KR" altLang="en-US"/>
              <a:t>패키지 설치한다고 했는데</a:t>
            </a:r>
            <a:r>
              <a:rPr lang="en-US" altLang="ko-KR"/>
              <a:t>, "</a:t>
            </a:r>
            <a:r>
              <a:rPr lang="ko-KR" altLang="en-US"/>
              <a:t>이게 뭐하는 건데</a:t>
            </a:r>
            <a:r>
              <a:rPr lang="en-US" altLang="ko-KR"/>
              <a:t>?" </a:t>
            </a:r>
            <a:r>
              <a:rPr lang="ko-KR" altLang="en-US"/>
              <a:t>궁금하셨죠</a:t>
            </a:r>
            <a:r>
              <a:rPr lang="en-US" altLang="ko-KR"/>
              <a:t>?</a:t>
            </a:r>
          </a:p>
          <a:p>
            <a:r>
              <a:rPr lang="ko-KR" altLang="en-US"/>
              <a:t>각 패키지가 </a:t>
            </a:r>
            <a:r>
              <a:rPr lang="ko-KR" altLang="en-US" b="1"/>
              <a:t>무슨 역할</a:t>
            </a:r>
            <a:r>
              <a:rPr lang="ko-KR" altLang="en-US"/>
              <a:t>을 하는지 설명드릴게요</a:t>
            </a:r>
            <a:r>
              <a:rPr lang="en-US" altLang="ko-KR"/>
              <a:t>. </a:t>
            </a:r>
            <a:r>
              <a:rPr lang="ko-KR" altLang="en-US"/>
              <a:t>이걸 알아야 나중에 문제 생겼을 때 </a:t>
            </a:r>
            <a:r>
              <a:rPr lang="ko-KR" altLang="en-US" b="1"/>
              <a:t>뭐가 빠졌는지</a:t>
            </a:r>
            <a:r>
              <a:rPr lang="ko-KR" altLang="en-US"/>
              <a:t> 파악할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Microsoft.NET.Test.Sdk </a:t>
            </a:r>
            <a:r>
              <a:rPr lang="ko-KR" altLang="en-US" b="1"/>
              <a:t>📦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Microsoft.NET.Test.Sdk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".NET </a:t>
            </a:r>
            <a:r>
              <a:rPr lang="ko-KR" altLang="en-US" i="1"/>
              <a:t>테스트 기본 </a:t>
            </a:r>
            <a:r>
              <a:rPr lang="en-US" altLang="ko-KR" i="1"/>
              <a:t>SDK, VS </a:t>
            </a:r>
            <a:r>
              <a:rPr lang="ko-KR" altLang="en-US" i="1"/>
              <a:t>및 </a:t>
            </a:r>
            <a:r>
              <a:rPr lang="en-US" altLang="ko-KR" i="1"/>
              <a:t>CLI </a:t>
            </a:r>
            <a:r>
              <a:rPr lang="ko-KR" altLang="en-US" i="1"/>
              <a:t>테스트 실행 지원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이게 </a:t>
            </a:r>
            <a:r>
              <a:rPr lang="ko-KR" altLang="en-US" b="1"/>
              <a:t>가장 기본이 되는 패키지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없으면 테스트 자체가 안 돌아가요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Microsoft.NET.Test.Sdk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🎯 핵심 역할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호스트 프로세스 제공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검색 및 실행 인프라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VS 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통신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dotnet 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 지원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이게 없으면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찾을 수 없습니다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비유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실행하는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NUnit/xUnit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연료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엔진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자동차로 비유하면 </a:t>
            </a:r>
            <a:r>
              <a:rPr lang="ko-KR" altLang="en-US" b="1"/>
              <a:t>엔진</a:t>
            </a:r>
            <a:r>
              <a:rPr lang="ko-KR" altLang="en-US"/>
              <a:t>이에요</a:t>
            </a:r>
            <a:r>
              <a:rPr lang="en-US" altLang="ko-KR"/>
              <a:t>. NUnit</a:t>
            </a:r>
            <a:r>
              <a:rPr lang="ko-KR" altLang="en-US"/>
              <a:t>이나 </a:t>
            </a:r>
            <a:r>
              <a:rPr lang="en-US" altLang="ko-KR"/>
              <a:t>xUnit</a:t>
            </a:r>
            <a:r>
              <a:rPr lang="ko-KR" altLang="en-US"/>
              <a:t>은 연료 같은 거고요</a:t>
            </a:r>
            <a:r>
              <a:rPr lang="en-US" altLang="ko-KR"/>
              <a:t>. </a:t>
            </a:r>
            <a:r>
              <a:rPr lang="ko-KR" altLang="en-US"/>
              <a:t>엔진 없이 연료만 있으면 안 움직이죠</a:t>
            </a:r>
            <a:r>
              <a:rPr lang="en-US" altLang="ko-KR"/>
              <a:t>?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NUnit / xUnit ✏️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NUnit / xUnit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프레임워크</a:t>
            </a:r>
            <a:r>
              <a:rPr lang="en-US" altLang="ko-KR" i="1"/>
              <a:t>, </a:t>
            </a:r>
            <a:r>
              <a:rPr lang="ko-KR" altLang="en-US" i="1"/>
              <a:t>어트리뷰트</a:t>
            </a:r>
            <a:r>
              <a:rPr lang="en-US" altLang="ko-KR" i="1"/>
              <a:t>, Assertion </a:t>
            </a:r>
            <a:r>
              <a:rPr lang="ko-KR" altLang="en-US" i="1"/>
              <a:t>제공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이게 </a:t>
            </a:r>
            <a:r>
              <a:rPr lang="ko-KR" altLang="en-US" b="1"/>
              <a:t>실제 테스트 문법</a:t>
            </a:r>
            <a:r>
              <a:rPr lang="ko-KR" altLang="en-US"/>
              <a:t>을 제공하는 프레임워크입니다</a:t>
            </a:r>
            <a:r>
              <a:rPr lang="en-US" altLang="ko-KR"/>
              <a:t>.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[Test]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Assert.AreEqual</a:t>
            </a:r>
            <a:r>
              <a:rPr lang="ko-KR" altLang="en-US"/>
              <a:t> 이런 게 다 여기서 나와요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vs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xUnit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표시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[Fact]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 테스트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       [Theory] + [InlineData]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  Constructor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       IDisposable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표시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인기도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널리 사용됨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이번 실습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NUnit</a:t>
            </a:r>
            <a:r>
              <a:rPr lang="ko-KR" altLang="en-US"/>
              <a:t>이냐 </a:t>
            </a:r>
            <a:r>
              <a:rPr lang="en-US" altLang="ko-KR"/>
              <a:t>xUnit</a:t>
            </a:r>
            <a:r>
              <a:rPr lang="ko-KR" altLang="en-US"/>
              <a:t>이냐는 </a:t>
            </a:r>
            <a:r>
              <a:rPr lang="ko-KR" altLang="en-US" b="1"/>
              <a:t>취향 차이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둘 다 훌륭한 프레임워크예요</a:t>
            </a:r>
            <a:r>
              <a:rPr lang="en-US" altLang="ko-KR"/>
              <a:t>.</a:t>
            </a:r>
          </a:p>
          <a:p>
            <a:r>
              <a:rPr lang="ko-KR" altLang="en-US"/>
              <a:t>회사에서 이미 쓰는 게 있다면 그거 쓰시면 되고</a:t>
            </a:r>
            <a:r>
              <a:rPr lang="en-US" altLang="ko-KR"/>
              <a:t>, </a:t>
            </a:r>
            <a:r>
              <a:rPr lang="ko-KR" altLang="en-US"/>
              <a:t>새로 시작한다면 아무거나 선택해도 괜찮습니다</a:t>
            </a:r>
            <a:r>
              <a:rPr lang="en-US" altLang="ko-KR"/>
              <a:t>.</a:t>
            </a:r>
          </a:p>
          <a:p>
            <a:r>
              <a:rPr lang="ko-KR" altLang="en-US"/>
              <a:t>우리 실습에서는 </a:t>
            </a:r>
            <a:r>
              <a:rPr lang="en-US" altLang="ko-KR" b="1"/>
              <a:t>NUnit</a:t>
            </a:r>
            <a:r>
              <a:rPr lang="ko-KR" altLang="en-US"/>
              <a:t>을 사용할 거예요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NUnit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xUnit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[Fact]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Assert.Equal(5, calc.Add(2, 3));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Assert.AreEqual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Assert.Equal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어댑터 🔌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어댑터**입니다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"VS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(NUnit3TestAdapter, xunit.runner.visualstudio)"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이게 뭐냐면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**프레임워크와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연결**해주는 다리 역할입니다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어댑터 역할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┌──────────────┐         ┌──────────────┐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│         │ xUnit        │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│         │ [Fact]       │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└──────┬───────┘         └──────┬───────┘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│                        │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▼                        ▼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┌──────────────┐         ┌──────────────────────┐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NUnit3Test   │         │ xunit.runner.        │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Adapter      │         │ visualstudio         │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└──────┬───────┘         └──────┬───────────────┘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│                        │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└────────────┬───────────┘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▼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┌─────────────────┐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│  Test Explorer  │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│  (Visual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Studio)│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└─────────────────┘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어댑터가 없으면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테스트가 안 보임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찾을 수 없습니다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어댑터가 없으면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테스트가 안 보여요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작성했는데 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안 나오지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이러면 **어댑터 설치 확인**하세요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쓰면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`NUnit3TestAdapter`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쓰면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`xunit.runner.visualstudio`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Coverlet.collector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시 코드 커버리지 데이터 자동 수집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 커버리지가 뭐였죠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테스트가 코드를 **얼마나 커버**하는가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측정하는 거예요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Coverlet.collector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실행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▼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어떤 코드 라인을 실행했는지 추적 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✓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실행됨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✓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실행됨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✗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실행 안됨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▼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📊 커버리지 리포트 생성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코드의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테스트됨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나중에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7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 커버리지** 시간에 자세히 다룰 거예요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지금은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측정하려면 이 패키지 필요하구나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정도만 알아두세요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관리 명령어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**패키지 관리** 명령어가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템플릿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dotnet new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xunit"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솔루션 복원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dotnet restore"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쓰는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📁 프로젝트 생성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-n MyApp.Tests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MyApp.Tests)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-n MyApp.Tests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생성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패키지 관리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restore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복원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Moq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패키지 추가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▶️ 테스트 실행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커버리지 수집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작업하실 때 유용한 명령어들이에요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`dotnet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프로젝트 한 방에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`dotnet restore`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받았을 때 패키지 복원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`dotnet test`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쓰고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Code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**로 개발하시는 분들은 이 명령어들 많이 쓰실 거예요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패키지 관계도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패키지 구조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┌─────────────────────┐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Studio     │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  Test Explorer     │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└──────────┬──────────┘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│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┌──────────▼──────────┐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Microsoft.NET.Test  │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엔진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.Sdk                │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└──────────┬──────────┘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│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┌────────────────┼────────────────┐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             │                │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┌──────────▼──────┐  ┌──────▼──────┐  ┌─────▼───────┐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NUnit3Test      │  │   NUnit     │  │  Coverlet.  │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Adapter         │  │   /xUnit    │  │  collector  │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(VS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│  │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│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└─────────────────┘  └─────────────┘  └─────────────┘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개가 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하나라도 빠지면 문제 발생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필요한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 패키지**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Microsoft.NET.Test.Sdk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엔진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문법 제공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**테스트 어댑터**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연결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보이면 이거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커버리지 측정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가지가 **세트**입니다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안 돌아가면 **이 중 하나가 빠진 건 아닌지** 확인해보세요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실제 테스트 코드를 작성해보겠습니다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우리가 사용할 테스트 프레임워크 </a:t>
            </a:r>
            <a:r>
              <a:rPr lang="en-US" altLang="ko-KR" b="1"/>
              <a:t>NUnit</a:t>
            </a:r>
            <a:r>
              <a:rPr lang="ko-KR" altLang="en-US"/>
              <a:t>을 자세히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왜 </a:t>
            </a:r>
            <a:r>
              <a:rPr lang="en-US" altLang="ko-KR"/>
              <a:t>NUnit</a:t>
            </a:r>
            <a:r>
              <a:rPr lang="ko-KR" altLang="en-US"/>
              <a:t>이에요</a:t>
            </a:r>
            <a:r>
              <a:rPr lang="en-US" altLang="ko-KR"/>
              <a:t>? xUnit</a:t>
            </a:r>
            <a:r>
              <a:rPr lang="ko-KR" altLang="en-US"/>
              <a:t>은 안 써요</a:t>
            </a:r>
            <a:r>
              <a:rPr lang="en-US" altLang="ko-KR"/>
              <a:t>?"</a:t>
            </a:r>
          </a:p>
          <a:p>
            <a:r>
              <a:rPr lang="ko-KR" altLang="en-US"/>
              <a:t>둘 다 좋은 프레임워크인데</a:t>
            </a:r>
            <a:r>
              <a:rPr lang="en-US" altLang="ko-KR"/>
              <a:t>, NUnit</a:t>
            </a:r>
            <a:r>
              <a:rPr lang="ko-KR" altLang="en-US"/>
              <a:t>이 </a:t>
            </a:r>
            <a:r>
              <a:rPr lang="ko-KR" altLang="en-US" b="1"/>
              <a:t>어트리뷰트가 더 직관적</a:t>
            </a:r>
            <a:r>
              <a:rPr lang="ko-KR" altLang="en-US"/>
              <a:t>이고 </a:t>
            </a:r>
            <a:r>
              <a:rPr lang="ko-KR" altLang="en-US" b="1"/>
              <a:t>학습하기 쉬워서</a:t>
            </a:r>
            <a:r>
              <a:rPr lang="ko-KR" altLang="en-US"/>
              <a:t> 선택했습니다</a:t>
            </a:r>
            <a:r>
              <a:rPr lang="en-US" altLang="ko-KR"/>
              <a:t>. xUnit </a:t>
            </a:r>
            <a:r>
              <a:rPr lang="ko-KR" altLang="en-US"/>
              <a:t>쓰시는 분들도 개념은 똑같으니 걱정 마세요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개요</a:t>
            </a:r>
          </a:p>
          <a:p>
            <a:r>
              <a:rPr lang="ko-KR" altLang="en-US"/>
              <a:t>상단에 </a:t>
            </a:r>
            <a:r>
              <a:rPr lang="ko-KR" altLang="en-US" b="1"/>
              <a:t>개요</a:t>
            </a:r>
            <a:r>
              <a:rPr lang="ko-KR" altLang="en-US"/>
              <a:t>가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"NUnit</a:t>
            </a:r>
            <a:r>
              <a:rPr lang="ko-KR" altLang="en-US" i="1"/>
              <a:t>은 </a:t>
            </a:r>
            <a:r>
              <a:rPr lang="en-US" altLang="ko-KR" i="1"/>
              <a:t>.NET </a:t>
            </a:r>
            <a:r>
              <a:rPr lang="ko-KR" altLang="en-US" i="1"/>
              <a:t>플랫폼을 위한 오픈소스 단위 테스트 프레임워크로</a:t>
            </a:r>
            <a:r>
              <a:rPr lang="en-US" altLang="ko-KR" i="1"/>
              <a:t>, </a:t>
            </a:r>
            <a:r>
              <a:rPr lang="ko-KR" altLang="en-US" i="1"/>
              <a:t>성숙한 생태계와 풍부한 어트리뷰트 기반 테스트 기능을 제공합니다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핵심 포인트 세 가지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특징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누구나 자유롭게 사용 가능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성숙한 생태계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년부터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문서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커뮤니티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플러그인 풍부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기반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[Test], 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표시로 테스트 정의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코드가 읽기 쉽고 직관적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NUnit</a:t>
            </a:r>
            <a:r>
              <a:rPr lang="ko-KR" altLang="en-US"/>
              <a:t>은 </a:t>
            </a:r>
            <a:r>
              <a:rPr lang="en-US" altLang="ko-KR" b="1"/>
              <a:t>JUnit</a:t>
            </a:r>
            <a:r>
              <a:rPr lang="en-US" altLang="ko-KR"/>
              <a:t>(Java)</a:t>
            </a:r>
            <a:r>
              <a:rPr lang="ko-KR" altLang="en-US"/>
              <a:t>에서 영감을 받아 만들어졌어요</a:t>
            </a:r>
            <a:r>
              <a:rPr lang="en-US" altLang="ko-KR"/>
              <a:t>. </a:t>
            </a:r>
            <a:r>
              <a:rPr lang="ko-KR" altLang="en-US"/>
              <a:t>그래서 </a:t>
            </a:r>
            <a:r>
              <a:rPr lang="en-US" altLang="ko-KR"/>
              <a:t>Java</a:t>
            </a:r>
            <a:r>
              <a:rPr lang="ko-KR" altLang="en-US"/>
              <a:t>에서 테스트 해보신 분들은 익숙하실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풍부한 어트리뷰트 🏷️</a:t>
            </a:r>
          </a:p>
          <a:p>
            <a:r>
              <a:rPr lang="ko-KR" altLang="en-US"/>
              <a:t>첫 번째 특징</a:t>
            </a:r>
            <a:r>
              <a:rPr lang="en-US" altLang="ko-KR"/>
              <a:t>, </a:t>
            </a:r>
            <a:r>
              <a:rPr lang="ko-KR" altLang="en-US" b="1"/>
              <a:t>풍부한 어트리뷰트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"[TestCase], [SetUp], [TearDown], [Category] </a:t>
            </a:r>
            <a:r>
              <a:rPr lang="ko-KR" altLang="en-US" i="1"/>
              <a:t>등 테스트 구성과 실행을 유연하게 제어합니다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 b="1"/>
              <a:t>어트리뷰트</a:t>
            </a:r>
            <a:r>
              <a:rPr lang="ko-KR" altLang="en-US"/>
              <a:t>가 뭐냐면</a:t>
            </a:r>
            <a:r>
              <a:rPr lang="en-US" altLang="ko-KR"/>
              <a:t>, </a:t>
            </a:r>
            <a:r>
              <a:rPr lang="ko-KR" altLang="en-US"/>
              <a:t>대괄호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 ]</a:t>
            </a:r>
            <a:r>
              <a:rPr lang="ko-KR" altLang="en-US"/>
              <a:t> 안에 쓰는 표시예요</a:t>
            </a:r>
            <a:r>
              <a:rPr lang="en-US" altLang="ko-KR"/>
              <a:t>. "</a:t>
            </a:r>
            <a:r>
              <a:rPr lang="ko-KR" altLang="en-US"/>
              <a:t>이 메서드는 테스트야</a:t>
            </a:r>
            <a:r>
              <a:rPr lang="en-US" altLang="ko-KR"/>
              <a:t>", "</a:t>
            </a:r>
            <a:r>
              <a:rPr lang="ko-KR" altLang="en-US"/>
              <a:t>이건 초기화야</a:t>
            </a:r>
            <a:r>
              <a:rPr lang="en-US" altLang="ko-KR"/>
              <a:t>" </a:t>
            </a:r>
            <a:r>
              <a:rPr lang="ko-KR" altLang="en-US"/>
              <a:t>이렇게 알려주는 거죠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주요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기본 어트리뷰트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클래스임을 표시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메서드임을 표시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[TearDown]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후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고급 어트리뷰트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입력값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분류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[Ignore]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일시 제외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[Timeout]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설정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코드로 보면 이해가 빠를 거예요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클래스는 테스트 모음이야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전에 이거 실행해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테스트야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Assert.AreEqual(5, _calc.Add(2,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[TestCase(1, 2, 3)]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1, 2 →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[TestCase(0, 0, 0)]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0, 0 →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[TestCase(-1, 1, 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-1, 1 →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Add_WithTestCases_ReturnsExpected(int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Assert.AreEqual(expected, _calc.Add(a,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후에 이거 실행해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[TestCase]</a:t>
            </a:r>
            <a:r>
              <a:rPr lang="ko-KR" altLang="en-US"/>
              <a:t>가 특히 강력해요</a:t>
            </a:r>
            <a:r>
              <a:rPr lang="en-US" altLang="ko-KR"/>
              <a:t>. </a:t>
            </a:r>
            <a:r>
              <a:rPr lang="ko-KR" altLang="en-US"/>
              <a:t>하나의 테스트 메서드로 </a:t>
            </a:r>
            <a:r>
              <a:rPr lang="ko-KR" altLang="en-US" b="1"/>
              <a:t>여러 입력값</a:t>
            </a:r>
            <a:r>
              <a:rPr lang="ko-KR" altLang="en-US"/>
              <a:t>을 테스트할 수 있습니다</a:t>
            </a:r>
            <a:r>
              <a:rPr lang="en-US" altLang="ko-KR"/>
              <a:t>. </a:t>
            </a:r>
            <a:r>
              <a:rPr lang="ko-KR" altLang="en-US"/>
              <a:t>코드 중복이 확 줄어들어요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확장성과 통합성 ⚙️</a:t>
            </a:r>
          </a:p>
          <a:p>
            <a:r>
              <a:rPr lang="ko-KR" altLang="en-US"/>
              <a:t>두 번째 특징</a:t>
            </a:r>
            <a:r>
              <a:rPr lang="en-US" altLang="ko-KR"/>
              <a:t>, </a:t>
            </a:r>
            <a:r>
              <a:rPr lang="ko-KR" altLang="en-US" b="1"/>
              <a:t>확장성과 통합성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"Visual Studio, Rider</a:t>
            </a:r>
            <a:r>
              <a:rPr lang="ko-KR" altLang="en-US" i="1"/>
              <a:t>와 쉽게 통합되며</a:t>
            </a:r>
            <a:r>
              <a:rPr lang="en-US" altLang="ko-KR" i="1"/>
              <a:t>, CI/CD </a:t>
            </a:r>
            <a:r>
              <a:rPr lang="ko-KR" altLang="en-US" i="1"/>
              <a:t>파이프라인과 연동이 용이합니다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NUnit</a:t>
            </a:r>
            <a:r>
              <a:rPr lang="ko-KR" altLang="en-US"/>
              <a:t>은 </a:t>
            </a:r>
            <a:r>
              <a:rPr lang="ko-KR" altLang="en-US" b="1"/>
              <a:t>어디서든</a:t>
            </a:r>
            <a:r>
              <a:rPr lang="ko-KR" altLang="en-US"/>
              <a:t> 잘 돌아갑니다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환경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💻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Visual Studio → Test Explorer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JetBrains Rider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지원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VS Code → .NET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GitHub Actions → dotnet test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Azure DevOps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지원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Jenkins →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플러그인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📊 리포팅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XML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출력 → 다양한 도구와 연동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통합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Visual Studio</a:t>
            </a:r>
            <a:r>
              <a:rPr lang="ko-KR" altLang="en-US"/>
              <a:t>에서 </a:t>
            </a:r>
            <a:r>
              <a:rPr lang="en-US" altLang="ko-KR"/>
              <a:t>Test Explorer</a:t>
            </a:r>
            <a:r>
              <a:rPr lang="ko-KR" altLang="en-US"/>
              <a:t>로 바로 보이고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test</a:t>
            </a:r>
            <a:r>
              <a:rPr lang="ko-KR" altLang="en-US"/>
              <a:t> 명령어 하나로 </a:t>
            </a:r>
            <a:r>
              <a:rPr lang="en-US" altLang="ko-KR"/>
              <a:t>CI/CD</a:t>
            </a:r>
            <a:r>
              <a:rPr lang="ko-KR" altLang="en-US"/>
              <a:t>에서 실행되고</a:t>
            </a:r>
            <a:r>
              <a:rPr lang="en-US" altLang="ko-KR"/>
              <a:t>, </a:t>
            </a:r>
            <a:r>
              <a:rPr lang="ko-KR" altLang="en-US"/>
              <a:t>결과 리포트도 자동 생성됩니다</a:t>
            </a:r>
            <a:r>
              <a:rPr lang="en-US" altLang="ko-KR"/>
              <a:t>.</a:t>
            </a:r>
          </a:p>
          <a:p>
            <a:r>
              <a:rPr lang="ko-KR" altLang="en-US"/>
              <a:t>이런 </a:t>
            </a:r>
            <a:r>
              <a:rPr lang="ko-KR" altLang="en-US" b="1"/>
              <a:t>통합성</a:t>
            </a:r>
            <a:r>
              <a:rPr lang="ko-KR" altLang="en-US"/>
              <a:t> 때문에 실무에서 많이 쓰이는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구조화 🏗️</a:t>
            </a:r>
          </a:p>
          <a:p>
            <a:r>
              <a:rPr lang="ko-KR" altLang="en-US"/>
              <a:t>세 번째 특징</a:t>
            </a:r>
            <a:r>
              <a:rPr lang="en-US" altLang="ko-KR"/>
              <a:t>, </a:t>
            </a:r>
            <a:r>
              <a:rPr lang="ko-KR" altLang="en-US" b="1"/>
              <a:t>테스트 구조화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복잡한 테스트 시나리오를 </a:t>
            </a:r>
            <a:r>
              <a:rPr lang="en-US" altLang="ko-KR" i="1"/>
              <a:t>TestFixture</a:t>
            </a:r>
            <a:r>
              <a:rPr lang="ko-KR" altLang="en-US" i="1"/>
              <a:t>와 매개변수화된 테스트로 효율적 구성 가능합니다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테스트가 많아지면 </a:t>
            </a:r>
            <a:r>
              <a:rPr lang="ko-KR" altLang="en-US" b="1"/>
              <a:t>정리</a:t>
            </a:r>
            <a:r>
              <a:rPr lang="ko-KR" altLang="en-US"/>
              <a:t>가 중요해요</a:t>
            </a:r>
            <a:r>
              <a:rPr lang="en-US" altLang="ko-KR"/>
              <a:t>. NUnit</a:t>
            </a:r>
            <a:r>
              <a:rPr lang="ko-KR" altLang="en-US"/>
              <a:t>은 이걸 잘 지원합니다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구조화 예시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Calculator.Tests/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AddTests.cs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[TestFixture] AddTests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├── [Test] Add_PositiveNumbers_ReturnsSum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├── [Test] Add_NegativeNumbers_ReturnsSum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└── [TestCase] Add_WithVariousInputs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SubtractTests.cs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[TestFixture] SubtractTests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└── ...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DivideTests.cs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[TestFixture] DivideTests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├── [Test] Divide_ByNonZero_ReturnsResult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└── [Test] Divide_ByZero_ThrowsException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기능별로 파일 분리 → 찾기 쉽고 관리 편함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TestFixture</a:t>
            </a:r>
            <a:r>
              <a:rPr lang="en-US" altLang="ko-KR"/>
              <a:t>(</a:t>
            </a:r>
            <a:r>
              <a:rPr lang="ko-KR" altLang="en-US"/>
              <a:t>테스트 클래스</a:t>
            </a:r>
            <a:r>
              <a:rPr lang="en-US" altLang="ko-KR"/>
              <a:t>)</a:t>
            </a:r>
            <a:r>
              <a:rPr lang="ko-KR" altLang="en-US"/>
              <a:t>별로 파일을 나누고</a:t>
            </a:r>
            <a:r>
              <a:rPr lang="en-US" altLang="ko-KR"/>
              <a:t>, </a:t>
            </a:r>
            <a:r>
              <a:rPr lang="en-US" altLang="ko-KR" b="1"/>
              <a:t>Category</a:t>
            </a:r>
            <a:r>
              <a:rPr lang="ko-KR" altLang="en-US"/>
              <a:t>로 그룹핑하면 테스트 수백 개도 깔끔하게 관리됩니다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[Category("Calculator")]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카테고리로 그룹핑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[Category("Math")]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[Category("Positive")]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세부 카테고리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Add_PositiveNumbers_ReturnsSum() {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[Category("Negative")]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Add_NegativeNumbers_ReturnsSum() {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Test Explorer</a:t>
            </a:r>
            <a:r>
              <a:rPr lang="ko-KR" altLang="en-US"/>
              <a:t>에서 카테고리별로 </a:t>
            </a:r>
            <a:r>
              <a:rPr lang="ko-KR" altLang="en-US" b="1"/>
              <a:t>필터링</a:t>
            </a:r>
            <a:r>
              <a:rPr lang="ko-KR" altLang="en-US"/>
              <a:t> 가능해요</a:t>
            </a:r>
            <a:r>
              <a:rPr lang="en-US" altLang="ko-KR"/>
              <a:t>. "Math </a:t>
            </a:r>
            <a:r>
              <a:rPr lang="ko-KR" altLang="en-US"/>
              <a:t>관련 테스트만 돌려볼까</a:t>
            </a:r>
            <a:r>
              <a:rPr lang="en-US" altLang="ko-KR"/>
              <a:t>?" </a:t>
            </a:r>
            <a:r>
              <a:rPr lang="ko-KR" altLang="en-US"/>
              <a:t>이렇게요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설치 방법 📥</a:t>
            </a:r>
          </a:p>
          <a:p>
            <a:r>
              <a:rPr lang="ko-KR" altLang="en-US"/>
              <a:t>하단에 </a:t>
            </a:r>
            <a:r>
              <a:rPr lang="ko-KR" altLang="en-US" b="1"/>
              <a:t>설치 방법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/>
              <a:t>CLI</a:t>
            </a:r>
            <a:r>
              <a:rPr lang="ko-KR" altLang="en-US"/>
              <a:t>로 설치하는 명령어예요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및 어댑터 설치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NUnit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NUnit3TestAdapter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Microsoft.NET.Test.Sdk</a:t>
            </a:r>
          </a:p>
          <a:p>
            <a:r>
              <a:rPr lang="ko-KR" altLang="en-US"/>
              <a:t>하나씩 설명드릴게요</a:t>
            </a:r>
            <a:r>
              <a:rPr lang="en-US" altLang="ko-KR"/>
              <a:t>.</a:t>
            </a:r>
          </a:p>
          <a:p>
            <a:r>
              <a:rPr lang="en-US" altLang="ko-KR" b="1"/>
              <a:t>dotnet add package NUnit</a:t>
            </a:r>
            <a:r>
              <a:rPr lang="ko-KR" altLang="en-US"/>
              <a:t> → </a:t>
            </a:r>
            <a:r>
              <a:rPr lang="en-US" altLang="ko-KR"/>
              <a:t>NUnit </a:t>
            </a:r>
            <a:r>
              <a:rPr lang="ko-KR" altLang="en-US"/>
              <a:t>프레임워크 본체</a:t>
            </a:r>
            <a:r>
              <a:rPr lang="en-US" altLang="ko-KR"/>
              <a:t>. [Test], Assert </a:t>
            </a:r>
            <a:r>
              <a:rPr lang="ko-KR" altLang="en-US"/>
              <a:t>등을 사용하려면 필요</a:t>
            </a:r>
            <a:r>
              <a:rPr lang="en-US" altLang="ko-KR"/>
              <a:t>.</a:t>
            </a:r>
          </a:p>
          <a:p>
            <a:r>
              <a:rPr lang="en-US" altLang="ko-KR" b="1"/>
              <a:t>dotnet add package NUnit3TestAdapter</a:t>
            </a:r>
            <a:r>
              <a:rPr lang="ko-KR" altLang="en-US"/>
              <a:t> → </a:t>
            </a:r>
            <a:r>
              <a:rPr lang="en-US" altLang="ko-KR"/>
              <a:t>Visual Studio Test Explorer</a:t>
            </a:r>
            <a:r>
              <a:rPr lang="ko-KR" altLang="en-US"/>
              <a:t>와 연결</a:t>
            </a:r>
            <a:r>
              <a:rPr lang="en-US" altLang="ko-KR"/>
              <a:t>. </a:t>
            </a:r>
            <a:r>
              <a:rPr lang="ko-KR" altLang="en-US"/>
              <a:t>이거 없으면 테스트 안 보임</a:t>
            </a:r>
            <a:r>
              <a:rPr lang="en-US" altLang="ko-KR"/>
              <a:t>!</a:t>
            </a:r>
          </a:p>
          <a:p>
            <a:r>
              <a:rPr lang="en-US" altLang="ko-KR" b="1"/>
              <a:t>dotnet add package Microsoft.NET.Test.Sdk</a:t>
            </a:r>
            <a:r>
              <a:rPr lang="ko-KR" altLang="en-US"/>
              <a:t> → 테스트 실행 엔진</a:t>
            </a:r>
            <a:r>
              <a:rPr lang="en-US" altLang="ko-KR"/>
              <a:t>. </a:t>
            </a:r>
            <a:r>
              <a:rPr lang="ko-KR" altLang="en-US"/>
              <a:t>필수</a:t>
            </a:r>
            <a:r>
              <a:rPr lang="en-US" altLang="ko-KR"/>
              <a:t>!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설치 방법 정리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CLI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터미널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add package NUnit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add package NUnit3TestAdapter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add package Microsoft.NET.Test.Sdk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Visual Studio GUI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우클릭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관리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찾아보기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"NUnit"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 → 설치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템플릿으로 한 번에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추천 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new nunit -n MyApp.Tests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패키지가 자동으로 포함된 프로젝트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가장 쉬운 방법은 **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new nunit</a:t>
            </a:r>
            <a:r>
              <a:rPr lang="ko-KR" altLang="en-US"/>
              <a:t>**입니다</a:t>
            </a:r>
            <a:r>
              <a:rPr lang="en-US" altLang="ko-KR"/>
              <a:t>. </a:t>
            </a:r>
            <a:r>
              <a:rPr lang="ko-KR" altLang="en-US"/>
              <a:t>이러면 필요한 패키지가 </a:t>
            </a:r>
            <a:r>
              <a:rPr lang="ko-KR" altLang="en-US" b="1"/>
              <a:t>자동으로</a:t>
            </a:r>
            <a:r>
              <a:rPr lang="ko-KR" altLang="en-US"/>
              <a:t> 다 포함돼요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NUnit</a:t>
            </a:r>
            <a:r>
              <a:rPr lang="ko-KR" altLang="en-US"/>
              <a:t>은</a:t>
            </a:r>
          </a:p>
          <a:p>
            <a:r>
              <a:rPr lang="ko-KR" altLang="en-US"/>
              <a:t>✅ </a:t>
            </a:r>
            <a:r>
              <a:rPr lang="ko-KR" altLang="en-US" b="1"/>
              <a:t>풍부한 어트리뷰트</a:t>
            </a:r>
            <a:r>
              <a:rPr lang="ko-KR" altLang="en-US"/>
              <a:t> </a:t>
            </a:r>
            <a:r>
              <a:rPr lang="en-US" altLang="ko-KR"/>
              <a:t>- [Test], [SetUp], [TestCase] </a:t>
            </a:r>
            <a:r>
              <a:rPr lang="ko-KR" altLang="en-US"/>
              <a:t>등 ✅ </a:t>
            </a:r>
            <a:r>
              <a:rPr lang="ko-KR" altLang="en-US" b="1"/>
              <a:t>확장성과 통합성</a:t>
            </a:r>
            <a:r>
              <a:rPr lang="ko-KR" altLang="en-US"/>
              <a:t> </a:t>
            </a:r>
            <a:r>
              <a:rPr lang="en-US" altLang="ko-KR"/>
              <a:t>- VS, Rider, CI/CD </a:t>
            </a:r>
            <a:r>
              <a:rPr lang="ko-KR" altLang="en-US"/>
              <a:t>어디서든 </a:t>
            </a:r>
            <a:r>
              <a:rPr lang="en-US" altLang="ko-KR"/>
              <a:t>OK ✅ </a:t>
            </a:r>
            <a:r>
              <a:rPr lang="ko-KR" altLang="en-US" b="1"/>
              <a:t>테스트 구조화</a:t>
            </a:r>
            <a:r>
              <a:rPr lang="ko-KR" altLang="en-US"/>
              <a:t> </a:t>
            </a:r>
            <a:r>
              <a:rPr lang="en-US" altLang="ko-KR"/>
              <a:t>- TestFixture, Category</a:t>
            </a:r>
            <a:r>
              <a:rPr lang="ko-KR" altLang="en-US"/>
              <a:t>로 깔끔하게 정리</a:t>
            </a:r>
          </a:p>
          <a:p>
            <a:r>
              <a:rPr lang="ko-KR" altLang="en-US" b="1"/>
              <a:t>설치는 간단합니다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nunit -n MyApp.Tests</a:t>
            </a:r>
          </a:p>
          <a:p>
            <a:r>
              <a:rPr lang="ko-KR" altLang="en-US"/>
              <a:t>또는 패키지 </a:t>
            </a:r>
            <a:r>
              <a:rPr lang="en-US" altLang="ko-KR"/>
              <a:t>3</a:t>
            </a:r>
            <a:r>
              <a:rPr lang="ko-KR" altLang="en-US"/>
              <a:t>개 설치</a:t>
            </a:r>
            <a:r>
              <a:rPr lang="en-US" altLang="ko-KR"/>
              <a:t>:</a:t>
            </a:r>
          </a:p>
          <a:p>
            <a:r>
              <a:rPr lang="en-US" altLang="ko-KR"/>
              <a:t>NUnit</a:t>
            </a:r>
          </a:p>
          <a:p>
            <a:r>
              <a:rPr lang="en-US" altLang="ko-KR"/>
              <a:t>NUnit3TestAdapter</a:t>
            </a:r>
          </a:p>
          <a:p>
            <a:r>
              <a:rPr lang="en-US" altLang="ko-KR"/>
              <a:t>Microsoft.NET.Test.Sdk</a:t>
            </a:r>
          </a:p>
          <a:p>
            <a:r>
              <a:rPr lang="ko-KR" altLang="en-US"/>
              <a:t>다음 시간에 실제로 </a:t>
            </a:r>
            <a:r>
              <a:rPr lang="en-US" altLang="ko-KR"/>
              <a:t>NUnit </a:t>
            </a:r>
            <a:r>
              <a:rPr lang="ko-KR" altLang="en-US"/>
              <a:t>테스트 코드를 작성해보겠습니다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NUnit</a:t>
            </a:r>
            <a:r>
              <a:rPr lang="ko-KR" altLang="en-US"/>
              <a:t>을 살펴봤으니 이번에는 </a:t>
            </a:r>
            <a:r>
              <a:rPr lang="en-US" altLang="ko-KR" b="1"/>
              <a:t>xUnit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xUnit</a:t>
            </a:r>
            <a:r>
              <a:rPr lang="ko-KR" altLang="en-US"/>
              <a:t>은 </a:t>
            </a:r>
            <a:r>
              <a:rPr lang="ko-KR" altLang="en-US" b="1"/>
              <a:t>마이크로소프트에서 권장</a:t>
            </a:r>
            <a:r>
              <a:rPr lang="ko-KR" altLang="en-US"/>
              <a:t>하는 테스트 프레임워크예요</a:t>
            </a:r>
            <a:r>
              <a:rPr lang="en-US" altLang="ko-KR"/>
              <a:t>. ASP.NET Core </a:t>
            </a:r>
            <a:r>
              <a:rPr lang="ko-KR" altLang="en-US"/>
              <a:t>공식 문서에서도 </a:t>
            </a:r>
            <a:r>
              <a:rPr lang="en-US" altLang="ko-KR"/>
              <a:t>xUnit</a:t>
            </a:r>
            <a:r>
              <a:rPr lang="ko-KR" altLang="en-US"/>
              <a:t>을 기본으로 사용합니다</a:t>
            </a:r>
            <a:r>
              <a:rPr lang="en-US" altLang="ko-KR"/>
              <a:t>.</a:t>
            </a:r>
          </a:p>
          <a:p>
            <a:r>
              <a:rPr lang="ko-KR" altLang="en-US"/>
              <a:t>우리 실습은 </a:t>
            </a:r>
            <a:r>
              <a:rPr lang="en-US" altLang="ko-KR"/>
              <a:t>NUnit</a:t>
            </a:r>
            <a:r>
              <a:rPr lang="ko-KR" altLang="en-US"/>
              <a:t>으로 하지만</a:t>
            </a:r>
            <a:r>
              <a:rPr lang="en-US" altLang="ko-KR"/>
              <a:t>, </a:t>
            </a:r>
            <a:r>
              <a:rPr lang="ko-KR" altLang="en-US"/>
              <a:t>실무에서 </a:t>
            </a:r>
            <a:r>
              <a:rPr lang="en-US" altLang="ko-KR"/>
              <a:t>xUnit </a:t>
            </a:r>
            <a:r>
              <a:rPr lang="ko-KR" altLang="en-US"/>
              <a:t>쓰는 팀도 많으니 </a:t>
            </a:r>
            <a:r>
              <a:rPr lang="ko-KR" altLang="en-US" b="1"/>
              <a:t>차이점</a:t>
            </a:r>
            <a:r>
              <a:rPr lang="ko-KR" altLang="en-US"/>
              <a:t>은 알아두셔야 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개요</a:t>
            </a:r>
          </a:p>
          <a:p>
            <a:r>
              <a:rPr lang="ko-KR" altLang="en-US"/>
              <a:t>상단의 </a:t>
            </a:r>
            <a:r>
              <a:rPr lang="ko-KR" altLang="en-US" b="1"/>
              <a:t>개요</a:t>
            </a:r>
            <a:r>
              <a:rPr lang="ko-KR" altLang="en-US"/>
              <a:t>를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"xUnit</a:t>
            </a:r>
            <a:r>
              <a:rPr lang="ko-KR" altLang="en-US" i="1"/>
              <a:t>은 </a:t>
            </a:r>
            <a:r>
              <a:rPr lang="en-US" altLang="ko-KR" i="1"/>
              <a:t>.NET Core </a:t>
            </a:r>
            <a:r>
              <a:rPr lang="ko-KR" altLang="en-US" i="1"/>
              <a:t>및 </a:t>
            </a:r>
            <a:r>
              <a:rPr lang="en-US" altLang="ko-KR" i="1"/>
              <a:t>.NET 5+ </a:t>
            </a:r>
            <a:r>
              <a:rPr lang="ko-KR" altLang="en-US" i="1"/>
              <a:t>환경에 최적화된 현대적인 단위 테스트 프레임워크입니다</a:t>
            </a:r>
            <a:r>
              <a:rPr lang="en-US" altLang="ko-KR" i="1"/>
              <a:t>. </a:t>
            </a:r>
            <a:r>
              <a:rPr lang="ko-KR" altLang="en-US" i="1"/>
              <a:t>오픈소스로 개발되었으며</a:t>
            </a:r>
            <a:r>
              <a:rPr lang="en-US" altLang="ko-KR" i="1"/>
              <a:t>, </a:t>
            </a:r>
            <a:r>
              <a:rPr lang="ko-KR" altLang="en-US" i="1"/>
              <a:t>심플하고 확장 가능한 디자인을 갖고 있어 마이크로소프트에서도 권장하는 테스트 프레임워크입니다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핵심 키워드 세 가지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키워드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.NET Core/.NET 5+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최신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 맞게 설계됨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크로스 플랫폼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(Windows, Mac, Linux)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심플한 디자인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어트리뷰트가 적음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(Convention)"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중심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마이크로소프트 권장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ASP.NET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 템플릿에 포함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내부에서도 사용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xUnit</a:t>
            </a:r>
            <a:r>
              <a:rPr lang="ko-KR" altLang="en-US"/>
              <a:t>은 </a:t>
            </a:r>
            <a:r>
              <a:rPr lang="en-US" altLang="ko-KR"/>
              <a:t>NUnit</a:t>
            </a:r>
            <a:r>
              <a:rPr lang="ko-KR" altLang="en-US"/>
              <a:t>의 창시자 중 한 명이 **</a:t>
            </a:r>
            <a:r>
              <a:rPr lang="en-US" altLang="ko-KR"/>
              <a:t>"NUnit</a:t>
            </a:r>
            <a:r>
              <a:rPr lang="ko-KR" altLang="en-US"/>
              <a:t>을 다시 만든다면</a:t>
            </a:r>
            <a:r>
              <a:rPr lang="en-US" altLang="ko-KR"/>
              <a:t>?"**</a:t>
            </a:r>
            <a:r>
              <a:rPr lang="ko-KR" altLang="en-US"/>
              <a:t>이라는 생각으로 만든 프레임워크예요</a:t>
            </a:r>
            <a:r>
              <a:rPr lang="en-US" altLang="ko-KR"/>
              <a:t>. </a:t>
            </a:r>
            <a:r>
              <a:rPr lang="ko-KR" altLang="en-US"/>
              <a:t>그래서 </a:t>
            </a:r>
            <a:r>
              <a:rPr lang="ko-KR" altLang="en-US" b="1"/>
              <a:t>더 현대적</a:t>
            </a:r>
            <a:r>
              <a:rPr lang="ko-KR" altLang="en-US"/>
              <a:t>이고 </a:t>
            </a:r>
            <a:r>
              <a:rPr lang="ko-KR" altLang="en-US" b="1"/>
              <a:t>더 단순</a:t>
            </a:r>
            <a:r>
              <a:rPr lang="ko-KR" altLang="en-US"/>
              <a:t>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현대적 특징 🌐</a:t>
            </a:r>
          </a:p>
          <a:p>
            <a:r>
              <a:rPr lang="ko-KR" altLang="en-US"/>
              <a:t>첫 번째 특징</a:t>
            </a:r>
            <a:r>
              <a:rPr lang="en-US" altLang="ko-KR"/>
              <a:t>, </a:t>
            </a:r>
            <a:r>
              <a:rPr lang="ko-KR" altLang="en-US" b="1"/>
              <a:t>현대적 특징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생성자 기반 테스트 픽스처</a:t>
            </a:r>
            <a:r>
              <a:rPr lang="en-US" altLang="ko-KR" i="1"/>
              <a:t>, [Fact]/[Theory] </a:t>
            </a:r>
            <a:r>
              <a:rPr lang="ko-KR" altLang="en-US" i="1"/>
              <a:t>어트리뷰트 방식의 간결한 구문 제공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xUnit</a:t>
            </a:r>
            <a:r>
              <a:rPr lang="ko-KR" altLang="en-US"/>
              <a:t>의 가장 큰 차이점은 </a:t>
            </a:r>
            <a:r>
              <a:rPr lang="en-US" altLang="ko-KR" b="1"/>
              <a:t>[SetUp]</a:t>
            </a:r>
            <a:r>
              <a:rPr lang="ko-KR" altLang="en-US" b="1"/>
              <a:t>이 없다</a:t>
            </a:r>
            <a:r>
              <a:rPr lang="ko-KR" altLang="en-US"/>
              <a:t>는 거예요</a:t>
            </a:r>
            <a:r>
              <a:rPr lang="en-US" altLang="ko-KR"/>
              <a:t>. </a:t>
            </a:r>
            <a:r>
              <a:rPr lang="ko-KR" altLang="en-US"/>
              <a:t>대신 **생성자</a:t>
            </a:r>
            <a:r>
              <a:rPr lang="en-US" altLang="ko-KR"/>
              <a:t>(Constructor)**</a:t>
            </a:r>
            <a:r>
              <a:rPr lang="ko-KR" altLang="en-US"/>
              <a:t>를 사용합니다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vs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xUnit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표시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인식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[Fact]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 테스트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        [Theory] + [InlineData]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   Constructor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        IDisposable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초기화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[OneTimeSetUp]     IClassFixture&lt;T&gt;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코드로 비교해볼게요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========== NUnit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Assert.AreEqual(5, _calc.Add(2,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========== xUnit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==========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IDisposable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TearDown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IDisposable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CalculatorTests()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SetUp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생성자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[Fact]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[Test]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[Fact]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Assert.Equal(5, _calc.Add(2, 3));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AreEqual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Dispose()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TearDown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보시면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문법**을 더 많이 활용해요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생성자로 초기화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IDisposable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배우기 싫다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 쓰고 싶다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하시는 분들은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더 편할 수 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[Fact] vs [Theory]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어트리뷰트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[Fact]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매개변수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[Fact]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Add_TwoAndThree_ReturnsFive()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Assert.Equal(5, calc.Add(2, 3));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[Theory]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파라미터화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입력값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[Theory]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[InlineData(2, 3, 5)]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[InlineData(0, 0, 0)]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[InlineData(-1, 1, 0)]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Add_WithVariousInputs_ReturnsExpected(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Assert.Equal(expected, calc.Add(a, b));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[TestCase]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[Theory]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[Fact]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사실이다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의미예요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이론적으로 이렇다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의미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데이터로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네이밍이 좀 철학적이죠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특징입니다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확장성 ⚙️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 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**확장성**입니다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테스트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주도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(DataAttribute)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 기능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IClassFixture&lt;T&gt;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테스트 클래스에 의존성 주입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ASP.NET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테스트에 유용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⚡ 병렬 테스트 기본 활성화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테스트가 기본적으로 병렬 실행됨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빠를 수 있음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독립성 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📊 데이터 소스 다양화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직접 입력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[MemberData]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프로퍼티에서 데이터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[ClassData]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별도 클래스에서 데이터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특히 </a:t>
            </a:r>
            <a:r>
              <a:rPr lang="ko-KR" altLang="en-US" b="1"/>
              <a:t>병렬 실행</a:t>
            </a:r>
            <a:r>
              <a:rPr lang="ko-KR" altLang="en-US"/>
              <a:t>이 기본 활성화되어 있어서 테스트가 많을 때 </a:t>
            </a:r>
            <a:r>
              <a:rPr lang="ko-KR" altLang="en-US" b="1"/>
              <a:t>속도가 빠릅니다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대신 테스트 간 </a:t>
            </a:r>
            <a:r>
              <a:rPr lang="ko-KR" altLang="en-US" b="1"/>
              <a:t>독립성</a:t>
            </a:r>
            <a:r>
              <a:rPr lang="ko-KR" altLang="en-US"/>
              <a:t>이 중요해요</a:t>
            </a:r>
            <a:r>
              <a:rPr lang="en-US" altLang="ko-KR"/>
              <a:t>. </a:t>
            </a:r>
            <a:r>
              <a:rPr lang="ko-KR" altLang="en-US"/>
              <a:t>공유 상태 있으면 </a:t>
            </a:r>
            <a:r>
              <a:rPr lang="en-US" altLang="ko-KR"/>
              <a:t>Flaky </a:t>
            </a:r>
            <a:r>
              <a:rPr lang="ko-KR" altLang="en-US"/>
              <a:t>테스트 됩니다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간편한 설치 📥</a:t>
            </a:r>
          </a:p>
          <a:p>
            <a:r>
              <a:rPr lang="ko-KR" altLang="en-US"/>
              <a:t>세 번째 특징</a:t>
            </a:r>
            <a:r>
              <a:rPr lang="en-US" altLang="ko-KR"/>
              <a:t>, </a:t>
            </a:r>
            <a:r>
              <a:rPr lang="ko-KR" altLang="en-US" b="1"/>
              <a:t>간편한 설치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"NuGet </a:t>
            </a:r>
            <a:r>
              <a:rPr lang="ko-KR" altLang="en-US" i="1"/>
              <a:t>패키지로 빠른 설치</a:t>
            </a:r>
            <a:r>
              <a:rPr lang="en-US" altLang="ko-KR" i="1"/>
              <a:t>, </a:t>
            </a:r>
            <a:r>
              <a:rPr lang="ko-KR" altLang="en-US" i="1"/>
              <a:t>최소한의 설정으로 테스트 시작 가능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설치는 </a:t>
            </a:r>
            <a:r>
              <a:rPr lang="en-US" altLang="ko-KR"/>
              <a:t>NUnit</a:t>
            </a:r>
            <a:r>
              <a:rPr lang="ko-KR" altLang="en-US"/>
              <a:t>과 비슷하게 간단합니다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설치 방법</a:t>
            </a:r>
          </a:p>
          <a:p>
            <a:r>
              <a:rPr lang="ko-KR" altLang="en-US"/>
              <a:t>하단에 </a:t>
            </a:r>
            <a:r>
              <a:rPr lang="ko-KR" altLang="en-US" b="1"/>
              <a:t>설치 방법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xunit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xunit.runner.visualstudio</a:t>
            </a:r>
          </a:p>
          <a:p>
            <a:r>
              <a:rPr lang="ko-KR" altLang="en-US"/>
              <a:t>또는 새 프로젝트 생성</a:t>
            </a:r>
            <a:r>
              <a:rPr lang="en-US" altLang="ko-KR"/>
              <a:t>: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xunit -n YourTestProject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정리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필수 패키지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                   →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본체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xunit.runner.visualstudio → VS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Microsoft.NET.Test.Sdk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엔진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🚀 가장 빠른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추천 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xunit -n MyApp.Tests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모든 패키지가 자동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`dotnet new xunit`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줄이면 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마찬가지로 템플릿 사용이 가장 편합니다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NUnit vs xUnit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비교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vs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가이드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선택하면 좋은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프로젝트가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중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[SetUp]/[TearDown]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명시적 표현 선호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더 많은 어트리뷰트 옵션 필요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테스트 코드 읽기 쉬움 중시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선택하면 좋은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프로젝트 시작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ASP.NET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마이크로소프트 권장 따르고 싶음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문법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IDisposable)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선호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병렬 실행으로 빠른 테스트 원함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결론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훌륭함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컨벤션 따르면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**xUnit**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✅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현대적 특징**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/IDisposable, [Fact]/[Theory]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✅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기본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✅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간편한 설치**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`dotnet new xunit`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**NUnit vs xUnit**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 더 좋냐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→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좋습니다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팀에서 쓰는 거 쓰세요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실습은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하지만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쓰는 회사 가시면 **금방 적응**하실 거예요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개념은 똑같고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이름만 다르니까요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넘어가겠습니다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.NET </a:t>
            </a:r>
            <a:r>
              <a:rPr lang="ko-KR" altLang="en-US"/>
              <a:t>테스트 프레임워크 </a:t>
            </a:r>
            <a:r>
              <a:rPr lang="en-US" altLang="ko-KR" b="1"/>
              <a:t>Big 3</a:t>
            </a:r>
            <a:r>
              <a:rPr lang="ko-KR" altLang="en-US"/>
              <a:t>를 한눈에 비교해보겠습니다</a:t>
            </a:r>
            <a:r>
              <a:rPr lang="en-US" altLang="ko-KR"/>
              <a:t>.</a:t>
            </a:r>
          </a:p>
          <a:p>
            <a:r>
              <a:rPr lang="en-US" altLang="ko-KR" b="1"/>
              <a:t>NUnit, xUnit, MSTest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 세 가지가 </a:t>
            </a:r>
            <a:r>
              <a:rPr lang="en-US" altLang="ko-KR"/>
              <a:t>.NET </a:t>
            </a:r>
            <a:r>
              <a:rPr lang="ko-KR" altLang="en-US"/>
              <a:t>세계의 대표 프레임워크입니다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뭘 써야 하나요</a:t>
            </a:r>
            <a:r>
              <a:rPr lang="en-US" altLang="ko-KR"/>
              <a:t>?" </a:t>
            </a:r>
            <a:r>
              <a:rPr lang="ko-KR" altLang="en-US"/>
              <a:t>가장 많이 받는 질문인데요</a:t>
            </a:r>
            <a:r>
              <a:rPr lang="en-US" altLang="ko-KR"/>
              <a:t>, </a:t>
            </a:r>
            <a:r>
              <a:rPr lang="ko-KR" altLang="en-US"/>
              <a:t>이 표 하나면 </a:t>
            </a:r>
            <a:r>
              <a:rPr lang="ko-KR" altLang="en-US" b="1"/>
              <a:t>선택 기준</a:t>
            </a:r>
            <a:r>
              <a:rPr lang="ko-KR" altLang="en-US"/>
              <a:t>이 명확해집니다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기본 개념 비교</a:t>
            </a:r>
          </a:p>
          <a:p>
            <a:r>
              <a:rPr lang="ko-KR" altLang="en-US"/>
              <a:t>첫 번째 행</a:t>
            </a:r>
            <a:r>
              <a:rPr lang="en-US" altLang="ko-KR"/>
              <a:t>, </a:t>
            </a:r>
            <a:r>
              <a:rPr lang="ko-KR" altLang="en-US" b="1"/>
              <a:t>기본 개념</a:t>
            </a:r>
            <a:r>
              <a:rPr lang="ko-KR" altLang="en-US"/>
              <a:t>부터 볼게요</a:t>
            </a:r>
            <a:r>
              <a:rPr lang="en-US" altLang="ko-KR"/>
              <a:t>.</a:t>
            </a:r>
          </a:p>
          <a:p>
            <a:r>
              <a:rPr lang="en-US" altLang="ko-KR" b="1"/>
              <a:t>NUnit</a:t>
            </a:r>
            <a:r>
              <a:rPr lang="ko-KR" altLang="en-US"/>
              <a:t> </a:t>
            </a:r>
            <a:r>
              <a:rPr lang="en-US" altLang="ko-KR"/>
              <a:t>- "JUnit </a:t>
            </a:r>
            <a:r>
              <a:rPr lang="ko-KR" altLang="en-US"/>
              <a:t>기반</a:t>
            </a:r>
            <a:r>
              <a:rPr lang="en-US" altLang="ko-KR"/>
              <a:t>, </a:t>
            </a:r>
            <a:r>
              <a:rPr lang="ko-KR" altLang="en-US"/>
              <a:t>오픈소스</a:t>
            </a:r>
            <a:r>
              <a:rPr lang="en-US" altLang="ko-KR"/>
              <a:t>, v1</a:t>
            </a:r>
            <a:r>
              <a:rPr lang="ko-KR" altLang="en-US"/>
              <a:t>부터 역사가 깊</a:t>
            </a:r>
            <a:r>
              <a:rPr lang="en-US" altLang="ko-KR"/>
              <a:t>" Java</a:t>
            </a:r>
            <a:r>
              <a:rPr lang="ko-KR" altLang="en-US"/>
              <a:t>의 </a:t>
            </a:r>
            <a:r>
              <a:rPr lang="en-US" altLang="ko-KR"/>
              <a:t>JUnit</a:t>
            </a:r>
            <a:r>
              <a:rPr lang="ko-KR" altLang="en-US"/>
              <a:t>을 </a:t>
            </a:r>
            <a:r>
              <a:rPr lang="en-US" altLang="ko-KR"/>
              <a:t>.NET</a:t>
            </a:r>
            <a:r>
              <a:rPr lang="ko-KR" altLang="en-US"/>
              <a:t>으로 가져온 거예요</a:t>
            </a:r>
            <a:r>
              <a:rPr lang="en-US" altLang="ko-KR"/>
              <a:t>. 2002</a:t>
            </a:r>
            <a:r>
              <a:rPr lang="ko-KR" altLang="en-US"/>
              <a:t>년부터 시작해서 </a:t>
            </a:r>
            <a:r>
              <a:rPr lang="en-US" altLang="ko-KR" b="1"/>
              <a:t>20</a:t>
            </a:r>
            <a:r>
              <a:rPr lang="ko-KR" altLang="en-US" b="1"/>
              <a:t>년 넘는 역사</a:t>
            </a:r>
            <a:r>
              <a:rPr lang="ko-KR" altLang="en-US"/>
              <a:t>가 있습니다</a:t>
            </a:r>
            <a:r>
              <a:rPr lang="en-US" altLang="ko-KR"/>
              <a:t>.</a:t>
            </a:r>
          </a:p>
          <a:p>
            <a:r>
              <a:rPr lang="en-US" altLang="ko-KR" b="1"/>
              <a:t>xUnit</a:t>
            </a:r>
            <a:r>
              <a:rPr lang="ko-KR" altLang="en-US"/>
              <a:t> </a:t>
            </a:r>
            <a:r>
              <a:rPr lang="en-US" altLang="ko-KR"/>
              <a:t>- "NUnit </a:t>
            </a:r>
            <a:r>
              <a:rPr lang="ko-KR" altLang="en-US"/>
              <a:t>창시자가 개발한 최신형</a:t>
            </a:r>
            <a:r>
              <a:rPr lang="en-US" altLang="ko-KR"/>
              <a:t>, </a:t>
            </a:r>
            <a:r>
              <a:rPr lang="ko-KR" altLang="en-US"/>
              <a:t>관례보다 설정 중시</a:t>
            </a:r>
            <a:r>
              <a:rPr lang="en-US" altLang="ko-KR"/>
              <a:t>" NUnit </a:t>
            </a:r>
            <a:r>
              <a:rPr lang="ko-KR" altLang="en-US"/>
              <a:t>만든 분이 </a:t>
            </a:r>
            <a:r>
              <a:rPr lang="en-US" altLang="ko-KR"/>
              <a:t>"</a:t>
            </a:r>
            <a:r>
              <a:rPr lang="ko-KR" altLang="en-US"/>
              <a:t>다시 만든다면</a:t>
            </a:r>
            <a:r>
              <a:rPr lang="en-US" altLang="ko-KR"/>
              <a:t>?" </a:t>
            </a:r>
            <a:r>
              <a:rPr lang="ko-KR" altLang="en-US"/>
              <a:t>해서 만든 거예요</a:t>
            </a:r>
            <a:r>
              <a:rPr lang="en-US" altLang="ko-KR"/>
              <a:t>. </a:t>
            </a:r>
            <a:r>
              <a:rPr lang="ko-KR" altLang="en-US" b="1"/>
              <a:t>더 현대적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MSTest</a:t>
            </a:r>
            <a:r>
              <a:rPr lang="ko-KR" altLang="en-US"/>
              <a:t> </a:t>
            </a:r>
            <a:r>
              <a:rPr lang="en-US" altLang="ko-KR"/>
              <a:t>- "Microsoft </a:t>
            </a:r>
            <a:r>
              <a:rPr lang="ko-KR" altLang="en-US"/>
              <a:t>공식 프레임워크</a:t>
            </a:r>
            <a:r>
              <a:rPr lang="en-US" altLang="ko-KR"/>
              <a:t>, VS</a:t>
            </a:r>
            <a:r>
              <a:rPr lang="ko-KR" altLang="en-US"/>
              <a:t>와 긴밀한 통합</a:t>
            </a:r>
            <a:r>
              <a:rPr lang="en-US" altLang="ko-KR"/>
              <a:t>" </a:t>
            </a:r>
            <a:r>
              <a:rPr lang="ko-KR" altLang="en-US"/>
              <a:t>마이크로소프트가 만든 </a:t>
            </a:r>
            <a:r>
              <a:rPr lang="ko-KR" altLang="en-US" b="1"/>
              <a:t>공식</a:t>
            </a:r>
            <a:r>
              <a:rPr lang="ko-KR" altLang="en-US"/>
              <a:t> 프레임워크입니다</a:t>
            </a:r>
            <a:r>
              <a:rPr lang="en-US" altLang="ko-KR"/>
              <a:t>. Visual Studio</a:t>
            </a:r>
            <a:r>
              <a:rPr lang="ko-KR" altLang="en-US"/>
              <a:t>에 기본 내장되어 있어요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프레임워크 계보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JUnit ──────▶ NUnit (2002~)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좋게 만들자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▼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xUnit (2007~)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Microsoft ────────▶ MSTest (VS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주요 속성 비교</a:t>
            </a:r>
          </a:p>
          <a:p>
            <a:r>
              <a:rPr lang="ko-KR" altLang="en-US"/>
              <a:t>두 번째 행</a:t>
            </a:r>
            <a:r>
              <a:rPr lang="en-US" altLang="ko-KR"/>
              <a:t>, </a:t>
            </a:r>
            <a:r>
              <a:rPr lang="ko-KR" altLang="en-US" b="1"/>
              <a:t>주요 속성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이게 실제로 코드 작성할 때 느끼는 </a:t>
            </a:r>
            <a:r>
              <a:rPr lang="ko-KR" altLang="en-US" b="1"/>
              <a:t>가장 큰 차이점</a:t>
            </a:r>
            <a:r>
              <a:rPr lang="ko-KR" altLang="en-US"/>
              <a:t>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어트리뷰트 비교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xUnit           MSTest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[Fact]          [TestMethod]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    [Theory]        [DataRow]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[TestInitialize]│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    IDisposable     [TestCleanup]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보시면 </a:t>
            </a:r>
            <a:r>
              <a:rPr lang="ko-KR" altLang="en-US" b="1"/>
              <a:t>하는 일은 같은데 이름만 다릅니다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 b="1"/>
              <a:t>테스트 표시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NUnit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[Test]</a:t>
            </a:r>
            <a:r>
              <a:rPr lang="ko-KR" altLang="en-US"/>
              <a:t> </a:t>
            </a:r>
            <a:r>
              <a:rPr lang="en-US" altLang="ko-KR"/>
              <a:t>= xUnit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[Fact]</a:t>
            </a:r>
            <a:r>
              <a:rPr lang="ko-KR" altLang="en-US"/>
              <a:t> </a:t>
            </a:r>
            <a:r>
              <a:rPr lang="en-US" altLang="ko-KR"/>
              <a:t>= MSTest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[TestMethod]</a:t>
            </a:r>
            <a:endParaRPr lang="ko-KR" altLang="en-US"/>
          </a:p>
          <a:p>
            <a:r>
              <a:rPr lang="ko-KR" altLang="en-US" b="1"/>
              <a:t>초기화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NUnit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[SetUp]</a:t>
            </a:r>
            <a:r>
              <a:rPr lang="ko-KR" altLang="en-US"/>
              <a:t> </a:t>
            </a:r>
            <a:r>
              <a:rPr lang="en-US" altLang="ko-KR"/>
              <a:t>= xUnit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생성자</a:t>
            </a:r>
            <a:r>
              <a:rPr lang="ko-KR" altLang="en-US"/>
              <a:t> </a:t>
            </a:r>
            <a:r>
              <a:rPr lang="en-US" altLang="ko-KR"/>
              <a:t>= MSTest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[TestInitialize]</a:t>
            </a:r>
            <a:endParaRPr lang="ko-KR" altLang="en-US"/>
          </a:p>
          <a:p>
            <a:r>
              <a:rPr lang="en-US" altLang="ko-KR"/>
              <a:t>xUnit</a:t>
            </a:r>
            <a:r>
              <a:rPr lang="ko-KR" altLang="en-US"/>
              <a:t>만 특이하게 </a:t>
            </a:r>
            <a:r>
              <a:rPr lang="en-US" altLang="ko-KR" b="1"/>
              <a:t>C# </a:t>
            </a:r>
            <a:r>
              <a:rPr lang="ko-KR" altLang="en-US" b="1"/>
              <a:t>기본 문법</a:t>
            </a:r>
            <a:r>
              <a:rPr lang="en-US" altLang="ko-KR"/>
              <a:t>(</a:t>
            </a:r>
            <a:r>
              <a:rPr lang="ko-KR" altLang="en-US"/>
              <a:t>생성자</a:t>
            </a:r>
            <a:r>
              <a:rPr lang="en-US" altLang="ko-KR"/>
              <a:t>, IDisposable)</a:t>
            </a:r>
            <a:r>
              <a:rPr lang="ko-KR" altLang="en-US"/>
              <a:t>을 사용해요</a:t>
            </a:r>
            <a:r>
              <a:rPr lang="en-US" altLang="ko-KR"/>
              <a:t>. </a:t>
            </a:r>
            <a:r>
              <a:rPr lang="ko-KR" altLang="en-US"/>
              <a:t>어트리뷰트를 안 쓰고 언어 자체 기능을 쓰는 거죠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기능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문법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NUnit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Init() {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xUnit  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CalcTests() {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}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MSTest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[TestInitialize]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Init() {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데이터 기반 </a:t>
            </a:r>
            <a:r>
              <a:rPr lang="en-US" altLang="ko-KR" b="1"/>
              <a:t>/ </a:t>
            </a:r>
            <a:r>
              <a:rPr lang="ko-KR" altLang="en-US" b="1"/>
              <a:t>병렬화</a:t>
            </a:r>
          </a:p>
          <a:p>
            <a:r>
              <a:rPr lang="ko-KR" altLang="en-US"/>
              <a:t>세 번째 행</a:t>
            </a:r>
            <a:r>
              <a:rPr lang="en-US" altLang="ko-KR"/>
              <a:t>, </a:t>
            </a:r>
            <a:r>
              <a:rPr lang="ko-KR" altLang="en-US" b="1"/>
              <a:t>데이터 기반 테스트와 병렬화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비교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[TestCase], [TestCaseSource]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설정으로 지원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(Assembly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 설정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xUnit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[Theory] + [InlineData]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내장 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⚡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없이 바로 병렬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MSTest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[DataTestMethod] + [DataRow]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VS2019+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필요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병렬 실행</a:t>
            </a:r>
            <a:r>
              <a:rPr lang="ko-KR" altLang="en-US"/>
              <a:t>이 중요한 이유가 뭘까요</a:t>
            </a:r>
            <a:r>
              <a:rPr lang="en-US" altLang="ko-KR"/>
              <a:t>?</a:t>
            </a:r>
          </a:p>
          <a:p>
            <a:r>
              <a:rPr lang="ko-KR" altLang="en-US"/>
              <a:t>테스트가 </a:t>
            </a:r>
            <a:r>
              <a:rPr lang="en-US" altLang="ko-KR"/>
              <a:t>100</a:t>
            </a:r>
            <a:r>
              <a:rPr lang="ko-KR" altLang="en-US"/>
              <a:t>개인데 순차 실행하면 </a:t>
            </a:r>
            <a:r>
              <a:rPr lang="en-US" altLang="ko-KR"/>
              <a:t>100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병렬 실행하면 </a:t>
            </a:r>
            <a:r>
              <a:rPr lang="en-US" altLang="ko-KR" b="1"/>
              <a:t>10</a:t>
            </a:r>
            <a:r>
              <a:rPr lang="ko-KR" altLang="en-US" b="1"/>
              <a:t>초</a:t>
            </a:r>
            <a:r>
              <a:rPr lang="ko-KR" altLang="en-US"/>
              <a:t>에 끝날 수 있어요</a:t>
            </a:r>
            <a:r>
              <a:rPr lang="en-US" altLang="ko-KR"/>
              <a:t>.</a:t>
            </a:r>
          </a:p>
          <a:p>
            <a:r>
              <a:rPr lang="en-US" altLang="ko-KR" b="1"/>
              <a:t>xUnit</a:t>
            </a:r>
            <a:r>
              <a:rPr lang="ko-KR" altLang="en-US"/>
              <a:t>은 병렬이 </a:t>
            </a:r>
            <a:r>
              <a:rPr lang="ko-KR" altLang="en-US" b="1"/>
              <a:t>기본 활성화</a:t>
            </a:r>
            <a:r>
              <a:rPr lang="ko-KR" altLang="en-US"/>
              <a:t>되어 있어서 별도 설정 없이도 빠릅니다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장단점 비교</a:t>
            </a:r>
          </a:p>
          <a:p>
            <a:r>
              <a:rPr lang="ko-KR" altLang="en-US"/>
              <a:t>네 번째 행</a:t>
            </a:r>
            <a:r>
              <a:rPr lang="en-US" altLang="ko-KR"/>
              <a:t>, </a:t>
            </a:r>
            <a:r>
              <a:rPr lang="ko-KR" altLang="en-US" b="1"/>
              <a:t>장단점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 b="1"/>
              <a:t>초록색이 장점</a:t>
            </a:r>
            <a:r>
              <a:rPr lang="en-US" altLang="ko-KR" b="1"/>
              <a:t>, </a:t>
            </a:r>
            <a:r>
              <a:rPr lang="ko-KR" altLang="en-US" b="1"/>
              <a:t>빨간색이 단점</a:t>
            </a:r>
            <a:r>
              <a:rPr lang="ko-KR" altLang="en-US"/>
              <a:t>이에요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장단점 정리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풍부한 기능과 문서화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어트리뷰트 종류가 많고 세밀한 제어 가능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역사 → 문서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커뮤니티 풍부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레거시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 존재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오래된 문법이 섞여 있어 헷갈릴 수 있음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현대적 설계와 심플함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 자체 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기본 지원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상대적 학습 곡선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없는 게 처음엔 어색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MSTest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및 쉬운 시작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설치 필요 없이 바로 시작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일부 기능 제약 존재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기능이 상대적으로 적음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쉽게 말하면</a:t>
            </a:r>
            <a:r>
              <a:rPr lang="en-US" altLang="ko-KR"/>
              <a:t>:</a:t>
            </a:r>
          </a:p>
          <a:p>
            <a:r>
              <a:rPr lang="en-US" altLang="ko-KR" b="1"/>
              <a:t>NUnit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기능 많음</a:t>
            </a:r>
            <a:r>
              <a:rPr lang="en-US" altLang="ko-KR"/>
              <a:t>, </a:t>
            </a:r>
            <a:r>
              <a:rPr lang="ko-KR" altLang="en-US"/>
              <a:t>근데 좀 복잡 </a:t>
            </a:r>
            <a:r>
              <a:rPr lang="en-US" altLang="ko-KR" b="1"/>
              <a:t>xUnit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심플함</a:t>
            </a:r>
            <a:r>
              <a:rPr lang="en-US" altLang="ko-KR"/>
              <a:t>, </a:t>
            </a:r>
            <a:r>
              <a:rPr lang="ko-KR" altLang="en-US"/>
              <a:t>근데 처음엔 어색 </a:t>
            </a:r>
            <a:r>
              <a:rPr lang="en-US" altLang="ko-KR" b="1"/>
              <a:t>MSTest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쉬움</a:t>
            </a:r>
            <a:r>
              <a:rPr lang="en-US" altLang="ko-KR"/>
              <a:t>, </a:t>
            </a:r>
            <a:r>
              <a:rPr lang="ko-KR" altLang="en-US"/>
              <a:t>근데 기능 적음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추천 사용처</a:t>
            </a:r>
          </a:p>
          <a:p>
            <a:r>
              <a:rPr lang="ko-KR" altLang="en-US"/>
              <a:t>다섯 번째 행</a:t>
            </a:r>
            <a:r>
              <a:rPr lang="en-US" altLang="ko-KR"/>
              <a:t>, </a:t>
            </a:r>
            <a:r>
              <a:rPr lang="ko-KR" altLang="en-US" b="1"/>
              <a:t>추천 사용처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언제 뭘 쓸까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풍부한 기능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프로젝트가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중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세밀한 테스트 제어 필요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어트리뷰트 활용하고 싶을 때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신규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.NET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프로젝트 시작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ASP.NET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권장을 따르고 싶을 때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테스트 실행 원할 때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MSTest → "MS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중심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Visual Studio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기능만으로 충분할 때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패키지 설치 없이 바로 시작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테스트만 필요할 때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선택 가이드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선택 가이드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신규 애플리케이션은 </a:t>
            </a:r>
            <a:r>
              <a:rPr lang="en-US" altLang="ko-KR" i="1"/>
              <a:t>xUnit(</a:t>
            </a:r>
            <a:r>
              <a:rPr lang="ko-KR" altLang="en-US" i="1"/>
              <a:t>현대적</a:t>
            </a:r>
            <a:r>
              <a:rPr lang="en-US" altLang="ko-KR" i="1"/>
              <a:t>, .NET Core </a:t>
            </a:r>
            <a:r>
              <a:rPr lang="ko-KR" altLang="en-US" i="1"/>
              <a:t>호환</a:t>
            </a:r>
            <a:r>
              <a:rPr lang="en-US" altLang="ko-KR" i="1"/>
              <a:t>), </a:t>
            </a:r>
            <a:r>
              <a:rPr lang="ko-KR" altLang="en-US" i="1"/>
              <a:t>레거시</a:t>
            </a:r>
            <a:r>
              <a:rPr lang="en-US" altLang="ko-KR" i="1"/>
              <a:t>/</a:t>
            </a:r>
            <a:r>
              <a:rPr lang="ko-KR" altLang="en-US" i="1"/>
              <a:t>다양한 기능은 </a:t>
            </a:r>
            <a:r>
              <a:rPr lang="en-US" altLang="ko-KR" i="1"/>
              <a:t>NUnit, Microsoft </a:t>
            </a:r>
            <a:r>
              <a:rPr lang="ko-KR" altLang="en-US" i="1"/>
              <a:t>생태계 내 간단한 테스트는 </a:t>
            </a:r>
            <a:r>
              <a:rPr lang="en-US" altLang="ko-KR" i="1"/>
              <a:t>MSTest</a:t>
            </a:r>
            <a:r>
              <a:rPr lang="ko-KR" altLang="en-US" i="1"/>
              <a:t>가 적합합니다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선택 플로우차트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프레임워크 쓸까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┌───────────────┼───────────────┐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▼               ▼               ▼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팀에서 이미     신규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바로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쓰는 거 있음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시작하고 싶음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│               │               │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▼               ▼               ▼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그거 쓰세요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xUnit          MSTest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컨벤션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 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가장 중요한 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작성하는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고민하느라 테스트 안 짜면 의미 없음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</a:t>
            </a:r>
          </a:p>
          <a:p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프레임워크한 줄 요약추천 상황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🔵원조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기능 풍부레거시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세밀한 제어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🟢현대적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MS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권장신규 프로젝트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.NET Core</a:t>
            </a:r>
            <a:r>
              <a:rPr lang="en-US" altLang="ko-KR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MSTest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🟣공식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VS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내장간단한 테스트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빠른 시작</a:t>
            </a:r>
          </a:p>
          <a:p>
            <a:r>
              <a:rPr lang="ko-KR" altLang="en-US"/>
              <a:t>근데 솔직히</a:t>
            </a:r>
            <a:r>
              <a:rPr lang="en-US" altLang="ko-KR"/>
              <a:t>, </a:t>
            </a:r>
            <a:r>
              <a:rPr lang="ko-KR" altLang="en-US" b="1"/>
              <a:t>뭘 쓰든 상관없습니다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세 가지 모두 훌륭한 프레임워크이고</a:t>
            </a:r>
            <a:r>
              <a:rPr lang="en-US" altLang="ko-KR"/>
              <a:t>, </a:t>
            </a:r>
            <a:r>
              <a:rPr lang="ko-KR" altLang="en-US"/>
              <a:t>하나 익히면 나머지는 </a:t>
            </a:r>
            <a:r>
              <a:rPr lang="ko-KR" altLang="en-US" b="1"/>
              <a:t>어트리뷰트 이름만</a:t>
            </a:r>
            <a:r>
              <a:rPr lang="ko-KR" altLang="en-US"/>
              <a:t> 다르니까요</a:t>
            </a:r>
            <a:r>
              <a:rPr lang="en-US" altLang="ko-KR"/>
              <a:t>.</a:t>
            </a:r>
          </a:p>
          <a:p>
            <a:r>
              <a:rPr lang="ko-KR" altLang="en-US"/>
              <a:t>가장 중요한 건 **</a:t>
            </a:r>
            <a:r>
              <a:rPr lang="en-US" altLang="ko-KR"/>
              <a:t>"</a:t>
            </a:r>
            <a:r>
              <a:rPr lang="ko-KR" altLang="en-US"/>
              <a:t>테스트를 작성하느냐</a:t>
            </a:r>
            <a:r>
              <a:rPr lang="en-US" altLang="ko-KR"/>
              <a:t>"**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프레임워크 고민하느라 시간 쓰지 마시고</a:t>
            </a:r>
            <a:r>
              <a:rPr lang="en-US" altLang="ko-KR"/>
              <a:t>, </a:t>
            </a:r>
            <a:r>
              <a:rPr lang="ko-KR" altLang="en-US" b="1"/>
              <a:t>일단 작성하세요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우리 실습은 </a:t>
            </a:r>
            <a:r>
              <a:rPr lang="en-US" altLang="ko-KR" b="1"/>
              <a:t>NUnit</a:t>
            </a:r>
            <a:r>
              <a:rPr lang="ko-KR" altLang="en-US"/>
              <a:t>으로 진행합니다</a:t>
            </a:r>
            <a:r>
              <a:rPr lang="en-US" altLang="ko-KR"/>
              <a:t>. </a:t>
            </a:r>
            <a:r>
              <a:rPr lang="ko-KR" altLang="en-US"/>
              <a:t>다음으로 넘어갈게요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드디어 </a:t>
            </a:r>
            <a:r>
              <a:rPr lang="ko-KR" altLang="en-US" b="1"/>
              <a:t>실습</a:t>
            </a:r>
            <a:r>
              <a:rPr lang="ko-KR" altLang="en-US"/>
              <a:t> 시간입니다</a:t>
            </a:r>
            <a:r>
              <a:rPr lang="en-US" altLang="ko-KR"/>
              <a:t>!</a:t>
            </a:r>
          </a:p>
          <a:p>
            <a:r>
              <a:rPr lang="ko-KR" altLang="en-US"/>
              <a:t>지금까지 이론을 배웠으니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직접 프로젝트를 만들어보겠습니다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dotnet CLI</a:t>
            </a:r>
            <a:r>
              <a:rPr lang="ko-KR" altLang="en-US"/>
              <a:t>를 사용해서 처음부터 테스트 프로젝트를 생성할 거예요</a:t>
            </a:r>
            <a:r>
              <a:rPr lang="en-US" altLang="ko-KR"/>
              <a:t>. </a:t>
            </a:r>
            <a:r>
              <a:rPr lang="ko-KR" altLang="en-US" b="1"/>
              <a:t>터미널</a:t>
            </a:r>
            <a:r>
              <a:rPr lang="en-US" altLang="ko-KR" b="1"/>
              <a:t>(</a:t>
            </a:r>
            <a:r>
              <a:rPr lang="ko-KR" altLang="en-US" b="1"/>
              <a:t>또는 명령 프롬프트</a:t>
            </a:r>
            <a:r>
              <a:rPr lang="en-US" altLang="ko-KR" b="1"/>
              <a:t>)</a:t>
            </a:r>
            <a:r>
              <a:rPr lang="ko-KR" altLang="en-US"/>
              <a:t> 열어주세요</a:t>
            </a:r>
            <a:r>
              <a:rPr lang="en-US" altLang="ko-KR"/>
              <a:t>!</a:t>
            </a:r>
          </a:p>
          <a:p>
            <a:r>
              <a:rPr lang="ko-KR" altLang="en-US"/>
              <a:t>같이 따라 해보시죠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1: </a:t>
            </a:r>
            <a:r>
              <a:rPr lang="ko-KR" altLang="en-US" b="1"/>
              <a:t>솔루션 및 프로젝트 생성 📁</a:t>
            </a:r>
          </a:p>
          <a:p>
            <a:r>
              <a:rPr lang="ko-KR" altLang="en-US" b="1"/>
              <a:t>첫 번째 단계</a:t>
            </a:r>
            <a:r>
              <a:rPr lang="en-US" altLang="ko-KR" b="1"/>
              <a:t>, </a:t>
            </a:r>
            <a:r>
              <a:rPr lang="ko-KR" altLang="en-US" b="1"/>
              <a:t>솔루션과 프로젝트 생성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화면에 명령어가 있어요</a:t>
            </a:r>
            <a:r>
              <a:rPr lang="en-US" altLang="ko-KR"/>
              <a:t>. </a:t>
            </a:r>
            <a:r>
              <a:rPr lang="ko-KR" altLang="en-US"/>
              <a:t>하나씩 실행해볼게요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mkdir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sln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classlib -n Demo</a:t>
            </a:r>
          </a:p>
          <a:p>
            <a:r>
              <a:rPr lang="ko-KR" altLang="en-US"/>
              <a:t>하나씩 설명드리면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 설명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mkdir UnitTestDemo &amp;&amp; cd UnitTestDemo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폴더 만들고 그 안으로 이동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sln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(.sln)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Studio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열 수 있는 솔루션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classlib -n Demo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라이브러리 프로젝트 생성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 Demo 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이름을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"Demo"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지정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이게 우리가 테스트할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같이 해볼까요</a:t>
            </a:r>
            <a:r>
              <a:rPr lang="en-US" altLang="ko-KR"/>
              <a:t>?</a:t>
            </a:r>
          </a:p>
          <a:p>
            <a:r>
              <a:rPr lang="ko-KR" altLang="en-US"/>
              <a:t>터미널에서 원하는 위치로 이동하시고</a:t>
            </a:r>
            <a:r>
              <a:rPr lang="en-US" altLang="ko-KR"/>
              <a:t>, </a:t>
            </a:r>
            <a:r>
              <a:rPr lang="en-US" altLang="ko-KR" b="1"/>
              <a:t>mkdir UnitTestDemo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 </a:t>
            </a:r>
            <a:r>
              <a:rPr lang="en-US" altLang="ko-KR" b="1"/>
              <a:t>cd UnitTestDemo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</a:t>
            </a:r>
          </a:p>
          <a:p>
            <a:r>
              <a:rPr lang="ko-KR" altLang="en-US"/>
              <a:t>그다음 </a:t>
            </a:r>
            <a:r>
              <a:rPr lang="en-US" altLang="ko-KR" b="1"/>
              <a:t>dotnet new sln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 "The template "Solution File" was created successfully" </a:t>
            </a:r>
            <a:r>
              <a:rPr lang="ko-KR" altLang="en-US"/>
              <a:t>나오면 성공</a:t>
            </a:r>
            <a:r>
              <a:rPr lang="en-US" altLang="ko-KR"/>
              <a:t>!</a:t>
            </a:r>
          </a:p>
          <a:p>
            <a:r>
              <a:rPr lang="en-US" altLang="ko-KR" b="1"/>
              <a:t>dotnet new classlib -n Demo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 Demo </a:t>
            </a:r>
            <a:r>
              <a:rPr lang="ko-KR" altLang="en-US"/>
              <a:t>폴더가 생기고 그 안에 프로젝트가 만들어집니다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2: </a:t>
            </a:r>
            <a:r>
              <a:rPr lang="ko-KR" altLang="en-US" b="1"/>
              <a:t>테스트 프로젝트 생성 🧪</a:t>
            </a:r>
          </a:p>
          <a:p>
            <a:r>
              <a:rPr lang="ko-KR" altLang="en-US" b="1"/>
              <a:t>두 번째 단계</a:t>
            </a:r>
            <a:r>
              <a:rPr lang="en-US" altLang="ko-KR" b="1"/>
              <a:t>, </a:t>
            </a:r>
            <a:r>
              <a:rPr lang="ko-KR" altLang="en-US" b="1"/>
              <a:t>테스트 프로젝트 생성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nunit -n Demo.Tests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sln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Demo.Tests</a:t>
            </a:r>
          </a:p>
          <a:p>
            <a:r>
              <a:rPr lang="ko-KR" altLang="en-US"/>
              <a:t>설명드리면</a:t>
            </a:r>
            <a:r>
              <a:rPr lang="en-US" altLang="ko-KR"/>
              <a:t>: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 설명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nunit -n Demo.Tests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생성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-n Demo.Tests 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"Demo.Tests"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지정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필요한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패키지가 자동으로 포함됨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⭐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※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쓰고 싶으면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dotnet new xunit -n Demo.Tests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dotnet sln add Demo Demo.Tests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솔루션에 두 프로젝트를 추가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둘 다 추가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따라해볼게요</a:t>
            </a:r>
            <a:r>
              <a:rPr lang="en-US" altLang="ko-KR"/>
              <a:t>.</a:t>
            </a:r>
          </a:p>
          <a:p>
            <a:r>
              <a:rPr lang="en-US" altLang="ko-KR" b="1"/>
              <a:t>dotnet new nunit -n Demo.Tests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</a:t>
            </a:r>
          </a:p>
          <a:p>
            <a:r>
              <a:rPr lang="ko-KR" altLang="en-US"/>
              <a:t>이 명령어 하나로 </a:t>
            </a:r>
            <a:r>
              <a:rPr lang="en-US" altLang="ko-KR" b="1"/>
              <a:t>NUnit, NUnit3TestAdapter, Microsoft.NET.Test.Sdk</a:t>
            </a:r>
            <a:r>
              <a:rPr lang="ko-KR" altLang="en-US"/>
              <a:t>가 전부 자동으로 설치됩니다</a:t>
            </a:r>
            <a:r>
              <a:rPr lang="en-US" altLang="ko-KR"/>
              <a:t>. </a:t>
            </a:r>
            <a:r>
              <a:rPr lang="ko-KR" altLang="en-US"/>
              <a:t>편하죠</a:t>
            </a:r>
            <a:r>
              <a:rPr lang="en-US" altLang="ko-KR"/>
              <a:t>?</a:t>
            </a:r>
          </a:p>
          <a:p>
            <a:r>
              <a:rPr lang="ko-KR" altLang="en-US"/>
              <a:t>그다음 </a:t>
            </a:r>
            <a:r>
              <a:rPr lang="en-US" altLang="ko-KR" b="1"/>
              <a:t>dotnet sln add Demo Demo.Tests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 "Project added to the solution" </a:t>
            </a:r>
            <a:r>
              <a:rPr lang="ko-KR" altLang="en-US"/>
              <a:t>메시지가 두 번 나오면 성공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3: </a:t>
            </a:r>
            <a:r>
              <a:rPr lang="ko-KR" altLang="en-US" b="1"/>
              <a:t>프로젝트 참조 연결 🔗</a:t>
            </a:r>
          </a:p>
          <a:p>
            <a:r>
              <a:rPr lang="ko-KR" altLang="en-US" b="1"/>
              <a:t>세 번째 단계</a:t>
            </a:r>
            <a:r>
              <a:rPr lang="en-US" altLang="ko-KR" b="1"/>
              <a:t>, </a:t>
            </a:r>
            <a:r>
              <a:rPr lang="ko-KR" altLang="en-US" b="1"/>
              <a:t>프로젝트 참조 연결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 reference Demo</a:t>
            </a:r>
          </a:p>
          <a:p>
            <a:r>
              <a:rPr lang="ko-KR" altLang="en-US"/>
              <a:t>이게 </a:t>
            </a:r>
            <a:r>
              <a:rPr lang="ko-KR" altLang="en-US" b="1"/>
              <a:t>중요합니다</a:t>
            </a:r>
            <a:r>
              <a:rPr lang="en-US" altLang="ko-KR" b="1"/>
              <a:t>!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 설명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 Demo.Tests reference Demo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Demo.Tests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프로젝트를 참조하도록 설정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이걸 해야 하는 이유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Demo.Tests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클래스를 사용하려면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연결되어 있어야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참조 없이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var calc = new Calculator();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못 찾음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참조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var calc = new Calculator();  // OK! ✅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dotnet add Demo.Tests reference Demo</a:t>
            </a:r>
            <a:r>
              <a:rPr lang="ko-KR" altLang="en-US"/>
              <a:t> 입력</a:t>
            </a:r>
            <a:r>
              <a:rPr lang="en-US" altLang="ko-KR"/>
              <a:t>, </a:t>
            </a:r>
            <a:r>
              <a:rPr lang="ko-KR" altLang="en-US"/>
              <a:t>엔터</a:t>
            </a:r>
            <a:r>
              <a:rPr lang="en-US" altLang="ko-KR"/>
              <a:t>!</a:t>
            </a:r>
          </a:p>
          <a:p>
            <a:r>
              <a:rPr lang="en-US" altLang="ko-KR"/>
              <a:t>"Reference added to the project" </a:t>
            </a:r>
            <a:r>
              <a:rPr lang="ko-KR" altLang="en-US"/>
              <a:t>나오면 성공</a:t>
            </a:r>
            <a:r>
              <a:rPr lang="en-US" altLang="ko-KR"/>
              <a:t>!</a:t>
            </a:r>
          </a:p>
          <a:p>
            <a:r>
              <a:rPr lang="ko-KR" altLang="en-US"/>
              <a:t>이제 </a:t>
            </a:r>
            <a:r>
              <a:rPr lang="en-US" altLang="ko-KR"/>
              <a:t>Demo.Tests </a:t>
            </a:r>
            <a:r>
              <a:rPr lang="ko-KR" altLang="en-US"/>
              <a:t>프로젝트에서 </a:t>
            </a:r>
            <a:r>
              <a:rPr lang="en-US" altLang="ko-KR"/>
              <a:t>Demo </a:t>
            </a:r>
            <a:r>
              <a:rPr lang="ko-KR" altLang="en-US"/>
              <a:t>프로젝트의 클래스를 </a:t>
            </a:r>
            <a:r>
              <a:rPr lang="ko-KR" altLang="en-US" b="1"/>
              <a:t>테스트할 수 있습니다</a:t>
            </a:r>
            <a:r>
              <a:rPr lang="en-US" altLang="ko-KR" b="1"/>
              <a:t>.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최종 프로젝트 구조</a:t>
            </a:r>
          </a:p>
          <a:p>
            <a:r>
              <a:rPr lang="ko-KR" altLang="en-US"/>
              <a:t>여기까지 하셨으면 폴더 구조가 이렇게 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최종 프로젝트 구조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UnitTestDemo/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UnitTestDemo.sln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파일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Demo/  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코드 프로젝트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Demo.csproj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Class1.cs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 예정│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Demo.Tests/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Demo.Tests.csproj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UnitTest1.cs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테스트 작성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확인해볼까요</a:t>
            </a:r>
            <a:r>
              <a:rPr lang="en-US" altLang="ko-KR"/>
              <a:t>?</a:t>
            </a:r>
          </a:p>
          <a:p>
            <a:r>
              <a:rPr lang="en-US" altLang="ko-KR" b="1"/>
              <a:t>dir</a:t>
            </a:r>
            <a:r>
              <a:rPr lang="ko-KR" altLang="en-US"/>
              <a:t> </a:t>
            </a:r>
            <a:r>
              <a:rPr lang="en-US" altLang="ko-KR"/>
              <a:t>(Windows) </a:t>
            </a:r>
            <a:r>
              <a:rPr lang="ko-KR" altLang="en-US"/>
              <a:t>또는 </a:t>
            </a:r>
            <a:r>
              <a:rPr lang="en-US" altLang="ko-KR" b="1"/>
              <a:t>ls</a:t>
            </a:r>
            <a:r>
              <a:rPr lang="ko-KR" altLang="en-US"/>
              <a:t> </a:t>
            </a:r>
            <a:r>
              <a:rPr lang="en-US" altLang="ko-KR"/>
              <a:t>(Mac/Linux) </a:t>
            </a:r>
            <a:r>
              <a:rPr lang="ko-KR" altLang="en-US"/>
              <a:t>입력하시면 </a:t>
            </a:r>
            <a:r>
              <a:rPr lang="en-US" altLang="ko-KR"/>
              <a:t>Demo </a:t>
            </a:r>
            <a:r>
              <a:rPr lang="ko-KR" altLang="en-US"/>
              <a:t>폴더</a:t>
            </a:r>
            <a:r>
              <a:rPr lang="en-US" altLang="ko-KR"/>
              <a:t>, Demo.Tests </a:t>
            </a:r>
            <a:r>
              <a:rPr lang="ko-KR" altLang="en-US"/>
              <a:t>폴더</a:t>
            </a:r>
            <a:r>
              <a:rPr lang="en-US" altLang="ko-KR"/>
              <a:t>, .sln </a:t>
            </a:r>
            <a:r>
              <a:rPr lang="ko-KR" altLang="en-US"/>
              <a:t>파일이 보이실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팁</a:t>
            </a:r>
            <a:r>
              <a:rPr lang="en-US" altLang="ko-KR" b="1"/>
              <a:t>: </a:t>
            </a:r>
            <a:r>
              <a:rPr lang="ko-KR" altLang="en-US" b="1"/>
              <a:t>프로젝트 구조 💡</a:t>
            </a:r>
          </a:p>
          <a:p>
            <a:r>
              <a:rPr lang="ko-KR" altLang="en-US"/>
              <a:t>하단에 </a:t>
            </a:r>
            <a:r>
              <a:rPr lang="ko-KR" altLang="en-US" b="1"/>
              <a:t>팁</a:t>
            </a:r>
            <a:r>
              <a:rPr lang="ko-KR" altLang="en-US"/>
              <a:t>이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프로젝트는 </a:t>
            </a:r>
            <a:r>
              <a:rPr lang="en-US" altLang="ko-KR" i="1"/>
              <a:t>src</a:t>
            </a:r>
            <a:r>
              <a:rPr lang="ko-KR" altLang="en-US" i="1"/>
              <a:t>와 </a:t>
            </a:r>
            <a:r>
              <a:rPr lang="en-US" altLang="ko-KR" i="1"/>
              <a:t>tests </a:t>
            </a:r>
            <a:r>
              <a:rPr lang="ko-KR" altLang="en-US" i="1"/>
              <a:t>폴더로 분리하는 구조가 권장됩니다</a:t>
            </a:r>
            <a:r>
              <a:rPr lang="en-US" altLang="ko-KR" i="1"/>
              <a:t>. </a:t>
            </a:r>
            <a:r>
              <a:rPr lang="ko-KR" altLang="en-US" i="1"/>
              <a:t>테스트 프로젝트 이름은 테스트 대상 프로젝트 이름 뒤에 </a:t>
            </a:r>
            <a:r>
              <a:rPr lang="en-US" altLang="ko-KR" i="1"/>
              <a:t>.Tests</a:t>
            </a:r>
            <a:r>
              <a:rPr lang="ko-KR" altLang="en-US" i="1"/>
              <a:t>를 붙이는 것이 관례입니다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실무 권장 구조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MySolution/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   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코드들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MyApp.Core/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MyApp.Api/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MyApp.Infrastructure/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tests/ 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코드들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MyApp.Core.Tests/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MyApp.Api.Tests/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MyApp.Infrastructure.Tests/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명명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.Tests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MyApp.Core → MyApp.Core.Tests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Calculator → Calculator.Tests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실무에서는 </a:t>
            </a:r>
            <a:r>
              <a:rPr lang="en-US" altLang="ko-KR" b="1"/>
              <a:t>src</a:t>
            </a:r>
            <a:r>
              <a:rPr lang="ko-KR" altLang="en-US"/>
              <a:t>와 </a:t>
            </a:r>
            <a:r>
              <a:rPr lang="en-US" altLang="ko-KR" b="1"/>
              <a:t>tests</a:t>
            </a:r>
            <a:r>
              <a:rPr lang="ko-KR" altLang="en-US"/>
              <a:t> 폴더로 분리하는 게 일반적이에요</a:t>
            </a:r>
            <a:r>
              <a:rPr lang="en-US" altLang="ko-KR"/>
              <a:t>. </a:t>
            </a:r>
            <a:r>
              <a:rPr lang="ko-KR" altLang="en-US"/>
              <a:t>지금은 간단히 했지만</a:t>
            </a:r>
            <a:r>
              <a:rPr lang="en-US" altLang="ko-KR"/>
              <a:t>, </a:t>
            </a:r>
            <a:r>
              <a:rPr lang="ko-KR" altLang="en-US"/>
              <a:t>프로젝트가 커지면 이렇게 정리하시면 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Visual Studio</a:t>
            </a:r>
            <a:r>
              <a:rPr lang="ko-KR" altLang="en-US" b="1"/>
              <a:t>에서 확인</a:t>
            </a:r>
          </a:p>
          <a:p>
            <a:r>
              <a:rPr lang="ko-KR" altLang="en-US"/>
              <a:t>이제 </a:t>
            </a:r>
            <a:r>
              <a:rPr lang="en-US" altLang="ko-KR"/>
              <a:t>Visual Studio</a:t>
            </a:r>
            <a:r>
              <a:rPr lang="ko-KR" altLang="en-US"/>
              <a:t>에서 열어볼까요</a:t>
            </a:r>
            <a:r>
              <a:rPr lang="en-US" altLang="ko-KR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열기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탐색기에서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UnitTestDemo.sln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더블클릭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파일 → 열기 → 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.sln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선택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CLI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start UnitTestDemo.sln  (Windows)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open UnitTestDemo.sln   (Mac)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start UnitTestDemo.sln</a:t>
            </a:r>
            <a:r>
              <a:rPr lang="ko-KR" altLang="en-US"/>
              <a:t> 입력하시면 </a:t>
            </a:r>
            <a:r>
              <a:rPr lang="en-US" altLang="ko-KR"/>
              <a:t>Visual Studio</a:t>
            </a:r>
            <a:r>
              <a:rPr lang="ko-KR" altLang="en-US"/>
              <a:t>가 열리면서 솔루션을 로드합니다</a:t>
            </a:r>
            <a:r>
              <a:rPr lang="en-US" altLang="ko-KR"/>
              <a:t>.</a:t>
            </a:r>
          </a:p>
          <a:p>
            <a:r>
              <a:rPr lang="ko-KR" altLang="en-US"/>
              <a:t>솔루션 탐색기에서 </a:t>
            </a:r>
            <a:r>
              <a:rPr lang="en-US" altLang="ko-KR"/>
              <a:t>Demo</a:t>
            </a:r>
            <a:r>
              <a:rPr lang="ko-KR" altLang="en-US"/>
              <a:t>와 </a:t>
            </a:r>
            <a:r>
              <a:rPr lang="en-US" altLang="ko-KR"/>
              <a:t>Demo.Tests </a:t>
            </a:r>
            <a:r>
              <a:rPr lang="ko-KR" altLang="en-US"/>
              <a:t>프로젝트가 보이시죠</a:t>
            </a:r>
            <a:r>
              <a:rPr lang="en-US" altLang="ko-KR"/>
              <a:t>?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전체 명령어 요약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및 프로젝트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mkdir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UnitTestDemo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sln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classlib -n Demo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nunit -n Demo.Tests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sln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Demo.Tests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참조 연결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 reference Demo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VS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열기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UnitTestDemo.sln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/>
              <a:t>테스트 프로젝트 생성 </a:t>
            </a:r>
            <a:r>
              <a:rPr lang="en-US" altLang="ko-KR" b="1"/>
              <a:t>3</a:t>
            </a:r>
            <a:r>
              <a:rPr lang="ko-KR" altLang="en-US" b="1"/>
              <a:t>단계</a:t>
            </a:r>
            <a:r>
              <a:rPr lang="en-US" altLang="ko-KR"/>
              <a:t>:</a:t>
            </a:r>
          </a:p>
          <a:p>
            <a:r>
              <a:rPr lang="en-US" altLang="ko-KR"/>
              <a:t>1️⃣ </a:t>
            </a:r>
            <a:r>
              <a:rPr lang="ko-KR" altLang="en-US" b="1"/>
              <a:t>솔루션 </a:t>
            </a:r>
            <a:r>
              <a:rPr lang="en-US" altLang="ko-KR" b="1"/>
              <a:t>+ </a:t>
            </a:r>
            <a:r>
              <a:rPr lang="ko-KR" altLang="en-US" b="1"/>
              <a:t>실제 코드 프로젝트</a:t>
            </a:r>
            <a:r>
              <a:rPr lang="ko-KR" altLang="en-US"/>
              <a:t> 생성 </a:t>
            </a:r>
            <a:r>
              <a:rPr lang="en-US" altLang="ko-KR"/>
              <a:t>2️⃣ </a:t>
            </a:r>
            <a:r>
              <a:rPr lang="ko-KR" altLang="en-US" b="1"/>
              <a:t>테스트 프로젝트</a:t>
            </a:r>
            <a:r>
              <a:rPr lang="ko-KR" altLang="en-US"/>
              <a:t> 생성 및 솔루션에 추가 </a:t>
            </a:r>
            <a:r>
              <a:rPr lang="en-US" altLang="ko-KR"/>
              <a:t>3️⃣ </a:t>
            </a:r>
            <a:r>
              <a:rPr lang="ko-KR" altLang="en-US" b="1"/>
              <a:t>참조 연결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테스트 → 실제 코드</a:t>
            </a:r>
            <a:r>
              <a:rPr lang="en-US" altLang="ko-KR"/>
              <a:t>)</a:t>
            </a:r>
          </a:p>
          <a:p>
            <a:r>
              <a:rPr lang="ko-KR" altLang="en-US"/>
              <a:t>이 </a:t>
            </a:r>
            <a:r>
              <a:rPr lang="en-US" altLang="ko-KR"/>
              <a:t>3</a:t>
            </a:r>
            <a:r>
              <a:rPr lang="ko-KR" altLang="en-US"/>
              <a:t>단계만 기억하시면 됩니다</a:t>
            </a:r>
            <a:r>
              <a:rPr lang="en-US" altLang="ko-KR"/>
              <a:t>.</a:t>
            </a:r>
          </a:p>
          <a:p>
            <a:r>
              <a:rPr lang="ko-KR" altLang="en-US"/>
              <a:t>다 되셨나요</a:t>
            </a:r>
            <a:r>
              <a:rPr lang="en-US" altLang="ko-KR"/>
              <a:t>? </a:t>
            </a:r>
            <a:r>
              <a:rPr lang="ko-KR" altLang="en-US"/>
              <a:t>문제 있으신 분</a:t>
            </a:r>
            <a:r>
              <a:rPr lang="en-US" altLang="ko-KR"/>
              <a:t>?</a:t>
            </a:r>
          </a:p>
          <a:p>
            <a:r>
              <a:rPr lang="ko-KR" altLang="en-US"/>
              <a:t>다음 시간에 이 프로젝트에 </a:t>
            </a:r>
            <a:r>
              <a:rPr lang="en-US" altLang="ko-KR" b="1"/>
              <a:t>Calculator </a:t>
            </a:r>
            <a:r>
              <a:rPr lang="ko-KR" altLang="en-US" b="1"/>
              <a:t>클래스</a:t>
            </a:r>
            <a:r>
              <a:rPr lang="ko-KR" altLang="en-US"/>
              <a:t>를 만들고 </a:t>
            </a:r>
            <a:r>
              <a:rPr lang="ko-KR" altLang="en-US" b="1"/>
              <a:t>실제 테스트 코드</a:t>
            </a:r>
            <a:r>
              <a:rPr lang="ko-KR" altLang="en-US"/>
              <a:t>를 작성해보겠습니다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프로젝트를 만들었으니 이제 </a:t>
            </a:r>
            <a:r>
              <a:rPr lang="en-US" altLang="ko-KR" b="1"/>
              <a:t>Test Explorer</a:t>
            </a:r>
            <a:r>
              <a:rPr lang="ko-KR" altLang="en-US" b="1"/>
              <a:t>를 제대로 활용</a:t>
            </a:r>
            <a:r>
              <a:rPr lang="ko-KR" altLang="en-US"/>
              <a:t>하는 법을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Test Explorer</a:t>
            </a:r>
            <a:r>
              <a:rPr lang="ko-KR" altLang="en-US"/>
              <a:t>는 </a:t>
            </a:r>
            <a:r>
              <a:rPr lang="en-US" altLang="ko-KR"/>
              <a:t>Visual Studio</a:t>
            </a:r>
            <a:r>
              <a:rPr lang="ko-KR" altLang="en-US"/>
              <a:t>에서 </a:t>
            </a:r>
            <a:r>
              <a:rPr lang="ko-KR" altLang="en-US" b="1"/>
              <a:t>테스트의 모든 것</a:t>
            </a:r>
            <a:r>
              <a:rPr lang="ko-KR" altLang="en-US"/>
              <a:t>을 관리하는 도구예요</a:t>
            </a:r>
            <a:r>
              <a:rPr lang="en-US" altLang="ko-KR"/>
              <a:t>. </a:t>
            </a:r>
            <a:r>
              <a:rPr lang="ko-KR" altLang="en-US"/>
              <a:t>테스트 찾고</a:t>
            </a:r>
            <a:r>
              <a:rPr lang="en-US" altLang="ko-KR"/>
              <a:t>, </a:t>
            </a:r>
            <a:r>
              <a:rPr lang="ko-KR" altLang="en-US"/>
              <a:t>실행하고</a:t>
            </a:r>
            <a:r>
              <a:rPr lang="en-US" altLang="ko-KR"/>
              <a:t>, </a:t>
            </a:r>
            <a:r>
              <a:rPr lang="ko-KR" altLang="en-US"/>
              <a:t>결과 보고</a:t>
            </a:r>
            <a:r>
              <a:rPr lang="en-US" altLang="ko-KR"/>
              <a:t>, </a:t>
            </a:r>
            <a:r>
              <a:rPr lang="ko-KR" altLang="en-US"/>
              <a:t>디버깅까지 전부 여기서 합니다</a:t>
            </a:r>
            <a:r>
              <a:rPr lang="en-US" altLang="ko-KR"/>
              <a:t>.</a:t>
            </a:r>
          </a:p>
          <a:p>
            <a:r>
              <a:rPr lang="en-US" altLang="ko-KR" b="1"/>
              <a:t>6</a:t>
            </a:r>
            <a:r>
              <a:rPr lang="ko-KR" altLang="en-US" b="1"/>
              <a:t>단계 워크플로우</a:t>
            </a:r>
            <a:r>
              <a:rPr lang="ko-KR" altLang="en-US"/>
              <a:t>로 설명드릴게요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1: </a:t>
            </a:r>
            <a:r>
              <a:rPr lang="ko-KR" altLang="en-US" b="1"/>
              <a:t>테스트 발견 🔍</a:t>
            </a:r>
          </a:p>
          <a:p>
            <a:r>
              <a:rPr lang="ko-KR" altLang="en-US" b="1"/>
              <a:t>첫 번째</a:t>
            </a:r>
            <a:r>
              <a:rPr lang="en-US" altLang="ko-KR" b="1"/>
              <a:t>, </a:t>
            </a:r>
            <a:r>
              <a:rPr lang="ko-KR" altLang="en-US" b="1"/>
              <a:t>테스트 발견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빌드 시 테스트 어셈블리에서 테스트 메서드 자동 검색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Test Explorer</a:t>
            </a:r>
            <a:r>
              <a:rPr lang="ko-KR" altLang="en-US"/>
              <a:t>는 </a:t>
            </a:r>
            <a:r>
              <a:rPr lang="ko-KR" altLang="en-US" b="1"/>
              <a:t>자동으로</a:t>
            </a:r>
            <a:r>
              <a:rPr lang="ko-KR" altLang="en-US"/>
              <a:t> 테스트를 찾아줍니다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발견 원리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빌드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(Ctrl + Shift + B)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↓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어셈블리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(.dll)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스캔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↓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[Test], [Fact], [TestMethod]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찾음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↓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목록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안 보인다면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먼저 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(Ctrl + Shift + B)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TestAdapter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 확인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테스트가 안 보일 때 가장 흔한 원인이 </a:t>
            </a:r>
            <a:r>
              <a:rPr lang="ko-KR" altLang="en-US" b="1"/>
              <a:t>빌드 안 한 것</a:t>
            </a:r>
            <a:r>
              <a:rPr lang="ko-KR" altLang="en-US"/>
              <a:t>이에요</a:t>
            </a:r>
            <a:r>
              <a:rPr lang="en-US" altLang="ko-KR"/>
              <a:t>. </a:t>
            </a:r>
            <a:r>
              <a:rPr lang="ko-KR" altLang="en-US"/>
              <a:t>코드 작성 후 </a:t>
            </a:r>
            <a:r>
              <a:rPr lang="en-US" altLang="ko-KR" b="1"/>
              <a:t>Ctrl + Shift + B</a:t>
            </a:r>
            <a:r>
              <a:rPr lang="ko-KR" altLang="en-US"/>
              <a:t>로 빌드하면 테스트가 나타납니다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2: </a:t>
            </a:r>
            <a:r>
              <a:rPr lang="ko-KR" altLang="en-US" b="1"/>
              <a:t>필터링</a:t>
            </a:r>
            <a:r>
              <a:rPr lang="en-US" altLang="ko-KR" b="1"/>
              <a:t>/</a:t>
            </a:r>
            <a:r>
              <a:rPr lang="ko-KR" altLang="en-US" b="1"/>
              <a:t>구성 🔽</a:t>
            </a:r>
          </a:p>
          <a:p>
            <a:r>
              <a:rPr lang="ko-KR" altLang="en-US" b="1"/>
              <a:t>두 번째</a:t>
            </a:r>
            <a:r>
              <a:rPr lang="en-US" altLang="ko-KR" b="1"/>
              <a:t>, </a:t>
            </a:r>
            <a:r>
              <a:rPr lang="ko-KR" altLang="en-US" b="1"/>
              <a:t>필터링과 구성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프로젝트</a:t>
            </a:r>
            <a:r>
              <a:rPr lang="en-US" altLang="ko-KR" i="1"/>
              <a:t>, </a:t>
            </a:r>
            <a:r>
              <a:rPr lang="ko-KR" altLang="en-US" i="1"/>
              <a:t>네임스페이스</a:t>
            </a:r>
            <a:r>
              <a:rPr lang="en-US" altLang="ko-KR" i="1"/>
              <a:t>, </a:t>
            </a:r>
            <a:r>
              <a:rPr lang="ko-KR" altLang="en-US" i="1"/>
              <a:t>클래스별 그룹화 및 필터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테스트가 많아지면 </a:t>
            </a:r>
            <a:r>
              <a:rPr lang="ko-KR" altLang="en-US" b="1"/>
              <a:t>정리</a:t>
            </a:r>
            <a:r>
              <a:rPr lang="ko-KR" altLang="en-US"/>
              <a:t>가 중요해요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필터링 기능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📂 그룹화 옵션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(Group By)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프로젝트별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Demo.Tests, Api.Tests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네임스페이스별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Calculator, UserService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클래스별  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CalculatorTests, AddTests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결과별           →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미실행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🔍 검색 필터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이름 검색 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테스트만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"Category:Math"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상태 필터        → 실패한 것만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통과한 것만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관련만 보고 싶다면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검색창에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"Calculator"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Test Explorer </a:t>
            </a:r>
            <a:r>
              <a:rPr lang="ko-KR" altLang="en-US"/>
              <a:t>상단에 </a:t>
            </a:r>
            <a:r>
              <a:rPr lang="ko-KR" altLang="en-US" b="1"/>
              <a:t>검색창</a:t>
            </a:r>
            <a:r>
              <a:rPr lang="ko-KR" altLang="en-US"/>
              <a:t>과 </a:t>
            </a:r>
            <a:r>
              <a:rPr lang="ko-KR" altLang="en-US" b="1"/>
              <a:t>그룹화 버튼</a:t>
            </a:r>
            <a:r>
              <a:rPr lang="ko-KR" altLang="en-US"/>
              <a:t>이 있어요</a:t>
            </a:r>
            <a:r>
              <a:rPr lang="en-US" altLang="ko-KR"/>
              <a:t>. </a:t>
            </a:r>
            <a:r>
              <a:rPr lang="ko-KR" altLang="en-US"/>
              <a:t>테스트가 많아지면 이걸 적극 활용하세요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3: </a:t>
            </a:r>
            <a:r>
              <a:rPr lang="ko-KR" altLang="en-US" b="1"/>
              <a:t>테스트 실행 ▶️</a:t>
            </a:r>
          </a:p>
          <a:p>
            <a:r>
              <a:rPr lang="ko-KR" altLang="en-US" b="1"/>
              <a:t>세 번째</a:t>
            </a:r>
            <a:r>
              <a:rPr lang="en-US" altLang="ko-KR" b="1"/>
              <a:t>, </a:t>
            </a:r>
            <a:r>
              <a:rPr lang="ko-KR" altLang="en-US" b="1"/>
              <a:t>테스트 실행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전체</a:t>
            </a:r>
            <a:r>
              <a:rPr lang="en-US" altLang="ko-KR" i="1"/>
              <a:t>/</a:t>
            </a:r>
            <a:r>
              <a:rPr lang="ko-KR" altLang="en-US" i="1"/>
              <a:t>선택</a:t>
            </a:r>
            <a:r>
              <a:rPr lang="en-US" altLang="ko-KR" i="1"/>
              <a:t>/</a:t>
            </a:r>
            <a:r>
              <a:rPr lang="ko-KR" altLang="en-US" i="1"/>
              <a:t>실패 테스트 실행</a:t>
            </a:r>
            <a:r>
              <a:rPr lang="en-US" altLang="ko-KR" i="1"/>
              <a:t>, </a:t>
            </a:r>
            <a:r>
              <a:rPr lang="ko-KR" altLang="en-US" i="1"/>
              <a:t>병렬 실행 지원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테스트 실행 방법이 여러 가지 있어요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실행 방법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🖱️ 마우스로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▶️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All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테스트 실행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테스트 선택 → 우클릭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선택된 것만 실행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Failed Tests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실패한 것만 재실행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⌨️ 단축키로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Ctrl + R, T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커서의 테스트 실행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R, A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 All)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Ctrl + R, F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실패한 테스트만 재실행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 Failed)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때 자주 쓰는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Ctrl+R, T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확인 →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Ctrl + R, A</a:t>
            </a:r>
            <a:r>
              <a:rPr lang="ko-KR" altLang="en-US"/>
              <a:t> 이거 꼭 외워두세요</a:t>
            </a:r>
            <a:r>
              <a:rPr lang="en-US" altLang="ko-KR"/>
              <a:t>! </a:t>
            </a:r>
            <a:r>
              <a:rPr lang="ko-KR" altLang="en-US"/>
              <a:t>전체 테스트 실행하는 단축키입니다</a:t>
            </a:r>
            <a:r>
              <a:rPr lang="en-US" altLang="ko-KR"/>
              <a:t>.</a:t>
            </a:r>
          </a:p>
          <a:p>
            <a:r>
              <a:rPr lang="en-US" altLang="ko-KR"/>
              <a:t>TDD </a:t>
            </a:r>
            <a:r>
              <a:rPr lang="ko-KR" altLang="en-US"/>
              <a:t>할 때는 </a:t>
            </a:r>
            <a:r>
              <a:rPr lang="en-US" altLang="ko-KR" b="1"/>
              <a:t>Ctrl + R, T</a:t>
            </a:r>
            <a:r>
              <a:rPr lang="ko-KR" altLang="en-US"/>
              <a:t>로 현재 작업 중인 테스트만 빠르게 실행합니다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4: </a:t>
            </a:r>
            <a:r>
              <a:rPr lang="ko-KR" altLang="en-US" b="1"/>
              <a:t>결과 분석 📊</a:t>
            </a:r>
          </a:p>
          <a:p>
            <a:r>
              <a:rPr lang="ko-KR" altLang="en-US" b="1"/>
              <a:t>네 번째</a:t>
            </a:r>
            <a:r>
              <a:rPr lang="en-US" altLang="ko-KR" b="1"/>
              <a:t>, </a:t>
            </a:r>
            <a:r>
              <a:rPr lang="ko-KR" altLang="en-US" b="1"/>
              <a:t>결과 분석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성공</a:t>
            </a:r>
            <a:r>
              <a:rPr lang="en-US" altLang="ko-KR" i="1"/>
              <a:t>/</a:t>
            </a:r>
            <a:r>
              <a:rPr lang="ko-KR" altLang="en-US" i="1"/>
              <a:t>실패 결과</a:t>
            </a:r>
            <a:r>
              <a:rPr lang="en-US" altLang="ko-KR" i="1"/>
              <a:t>, </a:t>
            </a:r>
            <a:r>
              <a:rPr lang="ko-KR" altLang="en-US" i="1"/>
              <a:t>오류 메시지 및 스택 추적 분석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결과 읽는 법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초록색 체크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(✓)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기대한 대로 동작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빨간색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 잘못됨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⚪ 회색            → 아직 실행 안 함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🟡 노란색          → 건너뜀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(Skip/Ignore)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확인할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오류 메시지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"Expected: 5, But was: 4"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인데 실제값이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였다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스택 추적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(Stack Trace)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at CalculatorTests.Add_Test() in ...cs:line 15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→ 15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줄에서 실패했다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클릭하면 해당 코드로 바로 이동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실패한 테스트를 클릭하면 </a:t>
            </a:r>
            <a:r>
              <a:rPr lang="ko-KR" altLang="en-US" b="1"/>
              <a:t>오류 메시지</a:t>
            </a:r>
            <a:r>
              <a:rPr lang="ko-KR" altLang="en-US"/>
              <a:t>와 </a:t>
            </a:r>
            <a:r>
              <a:rPr lang="ko-KR" altLang="en-US" b="1"/>
              <a:t>스택 추적</a:t>
            </a:r>
            <a:r>
              <a:rPr lang="ko-KR" altLang="en-US"/>
              <a:t>이 보여요</a:t>
            </a:r>
            <a:r>
              <a:rPr lang="en-US" altLang="ko-KR"/>
              <a:t>. </a:t>
            </a:r>
            <a:r>
              <a:rPr lang="ko-KR" altLang="en-US"/>
              <a:t>스택 추적의 </a:t>
            </a:r>
            <a:r>
              <a:rPr lang="ko-KR" altLang="en-US" b="1"/>
              <a:t>파일명</a:t>
            </a:r>
            <a:r>
              <a:rPr lang="en-US" altLang="ko-KR" b="1"/>
              <a:t>:</a:t>
            </a:r>
            <a:r>
              <a:rPr lang="ko-KR" altLang="en-US" b="1"/>
              <a:t>줄번호</a:t>
            </a:r>
            <a:r>
              <a:rPr lang="ko-KR" altLang="en-US"/>
              <a:t>를 클릭하면 바로 그 코드로 이동합니다</a:t>
            </a:r>
            <a:r>
              <a:rPr lang="en-US" altLang="ko-KR"/>
              <a:t>.</a:t>
            </a:r>
          </a:p>
          <a:p>
            <a:r>
              <a:rPr lang="ko-KR" altLang="en-US"/>
              <a:t>이게 디버깅의 </a:t>
            </a:r>
            <a:r>
              <a:rPr lang="ko-KR" altLang="en-US" b="1"/>
              <a:t>첫 번째 단서</a:t>
            </a:r>
            <a:r>
              <a:rPr lang="ko-KR" altLang="en-US"/>
              <a:t>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5: </a:t>
            </a:r>
            <a:r>
              <a:rPr lang="ko-KR" altLang="en-US" b="1"/>
              <a:t>디버깅 🐛</a:t>
            </a:r>
          </a:p>
          <a:p>
            <a:r>
              <a:rPr lang="ko-KR" altLang="en-US" b="1"/>
              <a:t>다섯 번째</a:t>
            </a:r>
            <a:r>
              <a:rPr lang="en-US" altLang="ko-KR" b="1"/>
              <a:t>, </a:t>
            </a:r>
            <a:r>
              <a:rPr lang="ko-KR" altLang="en-US" b="1"/>
              <a:t>디버깅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디버깅 모드 실행</a:t>
            </a:r>
            <a:r>
              <a:rPr lang="en-US" altLang="ko-KR" i="1"/>
              <a:t>, </a:t>
            </a:r>
            <a:r>
              <a:rPr lang="ko-KR" altLang="en-US" i="1"/>
              <a:t>중단점 설정 및 변수 검사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테스트가 실패했는데 원인을 모르겠다면</a:t>
            </a:r>
            <a:r>
              <a:rPr lang="en-US" altLang="ko-KR"/>
              <a:t>? </a:t>
            </a:r>
            <a:r>
              <a:rPr lang="ko-KR" altLang="en-US" b="1"/>
              <a:t>디버깅</a:t>
            </a:r>
            <a:r>
              <a:rPr lang="ko-KR" altLang="en-US"/>
              <a:t>하세요</a:t>
            </a:r>
            <a:r>
              <a:rPr lang="en-US" altLang="ko-KR"/>
              <a:t>!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디버깅 방법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중단점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(Breakpoint)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코드 왼쪽 여백 클릭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 점 생김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F9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디버그 모드로 테스트 실행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 우클릭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"Debug"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R, Ctrl + T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중단점에서 멈추면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변수 값 확인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마우스 올리기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Watch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창에서 표현식 평가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F10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줄씩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F11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안으로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나오지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때 디버깅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디버깅 단축키</a:t>
            </a:r>
            <a:r>
              <a:rPr lang="en-US" altLang="ko-KR"/>
              <a:t>: </a:t>
            </a:r>
            <a:r>
              <a:rPr lang="en-US" altLang="ko-KR" b="1"/>
              <a:t>Ctrl + R, Ctrl + T</a:t>
            </a:r>
            <a:endParaRPr lang="ko-KR" altLang="en-US"/>
          </a:p>
          <a:p>
            <a:r>
              <a:rPr lang="ko-KR" altLang="en-US"/>
              <a:t>일반 실행이 </a:t>
            </a:r>
            <a:r>
              <a:rPr lang="en-US" altLang="ko-KR" b="1"/>
              <a:t>Ctrl + R, T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디버그 실행이 </a:t>
            </a:r>
            <a:r>
              <a:rPr lang="en-US" altLang="ko-KR" b="1"/>
              <a:t>Ctrl + R, Ctrl + T</a:t>
            </a:r>
            <a:r>
              <a:rPr lang="ko-KR" altLang="en-US"/>
              <a:t>입니다</a:t>
            </a:r>
            <a:r>
              <a:rPr lang="en-US" altLang="ko-KR"/>
              <a:t>. T</a:t>
            </a:r>
            <a:r>
              <a:rPr lang="ko-KR" altLang="en-US"/>
              <a:t>를 누를 때 </a:t>
            </a:r>
            <a:r>
              <a:rPr lang="en-US" altLang="ko-KR"/>
              <a:t>Ctrl</a:t>
            </a:r>
            <a:r>
              <a:rPr lang="ko-KR" altLang="en-US"/>
              <a:t>을 같이 누르면 디버그 모드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6: </a:t>
            </a:r>
            <a:r>
              <a:rPr lang="ko-KR" altLang="en-US" b="1"/>
              <a:t>반복 실행 🔄</a:t>
            </a:r>
          </a:p>
          <a:p>
            <a:r>
              <a:rPr lang="ko-KR" altLang="en-US" b="1"/>
              <a:t>여섯 번째</a:t>
            </a:r>
            <a:r>
              <a:rPr lang="en-US" altLang="ko-KR" b="1"/>
              <a:t>, </a:t>
            </a:r>
            <a:r>
              <a:rPr lang="ko-KR" altLang="en-US" b="1"/>
              <a:t>반복 실행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코드 수정 시 </a:t>
            </a:r>
            <a:r>
              <a:rPr lang="en-US" altLang="ko-KR" i="1"/>
              <a:t>Live Unit Testing </a:t>
            </a:r>
            <a:r>
              <a:rPr lang="ko-KR" altLang="en-US" i="1"/>
              <a:t>또는 수동 재실행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반복 실행 패턴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수동 반복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Ctrl+R, A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확인 → 다시 수정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Live Unit Testing (VS Enterprise)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수정하면 → 자동으로 관련 테스트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⚡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에디터에 바로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이 줄은 테스트 통과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🔴 이 줄은 테스트 실패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➖ 이 줄은 테스트 커버 안 됨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Live Unit Testing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버전만 지원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Community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수동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(Ctrl+R, A)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Community </a:t>
            </a:r>
            <a:r>
              <a:rPr lang="ko-KR" altLang="en-US"/>
              <a:t>버전 쓰시는 분들은 </a:t>
            </a:r>
            <a:r>
              <a:rPr lang="en-US" altLang="ko-KR" b="1"/>
              <a:t>Ctrl + R, A</a:t>
            </a:r>
            <a:r>
              <a:rPr lang="ko-KR" altLang="en-US"/>
              <a:t>로 수동 실행하시면 됩니다</a:t>
            </a:r>
            <a:r>
              <a:rPr lang="en-US" altLang="ko-KR"/>
              <a:t>. Enterprise </a:t>
            </a:r>
            <a:r>
              <a:rPr lang="ko-KR" altLang="en-US"/>
              <a:t>있으신 분들은 </a:t>
            </a:r>
            <a:r>
              <a:rPr lang="en-US" altLang="ko-KR"/>
              <a:t>Live Unit Testing </a:t>
            </a:r>
            <a:r>
              <a:rPr lang="ko-KR" altLang="en-US"/>
              <a:t>켜보세요</a:t>
            </a:r>
            <a:r>
              <a:rPr lang="en-US" altLang="ko-KR"/>
              <a:t>. </a:t>
            </a:r>
            <a:r>
              <a:rPr lang="ko-KR" altLang="en-US"/>
              <a:t>정말 편해요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단축키 활용 ⌨️</a:t>
            </a:r>
          </a:p>
          <a:p>
            <a:r>
              <a:rPr lang="ko-KR" altLang="en-US"/>
              <a:t>하단에 </a:t>
            </a:r>
            <a:r>
              <a:rPr lang="ko-KR" altLang="en-US" b="1"/>
              <a:t>단축키</a:t>
            </a:r>
            <a:r>
              <a:rPr lang="ko-KR" altLang="en-US"/>
              <a:t>가 정리되어 있습니다</a:t>
            </a:r>
            <a:r>
              <a:rPr lang="en-US" altLang="ko-KR"/>
              <a:t>.</a:t>
            </a:r>
          </a:p>
          <a:p>
            <a:r>
              <a:rPr lang="en-US" altLang="ko-KR" b="1"/>
              <a:t>Ctrl+R, T</a:t>
            </a:r>
            <a:r>
              <a:rPr lang="en-US" altLang="ko-KR"/>
              <a:t>: </a:t>
            </a:r>
            <a:r>
              <a:rPr lang="ko-KR" altLang="en-US"/>
              <a:t>모든 테스트 실행 </a:t>
            </a:r>
            <a:r>
              <a:rPr lang="en-US" altLang="ko-KR" b="1"/>
              <a:t>Ctrl+R, A</a:t>
            </a:r>
            <a:r>
              <a:rPr lang="en-US" altLang="ko-KR"/>
              <a:t>: </a:t>
            </a:r>
            <a:r>
              <a:rPr lang="ko-KR" altLang="en-US"/>
              <a:t>디버깅 </a:t>
            </a:r>
            <a:r>
              <a:rPr lang="en-US" altLang="ko-KR" b="1"/>
              <a:t>Ctrl+R, F</a:t>
            </a:r>
            <a:r>
              <a:rPr lang="en-US" altLang="ko-KR"/>
              <a:t>: </a:t>
            </a:r>
            <a:r>
              <a:rPr lang="ko-KR" altLang="en-US"/>
              <a:t>실패 테스트만 재실행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필수 단축키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🔥 가장 많이 쓰는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R, A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 All)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Ctrl + R, T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 Test)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Ctrl + R, F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실패한 테스트만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 Failed)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🐛 디버깅용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R, Ctrl + T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디버그 모드로 현재 테스트 실행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R, Ctrl + A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디버그 모드로 전체 테스트 실행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기타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E, T      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열기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 + Shift + 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발견용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이거 </a:t>
            </a:r>
            <a:r>
              <a:rPr lang="ko-KR" altLang="en-US" b="1"/>
              <a:t>외워두시면</a:t>
            </a:r>
            <a:r>
              <a:rPr lang="ko-KR" altLang="en-US"/>
              <a:t> 생산성이 확 올라갑니다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Test Explorer </a:t>
            </a:r>
            <a:r>
              <a:rPr lang="ko-KR" altLang="en-US" b="1"/>
              <a:t>패널 구성</a:t>
            </a:r>
          </a:p>
          <a:p>
            <a:r>
              <a:rPr lang="ko-KR" altLang="en-US"/>
              <a:t>하단에 </a:t>
            </a:r>
            <a:r>
              <a:rPr lang="ko-KR" altLang="en-US" b="1"/>
              <a:t>세 가지 패널</a:t>
            </a:r>
            <a:r>
              <a:rPr lang="ko-KR" altLang="en-US"/>
              <a:t>이 있어요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 구성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┌─────────────┬─────────────────────────────────────────────┐│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│                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    │           테스트 결과 패널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탐색기     │                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패널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(Console.WriteLine)                 ││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뷰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정보   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계층구조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스택 추적   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│                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├─────────────┴─────────────────────────────────────────────┤│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도구 모음                        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▶️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🐛 디버그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새로고침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⚙️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││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└───────────────────────────────────────────────────────────┘│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Test Explorer </a:t>
            </a:r>
            <a:r>
              <a:rPr lang="en-US" altLang="ko-KR" b="1"/>
              <a:t>6</a:t>
            </a:r>
            <a:r>
              <a:rPr lang="ko-KR" altLang="en-US" b="1"/>
              <a:t>단계 워크플로우</a:t>
            </a:r>
            <a:r>
              <a:rPr lang="en-US" altLang="ko-KR"/>
              <a:t>:</a:t>
            </a:r>
          </a:p>
          <a:p>
            <a:r>
              <a:rPr lang="en-US" altLang="ko-KR"/>
              <a:t>1️⃣ </a:t>
            </a:r>
            <a:r>
              <a:rPr lang="ko-KR" altLang="en-US" b="1"/>
              <a:t>발견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빌드하면 자동으로 테스트 찾음 </a:t>
            </a:r>
            <a:r>
              <a:rPr lang="en-US" altLang="ko-KR"/>
              <a:t>2️⃣ </a:t>
            </a:r>
            <a:r>
              <a:rPr lang="ko-KR" altLang="en-US" b="1"/>
              <a:t>필터링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검색</a:t>
            </a:r>
            <a:r>
              <a:rPr lang="en-US" altLang="ko-KR"/>
              <a:t>, </a:t>
            </a:r>
            <a:r>
              <a:rPr lang="ko-KR" altLang="en-US"/>
              <a:t>그룹화로 원하는 테스트 찾기 </a:t>
            </a:r>
            <a:r>
              <a:rPr lang="en-US" altLang="ko-KR"/>
              <a:t>3️⃣ </a:t>
            </a:r>
            <a:r>
              <a:rPr lang="ko-KR" altLang="en-US" b="1"/>
              <a:t>실행</a:t>
            </a:r>
            <a:r>
              <a:rPr lang="ko-KR" altLang="en-US"/>
              <a:t> </a:t>
            </a:r>
            <a:r>
              <a:rPr lang="en-US" altLang="ko-KR"/>
              <a:t>- Ctrl+R, A (</a:t>
            </a:r>
            <a:r>
              <a:rPr lang="ko-KR" altLang="en-US"/>
              <a:t>전체</a:t>
            </a:r>
            <a:r>
              <a:rPr lang="en-US" altLang="ko-KR"/>
              <a:t>) / Ctrl+R, T (</a:t>
            </a:r>
            <a:r>
              <a:rPr lang="ko-KR" altLang="en-US"/>
              <a:t>선택</a:t>
            </a:r>
            <a:r>
              <a:rPr lang="en-US" altLang="ko-KR"/>
              <a:t>) 4️⃣ </a:t>
            </a:r>
            <a:r>
              <a:rPr lang="ko-KR" altLang="en-US" b="1"/>
              <a:t>분석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오류 메시지</a:t>
            </a:r>
            <a:r>
              <a:rPr lang="en-US" altLang="ko-KR"/>
              <a:t>, </a:t>
            </a:r>
            <a:r>
              <a:rPr lang="ko-KR" altLang="en-US"/>
              <a:t>스택 추적 확인 </a:t>
            </a:r>
            <a:r>
              <a:rPr lang="en-US" altLang="ko-KR"/>
              <a:t>5️⃣ </a:t>
            </a:r>
            <a:r>
              <a:rPr lang="ko-KR" altLang="en-US" b="1"/>
              <a:t>디버깅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중단점 </a:t>
            </a:r>
            <a:r>
              <a:rPr lang="en-US" altLang="ko-KR"/>
              <a:t>+ Ctrl+R, Ctrl+T 6️⃣ </a:t>
            </a:r>
            <a:r>
              <a:rPr lang="ko-KR" altLang="en-US" b="1"/>
              <a:t>반복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수정하고 다시 실행</a:t>
            </a:r>
            <a:r>
              <a:rPr lang="en-US" altLang="ko-KR"/>
              <a:t>!</a:t>
            </a:r>
          </a:p>
          <a:p>
            <a:r>
              <a:rPr lang="ko-KR" altLang="en-US" b="1"/>
              <a:t>단축키 </a:t>
            </a:r>
            <a:r>
              <a:rPr lang="en-US" altLang="ko-KR" b="1"/>
              <a:t>3</a:t>
            </a:r>
            <a:r>
              <a:rPr lang="ko-KR" altLang="en-US" b="1"/>
              <a:t>개만 외우세요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 b="1"/>
              <a:t>Ctrl+R, A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전체 실행</a:t>
            </a:r>
          </a:p>
          <a:p>
            <a:r>
              <a:rPr lang="en-US" altLang="ko-KR" b="1"/>
              <a:t>Ctrl+R, 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선택 실행</a:t>
            </a:r>
          </a:p>
          <a:p>
            <a:r>
              <a:rPr lang="en-US" altLang="ko-KR" b="1"/>
              <a:t>Ctrl+R, F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실패만 재실행</a:t>
            </a:r>
          </a:p>
          <a:p>
            <a:r>
              <a:rPr lang="ko-KR" altLang="en-US"/>
              <a:t>다음 시간에 실제로 테스트 코드를 작성해보겠습니다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테스트의 </a:t>
            </a:r>
            <a:r>
              <a:rPr lang="ko-KR" altLang="en-US" b="1"/>
              <a:t>핵심 중의 핵심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Assert</a:t>
            </a:r>
            <a:r>
              <a:rPr lang="en-US" altLang="ko-KR"/>
              <a:t> - </a:t>
            </a:r>
            <a:r>
              <a:rPr lang="ko-KR" altLang="en-US"/>
              <a:t>단언</a:t>
            </a:r>
            <a:r>
              <a:rPr lang="en-US" altLang="ko-KR"/>
              <a:t>(</a:t>
            </a:r>
            <a:r>
              <a:rPr lang="ko-KR" altLang="en-US"/>
              <a:t>斷言</a:t>
            </a:r>
            <a:r>
              <a:rPr lang="en-US" altLang="ko-KR"/>
              <a:t>). "</a:t>
            </a:r>
            <a:r>
              <a:rPr lang="ko-KR" altLang="en-US"/>
              <a:t>이건 반드시 이래야 한다</a:t>
            </a:r>
            <a:r>
              <a:rPr lang="en-US" altLang="ko-KR"/>
              <a:t>!"</a:t>
            </a:r>
            <a:r>
              <a:rPr lang="ko-KR" altLang="en-US"/>
              <a:t>라고 선언하는 거예요</a:t>
            </a:r>
            <a:r>
              <a:rPr lang="en-US" altLang="ko-KR"/>
              <a:t>.</a:t>
            </a:r>
          </a:p>
          <a:p>
            <a:r>
              <a:rPr lang="ko-KR" altLang="en-US"/>
              <a:t>테스트 코드에서 </a:t>
            </a:r>
            <a:r>
              <a:rPr lang="en-US" altLang="ko-KR" b="1"/>
              <a:t>Assert</a:t>
            </a:r>
            <a:r>
              <a:rPr lang="ko-KR" altLang="en-US" b="1"/>
              <a:t>가 없으면 테스트가 아닙니다</a:t>
            </a:r>
            <a:r>
              <a:rPr lang="en-US" altLang="ko-KR" b="1"/>
              <a:t>.</a:t>
            </a:r>
            <a:r>
              <a:rPr lang="ko-KR" altLang="en-US"/>
              <a:t> </a:t>
            </a:r>
            <a:r>
              <a:rPr lang="en-US" altLang="ko-KR"/>
              <a:t>Console.WriteLine</a:t>
            </a:r>
            <a:r>
              <a:rPr lang="ko-KR" altLang="en-US"/>
              <a:t>으로 출력만 하는 건 그냥 출력이에요</a:t>
            </a:r>
            <a:r>
              <a:rPr lang="en-US" altLang="ko-KR"/>
              <a:t>.</a:t>
            </a:r>
          </a:p>
          <a:p>
            <a:r>
              <a:rPr lang="ko-KR" altLang="en-US"/>
              <a:t>가장 많이 쓰는 </a:t>
            </a:r>
            <a:r>
              <a:rPr lang="en-US" altLang="ko-KR" b="1"/>
              <a:t>Assert </a:t>
            </a:r>
            <a:r>
              <a:rPr lang="ko-KR" altLang="en-US" b="1"/>
              <a:t>메서드들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값 비교 </a:t>
            </a:r>
            <a:r>
              <a:rPr lang="en-US" altLang="ko-KR" b="1"/>
              <a:t>Assert </a:t>
            </a:r>
            <a:r>
              <a:rPr lang="ko-KR" altLang="en-US" b="1"/>
              <a:t>➖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값 비교 </a:t>
            </a:r>
            <a:r>
              <a:rPr lang="en-US" altLang="ko-KR" b="1"/>
              <a:t>Assert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 b="1"/>
              <a:t>가장 많이 쓰는</a:t>
            </a:r>
            <a:r>
              <a:rPr lang="ko-KR" altLang="en-US"/>
              <a:t> </a:t>
            </a:r>
            <a:r>
              <a:rPr lang="en-US" altLang="ko-KR"/>
              <a:t>Assert</a:t>
            </a:r>
            <a:r>
              <a:rPr lang="ko-KR" altLang="en-US"/>
              <a:t>예요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actual)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Assert.AreNotEqual(notExpected, actual)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비교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Assert.AreEqual(expected, actual)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기대값과 실제값이 같아야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Assert.AreNotEqual(notExpected, actual)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값과는 달라야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코드 예시로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 result = calc.Add(2,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result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result);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통과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 == 5)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GetUser_ReturnsNonAdminRole()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user = 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"Admin"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Assert.AreNotEqual("Admin", user.Role);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"User"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통과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주의</a:t>
            </a:r>
            <a:r>
              <a:rPr lang="en-US" altLang="ko-KR" b="1"/>
              <a:t>!</a:t>
            </a:r>
            <a:r>
              <a:rPr lang="ko-KR" altLang="en-US"/>
              <a:t> 순서가 중요합니다</a:t>
            </a:r>
            <a:r>
              <a:rPr lang="en-US" altLang="ko-KR"/>
              <a:t>.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Assert.AreEqual(expected, actual)</a:t>
            </a:r>
            <a:r>
              <a:rPr lang="en-US" altLang="ko-KR"/>
              <a:t> - </a:t>
            </a:r>
            <a:r>
              <a:rPr lang="ko-KR" altLang="en-US" b="1"/>
              <a:t>기대값이 먼저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반대로 쓰면 오류 메시지가 헷갈려요</a:t>
            </a:r>
            <a:r>
              <a:rPr lang="en-US" altLang="ko-KR"/>
              <a:t>. "Expected: 4, But was: 5" vs "Expected: 5, But was: 4"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조건 </a:t>
            </a:r>
            <a:r>
              <a:rPr lang="en-US" altLang="ko-KR" b="1"/>
              <a:t>Assert </a:t>
            </a:r>
            <a:r>
              <a:rPr lang="ko-KR" altLang="en-US" b="1"/>
              <a:t>✅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조건 </a:t>
            </a:r>
            <a:r>
              <a:rPr lang="en-US" altLang="ko-KR" b="1"/>
              <a:t>Assert</a:t>
            </a:r>
            <a:r>
              <a:rPr lang="ko-KR" altLang="en-US"/>
              <a:t>입니다</a:t>
            </a:r>
            <a:r>
              <a:rPr lang="en-US" altLang="ko-KR"/>
              <a:t>. true/false</a:t>
            </a:r>
            <a:r>
              <a:rPr lang="ko-KR" altLang="en-US"/>
              <a:t>를 검증할 때 씁니다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Assert.IsTrue(condition)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Assert.IsFalse(condition)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Assert.IsTrue(condition)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조건은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Assert.IsFalse(condition)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조건은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IsAdult_Age20_ReturnsTrue()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person = new Person { Age = 20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bool result = person.IsAdult();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Assert.IsTrue(result);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세면 성인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IsEmpty_NewList_ReturnsTrue()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list = new List&lt;int&gt;();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Assert.IsTrue(list.Count == 0);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OK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Assert.AreEqual(0, list.Count);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더 명확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팁</a:t>
            </a:r>
            <a:r>
              <a:rPr lang="en-US" altLang="ko-KR"/>
              <a:t>: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Assert.IsTrue(a == b)</a:t>
            </a:r>
            <a:r>
              <a:rPr lang="ko-KR" altLang="en-US"/>
              <a:t>보다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Assert.AreEqual(a, b)</a:t>
            </a:r>
            <a:r>
              <a:rPr lang="ko-KR" altLang="en-US"/>
              <a:t>가 낫습니다</a:t>
            </a:r>
            <a:r>
              <a:rPr lang="en-US" altLang="ko-KR"/>
              <a:t>. </a:t>
            </a:r>
            <a:r>
              <a:rPr lang="ko-KR" altLang="en-US"/>
              <a:t>실패 시 </a:t>
            </a:r>
            <a:r>
              <a:rPr lang="ko-KR" altLang="en-US" b="1"/>
              <a:t>오류 메시지가 더 친절</a:t>
            </a:r>
            <a:r>
              <a:rPr lang="ko-KR" altLang="en-US"/>
              <a:t>해요</a:t>
            </a:r>
            <a:r>
              <a:rPr lang="en-US" altLang="ko-KR"/>
              <a:t>.</a:t>
            </a:r>
          </a:p>
          <a:p>
            <a:r>
              <a:rPr lang="en-US" altLang="ko-KR"/>
              <a:t>IsTrue </a:t>
            </a:r>
            <a:r>
              <a:rPr lang="ko-KR" altLang="en-US"/>
              <a:t>실패</a:t>
            </a:r>
            <a:r>
              <a:rPr lang="en-US" altLang="ko-KR"/>
              <a:t>: "Expected: True, But was: False" (</a:t>
            </a:r>
            <a:r>
              <a:rPr lang="ko-KR" altLang="en-US"/>
              <a:t>뭐가 다른지 모름</a:t>
            </a:r>
            <a:r>
              <a:rPr lang="en-US" altLang="ko-KR"/>
              <a:t>) AreEqual </a:t>
            </a:r>
            <a:r>
              <a:rPr lang="ko-KR" altLang="en-US"/>
              <a:t>실패</a:t>
            </a:r>
            <a:r>
              <a:rPr lang="en-US" altLang="ko-KR"/>
              <a:t>: "Expected: 5, But was: 4" (</a:t>
            </a:r>
            <a:r>
              <a:rPr lang="ko-KR" altLang="en-US"/>
              <a:t>값을 바로 알 수 있음</a:t>
            </a:r>
            <a:r>
              <a:rPr lang="en-US" altLang="ko-KR"/>
              <a:t>)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Null </a:t>
            </a:r>
            <a:r>
              <a:rPr lang="ko-KR" altLang="en-US" b="1"/>
              <a:t>검증 ✖️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en-US" altLang="ko-KR" b="1"/>
              <a:t>Null </a:t>
            </a:r>
            <a:r>
              <a:rPr lang="ko-KR" altLang="en-US" b="1"/>
              <a:t>검증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객체가 </a:t>
            </a:r>
            <a:r>
              <a:rPr lang="en-US" altLang="ko-KR"/>
              <a:t>null</a:t>
            </a:r>
            <a:r>
              <a:rPr lang="ko-KR" altLang="en-US"/>
              <a:t>인지 아닌지 확인합니다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Assert.IsNull(object)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Assert.IsNotNull(object)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Assert.IsNull(object)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객체는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Assert.IsNotNull(object)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객체는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GetUser_ValidId_ReturnsUser()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user = 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Assert.IsNotNull(user);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유효한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유저가 있어야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Assert.AreEqual("John",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GetUser_InvalidId_ReturnsNull()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user = service.GetUser(-1);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Assert.IsNull(user);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잘못된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중요</a:t>
            </a:r>
            <a:r>
              <a:rPr lang="en-US" altLang="ko-KR" b="1"/>
              <a:t>!</a:t>
            </a:r>
            <a:r>
              <a:rPr lang="ko-KR" altLang="en-US"/>
              <a:t>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Assert.IsNotNull</a:t>
            </a:r>
            <a:r>
              <a:rPr lang="ko-KR" altLang="en-US"/>
              <a:t>을 먼저 하고 속성을 검사하세요</a:t>
            </a:r>
            <a:r>
              <a:rPr lang="en-US" altLang="ko-KR"/>
              <a:t>. </a:t>
            </a:r>
            <a:r>
              <a:rPr lang="ko-KR" altLang="en-US"/>
              <a:t>안 그러면 </a:t>
            </a:r>
            <a:r>
              <a:rPr lang="en-US" altLang="ko-KR" b="1"/>
              <a:t>NullReferenceException</a:t>
            </a:r>
            <a:r>
              <a:rPr lang="en-US" altLang="ko-KR"/>
              <a:t> </a:t>
            </a:r>
            <a:r>
              <a:rPr lang="ko-KR" altLang="en-US"/>
              <a:t>터집니다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위험한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 = 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Assert.AreEqual("John", user.Name);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user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이면 터짐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안전한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 = 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Assert.IsNotNull(user);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Assert.AreEqual("John", user.Name);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그다음 속성 검사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예외 검증 ⚠️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예외 검증</a:t>
            </a:r>
            <a:r>
              <a:rPr lang="ko-KR" altLang="en-US"/>
              <a:t>입니다</a:t>
            </a:r>
            <a:r>
              <a:rPr lang="en-US" altLang="ko-KR"/>
              <a:t>. "</a:t>
            </a:r>
            <a:r>
              <a:rPr lang="ko-KR" altLang="en-US"/>
              <a:t>이 메서드는 예외를 던져야 한다</a:t>
            </a:r>
            <a:r>
              <a:rPr lang="en-US" altLang="ko-KR"/>
              <a:t>"</a:t>
            </a:r>
            <a:r>
              <a:rPr lang="ko-KR" altLang="en-US"/>
              <a:t>를 검증합니다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Assert.Throws&lt;Exception&gt;(() =&gt; method())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Assert.DoesNotThrow(() =&gt; method())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검증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Assert.Throws&lt;TException&gt;(() =&gt; method())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던져야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Assert.DoesNotThrow(() =&gt; method())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코드는 예외를 던지면 안 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Divide_ByZero_ThrowsDivideByZeroException()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발생해야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Assert.Throws&lt;DivideByZeroException&gt;(() =&gt; calc.Divide(10,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Divide_ValidNumbers_DoesNotThrow()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정상적인 나눗셈은 예외가 없어야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Assert.DoesNotThrow(() =&gt; calc.Divide(10, 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람다</a:t>
            </a:r>
            <a:r>
              <a:rPr lang="en-US" altLang="ko-KR" b="1"/>
              <a:t>(Lambda)</a:t>
            </a:r>
            <a:r>
              <a:rPr lang="en-US" altLang="ko-KR"/>
              <a:t> </a:t>
            </a:r>
            <a:r>
              <a:rPr lang="ko-KR" altLang="en-US"/>
              <a:t>문법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=&gt;</a:t>
            </a:r>
            <a:r>
              <a:rPr lang="ko-KR" altLang="en-US"/>
              <a:t> 이 중요해요</a:t>
            </a:r>
            <a:r>
              <a:rPr lang="en-US" altLang="ko-KR"/>
              <a:t>. </a:t>
            </a:r>
            <a:r>
              <a:rPr lang="ko-KR" altLang="en-US"/>
              <a:t>실행할 코드를 </a:t>
            </a:r>
            <a:r>
              <a:rPr lang="ko-KR" altLang="en-US" b="1"/>
              <a:t>함수로 감싸서</a:t>
            </a:r>
            <a:r>
              <a:rPr lang="ko-KR" altLang="en-US"/>
              <a:t> 전달합니다</a:t>
            </a:r>
            <a:r>
              <a:rPr lang="en-US" altLang="ko-KR"/>
              <a:t>.</a:t>
            </a:r>
          </a:p>
          <a:p>
            <a:r>
              <a:rPr lang="ko-KR" altLang="en-US"/>
              <a:t>왜냐하면 </a:t>
            </a:r>
            <a:r>
              <a:rPr lang="en-US" altLang="ko-KR"/>
              <a:t>Assert</a:t>
            </a:r>
            <a:r>
              <a:rPr lang="ko-KR" altLang="en-US"/>
              <a:t>가 </a:t>
            </a:r>
            <a:r>
              <a:rPr lang="en-US" altLang="ko-KR"/>
              <a:t>"</a:t>
            </a:r>
            <a:r>
              <a:rPr lang="ko-KR" altLang="en-US"/>
              <a:t>이 코드를 실행해보고</a:t>
            </a:r>
            <a:r>
              <a:rPr lang="en-US" altLang="ko-KR"/>
              <a:t>, </a:t>
            </a:r>
            <a:r>
              <a:rPr lang="ko-KR" altLang="en-US"/>
              <a:t>예외가 나는지 확인</a:t>
            </a:r>
            <a:r>
              <a:rPr lang="en-US" altLang="ko-KR"/>
              <a:t>"</a:t>
            </a:r>
            <a:r>
              <a:rPr lang="ko-KR" altLang="en-US"/>
              <a:t>해야 하니까요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메시지까지 검증하고 싶다면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ex = Assert.Throws&lt;ArgumentException&gt;(() =&gt;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service.CreateUser(null));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Assert.AreEqual("Name cannot be null", ex.Message);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컬렉션 및 특수 비교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**컬렉션 및 특수 비교**가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컬렉션 및 특수 비교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컬렉션 검증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CollectionAssert.Contains(collection, item)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컬렉션에 이 항목이 있어야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CollectionAssert.AreEqual(expected, actual)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컬렉션이 같아야 한다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순서까지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CollectionAssert.AreEquivalent(expected, actual)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컬렉션이 같아야 한다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무관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GetNumbers_ContainsFive()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numbers = service.GetNumbers();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[1, 3, 5, 7, 9]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CollectionAssert.Contains(numbers, 5);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포함됨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GetNumbers_ReturnsExpectedList()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expected = new[] { 1, 2, 3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actual = service.GetNumbers();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CollectionAssert.AreEqual(expected, actual);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순서까지 같아야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부동소수점 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부동소수점 비교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Assert.AreEqual(expected, actual, delta)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오차 범위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(delta)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내에서 같으면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OK"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왜 필요할까요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double result = 0.1 + 0.2;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result = 0.30000000000000004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부동소수점 오차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Assert.AreEqual(0.3, result);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실패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Assert.AreEqual(0.3, result, 0.0001);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CalculatePI_ReturnsApproximateValue()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double result = calculator.CalculatePI();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3.14159...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이지만 정확히 맞출 수 없음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0.0001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오차 허용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Assert.AreEqual(3.14159, result, 0.0001);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메시지 추가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메시지 추가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actual,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메시지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실패했을 때 추가 정보 제공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Assert.AreEqual(100, user.Score,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$"User {user.Id}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점수가 예상과 다릅니다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복잡한 테스트에서 어디서 실패했는지 바로 알 수 있음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정리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값 비교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많이 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Assert.AreEqual(expected, actual)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Assert.AreNotEqual(notExpected, actual)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조건 검사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Assert.IsTrue(condition)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Assert.IsFalse(condition)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검사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Assert.IsNull(object)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Assert.IsNotNull(object)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예외 검사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Assert.Throws&lt;TException&gt;(() =&gt; code)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Assert.DoesNotThrow(() =&gt; code)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컬렉션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CollectionAssert.Contains(collection, item)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CollectionAssert.AreEqual(expected, actual)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부동소수점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actual, delta)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**핵심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➖ **값 비교**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`Assert.AreEqual(expected, actual)`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많이 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**조건**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`Assert.IsTrue/IsFalse`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✖️ **Null**: `Assert.IsNull/IsNotNull`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⚠️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`Assert.Throws&lt;Exception&gt;(() =&gt; code)`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주의사항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AreEqual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먼저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IsNotNull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먼저** 하고 속성 검사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부동소수점은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테스트의 **심장**입니다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없는 테스트는 테스트가 아니에요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실제로 활용해보겠습니다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**데이터 주도 테스트</a:t>
            </a:r>
            <a:r>
              <a:rPr lang="en-US" altLang="ko-KR"/>
              <a:t>(Data-Driven Test)**</a:t>
            </a:r>
            <a:r>
              <a:rPr lang="ko-KR" altLang="en-US"/>
              <a:t>를 배워보겠습니다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짜다 보면 이런 생각 드신 적 없으세요</a:t>
            </a:r>
            <a:r>
              <a:rPr lang="en-US" altLang="ko-KR"/>
              <a:t>?</a:t>
            </a:r>
          </a:p>
          <a:p>
            <a:r>
              <a:rPr lang="en-US" altLang="ko-KR"/>
              <a:t>"Add(1, 2)</a:t>
            </a:r>
            <a:r>
              <a:rPr lang="ko-KR" altLang="en-US"/>
              <a:t>도 테스트해야 하고</a:t>
            </a:r>
            <a:r>
              <a:rPr lang="en-US" altLang="ko-KR"/>
              <a:t>, Add(0, 0)</a:t>
            </a:r>
            <a:r>
              <a:rPr lang="ko-KR" altLang="en-US"/>
              <a:t>도</a:t>
            </a:r>
            <a:r>
              <a:rPr lang="en-US" altLang="ko-KR"/>
              <a:t>, Add(-1, 1)</a:t>
            </a:r>
            <a:r>
              <a:rPr lang="ko-KR" altLang="en-US"/>
              <a:t>도</a:t>
            </a:r>
            <a:r>
              <a:rPr lang="en-US" altLang="ko-KR"/>
              <a:t>..." "</a:t>
            </a:r>
            <a:r>
              <a:rPr lang="ko-KR" altLang="en-US"/>
              <a:t>테스트 메서드를 </a:t>
            </a:r>
            <a:r>
              <a:rPr lang="en-US" altLang="ko-KR"/>
              <a:t>10</a:t>
            </a:r>
            <a:r>
              <a:rPr lang="ko-KR" altLang="en-US"/>
              <a:t>개나 만들어야 하나</a:t>
            </a:r>
            <a:r>
              <a:rPr lang="en-US" altLang="ko-KR"/>
              <a:t>?"</a:t>
            </a:r>
          </a:p>
          <a:p>
            <a:r>
              <a:rPr lang="ko-KR" altLang="en-US"/>
              <a:t>이럴 때 쓰는 게 </a:t>
            </a:r>
            <a:r>
              <a:rPr lang="ko-KR" altLang="en-US" b="1"/>
              <a:t>데이터 주도 테스트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 b="1"/>
              <a:t>하나의 테스트로 여러 데이터를 검증</a:t>
            </a:r>
            <a:r>
              <a:rPr lang="ko-KR" altLang="en-US"/>
              <a:t>할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데이터 주도 테스트란</a:t>
            </a:r>
            <a:r>
              <a:rPr lang="en-US" altLang="ko-KR" b="1"/>
              <a:t>?</a:t>
            </a:r>
          </a:p>
          <a:p>
            <a:r>
              <a:rPr lang="ko-KR" altLang="en-US"/>
              <a:t>상단의 정의를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다양한 입력 값으로 동일한 테스트 로직을 반복 실행하는 방법입니다</a:t>
            </a:r>
            <a:r>
              <a:rPr lang="en-US" altLang="ko-KR" i="1"/>
              <a:t>. </a:t>
            </a:r>
            <a:r>
              <a:rPr lang="ko-KR" altLang="en-US" i="1"/>
              <a:t>테스트 코드와 데이터를 분리해 코드 중복을 줄이고 효율적으로 테스트합니다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핵심은 **</a:t>
            </a:r>
            <a:r>
              <a:rPr lang="en-US" altLang="ko-KR"/>
              <a:t>"</a:t>
            </a:r>
            <a:r>
              <a:rPr lang="ko-KR" altLang="en-US"/>
              <a:t>로직은 하나</a:t>
            </a:r>
            <a:r>
              <a:rPr lang="en-US" altLang="ko-KR"/>
              <a:t>, </a:t>
            </a:r>
            <a:r>
              <a:rPr lang="ko-KR" altLang="en-US"/>
              <a:t>데이터는 여러 개</a:t>
            </a:r>
            <a:r>
              <a:rPr lang="en-US" altLang="ko-KR"/>
              <a:t>"**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데이터 주도 테스트 개념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기존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 반복 작성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void Add_1Plus1_Returns2() { ... }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Add_2Plus3_Returns5() { ... }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Add_0Plus0_Returns0() { ... }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Add_Negative_Works() { ... }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😩 비슷한 코드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주도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메서드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데이터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[TestCase(1, 1, 2)]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[TestCase(2, 3, 5)]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[TestCase(0, 0, 0)]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[TestCase(-1, 1, 0)]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void Add_Returns_Sum(int a, int b, int expected)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😊 깔끔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NUnit</a:t>
            </a:r>
            <a:r>
              <a:rPr lang="ko-KR" altLang="en-US" b="1"/>
              <a:t>의 </a:t>
            </a:r>
            <a:r>
              <a:rPr lang="en-US" altLang="ko-KR" b="1"/>
              <a:t>TestCase </a:t>
            </a:r>
            <a:r>
              <a:rPr lang="ko-KR" altLang="en-US" b="1"/>
              <a:t>🧪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NUnit</a:t>
            </a:r>
            <a:r>
              <a:rPr lang="ko-KR" altLang="en-US" b="1"/>
              <a:t>의 </a:t>
            </a:r>
            <a:r>
              <a:rPr lang="en-US" altLang="ko-KR" b="1"/>
              <a:t>TestCase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여러 매개변수 조합으로 테스트를 실행합니다</a:t>
            </a:r>
            <a:r>
              <a:rPr lang="en-US" altLang="ko-KR" i="1"/>
              <a:t>. </a:t>
            </a:r>
            <a:r>
              <a:rPr lang="ko-KR" altLang="en-US" i="1"/>
              <a:t>각 </a:t>
            </a:r>
            <a:r>
              <a:rPr lang="en-US" altLang="ko-KR" i="1"/>
              <a:t>TestCase</a:t>
            </a:r>
            <a:r>
              <a:rPr lang="ko-KR" altLang="en-US" i="1"/>
              <a:t>는 테스트 메서드에 값을 전달합니다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[TestCase(1, 1, 2)]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a=1, b=1 → expected=2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[TestCase(2, 3, 5)]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a=2, b=3 → expected=5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Add_Returns_Sum(int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Assert.AreEqual(expected, calculator.Add(a,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TestCase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방식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[TestCase(1, 1, 2)]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│  │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│  └─── expected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인자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└────── b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인자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└───────── a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인자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Add_Returns_Sum(1, 1, 2)  ✅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Add_Returns_Sum(2, 3, 5)  ✅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각 케이스가 개별 테스트로 표시됨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[TestCase]</a:t>
            </a:r>
            <a:r>
              <a:rPr lang="ko-KR" altLang="en-US"/>
              <a:t> 하나당 테스트 한 번 실행됩니다</a:t>
            </a:r>
            <a:r>
              <a:rPr lang="en-US" altLang="ko-KR"/>
              <a:t>. 4</a:t>
            </a:r>
            <a:r>
              <a:rPr lang="ko-KR" altLang="en-US"/>
              <a:t>개 붙이면 </a:t>
            </a:r>
            <a:r>
              <a:rPr lang="en-US" altLang="ko-KR"/>
              <a:t>4</a:t>
            </a:r>
            <a:r>
              <a:rPr lang="ko-KR" altLang="en-US"/>
              <a:t>번 실행</a:t>
            </a:r>
            <a:r>
              <a:rPr lang="en-US" altLang="ko-KR"/>
              <a:t>!</a:t>
            </a:r>
          </a:p>
          <a:p>
            <a:r>
              <a:rPr lang="en-US" altLang="ko-KR"/>
              <a:t>Test Explorer</a:t>
            </a:r>
            <a:r>
              <a:rPr lang="ko-KR" altLang="en-US"/>
              <a:t>에서 </a:t>
            </a:r>
            <a:r>
              <a:rPr lang="ko-KR" altLang="en-US" b="1"/>
              <a:t>개별 케이스</a:t>
            </a:r>
            <a:r>
              <a:rPr lang="ko-KR" altLang="en-US"/>
              <a:t>가 따로 보여요</a:t>
            </a:r>
            <a:r>
              <a:rPr lang="en-US" altLang="ko-KR"/>
              <a:t>. </a:t>
            </a:r>
            <a:r>
              <a:rPr lang="ko-KR" altLang="en-US"/>
              <a:t>어떤 데이터에서 실패했는지 바로 알 수 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xUnit</a:t>
            </a:r>
            <a:r>
              <a:rPr lang="ko-KR" altLang="en-US" b="1"/>
              <a:t>의 </a:t>
            </a:r>
            <a:r>
              <a:rPr lang="en-US" altLang="ko-KR" b="1"/>
              <a:t>Theory </a:t>
            </a:r>
            <a:r>
              <a:rPr lang="ko-KR" altLang="en-US" b="1"/>
              <a:t>🔬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xUnit</a:t>
            </a:r>
            <a:r>
              <a:rPr lang="ko-KR" altLang="en-US" b="1"/>
              <a:t>의 </a:t>
            </a:r>
            <a:r>
              <a:rPr lang="en-US" altLang="ko-KR" b="1"/>
              <a:t>Theory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파라미터화된 테스트용 속성으로</a:t>
            </a:r>
            <a:r>
              <a:rPr lang="en-US" altLang="ko-KR" i="1"/>
              <a:t>, [Fact]</a:t>
            </a:r>
            <a:r>
              <a:rPr lang="ko-KR" altLang="en-US" i="1"/>
              <a:t>가 단일 테스트라면 </a:t>
            </a:r>
            <a:r>
              <a:rPr lang="en-US" altLang="ko-KR" i="1"/>
              <a:t>[Theory]</a:t>
            </a:r>
            <a:r>
              <a:rPr lang="ko-KR" altLang="en-US" i="1"/>
              <a:t>는 여러 데이터로 테스트합니다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[InlineData(1, 1, 2)]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[InlineData(2, 3, 5)]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Add_Returns_Sum(int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Assert.Equal(expected, calculator.Add(a,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NUnit vs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         xUnit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[TestCase(1, 1, 2)]            [Theory]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[TestCase(2, 3, 5)]            [InlineData(1, 1, 2)]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Test(...)          [InlineData(2, 3, 5)]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Test(...)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차이점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NUnit: [TestCase]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붙이면 됨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xUnit: [Theory]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필요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두 개를 같이 써야 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데이터 주도 테스트다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알려주는 표시이고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실제 데이터입니다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둘을 합친 거라고 보시면 돼요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소스 📊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**데이터 소스**입니다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"InlineData, MemberData, ClassData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다양한 속성을 통해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데이터를 제공합니다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소스 종류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소스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어트리뷰트에 직접 값 입력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[TestCaseSource]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프로퍼티에서 데이터 가져오기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[Values]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파라미터에 여러 값 조합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소스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어트리뷰트에 직접 값 입력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[MemberData]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프로퍼티에서 데이터 가져오기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[ClassData]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 클래스에서 데이터 제공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데이터가 많거나 복잡할 때는 **</a:t>
            </a:r>
            <a:r>
              <a:rPr lang="en-US" altLang="ko-KR"/>
              <a:t>[TestCaseSource]**</a:t>
            </a:r>
            <a:r>
              <a:rPr lang="ko-KR" altLang="en-US"/>
              <a:t>나 **</a:t>
            </a:r>
            <a:r>
              <a:rPr lang="en-US" altLang="ko-KR"/>
              <a:t>[MemberData]**</a:t>
            </a:r>
            <a:r>
              <a:rPr lang="ko-KR" altLang="en-US"/>
              <a:t>를 씁니다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NUnit - TestCaseSource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IEnumerable&lt;TestCaseData&gt; AddTestCases()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TestCaseData(1, 1,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TestCaseData(2, 3, 5);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TestCaseData(0, 0, 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TestCaseData(-1, 1, 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TestCaseData(100, 200, 300);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얼마든지 추가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[TestCaseSource(nameof(AddTestCases))]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Add_WithVariousInputs_ReturnsExpected(int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Assert.AreEqual(expected, calculator.Add(a,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xUnit - MemberData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IEnumerable&lt;object[]&gt; AddTestData()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object[] { 1, 1,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object[] { 2, 3,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yield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object[] { 0, 0,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[MemberData(nameof(AddTestData))]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Add_WithVariousInputs_ReturnsExpected(int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Assert.Equal(expected, calculator.Add(a,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예제 비교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**코드 예제**가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비교해볼게요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┌────────────────────────────────┬────────────────────────────────┐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예제           │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예제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├────────────────────────────────┼────────────────────────────────┤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│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[TestCase(1, 1, 2)]           │  [Theory]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[TestCase(2, 3, 5)]           │  [InlineData(1, 1, 2)]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Add_Returns_Sum(  │  [InlineData(2, 3, 5)]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Add_Returns_Sum(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{                             │   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Assert.AreEqual(expected,   │  {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calculator.Add(a, b));    │    Assert.Equal(expected,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}                             │      calculator.Add(a, b));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│  }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│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├────────────────────────────────┴────────────────────────────────┤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차이점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• NUnit: [TestCase]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있으면 됨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xUnit: [Theory]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[InlineData]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• Assert: AreEqual 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 (Are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주도 테스트 장점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주도 테스트 장점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코드 중복 제거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테스트 로직 하나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 여러 개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 케이스 추가 쉬움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줄 추가하면 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엣지 케이스 관리 편함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 등 한눈에 보임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실패 케이스 식별 쉬움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Explorer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"Add(0, 0, 0) ❌"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바로 보임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비즈니스 요구사항 문서화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데이터만 봐도 어떤 케이스 테스트하는지 알 수 있음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언제 사용할까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주도 테스트 사용 시점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사용하면 좋은 경우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같은 로직에 여러 입력값 테스트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경계값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-1, Max, Min)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 검사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(valid/invalid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수학적 연산 검증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사용 안 하는 게 나은 경우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테스트 로직 자체가 케이스마다 다를 때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복잡한 객체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필요할 때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데이터가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1~2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개뿐일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**데이터 주도 테스트**는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📌 **개념**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테스트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여러 데이터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`[TestCase(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`[Theory]`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`[InlineData(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 중복 제거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케이스 추가 쉬움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실패 케이스 식별 쉬움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Add(1,1), Add(2,3), Add(0,0), Add(-1,1)...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이런 거 테스트할 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쓰세요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실습에서 직접 만들어보겠습니다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테스트의 **명명</a:t>
            </a:r>
            <a:r>
              <a:rPr lang="en-US" altLang="ko-KR"/>
              <a:t>(</a:t>
            </a:r>
            <a:r>
              <a:rPr lang="ko-KR" altLang="en-US"/>
              <a:t>이름 짓기</a:t>
            </a:r>
            <a:r>
              <a:rPr lang="en-US" altLang="ko-KR"/>
              <a:t>)**</a:t>
            </a:r>
            <a:r>
              <a:rPr lang="ko-KR" altLang="en-US"/>
              <a:t>과 **조직</a:t>
            </a:r>
            <a:r>
              <a:rPr lang="en-US" altLang="ko-KR"/>
              <a:t>(</a:t>
            </a:r>
            <a:r>
              <a:rPr lang="ko-KR" altLang="en-US"/>
              <a:t>구조화</a:t>
            </a:r>
            <a:r>
              <a:rPr lang="en-US" altLang="ko-KR"/>
              <a:t>)**</a:t>
            </a:r>
            <a:r>
              <a:rPr lang="ko-KR" altLang="en-US"/>
              <a:t>에 대해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이름이 뭐가 중요해요</a:t>
            </a:r>
            <a:r>
              <a:rPr lang="en-US" altLang="ko-KR"/>
              <a:t>? </a:t>
            </a:r>
            <a:r>
              <a:rPr lang="ko-KR" altLang="en-US"/>
              <a:t>돌아가기만 하면 되지 않나요</a:t>
            </a:r>
            <a:r>
              <a:rPr lang="en-US" altLang="ko-KR"/>
              <a:t>?"</a:t>
            </a:r>
          </a:p>
          <a:p>
            <a:r>
              <a:rPr lang="ko-KR" altLang="en-US"/>
              <a:t>아닙니다</a:t>
            </a:r>
            <a:r>
              <a:rPr lang="en-US" altLang="ko-KR"/>
              <a:t>. </a:t>
            </a:r>
            <a:r>
              <a:rPr lang="ko-KR" altLang="en-US" b="1"/>
              <a:t>테스트 이름은 문서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테스트가 실패했을 때 이름만 보고 </a:t>
            </a:r>
            <a:r>
              <a:rPr lang="ko-KR" altLang="en-US" b="1"/>
              <a:t>뭐가 문제인지 알 수 있어야</a:t>
            </a:r>
            <a:r>
              <a:rPr lang="ko-KR" altLang="en-US"/>
              <a:t> 해요</a:t>
            </a:r>
            <a:r>
              <a:rPr lang="en-US" altLang="ko-KR"/>
              <a:t>.</a:t>
            </a:r>
          </a:p>
          <a:p>
            <a:r>
              <a:rPr lang="ko-KR" altLang="en-US"/>
              <a:t>그리고 테스트가 수백 개 되면 </a:t>
            </a:r>
            <a:r>
              <a:rPr lang="ko-KR" altLang="en-US" b="1"/>
              <a:t>정리</a:t>
            </a:r>
            <a:r>
              <a:rPr lang="ko-KR" altLang="en-US"/>
              <a:t>가 안 되면 찾을 수가 없어요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AAA </a:t>
            </a:r>
            <a:r>
              <a:rPr lang="ko-KR" altLang="en-US" b="1"/>
              <a:t>패턴 📋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A</a:t>
            </a:r>
            <a:r>
              <a:rPr lang="en-US" altLang="ko-KR"/>
              <a:t>rrange (</a:t>
            </a:r>
            <a:r>
              <a:rPr lang="ko-KR" altLang="en-US"/>
              <a:t>준비</a:t>
            </a:r>
            <a:r>
              <a:rPr lang="en-US" altLang="ko-KR"/>
              <a:t>) - </a:t>
            </a:r>
            <a:r>
              <a:rPr lang="ko-KR" altLang="en-US"/>
              <a:t>테스트에 필요한 객체 준비 </a:t>
            </a:r>
            <a:r>
              <a:rPr lang="en-US" altLang="ko-KR" b="1"/>
              <a:t>A</a:t>
            </a:r>
            <a:r>
              <a:rPr lang="en-US" altLang="ko-KR"/>
              <a:t>ct (</a:t>
            </a:r>
            <a:r>
              <a:rPr lang="ko-KR" altLang="en-US"/>
              <a:t>실행</a:t>
            </a:r>
            <a:r>
              <a:rPr lang="en-US" altLang="ko-KR"/>
              <a:t>) - </a:t>
            </a:r>
            <a:r>
              <a:rPr lang="ko-KR" altLang="en-US"/>
              <a:t>테스트할 기능 수행 </a:t>
            </a:r>
            <a:r>
              <a:rPr lang="en-US" altLang="ko-KR" b="1"/>
              <a:t>A</a:t>
            </a:r>
            <a:r>
              <a:rPr lang="en-US" altLang="ko-KR"/>
              <a:t>ssert (</a:t>
            </a:r>
            <a:r>
              <a:rPr lang="ko-KR" altLang="en-US"/>
              <a:t>검증</a:t>
            </a:r>
            <a:r>
              <a:rPr lang="en-US" altLang="ko-KR"/>
              <a:t>) - </a:t>
            </a:r>
            <a:r>
              <a:rPr lang="ko-KR" altLang="en-US"/>
              <a:t>결과 검증</a:t>
            </a:r>
          </a:p>
          <a:p>
            <a:r>
              <a:rPr lang="ko-KR" altLang="en-US"/>
              <a:t>모든 테스트는 이 </a:t>
            </a:r>
            <a:r>
              <a:rPr lang="ko-KR" altLang="en-US" b="1"/>
              <a:t>세 단계</a:t>
            </a:r>
            <a:r>
              <a:rPr lang="ko-KR" altLang="en-US"/>
              <a:t>로 구성됩니다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구조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Add_TwoPositiveNumbers_ReturnsSum()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필요한 것들 세팅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calculator = new Calculator();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int a = 2;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int b = 3;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메서드 호출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int result = calculator.Add(a, b);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기대한 대로인지 확인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Assert.AreEqual(5, result);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 패턴을 지키면 테스트가 </a:t>
            </a:r>
            <a:r>
              <a:rPr lang="ko-KR" altLang="en-US" b="1"/>
              <a:t>읽기 쉬워집니다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누가 봐도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</a:t>
            </a:r>
            <a:r>
              <a:rPr lang="ko-KR" altLang="en-US"/>
              <a:t>여기서 준비하고</a:t>
            </a:r>
            <a:r>
              <a:rPr lang="en-US" altLang="ko-KR"/>
              <a:t>, </a:t>
            </a:r>
            <a:r>
              <a:rPr lang="ko-KR" altLang="en-US"/>
              <a:t>여기서 실행하고</a:t>
            </a:r>
            <a:r>
              <a:rPr lang="en-US" altLang="ko-KR"/>
              <a:t>, </a:t>
            </a:r>
            <a:r>
              <a:rPr lang="ko-KR" altLang="en-US"/>
              <a:t>여기서 검증하는구나</a:t>
            </a:r>
            <a:r>
              <a:rPr lang="en-US" altLang="ko-KR"/>
              <a:t>" </a:t>
            </a:r>
            <a:r>
              <a:rPr lang="ko-KR" altLang="en-US"/>
              <a:t>바로 이해할 수 있어요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뒤죽박죽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AAA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한 줄짜리 테스트</a:t>
            </a:r>
            <a:r>
              <a:rPr lang="ko-KR" altLang="en-US"/>
              <a:t>도 가능하긴 하지만</a:t>
            </a:r>
            <a:r>
              <a:rPr lang="en-US" altLang="ko-KR"/>
              <a:t>, AAA </a:t>
            </a:r>
            <a:r>
              <a:rPr lang="ko-KR" altLang="en-US"/>
              <a:t>구조로 나누면 </a:t>
            </a:r>
            <a:r>
              <a:rPr lang="ko-KR" altLang="en-US" b="1"/>
              <a:t>유지보수가 훨씬 쉬워요</a:t>
            </a:r>
            <a:r>
              <a:rPr lang="en-US" altLang="ko-KR" b="1"/>
              <a:t>.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메서드 명명 규칙 🏷️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메서드 명명 규칙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UnitOfWork_Condition_Expected</a:t>
            </a:r>
            <a:r>
              <a:rPr lang="ko-KR" altLang="en-US"/>
              <a:t> 예</a:t>
            </a:r>
            <a:r>
              <a:rPr lang="en-US" altLang="ko-KR"/>
              <a:t>: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Add_NegativeNumbers_ReturnsSum</a:t>
            </a:r>
            <a:endParaRPr lang="ko-KR" altLang="en-US"/>
          </a:p>
          <a:p>
            <a:r>
              <a:rPr lang="ko-KR" altLang="en-US"/>
              <a:t>의도를 명확히 표현하는 이름을 사용합니다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명명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UnitOfWork_Condition_Expected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Add_NegativeNumbers_ReturnsSum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│              │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│              └─── Expected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│             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합계를 반환한다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│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└───────────────── Condition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            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음수를 넣었을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└────────────────────────── UnitOfWork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"Add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이 이름만 보면 뭘 테스트하는지 </a:t>
            </a:r>
            <a:r>
              <a:rPr lang="ko-KR" altLang="en-US" b="1"/>
              <a:t>바로 알 수 있어요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en-US" altLang="ko-KR"/>
              <a:t>"Add </a:t>
            </a:r>
            <a:r>
              <a:rPr lang="ko-KR" altLang="en-US"/>
              <a:t>메서드에 음수를 넣으면 합계를 반환한다</a:t>
            </a:r>
            <a:r>
              <a:rPr lang="en-US" altLang="ko-KR"/>
              <a:t>"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명명 예시들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이름들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Divide_ByZero_ThrowsException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나누면 예외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GetUser_ValidId_ReturnsUser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유저 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GetUser_InvalidId_ReturnsNull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유효하지 않은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Login_WrongPassword_ReturnsFalse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비밀번호면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SendEmail_EmptyRecipient_ThrowsArgumentException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받는 사람 없으면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ArgumentException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이름들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Test1()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테스트하는지 모름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AddTest()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TestDivision()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Test Explorer</a:t>
            </a:r>
            <a:r>
              <a:rPr lang="ko-KR" altLang="en-US" b="1"/>
              <a:t>에서 실패</a:t>
            </a:r>
            <a:r>
              <a:rPr lang="ko-KR" altLang="en-US"/>
              <a:t> 떴을 때</a:t>
            </a:r>
            <a:r>
              <a:rPr lang="en-US" altLang="ko-KR"/>
              <a:t>: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Test1 failed</a:t>
            </a:r>
            <a:r>
              <a:rPr lang="ko-KR" altLang="en-US"/>
              <a:t> → </a:t>
            </a:r>
            <a:r>
              <a:rPr lang="en-US" altLang="ko-KR"/>
              <a:t>"</a:t>
            </a:r>
            <a:r>
              <a:rPr lang="ko-KR" altLang="en-US"/>
              <a:t>뭐가 실패한 거지</a:t>
            </a:r>
            <a:r>
              <a:rPr lang="en-US" altLang="ko-KR"/>
              <a:t>...?"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Divide_ByZero_ThrowsException failed</a:t>
            </a:r>
            <a:r>
              <a:rPr lang="ko-KR" altLang="en-US"/>
              <a:t> → </a:t>
            </a:r>
            <a:r>
              <a:rPr lang="en-US" altLang="ko-KR"/>
              <a:t>"</a:t>
            </a:r>
            <a:r>
              <a:rPr lang="ko-KR" altLang="en-US"/>
              <a:t>아</a:t>
            </a:r>
            <a:r>
              <a:rPr lang="en-US" altLang="ko-KR"/>
              <a:t>, 0</a:t>
            </a:r>
            <a:r>
              <a:rPr lang="ko-KR" altLang="en-US"/>
              <a:t>으로 나눌 때 문제구나</a:t>
            </a:r>
            <a:r>
              <a:rPr lang="en-US" altLang="ko-KR"/>
              <a:t>!"</a:t>
            </a:r>
          </a:p>
          <a:p>
            <a:r>
              <a:rPr lang="ko-KR" altLang="en-US"/>
              <a:t>이름만으로 </a:t>
            </a:r>
            <a:r>
              <a:rPr lang="ko-KR" altLang="en-US" b="1"/>
              <a:t>문제를 바로 파악</a:t>
            </a:r>
            <a:r>
              <a:rPr lang="ko-KR" altLang="en-US"/>
              <a:t>할 수 있어요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조직화 📂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테스트 조직화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클래스별</a:t>
            </a:r>
            <a:r>
              <a:rPr lang="en-US" altLang="ko-KR"/>
              <a:t>/</a:t>
            </a:r>
            <a:r>
              <a:rPr lang="ko-KR" altLang="en-US"/>
              <a:t>기능별 테스트 그룹화 한 테스트 클래스는 한 가지 주제에 집중 관련 테스트 사이의 중복 최소화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조직화 예시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테스트가 한 파일에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AllTests.cs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AddTest()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SubtractTest()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UserLoginTest()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UserLogoutTest()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EmailSendTest()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 ... 200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더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클래스별로 분리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Calculator.Tests/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CalculatorAddTests.cs     (Add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CalculatorSubtractTests.cs (Subtract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CalculatorDivideTests.cs  (Divide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User.Tests/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UserLoginTests.cs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UserRegistrationTests.cs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한 클래스 </a:t>
            </a:r>
            <a:r>
              <a:rPr lang="en-US" altLang="ko-KR" b="1"/>
              <a:t>= </a:t>
            </a:r>
            <a:r>
              <a:rPr lang="ko-KR" altLang="en-US" b="1"/>
              <a:t>한 주제</a:t>
            </a:r>
            <a:endParaRPr lang="ko-KR" altLang="en-US"/>
          </a:p>
          <a:p>
            <a:r>
              <a:rPr lang="en-US" altLang="ko-KR"/>
              <a:t>CalculatorAddTests → Add </a:t>
            </a:r>
            <a:r>
              <a:rPr lang="ko-KR" altLang="en-US"/>
              <a:t>메서드만 </a:t>
            </a:r>
            <a:r>
              <a:rPr lang="en-US" altLang="ko-KR"/>
              <a:t>CalculatorDivideTests → Divide </a:t>
            </a:r>
            <a:r>
              <a:rPr lang="ko-KR" altLang="en-US"/>
              <a:t>메서드만</a:t>
            </a:r>
          </a:p>
          <a:p>
            <a:r>
              <a:rPr lang="ko-KR" altLang="en-US"/>
              <a:t>이렇게 하면</a:t>
            </a:r>
            <a:r>
              <a:rPr lang="en-US" altLang="ko-KR"/>
              <a:t>:</a:t>
            </a:r>
          </a:p>
          <a:p>
            <a:r>
              <a:rPr lang="ko-KR" altLang="en-US"/>
              <a:t>찾기 쉬움</a:t>
            </a:r>
          </a:p>
          <a:p>
            <a:r>
              <a:rPr lang="en-US" altLang="ko-KR"/>
              <a:t>SetUp </a:t>
            </a:r>
            <a:r>
              <a:rPr lang="ko-KR" altLang="en-US"/>
              <a:t>공유 가능</a:t>
            </a:r>
          </a:p>
          <a:p>
            <a:r>
              <a:rPr lang="ko-KR" altLang="en-US"/>
              <a:t>관련 테스트끼리 모여 있음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단일 책임 테스트 🎯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단일 책임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한 테스트는 한 가지만 검증 여러 </a:t>
            </a:r>
            <a:r>
              <a:rPr lang="en-US" altLang="ko-KR"/>
              <a:t>Assert</a:t>
            </a:r>
            <a:r>
              <a:rPr lang="ko-KR" altLang="en-US"/>
              <a:t>를 사용하더라도 검증 대상은 하나 테스트 실패 시 원인 파악이 쉬움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단일 책임 원칙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테스트에서 여러 기능 검증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Calculator_AllOperations_Work()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calc = new Calculator();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Assert.AreEqual(5, calc.Add(2, 3));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덧셈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Assert.AreEqual(1, calc.Subtract(3, 2));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뺄셈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Assert.AreEqual(6, calc.Multiply(2, 3));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곱셈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Assert.AreEqual(2, calc.Divide(4, 2));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나눗셈│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뺄셈 실패하면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나눗셈은 실행도 안 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기능별 테스트 분리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void Add_TwoNumbers_ReturnsSum() { ... }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Subtract_TwoNumbers_ReturnsDifference()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Multiply_TwoNumbers_ReturnsProduct() { ... }│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void Divide_TwoNumbers_ReturnsQuotient() { ... }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😊 각각 독립적으로 실행되고 결과 확인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하나의 테스트 </a:t>
            </a:r>
            <a:r>
              <a:rPr lang="en-US" altLang="ko-KR" b="1"/>
              <a:t>= </a:t>
            </a:r>
            <a:r>
              <a:rPr lang="ko-KR" altLang="en-US" b="1"/>
              <a:t>하나의 검증 대상</a:t>
            </a:r>
            <a:endParaRPr lang="ko-KR" altLang="en-US"/>
          </a:p>
          <a:p>
            <a:r>
              <a:rPr lang="ko-KR" altLang="en-US"/>
              <a:t>테스트가 실패했을 때 </a:t>
            </a:r>
            <a:r>
              <a:rPr lang="en-US" altLang="ko-KR" b="1"/>
              <a:t>"</a:t>
            </a:r>
            <a:r>
              <a:rPr lang="ko-KR" altLang="en-US" b="1"/>
              <a:t>뭐가 문제인지</a:t>
            </a:r>
            <a:r>
              <a:rPr lang="en-US" altLang="ko-KR" b="1"/>
              <a:t>"</a:t>
            </a:r>
            <a:r>
              <a:rPr lang="ko-KR" altLang="en-US"/>
              <a:t> 바로 알 수 있어야 합니다</a:t>
            </a:r>
            <a:r>
              <a:rPr lang="en-US" altLang="ko-KR"/>
              <a:t>.</a:t>
            </a:r>
          </a:p>
          <a:p>
            <a:r>
              <a:rPr lang="ko-KR" altLang="en-US"/>
              <a:t>여러 기능을 한 테스트에 넣으면</a:t>
            </a:r>
            <a:r>
              <a:rPr lang="en-US" altLang="ko-KR"/>
              <a:t>, </a:t>
            </a:r>
            <a:r>
              <a:rPr lang="ko-KR" altLang="en-US"/>
              <a:t>첫 번째 </a:t>
            </a:r>
            <a:r>
              <a:rPr lang="en-US" altLang="ko-KR"/>
              <a:t>Assert </a:t>
            </a:r>
            <a:r>
              <a:rPr lang="ko-KR" altLang="en-US"/>
              <a:t>실패하면 나머지는 </a:t>
            </a:r>
            <a:r>
              <a:rPr lang="ko-KR" altLang="en-US" b="1"/>
              <a:t>실행도 안 돼요</a:t>
            </a:r>
            <a:r>
              <a:rPr lang="en-US" altLang="ko-KR" b="1"/>
              <a:t>.</a:t>
            </a:r>
            <a:r>
              <a:rPr lang="ko-KR" altLang="en-US"/>
              <a:t> 뭐가 되고 뭐가 안 되는지 모릅니다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베스트 프랙티스 💡</a:t>
            </a:r>
          </a:p>
          <a:p>
            <a:r>
              <a:rPr lang="ko-KR" altLang="en-US"/>
              <a:t>하단에 </a:t>
            </a:r>
            <a:r>
              <a:rPr lang="ko-KR" altLang="en-US" b="1"/>
              <a:t>베스트 프랙티스</a:t>
            </a:r>
            <a:r>
              <a:rPr lang="ko-KR" altLang="en-US"/>
              <a:t>가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좋은 테스트 명명과 조직은 코드 문서화 효과가 있으며</a:t>
            </a:r>
            <a:r>
              <a:rPr lang="en-US" altLang="ko-KR" i="1"/>
              <a:t>, </a:t>
            </a:r>
            <a:r>
              <a:rPr lang="ko-KR" altLang="en-US" i="1"/>
              <a:t>새로운 팀원이 코드를 이해하는 데 도움을 줍니다</a:t>
            </a:r>
            <a:r>
              <a:rPr lang="en-US" altLang="ko-KR" i="1"/>
              <a:t>. </a:t>
            </a:r>
            <a:r>
              <a:rPr lang="ko-KR" altLang="en-US" i="1"/>
              <a:t>테스트 코드는 프로덕션 코드만큼 중요하므로 동일한 품질 기준을 적용하세요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베스트 프랙티스 체크리스트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사용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 → Act →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작성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명확한 이름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UnitOfWork_Condition_Expected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클래스별 분리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한 테스트 클래스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가지 주제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단일 책임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가지 검증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테스트도 코드다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코드와 동일한 품질 기준 적용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/>
              <a:t>테스트 </a:t>
            </a:r>
            <a:r>
              <a:rPr lang="ko-KR" altLang="en-US" b="1"/>
              <a:t>명명과 조직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</a:t>
            </a:r>
            <a:r>
              <a:rPr lang="en-US" altLang="ko-KR"/>
              <a:t>:</a:t>
            </a:r>
          </a:p>
          <a:p>
            <a:r>
              <a:rPr lang="en-US" altLang="ko-KR"/>
              <a:t>1️⃣ </a:t>
            </a:r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ko-KR" altLang="en-US"/>
              <a:t> </a:t>
            </a:r>
            <a:r>
              <a:rPr lang="en-US" altLang="ko-KR"/>
              <a:t>- Arrange → Act → Assert 2️⃣ </a:t>
            </a:r>
            <a:r>
              <a:rPr lang="ko-KR" altLang="en-US" b="1"/>
              <a:t>명명 규칙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UnitOfWork_Condition_Expected</a:t>
            </a:r>
            <a:r>
              <a:rPr lang="ko-KR" altLang="en-US"/>
              <a:t> </a:t>
            </a:r>
            <a:r>
              <a:rPr lang="en-US" altLang="ko-KR"/>
              <a:t>3️⃣ </a:t>
            </a:r>
            <a:r>
              <a:rPr lang="ko-KR" altLang="en-US" b="1"/>
              <a:t>테스트 조직화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클래스별</a:t>
            </a:r>
            <a:r>
              <a:rPr lang="en-US" altLang="ko-KR"/>
              <a:t>/</a:t>
            </a:r>
            <a:r>
              <a:rPr lang="ko-KR" altLang="en-US"/>
              <a:t>기능별 분리 </a:t>
            </a:r>
            <a:r>
              <a:rPr lang="en-US" altLang="ko-KR"/>
              <a:t>4️⃣ </a:t>
            </a:r>
            <a:r>
              <a:rPr lang="ko-KR" altLang="en-US" b="1"/>
              <a:t>단일 책임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한 테스트 </a:t>
            </a:r>
            <a:r>
              <a:rPr lang="en-US" altLang="ko-KR"/>
              <a:t>= </a:t>
            </a:r>
            <a:r>
              <a:rPr lang="ko-KR" altLang="en-US"/>
              <a:t>한 가지 검증</a:t>
            </a:r>
          </a:p>
          <a:p>
            <a:r>
              <a:rPr lang="ko-KR" altLang="en-US"/>
              <a:t>테스트 이름은 </a:t>
            </a:r>
            <a:r>
              <a:rPr lang="ko-KR" altLang="en-US" b="1"/>
              <a:t>문서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실패했을 때 이름만 보고 문제를 파악할 수 있어야 해요</a:t>
            </a:r>
            <a:r>
              <a:rPr lang="en-US" altLang="ko-KR"/>
              <a:t>.</a:t>
            </a:r>
          </a:p>
          <a:p>
            <a:r>
              <a:rPr lang="en-US" altLang="ko-KR"/>
              <a:t>"Test1 failed" vs "Divide_ByZero_ThrowsException failed" </a:t>
            </a:r>
            <a:r>
              <a:rPr lang="ko-KR" altLang="en-US"/>
              <a:t>어떤 게 더 도움이 되나요</a:t>
            </a:r>
            <a:r>
              <a:rPr lang="en-US" altLang="ko-KR"/>
              <a:t>?</a:t>
            </a:r>
          </a:p>
          <a:p>
            <a:r>
              <a:rPr lang="ko-KR" altLang="en-US"/>
              <a:t>다음 시간에 실습해보겠습니다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드디어 </a:t>
            </a:r>
            <a:r>
              <a:rPr lang="ko-KR" altLang="en-US" b="1"/>
              <a:t>실습 시간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ko-KR" altLang="en-US"/>
              <a:t>지금까지 배운 내용을 </a:t>
            </a:r>
            <a:r>
              <a:rPr lang="ko-KR" altLang="en-US" b="1"/>
              <a:t>직접 적용</a:t>
            </a:r>
            <a:r>
              <a:rPr lang="ko-KR" altLang="en-US"/>
              <a:t>해볼 거예요</a:t>
            </a:r>
            <a:r>
              <a:rPr lang="en-US" altLang="ko-KR"/>
              <a:t>. </a:t>
            </a:r>
            <a:r>
              <a:rPr lang="en-US" altLang="ko-KR" b="1"/>
              <a:t>Calculator </a:t>
            </a:r>
            <a:r>
              <a:rPr lang="ko-KR" altLang="en-US" b="1"/>
              <a:t>클래스</a:t>
            </a:r>
            <a:r>
              <a:rPr lang="ko-KR" altLang="en-US"/>
              <a:t>를 </a:t>
            </a:r>
            <a:r>
              <a:rPr lang="en-US" altLang="ko-KR"/>
              <a:t>TDD </a:t>
            </a:r>
            <a:r>
              <a:rPr lang="ko-KR" altLang="en-US"/>
              <a:t>방식으로 만들어보겠습니다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먼저 </a:t>
            </a:r>
            <a:r>
              <a:rPr lang="ko-KR" altLang="en-US" b="1"/>
              <a:t>요구사항</a:t>
            </a:r>
            <a:r>
              <a:rPr lang="ko-KR" altLang="en-US"/>
              <a:t>부터 확인하고 가시죠</a:t>
            </a:r>
            <a:r>
              <a:rPr lang="en-US" altLang="ko-KR"/>
              <a:t>. </a:t>
            </a:r>
            <a:r>
              <a:rPr lang="ko-KR" altLang="en-US"/>
              <a:t>실무에서도 </a:t>
            </a:r>
            <a:r>
              <a:rPr lang="en-US" altLang="ko-KR"/>
              <a:t>"</a:t>
            </a:r>
            <a:r>
              <a:rPr lang="ko-KR" altLang="en-US"/>
              <a:t>뭘 만들어야 하는지</a:t>
            </a:r>
            <a:r>
              <a:rPr lang="en-US" altLang="ko-KR"/>
              <a:t>" </a:t>
            </a:r>
            <a:r>
              <a:rPr lang="ko-KR" altLang="en-US"/>
              <a:t>명확히 알고 시작해야 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계산기 클래스 실습 🧮</a:t>
            </a:r>
          </a:p>
          <a:p>
            <a:r>
              <a:rPr lang="ko-KR" altLang="en-US"/>
              <a:t>왼쪽 박스를 보시면 </a:t>
            </a:r>
            <a:r>
              <a:rPr lang="ko-KR" altLang="en-US" b="1"/>
              <a:t>실습 개요</a:t>
            </a:r>
            <a:r>
              <a:rPr lang="ko-KR" altLang="en-US"/>
              <a:t>가 있습니다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기본적인 수학 연산을 수행하는 </a:t>
            </a:r>
            <a:r>
              <a:rPr lang="en-US" altLang="ko-KR" i="1"/>
              <a:t>Calculator </a:t>
            </a:r>
            <a:r>
              <a:rPr lang="ko-KR" altLang="en-US" i="1"/>
              <a:t>클래스를 </a:t>
            </a:r>
            <a:r>
              <a:rPr lang="en-US" altLang="ko-KR" i="1"/>
              <a:t>TDD </a:t>
            </a:r>
            <a:r>
              <a:rPr lang="ko-KR" altLang="en-US" i="1"/>
              <a:t>방식으로 개발하고 테스트합니다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TDD </a:t>
            </a:r>
            <a:r>
              <a:rPr lang="ko-KR" altLang="en-US"/>
              <a:t>방식이 뭐였죠</a:t>
            </a:r>
            <a:r>
              <a:rPr lang="en-US" altLang="ko-KR"/>
              <a:t>? </a:t>
            </a:r>
            <a:r>
              <a:rPr lang="en-US" altLang="ko-KR" b="1"/>
              <a:t>Red → Green → Refactor</a:t>
            </a:r>
            <a:r>
              <a:rPr lang="ko-KR" altLang="en-US"/>
              <a:t> 테스트 먼저 작성하고</a:t>
            </a:r>
            <a:r>
              <a:rPr lang="en-US" altLang="ko-KR"/>
              <a:t>, </a:t>
            </a:r>
            <a:r>
              <a:rPr lang="ko-KR" altLang="en-US"/>
              <a:t>코드 구현하고</a:t>
            </a:r>
            <a:r>
              <a:rPr lang="en-US" altLang="ko-KR"/>
              <a:t>, </a:t>
            </a:r>
            <a:r>
              <a:rPr lang="ko-KR" altLang="en-US"/>
              <a:t>리팩토링</a:t>
            </a:r>
            <a:r>
              <a:rPr lang="en-US" altLang="ko-KR"/>
              <a:t>!</a:t>
            </a:r>
          </a:p>
          <a:p>
            <a:r>
              <a:rPr lang="en-US" altLang="ko-KR" i="1"/>
              <a:t>"AAA </a:t>
            </a:r>
            <a:r>
              <a:rPr lang="ko-KR" altLang="en-US" i="1"/>
              <a:t>패턴을 적용하여 단위 테스트의 기본 원칙을 실제로 적용해 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 b="1"/>
              <a:t>Arrange → Act → Assert</a:t>
            </a:r>
            <a:r>
              <a:rPr lang="ko-KR" altLang="en-US"/>
              <a:t> 구조로 테스트 작성할 거예요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실습 목표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🎯 학습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테스트 작성법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[Test], Assert.AreEqual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등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테스트 방법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Assert.Throws&lt;Exception&gt;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4️⃣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체험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→ Green → Refactor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기능 요구사항 📋</a:t>
            </a:r>
          </a:p>
          <a:p>
            <a:r>
              <a:rPr lang="ko-KR" altLang="en-US"/>
              <a:t>오른쪽에 </a:t>
            </a:r>
            <a:r>
              <a:rPr lang="ko-KR" altLang="en-US" b="1"/>
              <a:t>기능 요구사항</a:t>
            </a:r>
            <a:r>
              <a:rPr lang="ko-KR" altLang="en-US"/>
              <a:t>이 있습니다</a:t>
            </a:r>
            <a:r>
              <a:rPr lang="en-US" altLang="ko-KR"/>
              <a:t>. </a:t>
            </a:r>
            <a:r>
              <a:rPr lang="ko-KR" altLang="en-US"/>
              <a:t>하나씩 살펴볼게요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기본 연산 ➕➖✖️➗</a:t>
            </a:r>
          </a:p>
          <a:p>
            <a:r>
              <a:rPr lang="ko-KR" altLang="en-US" b="1"/>
              <a:t>기본 연산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가지입니다</a:t>
            </a:r>
            <a:r>
              <a:rPr lang="en-US" altLang="ko-KR"/>
              <a:t>.</a:t>
            </a:r>
          </a:p>
          <a:p>
            <a:r>
              <a:rPr lang="ko-KR" altLang="en-US"/>
              <a:t>두 정수의 </a:t>
            </a:r>
            <a:r>
              <a:rPr lang="ko-KR" altLang="en-US" b="1"/>
              <a:t>덧셈</a:t>
            </a:r>
            <a:r>
              <a:rPr lang="en-US" altLang="ko-KR" b="1"/>
              <a:t>(Add)</a:t>
            </a:r>
            <a:r>
              <a:rPr lang="ko-KR" altLang="en-US"/>
              <a:t> 연산 구현</a:t>
            </a:r>
          </a:p>
          <a:p>
            <a:r>
              <a:rPr lang="ko-KR" altLang="en-US"/>
              <a:t>두 정수의 </a:t>
            </a:r>
            <a:r>
              <a:rPr lang="ko-KR" altLang="en-US" b="1"/>
              <a:t>뺄셈</a:t>
            </a:r>
            <a:r>
              <a:rPr lang="en-US" altLang="ko-KR" b="1"/>
              <a:t>(Subtract)</a:t>
            </a:r>
            <a:r>
              <a:rPr lang="ko-KR" altLang="en-US"/>
              <a:t> 연산 구현</a:t>
            </a:r>
          </a:p>
          <a:p>
            <a:r>
              <a:rPr lang="ko-KR" altLang="en-US"/>
              <a:t>두 정수의 </a:t>
            </a:r>
            <a:r>
              <a:rPr lang="ko-KR" altLang="en-US" b="1"/>
              <a:t>곱셈</a:t>
            </a:r>
            <a:r>
              <a:rPr lang="en-US" altLang="ko-KR" b="1"/>
              <a:t>(Multiply)</a:t>
            </a:r>
            <a:r>
              <a:rPr lang="ko-KR" altLang="en-US"/>
              <a:t> 연산 구현</a:t>
            </a:r>
          </a:p>
          <a:p>
            <a:r>
              <a:rPr lang="ko-KR" altLang="en-US"/>
              <a:t>두 정수의 </a:t>
            </a:r>
            <a:r>
              <a:rPr lang="ko-KR" altLang="en-US" b="1"/>
              <a:t>나눗셈</a:t>
            </a:r>
            <a:r>
              <a:rPr lang="en-US" altLang="ko-KR" b="1"/>
              <a:t>(Divide)</a:t>
            </a:r>
            <a:r>
              <a:rPr lang="ko-KR" altLang="en-US"/>
              <a:t> 연산 구현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기본 연산 요구사항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Calculator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public int Add(int a, int b)       → a + 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Subtract(int a, int b)  → a - 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Multiply(int a, int b)  → a * 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Divide(int a, int b)    → a / 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Add(2, 3) → 5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Subtract(5, 3) → 2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Multiply(4, 3) → 12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Divide(10, 2) → 5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간단하죠</a:t>
            </a:r>
            <a:r>
              <a:rPr lang="en-US" altLang="ko-KR"/>
              <a:t>? </a:t>
            </a:r>
            <a:r>
              <a:rPr lang="ko-KR" altLang="en-US"/>
              <a:t>기본 사칙연산입니다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예외 처리 ⚠️</a:t>
            </a:r>
          </a:p>
          <a:p>
            <a:r>
              <a:rPr lang="ko-KR" altLang="en-US"/>
              <a:t>다음은 </a:t>
            </a:r>
            <a:r>
              <a:rPr lang="ko-KR" altLang="en-US" b="1"/>
              <a:t>예외 처리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0</a:t>
            </a:r>
            <a:r>
              <a:rPr lang="ko-KR" altLang="en-US" b="1"/>
              <a:t>으로 나눌 때</a:t>
            </a:r>
            <a:r>
              <a:rPr lang="ko-KR" altLang="en-US"/>
              <a:t> </a:t>
            </a:r>
            <a:r>
              <a:rPr lang="en-US" altLang="ko-KR"/>
              <a:t>DivideByZeroException </a:t>
            </a:r>
            <a:r>
              <a:rPr lang="ko-KR" altLang="en-US"/>
              <a:t>발생</a:t>
            </a:r>
          </a:p>
          <a:p>
            <a:r>
              <a:rPr lang="ko-KR" altLang="en-US" b="1"/>
              <a:t>정수 범위 초과</a:t>
            </a:r>
            <a:r>
              <a:rPr lang="ko-KR" altLang="en-US"/>
              <a:t> 시 예외 처리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예외 처리 요구사항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나누기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Divide(10, 0)  → DivideByZeroException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Assert.Throws&lt;DivideByZeroException&gt;(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() =&gt; calculator.Divide(10, 0));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정수 범위 초과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(Optional)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Add(int.MaxValue, 1)  → OverflowException?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int.MaxValue = 2,147,483,647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int.MinValue = -2,147,483,648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넘치면 어떻게 할지 결정 필요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0</a:t>
            </a:r>
            <a:r>
              <a:rPr lang="ko-KR" altLang="en-US" b="1"/>
              <a:t>으로 나누기</a:t>
            </a:r>
            <a:r>
              <a:rPr lang="ko-KR" altLang="en-US"/>
              <a:t>는 필수로 테스트할 거예요</a:t>
            </a:r>
            <a:r>
              <a:rPr lang="en-US" altLang="ko-KR"/>
              <a:t>. </a:t>
            </a:r>
            <a:r>
              <a:rPr lang="ko-KR" altLang="en-US"/>
              <a:t>정수 범위 초과는 시간 되면 다뤄보겠습니다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경계값 테스트 🔍</a:t>
            </a:r>
          </a:p>
          <a:p>
            <a:r>
              <a:rPr lang="ko-KR" altLang="en-US"/>
              <a:t>마지막으로 </a:t>
            </a:r>
            <a:r>
              <a:rPr lang="ko-KR" altLang="en-US" b="1"/>
              <a:t>경계값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int </a:t>
            </a:r>
            <a:r>
              <a:rPr lang="ko-KR" altLang="en-US" b="1"/>
              <a:t>최대값</a:t>
            </a:r>
            <a:r>
              <a:rPr lang="en-US" altLang="ko-KR" b="1"/>
              <a:t>/</a:t>
            </a:r>
            <a:r>
              <a:rPr lang="ko-KR" altLang="en-US" b="1"/>
              <a:t>최소값</a:t>
            </a:r>
            <a:r>
              <a:rPr lang="ko-KR" altLang="en-US"/>
              <a:t> 연산 검증</a:t>
            </a:r>
          </a:p>
          <a:p>
            <a:r>
              <a:rPr lang="ko-KR" altLang="en-US" b="1"/>
              <a:t>음수</a:t>
            </a:r>
            <a:r>
              <a:rPr lang="ko-KR" altLang="en-US"/>
              <a:t> 계산 정확성 검증</a:t>
            </a:r>
          </a:p>
          <a:p>
            <a:r>
              <a:rPr lang="en-US" altLang="ko-KR" b="1"/>
              <a:t>0 </a:t>
            </a:r>
            <a:r>
              <a:rPr lang="ko-KR" altLang="en-US" b="1"/>
              <a:t>포함</a:t>
            </a:r>
            <a:r>
              <a:rPr lang="ko-KR" altLang="en-US"/>
              <a:t> 연산 정상 동작 검증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경계값 테스트 요구사항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🎯 경계값이란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버그가 숨어있기 쉬운 극단적인 값들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테스트해야 할 경계값들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Add(0, 0) → 0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Add(5, 0) → 5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Multiply(100, 0) → 0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관련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Add(-1, -1) → -2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Add(-5, 3) → -2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Multiply(-2, 3) → -6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Multiply(-2, -3) → 6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Add(int.MaxValue, 0) → int.MaxValue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Add(int.MinValue, 0) → int.MinValue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경계값 테스트</a:t>
            </a:r>
            <a:r>
              <a:rPr lang="ko-KR" altLang="en-US"/>
              <a:t>가 왜 중요하냐면요</a:t>
            </a:r>
            <a:r>
              <a:rPr lang="en-US" altLang="ko-KR"/>
              <a:t>,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Add(2, 3) = 5</a:t>
            </a:r>
            <a:r>
              <a:rPr lang="ko-KR" altLang="en-US"/>
              <a:t> 이건 누구나 테스트해요</a:t>
            </a:r>
            <a:r>
              <a:rPr lang="en-US" altLang="ko-KR"/>
              <a:t>. </a:t>
            </a:r>
            <a:r>
              <a:rPr lang="ko-KR" altLang="en-US"/>
              <a:t>근데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Add(-1, -1)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Add(0, 0)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Add(int.MaxValue, 1)</a:t>
            </a:r>
            <a:r>
              <a:rPr lang="ko-KR" altLang="en-US"/>
              <a:t> 이런 건 놓치기 쉬워요</a:t>
            </a:r>
            <a:r>
              <a:rPr lang="en-US" altLang="ko-KR"/>
              <a:t>.</a:t>
            </a:r>
          </a:p>
          <a:p>
            <a:r>
              <a:rPr lang="ko-KR" altLang="en-US" b="1"/>
              <a:t>버그는 대부분 경계에서 발생합니다</a:t>
            </a:r>
            <a:r>
              <a:rPr lang="en-US" altLang="ko-KR" b="1"/>
              <a:t>!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 계획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실습 진행 순서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Add_TwoNumbers_ReturnsSum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Calculator.Add()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정리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Add_WithZero_ReturnsOtherNumber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Add_NegativeNumbers_ReturnsSum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Step 3: Divide 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Divide_TwoNumbers_ReturnsQuotient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Divide_ByZero_ThrowsException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Step 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연산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(Subtract, Multiply)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만들 테스트 목록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예상 테스트 목록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Add_TwoPositiveNumbers_ReturnsSum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Add_TwoNegativeNumbers_ReturnsSum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Add_PositiveAndNegative_ReturnsSum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Add_WithZero_ReturnsOtherNumber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Subtract_TwoNumbers_ReturnsDifference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Subtract_ResultIsNegative_ReturnsNegative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Multiply_TwoNumbers_ReturnsProduct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Multiply_WithZero_ReturnsZero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Divide_TwoNumbers_ReturnsQuotient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Divide_ByZero_ThrowsDivideByZeroException 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Divide_ResultIsInteger_TruncatesDecimal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Calculator </a:t>
            </a:r>
            <a:r>
              <a:rPr lang="ko-KR" altLang="en-US" b="1"/>
              <a:t>실습 요구사항</a:t>
            </a:r>
            <a:r>
              <a:rPr lang="en-US" altLang="ko-KR"/>
              <a:t>:</a:t>
            </a:r>
          </a:p>
          <a:p>
            <a:r>
              <a:rPr lang="ko-KR" altLang="en-US" b="1"/>
              <a:t>기본 연산</a:t>
            </a:r>
            <a:r>
              <a:rPr lang="en-US" altLang="ko-KR"/>
              <a:t>: Add, Subtract, Multiply, Divide </a:t>
            </a:r>
            <a:r>
              <a:rPr lang="ko-KR" altLang="en-US" b="1"/>
              <a:t>예외 처리</a:t>
            </a:r>
            <a:r>
              <a:rPr lang="en-US" altLang="ko-KR"/>
              <a:t>: 0</a:t>
            </a:r>
            <a:r>
              <a:rPr lang="ko-KR" altLang="en-US"/>
              <a:t>으로 나누기 → </a:t>
            </a:r>
            <a:r>
              <a:rPr lang="en-US" altLang="ko-KR"/>
              <a:t>DivideByZeroException </a:t>
            </a:r>
            <a:r>
              <a:rPr lang="ko-KR" altLang="en-US" b="1"/>
              <a:t>경계값</a:t>
            </a:r>
            <a:r>
              <a:rPr lang="en-US" altLang="ko-KR"/>
              <a:t>: 0, </a:t>
            </a:r>
            <a:r>
              <a:rPr lang="ko-KR" altLang="en-US"/>
              <a:t>음수</a:t>
            </a:r>
            <a:r>
              <a:rPr lang="en-US" altLang="ko-KR"/>
              <a:t>, </a:t>
            </a:r>
            <a:r>
              <a:rPr lang="ko-KR" altLang="en-US"/>
              <a:t>최대</a:t>
            </a:r>
            <a:r>
              <a:rPr lang="en-US" altLang="ko-KR"/>
              <a:t>/</a:t>
            </a:r>
            <a:r>
              <a:rPr lang="ko-KR" altLang="en-US"/>
              <a:t>최소값</a:t>
            </a:r>
          </a:p>
          <a:p>
            <a:r>
              <a:rPr lang="ko-KR" altLang="en-US"/>
              <a:t>이제 실제로 코드를 작성해볼 건데요</a:t>
            </a:r>
            <a:r>
              <a:rPr lang="en-US" altLang="ko-KR"/>
              <a:t>,</a:t>
            </a:r>
          </a:p>
          <a:p>
            <a:r>
              <a:rPr lang="en-US" altLang="ko-KR" b="1"/>
              <a:t>TDD </a:t>
            </a:r>
            <a:r>
              <a:rPr lang="ko-KR" altLang="en-US" b="1"/>
              <a:t>순서</a:t>
            </a:r>
            <a:r>
              <a:rPr lang="ko-KR" altLang="en-US"/>
              <a:t> 기억하시죠</a:t>
            </a:r>
            <a:r>
              <a:rPr lang="en-US" altLang="ko-KR"/>
              <a:t>? 1️⃣ </a:t>
            </a:r>
            <a:r>
              <a:rPr lang="en-US" altLang="ko-KR" b="1"/>
              <a:t>Red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테스트 먼저 작성 </a:t>
            </a:r>
            <a:r>
              <a:rPr lang="en-US" altLang="ko-KR"/>
              <a:t>(</a:t>
            </a:r>
            <a:r>
              <a:rPr lang="ko-KR" altLang="en-US"/>
              <a:t>실패</a:t>
            </a:r>
            <a:r>
              <a:rPr lang="en-US" altLang="ko-KR"/>
              <a:t>!) 2️⃣ </a:t>
            </a:r>
            <a:r>
              <a:rPr lang="en-US" altLang="ko-KR" b="1"/>
              <a:t>Green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최소 코드로 통과 </a:t>
            </a:r>
            <a:r>
              <a:rPr lang="en-US" altLang="ko-KR"/>
              <a:t>3️⃣ </a:t>
            </a:r>
            <a:r>
              <a:rPr lang="en-US" altLang="ko-KR" b="1"/>
              <a:t>Refactor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코드 정리</a:t>
            </a:r>
          </a:p>
          <a:p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ko-KR" altLang="en-US"/>
              <a:t>도 적용하세요</a:t>
            </a:r>
            <a:r>
              <a:rPr lang="en-US" altLang="ko-KR"/>
              <a:t>! Arrange → Act → Assert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같이 코드 작성하러 가시죠</a:t>
            </a:r>
            <a:r>
              <a:rPr lang="en-US" altLang="ko-KR"/>
              <a:t>! </a:t>
            </a:r>
            <a:r>
              <a:rPr lang="ko-KR" altLang="en-US"/>
              <a:t>🚀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TDD </a:t>
            </a:r>
            <a:r>
              <a:rPr lang="ko-KR" altLang="en-US"/>
              <a:t>첫 번째 단계 </a:t>
            </a:r>
            <a:r>
              <a:rPr lang="en-US" altLang="ko-KR" b="1"/>
              <a:t>Red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en-US" altLang="ko-KR" b="1"/>
              <a:t>RED</a:t>
            </a:r>
            <a:r>
              <a:rPr lang="en-US" altLang="ko-KR"/>
              <a:t> - </a:t>
            </a:r>
            <a:r>
              <a:rPr lang="ko-KR" altLang="en-US"/>
              <a:t>구현하기 전에 실패하는 테스트를 먼저 작성합니다</a:t>
            </a:r>
            <a:r>
              <a:rPr lang="en-US" altLang="ko-KR"/>
              <a:t>. </a:t>
            </a:r>
            <a:r>
              <a:rPr lang="ko-KR" altLang="en-US"/>
              <a:t>이는 </a:t>
            </a:r>
            <a:r>
              <a:rPr lang="en-US" altLang="ko-KR"/>
              <a:t>TDD </a:t>
            </a:r>
            <a:r>
              <a:rPr lang="ko-KR" altLang="en-US"/>
              <a:t>사이클의 첫 번째 단계입니다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테스트가 실패한다고</a:t>
            </a:r>
            <a:r>
              <a:rPr lang="en-US" altLang="ko-KR"/>
              <a:t>? </a:t>
            </a:r>
            <a:r>
              <a:rPr lang="ko-KR" altLang="en-US"/>
              <a:t>그게 맞는 거야</a:t>
            </a:r>
            <a:r>
              <a:rPr lang="en-US" altLang="ko-KR"/>
              <a:t>?" </a:t>
            </a:r>
            <a:r>
              <a:rPr lang="ko-KR" altLang="en-US" b="1"/>
              <a:t>네</a:t>
            </a:r>
            <a:r>
              <a:rPr lang="en-US" altLang="ko-KR" b="1"/>
              <a:t>, </a:t>
            </a:r>
            <a:r>
              <a:rPr lang="ko-KR" altLang="en-US" b="1"/>
              <a:t>맞습니다</a:t>
            </a:r>
            <a:r>
              <a:rPr lang="en-US" altLang="ko-KR" b="1"/>
              <a:t>!</a:t>
            </a:r>
            <a:r>
              <a:rPr lang="ko-KR" altLang="en-US"/>
              <a:t> 실패해야 정상이에요</a:t>
            </a:r>
            <a:r>
              <a:rPr lang="en-US" altLang="ko-KR"/>
              <a:t>.</a:t>
            </a:r>
          </a:p>
          <a:p>
            <a:r>
              <a:rPr lang="ko-KR" altLang="en-US"/>
              <a:t>아직 코드가 없으니까요</a:t>
            </a:r>
            <a:r>
              <a:rPr lang="en-US" altLang="ko-KR"/>
              <a:t>. </a:t>
            </a:r>
            <a:r>
              <a:rPr lang="ko-KR" altLang="en-US"/>
              <a:t>이게 </a:t>
            </a:r>
            <a:r>
              <a:rPr lang="en-US" altLang="ko-KR" b="1"/>
              <a:t>Red </a:t>
            </a:r>
            <a:r>
              <a:rPr lang="ko-KR" altLang="en-US" b="1"/>
              <a:t>단계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살펴보기</a:t>
            </a:r>
          </a:p>
          <a:p>
            <a:r>
              <a:rPr lang="ko-KR" altLang="en-US"/>
              <a:t>화면의 코드를 같이 볼게요</a:t>
            </a:r>
            <a:r>
              <a:rPr lang="en-US" altLang="ko-KR"/>
              <a:t>. </a:t>
            </a:r>
            <a:r>
              <a:rPr lang="en-US" altLang="ko-KR" b="1"/>
              <a:t>CalculatorTests.cs</a:t>
            </a:r>
            <a:r>
              <a:rPr lang="en-US" altLang="ko-KR"/>
              <a:t> </a:t>
            </a:r>
            <a:r>
              <a:rPr lang="ko-KR" altLang="en-US"/>
              <a:t>파일입니다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NUnit.Framework;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 Demo.Tests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class CalculatorTests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 void 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var calculator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int a = 2, b = 3, expected = 5;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int result = calculator.Add(a, b);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Assert.AreEqual(expected,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 void Divide_ByZero_ThrowsException()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Assert.Throws&lt;DivideByZeroException&gt;(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() =&gt; new Calculator().Divide(10,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class CalculatorTests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클래스는 테스트 모음이다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Add_TwoNumbers_ReturnsSum()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메서드는 테스트다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명명규칙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UnitOfWork_Condition_Expected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Add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TwoNumbers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숫자 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ReturnsSum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 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calculator = new Calculator();  ← 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 생성│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a = 2, b = 3, expected = 5;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입력값과 기대값 준비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result = calculator.Add(a, b);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메서드 호출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result);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기대값과 실제값 비교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주석으로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Arrange, // Act, // Assert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표시하면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코드 읽기가 훨씬 쉬워집니다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예외 테스트</a:t>
            </a:r>
          </a:p>
          <a:p>
            <a:r>
              <a:rPr lang="ko-KR" altLang="en-US"/>
              <a:t>두 번째 테스트 </a:t>
            </a:r>
            <a:r>
              <a:rPr lang="en-US" altLang="ko-KR" b="1"/>
              <a:t>Divide_ByZero_ThrowsException</a:t>
            </a:r>
            <a:r>
              <a:rPr lang="ko-KR" altLang="en-US"/>
              <a:t>을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Divide_ByZero_ThrowsException()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Assert.Throws&lt;DivideByZeroException&gt;(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new Calculator().Divide(10,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분석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Assert.Throws&lt;DivideByZeroException&gt;(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() =&gt; new Calculator().Divide(10, 0)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);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(Divide(10, 0))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실행하면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발생해야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람다 표현식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코드를 나중에 실행해봐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예외가 발생하면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예외가 안 나면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테스트가 실패하는 이유 ❗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**빨간 박스**가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클래스와 메서드가 아직 구현되지 않았기 때문입니다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다음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진행하는 신호입니다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실패할까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Demo.Tests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CalculatorTests.cs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있음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클래스를 찾을 수 없습니다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컴파일 에러 또는 런타임 에러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이게 정상입니다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이게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"Red"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실패하는 게 **당연한 겁니다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클래스가 아직 없으니까요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이 **실패가 신호**입니다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이 테스트를 통과시키기 위한 코드를 작성해라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사이클에서의 위치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위치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┌─────────────┐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┌───▶│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│◀───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여기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│  테스트작성  │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│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└──────┬──────┘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│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▼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┌──────┴─────┐   ┌─────────────┐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│◀──│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│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코드정리   │   │  최소구현   │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└────────────┘   └─────────────┘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다음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</a:t>
            </a:r>
            <a:r>
              <a:rPr lang="en-US" altLang="ko-KR" b="1"/>
              <a:t>: </a:t>
            </a:r>
            <a:r>
              <a:rPr lang="ko-KR" altLang="en-US" b="1"/>
              <a:t>직접 작성해보기</a:t>
            </a:r>
          </a:p>
          <a:p>
            <a:r>
              <a:rPr lang="ko-KR" altLang="en-US"/>
              <a:t>같이 작성해볼까요</a:t>
            </a:r>
            <a:r>
              <a:rPr lang="en-US" altLang="ko-KR"/>
              <a:t>?</a:t>
            </a:r>
          </a:p>
          <a:p>
            <a:r>
              <a:rPr lang="en-US" altLang="ko-KR" b="1"/>
              <a:t>Demo.Tests</a:t>
            </a:r>
            <a:r>
              <a:rPr lang="en-US" altLang="ko-KR"/>
              <a:t> </a:t>
            </a:r>
            <a:r>
              <a:rPr lang="ko-KR" altLang="en-US"/>
              <a:t>프로젝트에 </a:t>
            </a:r>
            <a:r>
              <a:rPr lang="en-US" altLang="ko-KR" b="1"/>
              <a:t>CalculatorTests.cs</a:t>
            </a:r>
            <a:r>
              <a:rPr lang="en-US" altLang="ko-KR"/>
              <a:t> </a:t>
            </a:r>
            <a:r>
              <a:rPr lang="ko-KR" altLang="en-US"/>
              <a:t>파일을 만들어주세요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NUnit.Framework;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System;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 Demo.Tests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class CalculatorTests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 void 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var calculator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int a = 2, b = 3, expected = 5;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int result = calculator.Add(a, b);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Assert.AreEqual(expected,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작성하셨으면 **빌드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(Ctrl+Shift+B)**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에러 나죠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찾을 수 없습니다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**축하합니다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넘어가서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구현할 차례입니다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구현 **전에** 테스트 먼저 작성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패턴** 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(Arrange-Act-Assert)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**명명 규칙** 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(UnitOfWork_Condition_Expected)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테스트가 **실패하는 게 정상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실패하는 테스트가 있다는 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이걸 통과시킬 코드를 작성해야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**는 신호입니다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클래스를 구현해서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테스트를 **통과**시키겠습니다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TDD </a:t>
            </a:r>
            <a:r>
              <a:rPr lang="ko-KR" altLang="en-US"/>
              <a:t>두 번째 단계 </a:t>
            </a:r>
            <a:r>
              <a:rPr lang="en-US" altLang="ko-KR" b="1"/>
              <a:t>Green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en-US" altLang="ko-KR" b="1"/>
              <a:t>GREEN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테스트를 통과시키기 위한 최소한의 코드를 구현합니다</a:t>
            </a:r>
            <a:r>
              <a:rPr lang="en-US" altLang="ko-KR"/>
              <a:t>. TDD </a:t>
            </a:r>
            <a:r>
              <a:rPr lang="ko-KR" altLang="en-US"/>
              <a:t>사이클의 두 번째 단계입니다</a:t>
            </a:r>
            <a:r>
              <a:rPr lang="en-US" altLang="ko-KR"/>
              <a:t>.</a:t>
            </a:r>
          </a:p>
          <a:p>
            <a:r>
              <a:rPr lang="ko-KR" altLang="en-US"/>
              <a:t>핵심은 **</a:t>
            </a:r>
            <a:r>
              <a:rPr lang="en-US" altLang="ko-KR"/>
              <a:t>"</a:t>
            </a:r>
            <a:r>
              <a:rPr lang="ko-KR" altLang="en-US"/>
              <a:t>최소한</a:t>
            </a:r>
            <a:r>
              <a:rPr lang="en-US" altLang="ko-KR"/>
              <a:t>"**</a:t>
            </a:r>
            <a:r>
              <a:rPr lang="ko-KR" altLang="en-US"/>
              <a:t>이에요</a:t>
            </a:r>
            <a:r>
              <a:rPr lang="en-US" altLang="ko-KR"/>
              <a:t>. </a:t>
            </a:r>
            <a:r>
              <a:rPr lang="ko-KR" altLang="en-US"/>
              <a:t>완벽한 코드 </a:t>
            </a:r>
            <a:r>
              <a:rPr lang="en-US" altLang="ko-KR"/>
              <a:t>X, </a:t>
            </a:r>
            <a:r>
              <a:rPr lang="ko-KR" altLang="en-US"/>
              <a:t>확장 가능한 코드 </a:t>
            </a:r>
            <a:r>
              <a:rPr lang="en-US" altLang="ko-KR"/>
              <a:t>X </a:t>
            </a:r>
            <a:r>
              <a:rPr lang="ko-KR" altLang="en-US"/>
              <a:t>그냥 </a:t>
            </a:r>
            <a:r>
              <a:rPr lang="ko-KR" altLang="en-US" b="1"/>
              <a:t>테스트 통과만 시키면 되는</a:t>
            </a:r>
            <a:r>
              <a:rPr lang="ko-KR" altLang="en-US"/>
              <a:t> 가장 간단한 코드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살펴보기</a:t>
            </a:r>
          </a:p>
          <a:p>
            <a:r>
              <a:rPr lang="ko-KR" altLang="en-US"/>
              <a:t>화면의 코드를 보시죠</a:t>
            </a:r>
            <a:r>
              <a:rPr lang="en-US" altLang="ko-KR"/>
              <a:t>. </a:t>
            </a:r>
            <a:r>
              <a:rPr lang="en-US" altLang="ko-KR" b="1"/>
              <a:t>Calculator.cs</a:t>
            </a:r>
            <a:r>
              <a:rPr lang="ko-KR" altLang="en-US"/>
              <a:t> 파일입니다</a:t>
            </a:r>
            <a:r>
              <a:rPr lang="en-US" altLang="ko-KR"/>
              <a:t>. </a:t>
            </a:r>
            <a:r>
              <a:rPr lang="ko-KR" altLang="en-US"/>
              <a:t>오른쪽 상단에 </a:t>
            </a:r>
            <a:r>
              <a:rPr lang="en-US" altLang="ko-KR" b="1"/>
              <a:t>"</a:t>
            </a:r>
            <a:r>
              <a:rPr lang="ko-KR" altLang="en-US" b="1"/>
              <a:t>성공</a:t>
            </a:r>
            <a:r>
              <a:rPr lang="en-US" altLang="ko-KR" b="1"/>
              <a:t>"</a:t>
            </a:r>
            <a:r>
              <a:rPr lang="ko-KR" altLang="en-US"/>
              <a:t> 표시가 있네요</a:t>
            </a:r>
            <a:r>
              <a:rPr lang="en-US" altLang="ko-KR"/>
              <a:t>!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throw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Subtract, Multiply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다른 메서드도 유사한 방식으로 구현 가능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딱 이것만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Add_TwoNumbers_ReturnsSum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Add(2, 3)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같은 건 안 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그걸 요구하지 않으니까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메서드**는 정말 간단해요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끝입니다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단순해도 돼요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`Add(2, 3)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요구하고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코드는 그걸 만족해요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분석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분석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                          ←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나누기 체크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throw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DivideByZeroException();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나눗셈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Divide_ByZero_ThrowsException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Divide(10, 0)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Divide_TwoNumbers_ReturnsQuotient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Divide(10, 2)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메서드**는 예외 처리가 들어갔어요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Divide_ByZero_ThrowsException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나누면 예외가 발생해야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 요구하니까요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요구하는 것만 구현했습니다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구현 원칙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원칙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해야 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통과시키는 코드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테스트가 요구하는 기능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컴파일되고 실행되는 코드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하지 말아야 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요구하지 않는 기능 추가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필요할 것 같아서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미리 구현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과도한 최적화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예쁘게 꾸미기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"YAGNI"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Aren't Gonna Need It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 없을 거야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YAGNI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원칙 들어보셨나요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 Aren't Gonna Need It"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지금 필요 없으면 만들지 마라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단계에서는 **딱 테스트 통과시킬 만큼만** 구현합니다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나머지는 **나중에 필요하면** 그때 추가해요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설명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**초록색 박스**를 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구현은 앞서 작성한 테스트를 통과시키기 위한 가장 간단한 코드입니다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메서드는 두 수를 더하고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나누기를 방지하는 예외 처리를 포함합니다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이 단계에서 과도한 최적화를 하지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핵심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빨간불 → 초록불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수를 더한다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 throw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DivideByZeroException();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체크하고 나눈다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과도한 최적화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예쁜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안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(Refactor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사이클에서의 위치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위치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┌─────────────┐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┌───▶│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│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테스트작성  │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└──────┬──────┘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│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▼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┌──────┴─────┐   ┌─────────────┐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│◀──│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│◀───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여기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코드정리   │   │  최소구현   │  ✅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└────────────┘   └─────────────┘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다음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 코드 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새 테스트 추가하고 다시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</a:t>
            </a:r>
            <a:r>
              <a:rPr lang="en-US" altLang="ko-KR" b="1"/>
              <a:t>: </a:t>
            </a:r>
            <a:r>
              <a:rPr lang="ko-KR" altLang="en-US" b="1"/>
              <a:t>테스트 실행</a:t>
            </a:r>
          </a:p>
          <a:p>
            <a:r>
              <a:rPr lang="ko-KR" altLang="en-US"/>
              <a:t>직접 해볼게요</a:t>
            </a:r>
            <a:r>
              <a:rPr lang="en-US" altLang="ko-KR"/>
              <a:t>!</a:t>
            </a:r>
          </a:p>
          <a:p>
            <a:r>
              <a:rPr lang="en-US" altLang="ko-KR" b="1"/>
              <a:t>Demo </a:t>
            </a:r>
            <a:r>
              <a:rPr lang="ko-KR" altLang="en-US" b="1"/>
              <a:t>프로젝트</a:t>
            </a:r>
            <a:r>
              <a:rPr lang="ko-KR" altLang="en-US"/>
              <a:t>에 </a:t>
            </a:r>
            <a:r>
              <a:rPr lang="en-US" altLang="ko-KR" b="1"/>
              <a:t>Calculator.cs</a:t>
            </a:r>
            <a:r>
              <a:rPr lang="ko-KR" altLang="en-US"/>
              <a:t> 파일 생성</a:t>
            </a:r>
          </a:p>
          <a:p>
            <a:r>
              <a:rPr lang="ko-KR" altLang="en-US"/>
              <a:t>코드 작성</a:t>
            </a:r>
          </a:p>
          <a:p>
            <a:r>
              <a:rPr lang="en-US" altLang="ko-KR" b="1"/>
              <a:t>Ctrl + R, A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전체 테스트 실행</a:t>
            </a:r>
            <a:r>
              <a:rPr lang="en-US" altLang="ko-KR"/>
              <a:t>)</a:t>
            </a:r>
          </a:p>
          <a:p>
            <a:r>
              <a:rPr lang="ko-KR" altLang="en-US" b="1"/>
              <a:t>초록불</a:t>
            </a:r>
            <a:r>
              <a:rPr lang="ko-KR" altLang="en-US"/>
              <a:t> 확인</a:t>
            </a:r>
            <a:r>
              <a:rPr lang="en-US" altLang="ko-KR"/>
              <a:t>! </a:t>
            </a:r>
            <a:r>
              <a:rPr lang="ko-KR" altLang="en-US"/>
              <a:t>🟢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Demo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throw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실행해보세요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Divide_ByZero_ThrowsException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**축하합니다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🟢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흔한 실수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흔한 실수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실수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많이 구현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처리도 해야 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오버플로우도 체크하고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테스트가 요구하지 않으면 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실수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리팩토링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좀 지저분한데 정리해야겠다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 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통과만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실수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없이 기능 추가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"Subtract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만들어놔야지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먼저 테스트 작성하세요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테스트를 **통과**시키는 **최소한의** 코드 작성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테스트가 **요구하는 것만** 구현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과도한 최적화 **금지**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코드 정리는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단계로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단계**로 넘어가서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코드를 깔끔하게 정리하거나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새로운 테스트를 추가해서 **다시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**로 돌아갈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TDD </a:t>
            </a:r>
            <a:r>
              <a:rPr lang="ko-KR" altLang="en-US"/>
              <a:t>세 번째 단계 </a:t>
            </a:r>
            <a:r>
              <a:rPr lang="en-US" altLang="ko-KR" b="1"/>
              <a:t>Refactor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en-US" altLang="ko-KR"/>
              <a:t>Red</a:t>
            </a:r>
            <a:r>
              <a:rPr lang="ko-KR" altLang="en-US"/>
              <a:t>에서 실패하는 테스트 작성하고</a:t>
            </a:r>
            <a:r>
              <a:rPr lang="en-US" altLang="ko-KR"/>
              <a:t>, Green</a:t>
            </a:r>
            <a:r>
              <a:rPr lang="ko-KR" altLang="en-US"/>
              <a:t>에서 테스트 통과시켰죠</a:t>
            </a:r>
            <a:r>
              <a:rPr lang="en-US" altLang="ko-KR"/>
              <a:t>.</a:t>
            </a:r>
          </a:p>
          <a:p>
            <a:r>
              <a:rPr lang="ko-KR" altLang="en-US"/>
              <a:t>이제 </a:t>
            </a:r>
            <a:r>
              <a:rPr lang="ko-KR" altLang="en-US" b="1"/>
              <a:t>코드를 깔끔하게 정리</a:t>
            </a:r>
            <a:r>
              <a:rPr lang="ko-KR" altLang="en-US"/>
              <a:t>할 차례입니다</a:t>
            </a:r>
            <a:r>
              <a:rPr lang="en-US" altLang="ko-KR"/>
              <a:t>.</a:t>
            </a:r>
          </a:p>
          <a:p>
            <a:r>
              <a:rPr lang="ko-KR" altLang="en-US"/>
              <a:t>핵심은 **</a:t>
            </a:r>
            <a:r>
              <a:rPr lang="en-US" altLang="ko-KR"/>
              <a:t>"</a:t>
            </a:r>
            <a:r>
              <a:rPr lang="ko-KR" altLang="en-US"/>
              <a:t>동작은 그대로</a:t>
            </a:r>
            <a:r>
              <a:rPr lang="en-US" altLang="ko-KR"/>
              <a:t>, </a:t>
            </a:r>
            <a:r>
              <a:rPr lang="ko-KR" altLang="en-US"/>
              <a:t>코드만 개선</a:t>
            </a:r>
            <a:r>
              <a:rPr lang="en-US" altLang="ko-KR"/>
              <a:t>"**</a:t>
            </a:r>
            <a:r>
              <a:rPr lang="ko-KR" altLang="en-US"/>
              <a:t>이에요</a:t>
            </a:r>
            <a:r>
              <a:rPr lang="en-US" altLang="ko-KR"/>
              <a:t>. </a:t>
            </a:r>
            <a:r>
              <a:rPr lang="ko-KR" altLang="en-US"/>
              <a:t>테스트가 계속 </a:t>
            </a:r>
            <a:r>
              <a:rPr lang="ko-KR" altLang="en-US" b="1"/>
              <a:t>초록불</a:t>
            </a:r>
            <a:r>
              <a:rPr lang="ko-KR" altLang="en-US"/>
              <a:t>을 유지하면서 코드를 다듬는 겁니다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Refactor</a:t>
            </a:r>
            <a:r>
              <a:rPr lang="ko-KR" altLang="en-US" b="1"/>
              <a:t>란</a:t>
            </a:r>
            <a:r>
              <a:rPr lang="en-US" altLang="ko-KR" b="1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정의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(Refactoring)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동작은 변경하지 않으면서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내부 구조를 개선하는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바꿔도 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 이름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구조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제거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바꾸면 안 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(Add(2,3)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반환하는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초록불 → 빨간불 되면 안 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중복 로직 메서드 추출 🔗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중복 로직 메서드 추출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반복되는 코드 블록을 별도의 메서드로 추출</a:t>
            </a:r>
            <a:r>
              <a:rPr lang="en-US" altLang="ko-KR" i="1"/>
              <a:t>. </a:t>
            </a:r>
            <a:r>
              <a:rPr lang="ko-KR" altLang="en-US" i="1"/>
              <a:t>공통 기능을 재사용하여 코드량 감소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리팩토링 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Add_TwoPositiveNumbers_ReturnsSum()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calculator = new 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calculator.Add(2,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Add_TwoNegativeNumbers_ReturnsSum()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calculator = new 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calculator.Add(-2, -3);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Assert.AreEqual(-5,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Subtract_TwoNumbers_ReturnsDifference()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calculator = new 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calculator.Subtract(5,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리팩토링 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SetUp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중복 제거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CalculatorTests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Calculator _calculator;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필드로 추출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_calculator = new 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번만 작성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Add_TwoPositiveNumbers_ReturnsSum()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result = _calculator.Add(2,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Add_TwoNegativeNumbers_ReturnsSum()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result = _calculator.Add(-2, -3);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Assert.AreEqual(-5,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**[SetUp]**</a:t>
            </a:r>
            <a:r>
              <a:rPr lang="ko-KR" altLang="en-US"/>
              <a:t>을 사용해서 중복을 제거했어요</a:t>
            </a:r>
            <a:r>
              <a:rPr lang="en-US" altLang="ko-KR"/>
              <a:t>.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</a:t>
            </a:r>
            <a:r>
              <a:rPr lang="en-US" altLang="ko-KR"/>
              <a:t> </a:t>
            </a:r>
            <a:r>
              <a:rPr lang="ko-KR" altLang="en-US"/>
              <a:t>가 </a:t>
            </a:r>
            <a:r>
              <a:rPr lang="en-US" altLang="ko-KR"/>
              <a:t>3</a:t>
            </a:r>
            <a:r>
              <a:rPr lang="ko-KR" altLang="en-US"/>
              <a:t>번 나오던 게 </a:t>
            </a:r>
            <a:r>
              <a:rPr lang="en-US" altLang="ko-KR"/>
              <a:t>1</a:t>
            </a:r>
            <a:r>
              <a:rPr lang="ko-KR" altLang="en-US"/>
              <a:t>번으로 줄었습니다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매직넘버 상수화 ✏️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매직넘버 상수화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하드코딩된 숫자를 의미 있는 상수로 변환</a:t>
            </a:r>
            <a:r>
              <a:rPr lang="en-US" altLang="ko-KR" i="1"/>
              <a:t>. </a:t>
            </a:r>
            <a:r>
              <a:rPr lang="ko-KR" altLang="en-US" i="1"/>
              <a:t>코드의 가독성과 유지보수성 향상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리팩토링 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매직넘버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CalculateDiscount(int price)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(price &gt; 10000)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뭐지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price * 10 / 100;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뭐지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리팩토링 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상수로 의미 명확화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const int DISCOUNT_THRESHOLD = 10000;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const int DISCOUNT_PERCENT = 10;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CalculateDiscount(int price)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(price &gt; DISCOUNT_THRESHOLD)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price * DISCOUNT_PERCENT / 100;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매직넘버란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코드에 하드코딩된 의미 불명확한 숫자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if (age &gt; 19) ...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19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뭐지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(count &gt; 100) ...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뭐지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* 0.1 ...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0.1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뭐지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const int ADULT_AGE = 19;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if (age &gt; ADULT_AGE) ...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const int MAX_ITEMS = 100;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if (count &gt; MAX_ITEMS) ...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숫자만 봐서는 의미를 알 수 없으면 → 상수화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의도를 드러내는 네이밍 🏷️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의도를 드러내는 네이밍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메서드와 변수명을 기능과 목적이 명확하게 변경</a:t>
            </a:r>
            <a:r>
              <a:rPr lang="en-US" altLang="ko-KR" i="1"/>
              <a:t>. </a:t>
            </a:r>
            <a:r>
              <a:rPr lang="ko-KR" altLang="en-US" i="1"/>
              <a:t>주석 없이도 이해 가능한 코드 작성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리팩토링 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불명확한 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Calc(int a, int b, int 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(t == 1) return a + 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(t == 2) return a - 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x = Calc(5, 3, 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하는 건지 모름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리팩토링 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의도가 명확한 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Add(int firstNumber, int secondNumber)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firstNumber + secondNumber;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Subtract(int firstNumber, int secondNumber)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firstNumber - secondNumber;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sum = Add(5, 3);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더하기구나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이름의 기준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int d;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days? dollars? distance?                │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void Process();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처리하는 건지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temp;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int daysSinceCreation;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void CalculateTotalPrice();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int temperatureInCelsius;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이름만 보고 뭘 하는지 알 수 있어야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불필요한 코드 제거 🗑️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불필요한 코드 제거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사용되지 않는 코드 제거</a:t>
            </a:r>
            <a:r>
              <a:rPr lang="en-US" altLang="ko-KR" i="1"/>
              <a:t>. </a:t>
            </a:r>
            <a:r>
              <a:rPr lang="ko-KR" altLang="en-US" i="1"/>
              <a:t>단일 책임 원칙에 맞게 코드 정리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리팩토링 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Calculator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int _lastResult;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bool _isInitialized = false;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Add(int a, int 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Debug.WriteLine("Adding...");  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 처리된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result = a + 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_lastResult = result;  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이상 사용 안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result;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public void Reset() { }  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미구현 메서드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리팩토링 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깔끔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Calculator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Add(int a, int 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a + 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제거해야 할 것들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🗑️ 사용되지 않는 변수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🗑️ 사용되지 않는 메서드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🗑️ 주석 처리된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있으니까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🗑️ 불필요한 주석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명확하면 주석 불필요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🗑️ 도달 불가능한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(return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필요할 수도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복구하세요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효과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**리팩토링 효과**를 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이후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동작을 변경하지 않으면서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코드의 가독성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유지보수성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확장성을 높이는 과정입니다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테스트는 리팩토링 중 코드가 여전히 정상 동작함을 보장해주는 안전망 역할을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안전망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리팩토링 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수정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Ctrl+R, A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초록불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계속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빨간불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 잘못됨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되돌리기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테스트가 있으니까 마음 놓고 리팩토링할 수 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테스트 없이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무서워요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진짜 힘**입니다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있으니까 **마음 놓고** 코드를 바꿀 수 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뭔가 잘못되면 테스트가 **바로 알려주니까요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🎉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┌─────────────┐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┌───▶│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│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테스트작성  │  ✅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└──────┬──────┘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│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▼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┌──────┴─────┐   ┌─────────────┐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│◀──│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│  코드정리   │   │  최소구현   │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└──────┬─────┘   └─────────────┘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✅ 지금 여기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│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└─────────▶ 다시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기능 추가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**중복 로직 메서드 추출**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헬퍼 메서드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**매직넘버 상수화**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DISCOUNT_THRESHOLD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3️⃣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의도를 드러내는 네이밍**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→ totalPrice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4️⃣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코드 제거**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 안 하면 삭제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동작은 변경하지 않는다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테스트는 계속 **초록불** 유지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**안전망** 역할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한 바퀴**를 완료했습니다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새 기능 추가하려면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경계값 테스트</a:t>
            </a:r>
            <a:r>
              <a:rPr lang="ko-KR" altLang="en-US"/>
              <a:t>와 </a:t>
            </a:r>
            <a:r>
              <a:rPr lang="ko-KR" altLang="en-US" b="1"/>
              <a:t>예외 테스트</a:t>
            </a:r>
            <a:r>
              <a:rPr lang="ko-KR" altLang="en-US"/>
              <a:t>를 배워보겠습니다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"Add(2, 3) = 5" </a:t>
            </a:r>
            <a:r>
              <a:rPr lang="ko-KR" altLang="en-US"/>
              <a:t>이런 평범한 케이스는 누구나 테스트해요</a:t>
            </a:r>
            <a:r>
              <a:rPr lang="en-US" altLang="ko-KR"/>
              <a:t>. </a:t>
            </a:r>
            <a:r>
              <a:rPr lang="ko-KR" altLang="en-US"/>
              <a:t>근데 </a:t>
            </a:r>
            <a:r>
              <a:rPr lang="ko-KR" altLang="en-US" b="1"/>
              <a:t>버그는 대부분 어디서 발생할까요</a:t>
            </a:r>
            <a:r>
              <a:rPr lang="en-US" altLang="ko-KR" b="1"/>
              <a:t>?</a:t>
            </a:r>
            <a:endParaRPr lang="ko-KR" altLang="en-US"/>
          </a:p>
          <a:p>
            <a:r>
              <a:rPr lang="ko-KR" altLang="en-US" b="1"/>
              <a:t>경계에서 발생합니다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en-US" altLang="ko-KR"/>
              <a:t>0, -1, </a:t>
            </a:r>
            <a:r>
              <a:rPr lang="ko-KR" altLang="en-US"/>
              <a:t>최대값</a:t>
            </a:r>
            <a:r>
              <a:rPr lang="en-US" altLang="ko-KR"/>
              <a:t>, </a:t>
            </a:r>
            <a:r>
              <a:rPr lang="ko-KR" altLang="en-US"/>
              <a:t>최소값</a:t>
            </a:r>
            <a:r>
              <a:rPr lang="en-US" altLang="ko-KR"/>
              <a:t>... </a:t>
            </a:r>
            <a:r>
              <a:rPr lang="ko-KR" altLang="en-US"/>
              <a:t>이런 </a:t>
            </a:r>
            <a:r>
              <a:rPr lang="ko-KR" altLang="en-US" b="1"/>
              <a:t>극단적인 값</a:t>
            </a:r>
            <a:r>
              <a:rPr lang="ko-KR" altLang="en-US"/>
              <a:t>에서 버그가 숨어있어요</a:t>
            </a:r>
            <a:r>
              <a:rPr lang="en-US" altLang="ko-KR"/>
              <a:t>. </a:t>
            </a:r>
            <a:r>
              <a:rPr lang="ko-KR" altLang="en-US"/>
              <a:t>그래서 경계값 테스트가 중요합니다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경계값 테스트 ⊞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경계값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Min/Max </a:t>
            </a:r>
            <a:r>
              <a:rPr lang="ko-KR" altLang="en-US" b="1"/>
              <a:t>입력 검증</a:t>
            </a:r>
            <a:r>
              <a:rPr lang="ko-KR" altLang="en-US"/>
              <a:t> </a:t>
            </a:r>
            <a:r>
              <a:rPr lang="ko-KR" altLang="en-US" b="1"/>
              <a:t>경계 직전</a:t>
            </a:r>
            <a:r>
              <a:rPr lang="en-US" altLang="ko-KR" b="1"/>
              <a:t>, </a:t>
            </a:r>
            <a:r>
              <a:rPr lang="ko-KR" altLang="en-US" b="1"/>
              <a:t>경계</a:t>
            </a:r>
            <a:r>
              <a:rPr lang="en-US" altLang="ko-KR" b="1"/>
              <a:t>, </a:t>
            </a:r>
            <a:r>
              <a:rPr lang="ko-KR" altLang="en-US" b="1"/>
              <a:t>경계 직후 값</a:t>
            </a:r>
            <a:r>
              <a:rPr lang="ko-KR" altLang="en-US"/>
              <a:t> </a:t>
            </a:r>
            <a:r>
              <a:rPr lang="ko-KR" altLang="en-US" b="1"/>
              <a:t>예</a:t>
            </a:r>
            <a:r>
              <a:rPr lang="en-US" altLang="ko-KR" b="1"/>
              <a:t>: 0, 1, -1, int.Max/MinValue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경계값 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(Boundary Value)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범위의 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특수한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극단적인 값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 중요할까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보통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생각하고 구현하는 경우가 많음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경계에서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off-by-one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오버플로우 등 발생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버그는 경계에 숨어있다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선정 방법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직후를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 판별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이상이 성인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미성년 ✅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 ✅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 ✅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정수 연산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곱셈에서 특수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곱해도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곱셈 항등원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부호 변환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int.MaxValue (2,147,483,647)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int.MinValue (-2,147,483,648)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[TestCase(0, 0, 0)]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 + 0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[TestCase(0, 5, 5)]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과의 연산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[TestCase(-1, 1, 0)]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[TestCase(-1, -1, -2)]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[TestCase(int.MaxValue, 0, int.MaxValue)]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[TestCase(int.MinValue, 0, int.MinValue)]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Add_BoundaryValues_ReturnsCorrectSum(int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Assert.AreEqual(expected, calculator.Add(a,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테스트 ⚠️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**예외 처리 테스트**입니다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예외타입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**올바른 예외 메시지 검증**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**특정 조건 예외 검증**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방법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형태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Assert.Throws&lt;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예외타입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실행할코드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코드를 실행하면 이 예외가 발생해야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예시들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확인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Divide_ByZero_ThrowsDivideByZeroException()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Assert.Throws&lt;DivideByZeroException&gt;(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메시지까지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CreateUser_NullName_ThrowsArgumentException()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Assert.Throws&lt;ArgumentException&gt;(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service.CreateUser(null));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Assert.AreEqual("Name cannot be null", ex.Message);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파라미터 이름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CreateUser_NullEmail_ThrowsArgumentNullException()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Assert.Throws&lt;ArgumentNullException&gt;(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service.CreateUser("John", null));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Assert.AreEqual("email", ex.ParamName);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쓰는 예외 타입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DivideByZeroException    →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나눌 때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ArgumentNullException    → null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인자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ArgumentException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인자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ArgumentOutOfRangeException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범위 벗어난 인자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InvalidOperationException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상태에서 호출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NotSupportedException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지원하지 않는 기능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FormatException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형식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부동소수점 정밀도 처리 🔢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**부동소수점 정밀도 처리**입니다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**델타값을 이용한 근사치 비교**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AreEqual(expected, actual, delta)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754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표준의 한계 인지**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부동소수점의 함정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0.2;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0.30000000000000004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😱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컴퓨터는 부동소수점을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진수로 저장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진수로 정확히 표현 불가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754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표준의 한계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Add_PointOneAndPointTwo_ReturnsPointThree_FAILS()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double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Assert.AreEqual(0.3, result);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Expected: 0.3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But was:  0.30000000000000004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delta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Add_PointOneAndPointTwo_ReturnsPointThree()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double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Assert.AreEqual(0.3, result, 0.0001);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0.0001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오차 범위 내면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delta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선택 가이드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actual, delta)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delta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허용 오차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일반적인 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0.0001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(1e-4)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과학적 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0.000001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(1e-6)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금융 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0.01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센트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기하학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0.001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도메인에 맞는 적절한 오차 범위를 선택하세요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전략 ✅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전략**입니다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**동등 분할 클래스 테스트 결합**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DoesNotThrow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미발생 검증**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**체계적인 경계값 선정**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동등 분할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경계값 전략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동등 분할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(Equivalence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Partitioning):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입력을 동등한 그룹으로 나눔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각 그룹에서 대표값 하나만 테스트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 → 등급 변환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0-59: 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   → 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60-69: 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  → 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65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70-79: 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  → 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80-89: 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  → 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90-100: A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 → 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59, 60, 69, 70, 79, 80, 89, 90, 99, 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DoesNotThrow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예외가 발생하지 않아야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Divide_ValidNumbers_DoesNotThrow()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Assert.DoesNotThrow(()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calc.Divide(10, 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동작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없음 동시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CreateUser_ValidInput_DoesNotThrowAndReturnsUser()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Assert.DoesNotThrow(()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service.CreateUser("John", "john@test.com"));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Assert.IsNotNull(user);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Assert.AreEqual("John",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자동화 팁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팁</a:t>
            </a:r>
            <a:r>
              <a:rPr lang="ko-KR" altLang="en-US"/>
              <a:t>을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파라미터화된 테스트로 다양한 경계값 검증을 자동화하세요</a:t>
            </a:r>
            <a:r>
              <a:rPr lang="en-US" altLang="ko-KR" i="1"/>
              <a:t>. NUnit [TestCase], xUnit [Theory][InlineData]</a:t>
            </a:r>
            <a:r>
              <a:rPr lang="ko-KR" altLang="en-US" i="1"/>
              <a:t>를 활용하면 코드 중복을 줄이고 가독성을 높일 수 있습니다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테스트를 파라미터화로 한 번에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[TestCase(0, 0, 0)]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[TestCase(1, 0, 1)]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항등원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[TestCase(-1, 1, 0)]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[TestCase(int.MaxValue, 0, int.MaxValue)]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[TestCase(int.MinValue, 0, int.MinValue)]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[TestCase(100, -100, 0)]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Add_BoundaryValues_ReturnsExpected(int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Assert.AreEqual(expected, calc.Add(a, b));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테스트도 파라미터화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[TestCase(-100)]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Divide_ByZeroOrNegative_ThrowsException(int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divisor)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Assert.Throws&lt;ArgumentException&gt;(()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calc.Divide(10, divisor));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**경계값 테스트**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 1, -1, Max, Min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**예외 테스트**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Assert.Throws&lt;T&gt;()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**부동소수점**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근사치 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**테스트 전략**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동등 분할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경계값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버그는 경계에 숨어있다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평범한 케이스만 테스트하지 말고 **극단적인 값**도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**로 여러 경계값을 한 번에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더 심화된 테스트 기법을 배워보겠습니다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**테스트 픽스처</a:t>
            </a:r>
            <a:r>
              <a:rPr lang="en-US" altLang="ko-KR"/>
              <a:t>(Fixture)**</a:t>
            </a:r>
            <a:r>
              <a:rPr lang="ko-KR" altLang="en-US"/>
              <a:t>에 대해 알아보겠습니다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테스트가 많아지면 </a:t>
            </a:r>
            <a:r>
              <a:rPr lang="ko-KR" altLang="en-US" b="1"/>
              <a:t>중복 코드</a:t>
            </a:r>
            <a:r>
              <a:rPr lang="ko-KR" altLang="en-US"/>
              <a:t>가 생기잖아요</a:t>
            </a:r>
            <a:r>
              <a:rPr lang="en-US" altLang="ko-KR"/>
              <a:t>. </a:t>
            </a:r>
            <a:r>
              <a:rPr lang="ko-KR" altLang="en-US"/>
              <a:t>매번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Calculator()</a:t>
            </a:r>
            <a:r>
              <a:rPr lang="ko-KR" altLang="en-US"/>
              <a:t> 하고</a:t>
            </a:r>
            <a:r>
              <a:rPr lang="en-US" altLang="ko-KR"/>
              <a:t>, </a:t>
            </a:r>
            <a:r>
              <a:rPr lang="ko-KR" altLang="en-US"/>
              <a:t>매번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Service()</a:t>
            </a:r>
            <a:r>
              <a:rPr lang="ko-KR" altLang="en-US"/>
              <a:t> 하고</a:t>
            </a:r>
            <a:r>
              <a:rPr lang="en-US" altLang="ko-KR"/>
              <a:t>...</a:t>
            </a:r>
          </a:p>
          <a:p>
            <a:r>
              <a:rPr lang="ko-KR" altLang="en-US"/>
              <a:t>이런 </a:t>
            </a:r>
            <a:r>
              <a:rPr lang="ko-KR" altLang="en-US" b="1"/>
              <a:t>반복적인 준비 작업</a:t>
            </a:r>
            <a:r>
              <a:rPr lang="ko-KR" altLang="en-US"/>
              <a:t>을 깔끔하게 정리하는 방법이 있습니다</a:t>
            </a:r>
            <a:r>
              <a:rPr lang="en-US" altLang="ko-KR"/>
              <a:t>. </a:t>
            </a:r>
            <a:r>
              <a:rPr lang="ko-KR" altLang="en-US"/>
              <a:t>바로 </a:t>
            </a:r>
            <a:r>
              <a:rPr lang="en-US" altLang="ko-KR" b="1"/>
              <a:t>SetUp</a:t>
            </a:r>
            <a:r>
              <a:rPr lang="ko-KR" altLang="en-US"/>
              <a:t>과 </a:t>
            </a:r>
            <a:r>
              <a:rPr lang="en-US" altLang="ko-KR" b="1"/>
              <a:t>TearDown</a:t>
            </a:r>
            <a:r>
              <a:rPr lang="ko-KR" altLang="en-US"/>
              <a:t>이에요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픽스처란</a:t>
            </a:r>
            <a:r>
              <a:rPr lang="en-US" altLang="ko-KR" b="1"/>
              <a:t>?</a:t>
            </a:r>
          </a:p>
          <a:p>
            <a:r>
              <a:rPr lang="ko-KR" altLang="en-US"/>
              <a:t>상단의 정의를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픽스처는 테스트 실행에 필요한 사전 조건과 환경을 의미합니다</a:t>
            </a:r>
            <a:r>
              <a:rPr lang="en-US" altLang="ko-KR" i="1"/>
              <a:t>. </a:t>
            </a:r>
            <a:r>
              <a:rPr lang="ko-KR" altLang="en-US" i="1"/>
              <a:t>테스트 대상 객체</a:t>
            </a:r>
            <a:r>
              <a:rPr lang="en-US" altLang="ko-KR" i="1"/>
              <a:t>(SUT), </a:t>
            </a:r>
            <a:r>
              <a:rPr lang="ko-KR" altLang="en-US" i="1"/>
              <a:t>의존성</a:t>
            </a:r>
            <a:r>
              <a:rPr lang="en-US" altLang="ko-KR" i="1"/>
              <a:t>, </a:t>
            </a:r>
            <a:r>
              <a:rPr lang="ko-KR" altLang="en-US" i="1"/>
              <a:t>테스트 데이터를 포함하며</a:t>
            </a:r>
            <a:r>
              <a:rPr lang="en-US" altLang="ko-KR" i="1"/>
              <a:t>, Setup/TearDown </a:t>
            </a:r>
            <a:r>
              <a:rPr lang="ko-KR" altLang="en-US" i="1"/>
              <a:t>메서드로 반복적인 준비 작업을 캡슐화합니다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픽스처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(Fixture)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픽스처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위한 고정된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포함하는 것들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SUT (System Under Test)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객체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Calculator, UserService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필요로 하는 다른 객체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Repository, HttpClient,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테스트 데이터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샘플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파일 등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매 테스트마다 이걸 준비하면 코드 중복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SetUp/TearDown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NUnit </a:t>
            </a:r>
            <a:r>
              <a:rPr lang="ko-KR" altLang="en-US" b="1"/>
              <a:t>방식 🔧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NUnit</a:t>
            </a:r>
            <a:r>
              <a:rPr lang="ko-KR" altLang="en-US"/>
              <a:t>의 </a:t>
            </a:r>
            <a:r>
              <a:rPr lang="en-US" altLang="ko-KR"/>
              <a:t>SetUp/TearDown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[SetUp]</a:t>
            </a:r>
            <a:r>
              <a:rPr lang="en-US" altLang="ko-KR"/>
              <a:t>: </a:t>
            </a:r>
            <a:r>
              <a:rPr lang="ko-KR" altLang="en-US"/>
              <a:t>각 테스트 </a:t>
            </a:r>
            <a:r>
              <a:rPr lang="ko-KR" altLang="en-US" b="1"/>
              <a:t>전</a:t>
            </a:r>
            <a:r>
              <a:rPr lang="ko-KR" altLang="en-US"/>
              <a:t> 호출 </a:t>
            </a:r>
            <a:r>
              <a:rPr lang="en-US" altLang="ko-KR" b="1"/>
              <a:t>[TearDown]</a:t>
            </a:r>
            <a:r>
              <a:rPr lang="en-US" altLang="ko-KR"/>
              <a:t>: </a:t>
            </a:r>
            <a:r>
              <a:rPr lang="ko-KR" altLang="en-US"/>
              <a:t>각 테스트 </a:t>
            </a:r>
            <a:r>
              <a:rPr lang="ko-KR" altLang="en-US" b="1"/>
              <a:t>후</a:t>
            </a:r>
            <a:r>
              <a:rPr lang="ko-KR" altLang="en-US"/>
              <a:t> 호출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순서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← 준비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Test1()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← 정리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← 다시 준비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Test2()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← 다시 정리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각 테스트마다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→ Test → TearDown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_calculator;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전에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_calculator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Console.WriteLine("SetUp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후에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_calculator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Console.WriteLine("TearDown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_calculator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이미 생성됨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_calculator.Add(2,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Subtract_ReturnsDifference()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 전에도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실행됨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Assert.AreEqual(2, _calculator.Subtract(5,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xUnit </a:t>
            </a:r>
            <a:r>
              <a:rPr lang="ko-KR" altLang="en-US" b="1"/>
              <a:t>방식 ⚙️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xUnit</a:t>
            </a:r>
            <a:r>
              <a:rPr lang="ko-KR" altLang="en-US"/>
              <a:t>의 방식입니다</a:t>
            </a:r>
            <a:r>
              <a:rPr lang="en-US" altLang="ko-KR"/>
              <a:t>.</a:t>
            </a:r>
          </a:p>
          <a:p>
            <a:r>
              <a:rPr lang="ko-KR" altLang="en-US" b="1"/>
              <a:t>생성자</a:t>
            </a:r>
            <a:r>
              <a:rPr lang="en-US" altLang="ko-KR"/>
              <a:t>: </a:t>
            </a:r>
            <a:r>
              <a:rPr lang="ko-KR" altLang="en-US"/>
              <a:t>테스트 </a:t>
            </a:r>
            <a:r>
              <a:rPr lang="ko-KR" altLang="en-US" b="1"/>
              <a:t>전</a:t>
            </a:r>
            <a:r>
              <a:rPr lang="ko-KR" altLang="en-US"/>
              <a:t> </a:t>
            </a:r>
            <a:r>
              <a:rPr lang="en-US" altLang="ko-KR"/>
              <a:t>Setup </a:t>
            </a:r>
            <a:r>
              <a:rPr lang="ko-KR" altLang="en-US"/>
              <a:t>역할 </a:t>
            </a:r>
            <a:r>
              <a:rPr lang="en-US" altLang="ko-KR" b="1"/>
              <a:t>IDisposable.Dispose()</a:t>
            </a:r>
            <a:r>
              <a:rPr lang="en-US" altLang="ko-KR"/>
              <a:t>: TearDown </a:t>
            </a:r>
            <a:r>
              <a:rPr lang="ko-KR" altLang="en-US"/>
              <a:t>역할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xUnit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문법 사용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IDisposable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_calculator;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SetUp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CalculatorTests()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_calculator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Console.WriteLine("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(Setup)!");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Dispose = TearDown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Console.WriteLine("Dispose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(TearDown)!");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[Fact]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Assert.Equal(5, _calculator.Add(2,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NUnit vs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                    xUnit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         생성자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(Constructor)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IDisposable.Dispose()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전체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[OneTimeSetUp]          IClassFixture&lt;T&gt;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패턴을 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🔷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**수준별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[OneTimeSetUp]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전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[ClassInitialize]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수준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(MSTest)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SetUp/TearDown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[OneTimeSetUp]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시작 시 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Test1()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[TearDown]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후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Test2()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[TearDown]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후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[OneTimeTearDown]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끝날 때 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_database;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DbConnection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_connection;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[OneTimeSetUp]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전체에서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큰 작업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OneTimeSetUp()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_database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_database.Initialize();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초기화는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테스트마다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_connection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_database.OpenConnection();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테스트마다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_connection.Close();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[OneTimeTearDown]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끝날 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OneTimeTearDown()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_database.Shutdown();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ko-KR" altLang="en-US" b="1"/>
              <a:t>언제 </a:t>
            </a:r>
            <a:r>
              <a:rPr lang="en-US" altLang="ko-KR" b="1"/>
              <a:t>OneTimeSetUp</a:t>
            </a:r>
            <a:r>
              <a:rPr lang="ko-KR" altLang="en-US" b="1"/>
              <a:t>을 쓸까요</a:t>
            </a:r>
            <a:r>
              <a:rPr lang="en-US" altLang="ko-KR" b="1"/>
              <a:t>?</a:t>
            </a:r>
            <a:endParaRPr lang="ko-KR" altLang="en-US"/>
          </a:p>
          <a:p>
            <a:r>
              <a:rPr lang="en-US" altLang="ko-KR"/>
              <a:t>DB </a:t>
            </a:r>
            <a:r>
              <a:rPr lang="ko-KR" altLang="en-US"/>
              <a:t>연결 초기화</a:t>
            </a:r>
          </a:p>
          <a:p>
            <a:r>
              <a:rPr lang="ko-KR" altLang="en-US"/>
              <a:t>비용이 큰 리소스 생성</a:t>
            </a:r>
          </a:p>
          <a:p>
            <a:r>
              <a:rPr lang="ko-KR" altLang="en-US"/>
              <a:t>공유 가능한 읽기 전용 데이터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NUnit </a:t>
            </a:r>
            <a:r>
              <a:rPr lang="ko-KR" altLang="en-US" b="1"/>
              <a:t>픽스처 예제</a:t>
            </a:r>
          </a:p>
          <a:p>
            <a:r>
              <a:rPr lang="ko-KR" altLang="en-US"/>
              <a:t>하단의 </a:t>
            </a:r>
            <a:r>
              <a:rPr lang="en-US" altLang="ko-KR" b="1"/>
              <a:t>NUnit </a:t>
            </a:r>
            <a:r>
              <a:rPr lang="ko-KR" altLang="en-US" b="1"/>
              <a:t>픽스처 예제</a:t>
            </a:r>
            <a:r>
              <a:rPr lang="ko-KR" altLang="en-US"/>
              <a:t>를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CustomerServiceTests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Mock&lt;ICustomerRepository&gt; _mockRepo;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Mock&lt;ICustomerRepository&gt;();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CustomerService(_mockRepo.Object);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예제 코드 분석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_service;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SUT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객체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Mock&lt;ICustomerRepository&gt; _mockRepo;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시간에 자세히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[SetUp]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_mockRepo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Mock&lt;ICustomerRepository&gt;();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CustomerService(_mockRepo.Object);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 SUT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매 테스트마다 깨끗한 상태로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테스트 간 상태 공유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→ Independent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팁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베스트 프랙티스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넣으면 좋은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SUT(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공통 테스트 데이터 준비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상태 초기화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넣으면 안 좋은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테스트별로 다른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Assert (SetUp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검증하지 말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많은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복잡하면 분리 고려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TearDown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넣을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삭제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닫기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리소스 해제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Fixture/SetUp/TearDown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**픽스처**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필요한 환경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(SUT,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`[SetUp]`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각 테스트 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`[TearDown]`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각 테스트 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`[OneTimeSetUp]`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클래스에서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`IDisposable.Dispose()`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중복 코드 제거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각 테스트가 **깨끗한 상태**에서 시작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원칙의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보장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**을 배워보겠습니다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**테스트 냄새</a:t>
            </a:r>
            <a:r>
              <a:rPr lang="en-US" altLang="ko-KR"/>
              <a:t>(Test Smell)**</a:t>
            </a:r>
            <a:r>
              <a:rPr lang="ko-KR" altLang="en-US"/>
              <a:t>에 대해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코드 냄새</a:t>
            </a:r>
            <a:r>
              <a:rPr lang="en-US" altLang="ko-KR"/>
              <a:t>(Code Smell)" </a:t>
            </a:r>
            <a:r>
              <a:rPr lang="ko-KR" altLang="en-US"/>
              <a:t>들어보셨죠</a:t>
            </a:r>
            <a:r>
              <a:rPr lang="en-US" altLang="ko-KR"/>
              <a:t>? </a:t>
            </a:r>
            <a:r>
              <a:rPr lang="ko-KR" altLang="en-US"/>
              <a:t>코드가 잘못된 건 아닌데</a:t>
            </a:r>
            <a:r>
              <a:rPr lang="en-US" altLang="ko-KR"/>
              <a:t>... </a:t>
            </a:r>
            <a:r>
              <a:rPr lang="ko-KR" altLang="en-US"/>
              <a:t>뭔가 </a:t>
            </a:r>
            <a:r>
              <a:rPr lang="ko-KR" altLang="en-US" b="1"/>
              <a:t>냄새가 난다</a:t>
            </a:r>
            <a:r>
              <a:rPr lang="en-US" altLang="ko-KR"/>
              <a:t>, </a:t>
            </a:r>
            <a:r>
              <a:rPr lang="ko-KR" altLang="en-US"/>
              <a:t>개선이 필요하다는 신호요</a:t>
            </a:r>
            <a:r>
              <a:rPr lang="en-US" altLang="ko-KR"/>
              <a:t>.</a:t>
            </a:r>
          </a:p>
          <a:p>
            <a:r>
              <a:rPr lang="ko-KR" altLang="en-US"/>
              <a:t>테스트 코드에도 </a:t>
            </a:r>
            <a:r>
              <a:rPr lang="ko-KR" altLang="en-US" b="1"/>
              <a:t>냄새</a:t>
            </a:r>
            <a:r>
              <a:rPr lang="ko-KR" altLang="en-US"/>
              <a:t>가 있습니다</a:t>
            </a:r>
            <a:r>
              <a:rPr lang="en-US" altLang="ko-KR"/>
              <a:t>. </a:t>
            </a:r>
            <a:r>
              <a:rPr lang="ko-KR" altLang="en-US"/>
              <a:t>테스트가 돌아가긴 하는데</a:t>
            </a:r>
            <a:r>
              <a:rPr lang="en-US" altLang="ko-KR"/>
              <a:t>... </a:t>
            </a:r>
            <a:r>
              <a:rPr lang="ko-KR" altLang="en-US"/>
              <a:t>유지보수가 힘들고</a:t>
            </a:r>
            <a:r>
              <a:rPr lang="en-US" altLang="ko-KR"/>
              <a:t>, </a:t>
            </a:r>
            <a:r>
              <a:rPr lang="ko-KR" altLang="en-US"/>
              <a:t>신뢰하기 어렵고</a:t>
            </a:r>
            <a:r>
              <a:rPr lang="en-US" altLang="ko-KR"/>
              <a:t>, </a:t>
            </a:r>
            <a:r>
              <a:rPr lang="ko-KR" altLang="en-US"/>
              <a:t>뭘 테스트하는지 모르겠는 그런 테스트들이요</a:t>
            </a:r>
            <a:r>
              <a:rPr lang="en-US" altLang="ko-KR"/>
              <a:t>.</a:t>
            </a:r>
          </a:p>
          <a:p>
            <a:r>
              <a:rPr lang="ko-KR" altLang="en-US"/>
              <a:t>오늘 </a:t>
            </a:r>
            <a:r>
              <a:rPr lang="en-US" altLang="ko-KR" b="1"/>
              <a:t>4</a:t>
            </a:r>
            <a:r>
              <a:rPr lang="ko-KR" altLang="en-US" b="1"/>
              <a:t>가지 대표적인 테스트 냄새</a:t>
            </a:r>
            <a:r>
              <a:rPr lang="ko-KR" altLang="en-US"/>
              <a:t>와 </a:t>
            </a:r>
            <a:r>
              <a:rPr lang="ko-KR" altLang="en-US" b="1"/>
              <a:t>개선 방법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과도한 </a:t>
            </a:r>
            <a:r>
              <a:rPr lang="en-US" altLang="ko-KR" b="1"/>
              <a:t>Mocking </a:t>
            </a:r>
            <a:r>
              <a:rPr lang="ko-KR" altLang="en-US" b="1"/>
              <a:t>👓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과도한 </a:t>
            </a:r>
            <a:r>
              <a:rPr lang="en-US" altLang="ko-KR" b="1"/>
              <a:t>Mocking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실제 객체보다 모의 객체가 많으면 테스트가 구현에 과도하게 결합 → 필수 의존성만 </a:t>
            </a:r>
            <a:r>
              <a:rPr lang="en-US" altLang="ko-KR" i="1"/>
              <a:t>Mock, </a:t>
            </a:r>
            <a:r>
              <a:rPr lang="ko-KR" altLang="en-US" i="1"/>
              <a:t>나머지는 실제 객체 사용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너무 많으면 생기는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구현 세부사항에 결합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내부 구현 바꾸면 테스트도 다 고쳐야 함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실제 동작을 검증 못 함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가짜 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하니까 실제 버그를 놓침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코드가 복잡해짐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테스트는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Mocking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ProcessOrder_TooManyMocks()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mockLogger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Mock&lt;ILogger&gt;();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mockEmailService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Mock&lt;IEmailService&gt;();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mockValidator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Mock&lt;IOrderValidator&gt;();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mockPriceCalculator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Mock&lt;IPriceCalculator&gt;();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mockInventory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Mock&lt;IInventoryService&gt;();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6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뭘 테스트하는 건지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mockValidator.Setup(v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v.Validate(It.IsAny&lt;Order&gt;())).Returns(true);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mockPriceCalculator.Setup(p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p.Calculate(It.IsAny&lt;Order&gt;())).Returns(100);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... Setup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끝도 없이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의존성만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ProcessOrder_OnlyEssentialMocks()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mockRepo.Object,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OrderValidator(),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PriceCalculator()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훨씬 깔끔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가이드라인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 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시스템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(DB, API,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파일시스템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 요소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의존성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 말아야 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값 객체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(DTO, Entity)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로직 클래스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(Calculator, Validator)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테스트하려는 대상 자체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다중 </a:t>
            </a:r>
            <a:r>
              <a:rPr lang="en-US" altLang="ko-KR" b="1"/>
              <a:t>Assert </a:t>
            </a:r>
            <a:r>
              <a:rPr lang="ko-KR" altLang="en-US" b="1"/>
              <a:t>남발 ⚠️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다중 </a:t>
            </a:r>
            <a:r>
              <a:rPr lang="en-US" altLang="ko-KR" b="1"/>
              <a:t>Assert </a:t>
            </a:r>
            <a:r>
              <a:rPr lang="ko-KR" altLang="en-US" b="1"/>
              <a:t>남발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하나의 테스트에서 여러 기능을 검증하면 실패 원인 파악 어려움 → 단일 개념만 검증하는 작은 테스트 작성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User_AllOperations_Work()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User("John", "john@test.com");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Assert.AreEqual("John", user.Name);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Assert.AreEqual("john@test.com", user.Email);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Assert.IsTrue(user.IsActive);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Assert.AreEqual(0, user.OrderCount);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수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Assert.IsNull(user.LastLoginDate);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로그인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Assert.AreEqual("Standard", user.Membership);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멤버십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실패하면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→ 4, 5, 6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실행도 안 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 문제인지 모름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개념별 테스트 분리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User_NewUser_HasCorrectName()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User("John", "john@test.com");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Assert.AreEqual("John",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User_NewUser_IsActive()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User("John", "john@test.com");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Assert.IsTrue(user.IsActive);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User_NewUser_HasZeroOrders()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User("John", "john@test.com");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Assert.AreEqual(0, user.OrderCount);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문제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실행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통과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통과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❌ 실패 ← 여기서 테스트 중단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❓ 실행 안 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❓ 실행 안 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❓ 실행 안 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번이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4, 5, 6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되는지 안 되는지 모름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단일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단일 실패 원인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빠른 디버깅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예외</a:t>
            </a:r>
            <a:r>
              <a:rPr lang="en-US" altLang="ko-KR"/>
              <a:t>: </a:t>
            </a:r>
            <a:r>
              <a:rPr lang="ko-KR" altLang="en-US"/>
              <a:t>하나의 </a:t>
            </a:r>
            <a:r>
              <a:rPr lang="ko-KR" altLang="en-US" b="1"/>
              <a:t>논리적 개념</a:t>
            </a:r>
            <a:r>
              <a:rPr lang="ko-KR" altLang="en-US"/>
              <a:t>을 검증하는 여러 </a:t>
            </a:r>
            <a:r>
              <a:rPr lang="en-US" altLang="ko-KR"/>
              <a:t>Assert</a:t>
            </a:r>
            <a:r>
              <a:rPr lang="ko-KR" altLang="en-US"/>
              <a:t>는 </a:t>
            </a:r>
            <a:r>
              <a:rPr lang="en-US" altLang="ko-KR"/>
              <a:t>OK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OK: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개념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검증하는 관련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CreateUser_ValidInput_ReturnsCompleteUser()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service.CreateUser("John", "john@test.com");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모두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"User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올바르게 생성되었나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하나의 개념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Assert.AreEqual("John",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Assert.AreEqual("john@test.com", user.Email);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비결정성 방치 🔀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**비결정성 방치**입니다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랜덤값에 의존하여 실행할 때마다 결과가 달라짐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시계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주입으로 제어 가능하게 설계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 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(Flaky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실행할 때마다 결과가 달라지는 테스트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월요일에 실행 → ✅ 통과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화요일에 실행 → ❌ 실패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수요일에 실행 → ✅ 통과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목요일에 실행 → ❌ 실패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DateTime.Now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Random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시스템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순서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R(Repeatable)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IsHolidayDiscount()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DateTime.Now.Month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월이면 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IsHolidayDiscount_InDecember_ReturnsTrue()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Assert.IsTrue(service.IsHolidayDiscount());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월에만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개월은 실패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주입으로 해결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IDateTimeProvider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IDateTimeProvider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_dateTime;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DiscountService(IDateTimeProvider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_dateTime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IsHolidayDiscount()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_dateTime.Now.Month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IsHolidayDiscount_InDecember_ReturnsTrue()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mockDateTime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Mock&lt;IDateTimeProvider&gt;();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mockDateTime.Setup(d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d.Now).Returns(new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12, 25));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DiscountService(mockDateTime.Object);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Assert.IsTrue(service.IsHolidayDiscount());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언제 실행해도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불명확한 의도 ❓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불명확한 의도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코드만 보고는 무엇을 검증하는지 이해하기 어려움 → </a:t>
            </a:r>
            <a:r>
              <a:rPr lang="en-US" altLang="ko-KR" i="1"/>
              <a:t>Given-When-Then </a:t>
            </a:r>
            <a:r>
              <a:rPr lang="ko-KR" altLang="en-US" i="1"/>
              <a:t>구조로 명확하게 표현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불명확한 의도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x.M(5);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Assert.AreEqual(10, x.P);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테스트하는 건지 전혀 모르겠음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의도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(Given-When-Then)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Counter_WhenIncrementedByFive_ValueDoubles()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카운터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Counter(initialValue: 5);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만큼 증가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counter.IncrementBy(5);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Assert.AreEqual(10, counter.Value);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주어진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상황에서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사전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상태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테스트하려는 동작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기대하는 결과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패턴과 같은 개념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When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Then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리팩토링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**팁**을 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프로덕션 코드만큼 정기적인 리팩토링이 필요합니다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가독성과 유지보수성을 높이기 위해 중복을 제거하고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헬퍼와 유틸리티 메서드를 적극 활용하세요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테스트의 명확성이 저하되지 않도록 주의하세요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리팩토링 팁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리팩토링 해야 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중복되는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메서드로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반복되는 생성 코드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메서드로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공통 검증 로직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메서드로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주의할 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뭘 하는지 한눈에 보여야 함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숨기지 말기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과도한 추상화로 가독성 해치지 않기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코드다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프로덕션 코드와 같은 품질 기준 적용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냄새 체크리스트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냄새 체크리스트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의심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분리 고려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주입으로 변경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 이름이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Test1?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 드러내는 이름으로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테스트가 가끔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비결정성 원인 찾기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클래스 분리 고려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냄새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→ 필수 의존성만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**다중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남발** → 단일 개념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**비결정성 방치** →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주입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**불명확한 의도**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Given-When-Then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코드도 **품질 관리** 필요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냄새가 나면 **리팩토링**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하지만 **명확성**은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있어도 **나쁜 테스트**면 오히려 짐이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**좋은 테스트**를 작성하세요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실습을 마무리하면서 </a:t>
            </a:r>
            <a:r>
              <a:rPr lang="ko-KR" altLang="en-US" b="1"/>
              <a:t>테스트 품질을 점검</a:t>
            </a:r>
            <a:r>
              <a:rPr lang="ko-KR" altLang="en-US"/>
              <a:t>해볼게요</a:t>
            </a:r>
            <a:r>
              <a:rPr lang="en-US" altLang="ko-KR"/>
              <a:t>.</a:t>
            </a:r>
          </a:p>
          <a:p>
            <a:r>
              <a:rPr lang="ko-KR" altLang="en-US"/>
              <a:t>테스트 작성 후 아래 항목을 체크하여 </a:t>
            </a:r>
            <a:r>
              <a:rPr lang="ko-KR" altLang="en-US" b="1"/>
              <a:t>테스트 품질을 점검</a:t>
            </a:r>
            <a:r>
              <a:rPr lang="ko-KR" altLang="en-US"/>
              <a:t>하세요</a:t>
            </a:r>
            <a:r>
              <a:rPr lang="en-US" altLang="ko-KR"/>
              <a:t>.</a:t>
            </a:r>
          </a:p>
          <a:p>
            <a:r>
              <a:rPr lang="ko-KR" altLang="en-US"/>
              <a:t>이 체크리스트는 </a:t>
            </a:r>
            <a:r>
              <a:rPr lang="ko-KR" altLang="en-US" b="1"/>
              <a:t>코드 리뷰</a:t>
            </a:r>
            <a:r>
              <a:rPr lang="ko-KR" altLang="en-US"/>
              <a:t>할 때도 유용하고</a:t>
            </a:r>
            <a:r>
              <a:rPr lang="en-US" altLang="ko-KR"/>
              <a:t>, </a:t>
            </a:r>
            <a:r>
              <a:rPr lang="ko-KR" altLang="en-US"/>
              <a:t>본인이 작성한 테스트를 </a:t>
            </a:r>
            <a:r>
              <a:rPr lang="ko-KR" altLang="en-US" b="1"/>
              <a:t>셀프 점검</a:t>
            </a:r>
            <a:r>
              <a:rPr lang="ko-KR" altLang="en-US"/>
              <a:t>할 때도 좋습니다</a:t>
            </a:r>
            <a:r>
              <a:rPr lang="en-US" altLang="ko-KR"/>
              <a:t>.</a:t>
            </a:r>
          </a:p>
          <a:p>
            <a:r>
              <a:rPr lang="ko-KR" altLang="en-US"/>
              <a:t>하나씩 확인해보겠습니다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AAA </a:t>
            </a:r>
            <a:r>
              <a:rPr lang="ko-KR" altLang="en-US" b="1"/>
              <a:t>패턴 준수 📋</a:t>
            </a:r>
          </a:p>
          <a:p>
            <a:r>
              <a:rPr lang="ko-KR" altLang="en-US"/>
              <a:t>첫 번째 섹션</a:t>
            </a:r>
            <a:r>
              <a:rPr lang="en-US" altLang="ko-KR"/>
              <a:t>, </a:t>
            </a:r>
            <a:r>
              <a:rPr lang="en-US" altLang="ko-KR" b="1"/>
              <a:t>AAA </a:t>
            </a:r>
            <a:r>
              <a:rPr lang="ko-KR" altLang="en-US" b="1"/>
              <a:t>패턴 준수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 b="1"/>
              <a:t>☑️ 구조 명확성</a:t>
            </a:r>
          </a:p>
          <a:p>
            <a:r>
              <a:rPr lang="en-US" altLang="ko-KR" i="1"/>
              <a:t>"Arrange-Act-Assert </a:t>
            </a:r>
            <a:r>
              <a:rPr lang="ko-KR" altLang="en-US" i="1"/>
              <a:t>구조가 명확하게 구분되어 있나요</a:t>
            </a:r>
            <a:r>
              <a:rPr lang="en-US" altLang="ko-KR" i="1"/>
              <a:t>? Act</a:t>
            </a:r>
            <a:r>
              <a:rPr lang="ko-KR" altLang="en-US" i="1"/>
              <a:t>는 단일 메서드 호출인가요</a:t>
            </a:r>
            <a:r>
              <a:rPr lang="en-US" altLang="ko-KR" i="1"/>
              <a:t>?"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구조 명확성 체크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Test()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calc = new Calculator();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Assert.AreEqual(5, calc.Add(2, 3));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calc.Reset();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Assert.AreEqual(0, calc.Value);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뒤죽박죽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Add_TwoNumbers_ReturnsSum()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Arrange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calc = new Calculator();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Act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result = calc.Add(2, 3);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Assert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Assert.AreEqual(5, result);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특히 </a:t>
            </a:r>
            <a:r>
              <a:rPr lang="en-US" altLang="ko-KR" b="1"/>
              <a:t>Act</a:t>
            </a:r>
            <a:r>
              <a:rPr lang="ko-KR" altLang="en-US" b="1"/>
              <a:t>는 단일 메서드 호출</a:t>
            </a:r>
            <a:r>
              <a:rPr lang="ko-KR" altLang="en-US"/>
              <a:t>이어야 해요</a:t>
            </a:r>
            <a:r>
              <a:rPr lang="en-US" altLang="ko-KR"/>
              <a:t>. </a:t>
            </a:r>
            <a:r>
              <a:rPr lang="ko-KR" altLang="en-US"/>
              <a:t>여러 메서드를 호출하면 뭘 테스트하는 건지 불명확해집니다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☑️ </a:t>
            </a:r>
            <a:r>
              <a:rPr lang="en-US" altLang="ko-KR" b="1"/>
              <a:t>Assert </a:t>
            </a:r>
            <a:r>
              <a:rPr lang="ko-KR" altLang="en-US" b="1"/>
              <a:t>명확성</a:t>
            </a:r>
          </a:p>
          <a:p>
            <a:r>
              <a:rPr lang="en-US" altLang="ko-KR" i="1"/>
              <a:t>"</a:t>
            </a:r>
            <a:r>
              <a:rPr lang="ko-KR" altLang="en-US" i="1"/>
              <a:t>검증문이 명확한 기대값과 실제값을 비교하고 있나요</a:t>
            </a:r>
            <a:r>
              <a:rPr lang="en-US" altLang="ko-KR" i="1"/>
              <a:t>?"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불명확한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Assert.IsTrue(result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커야 하는 건지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Assert.IsNotNull(user);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뭔데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result);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Assert.AreEqual("John", user.Name);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John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Assert.AreEqual(expected, actual,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덧셈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메시지까지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책임 원칙 🎯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 섹션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**단일 책임 원칙**입니다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목적 단일화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테스트는 하나의 기능 또는 동작만 검증하고 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목적 단일화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테스트가 뭘 검증하나요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대답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테스트하고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테스트하고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대답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양수를 더했을 때 합이 나오는지 테스트해요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한 문장으로 설명 안 되면 → 테스트 분리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테스트 이름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 이름이 목적을 명확히 설명하고 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이름 점검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UnitOfWork_Condition_Expected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형식인가요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Test1()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AddTest()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TestCalculator()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Add_TwoPositiveNumbers_ReturnsSum()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Divide_ByZero_ThrowsException()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GetUser_InvalidId_ReturnsNull()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이름만 보고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테스트하는구나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 수 있어야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및 예외 처리 ⚠️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 섹션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**경계값 및 예외 처리**입니다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 값을 테스트하나요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체크리스트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-1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int.MaxValue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int.MinValue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 값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 is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100)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값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직후 값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101)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및 특수값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null,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등의 특수 케이스를 테스트하나요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특수값 체크리스트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입력 처리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("")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공백 문자열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 ")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컬렉션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List&lt;T&gt;())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나누기 테스트했나요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메시지까지 검증했나요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Assert.Throws&lt;ArgumentNullException&gt;(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service.Process(null));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Assert.Throws&lt;DivideByZeroException&gt;(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calc.Divide(10, 0));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품질 검사 </a:t>
            </a:r>
            <a:r>
              <a:rPr lang="en-US" altLang="ko-KR" b="1"/>
              <a:t>&lt;/&gt;</a:t>
            </a:r>
          </a:p>
          <a:p>
            <a:r>
              <a:rPr lang="ko-KR" altLang="en-US"/>
              <a:t>네 번째 섹션</a:t>
            </a:r>
            <a:r>
              <a:rPr lang="en-US" altLang="ko-KR"/>
              <a:t>, </a:t>
            </a:r>
            <a:r>
              <a:rPr lang="ko-KR" altLang="en-US" b="1"/>
              <a:t>코드 품질 검사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 b="1"/>
              <a:t>☑️ 중복 제거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간 중복된 코드가 제거되고 공통 셋업 코드가 적절히 활용되나요</a:t>
            </a:r>
            <a:r>
              <a:rPr lang="en-US" altLang="ko-KR" i="1"/>
              <a:t>?"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Add_Test1()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Add_Test2()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Assert.AreEqual(0, calc.Add(0,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SetUp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중복 제거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_calc;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Add_TwoPositive_ReturnsSum()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_calc.Add(2, 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Add_Zeros_ReturnsZero()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Assert.AreEqual(0, _calc.Add(0,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코드가 다른 개발자도 쉽게 이해할 수 있도록 작성되었나요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체크리스트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변수명이 의미 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(a, b, x → firstNumber, secondNumber)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매직넘버 없이 상수나 변수로 표현했나요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메서드로 분리했나요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 없이도 이해 가능한가요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팀원이 와도 이해할 수 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후의 내가 봐도 이해할 수 있을까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팁 리뷰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**팁**을 볼게요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팀원과 테스트 코드를 상호 리뷰하고 이 체크리스트를 활용하세요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리뷰 활용법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PR(Pull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프로덕션 코드처럼 리뷰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체크리스트 항목 하나씩 확인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테스트가 뭘 검증하는 건지 이해 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질문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누락 없는지 확인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👤 셀프 리뷰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전에 체크리스트로 점검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"6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후에 봐도 이해할 수 있을까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실패하면 원인 바로 알 수 있을까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체크리스트 요약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체크리스트 전체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📋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준수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구조 명확성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Arrange-Act-Assert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구분 명확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기대값과 실제값 명확히 비교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단일 책임 원칙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 목적 단일화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기능만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테스트 이름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UnitOfWork_Condition_Expected?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및 예외 처리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경계값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0, Min, Max,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null,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&lt;/&gt;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 품질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중복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공통 코드 분리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개발자도 쉽게 이해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체크리스트로 **본인의 테스트를 점검**해보세요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항목**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명확성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(AAA)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☑️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목적 단일화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테스트 이름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제거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모든 항목에 체크되면 **좋은 테스트**입니다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팀 리뷰할 때도 이 체크리스트 활용하시면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품질이 **확실히 올라갑니다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기초 파트를 마무리하면서 </a:t>
            </a:r>
            <a:r>
              <a:rPr lang="ko-KR" altLang="en-US" b="1"/>
              <a:t>학습 내용을 정리</a:t>
            </a:r>
            <a:r>
              <a:rPr lang="ko-KR" altLang="en-US"/>
              <a:t>하고 </a:t>
            </a:r>
            <a:r>
              <a:rPr lang="ko-KR" altLang="en-US" b="1"/>
              <a:t>확인 퀴즈</a:t>
            </a:r>
            <a:r>
              <a:rPr lang="ko-KR" altLang="en-US"/>
              <a:t>로 복습해보겠습니다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오늘 배운 내용 중 </a:t>
            </a:r>
            <a:r>
              <a:rPr lang="ko-KR" altLang="en-US" b="1"/>
              <a:t>핵심만</a:t>
            </a:r>
            <a:r>
              <a:rPr lang="ko-KR" altLang="en-US"/>
              <a:t> 짚어볼게요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학습 내용 요약 📚</a:t>
            </a:r>
          </a:p>
          <a:p>
            <a:r>
              <a:rPr lang="ko-KR" altLang="en-US"/>
              <a:t>왼쪽의 </a:t>
            </a:r>
            <a:r>
              <a:rPr lang="ko-KR" altLang="en-US" b="1"/>
              <a:t>학습 내용 요약</a:t>
            </a:r>
            <a:r>
              <a:rPr lang="ko-KR" altLang="en-US"/>
              <a:t>을 보시죠</a:t>
            </a:r>
            <a:r>
              <a:rPr lang="en-US" altLang="ko-KR"/>
              <a:t>.</a:t>
            </a:r>
          </a:p>
          <a:p>
            <a:r>
              <a:rPr lang="ko-KR" altLang="en-US" b="1"/>
              <a:t>✓ </a:t>
            </a:r>
            <a:r>
              <a:rPr lang="en-US" altLang="ko-KR" b="1"/>
              <a:t>FIRST </a:t>
            </a:r>
            <a:r>
              <a:rPr lang="ko-KR" altLang="en-US" b="1"/>
              <a:t>원칙</a:t>
            </a:r>
          </a:p>
          <a:p>
            <a:r>
              <a:rPr lang="en-US" altLang="ko-KR" i="1"/>
              <a:t>"FIRST </a:t>
            </a:r>
            <a:r>
              <a:rPr lang="ko-KR" altLang="en-US" i="1"/>
              <a:t>원칙</a:t>
            </a:r>
            <a:r>
              <a:rPr lang="en-US" altLang="ko-KR" i="1"/>
              <a:t>: Fast, Independent, Repeatable, Self-Validating, Timely"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복습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- Fast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테스트는 밀리초 단위로 빠르게 실행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- Independent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의존성 없이 순서 상관없이 실행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- Repeatable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어디서 실행해도 같은 결과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- Self-Validating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자가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자동 판단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- Timely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적시에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작성 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직후에 테스트 작성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FIRST</a:t>
            </a:r>
            <a:r>
              <a:rPr lang="en-US" altLang="ko-KR"/>
              <a:t>! </a:t>
            </a:r>
            <a:r>
              <a:rPr lang="ko-KR" altLang="en-US"/>
              <a:t>이 다섯 글자 꼭 기억하세요</a:t>
            </a:r>
            <a:r>
              <a:rPr lang="en-US" altLang="ko-KR"/>
              <a:t>. </a:t>
            </a:r>
            <a:r>
              <a:rPr lang="ko-KR" altLang="en-US"/>
              <a:t>좋은 테스트의 </a:t>
            </a:r>
            <a:r>
              <a:rPr lang="ko-KR" altLang="en-US" b="1"/>
              <a:t>필수 조건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✓ </a:t>
            </a:r>
            <a:r>
              <a:rPr lang="en-US" altLang="ko-KR" b="1"/>
              <a:t>AAA </a:t>
            </a:r>
            <a:r>
              <a:rPr lang="ko-KR" altLang="en-US" b="1"/>
              <a:t>패턴</a:t>
            </a:r>
          </a:p>
          <a:p>
            <a:r>
              <a:rPr lang="en-US" altLang="ko-KR" i="1"/>
              <a:t>"AAA </a:t>
            </a:r>
            <a:r>
              <a:rPr lang="ko-KR" altLang="en-US" i="1"/>
              <a:t>패턴</a:t>
            </a:r>
            <a:r>
              <a:rPr lang="en-US" altLang="ko-KR" i="1"/>
              <a:t>: Arrange(</a:t>
            </a:r>
            <a:r>
              <a:rPr lang="ko-KR" altLang="en-US" i="1"/>
              <a:t>준비</a:t>
            </a:r>
            <a:r>
              <a:rPr lang="en-US" altLang="ko-KR" i="1"/>
              <a:t>), Act(</a:t>
            </a:r>
            <a:r>
              <a:rPr lang="ko-KR" altLang="en-US" i="1"/>
              <a:t>실행</a:t>
            </a:r>
            <a:r>
              <a:rPr lang="en-US" altLang="ko-KR" i="1"/>
              <a:t>), Assert(</a:t>
            </a:r>
            <a:r>
              <a:rPr lang="ko-KR" altLang="en-US" i="1"/>
              <a:t>검증</a:t>
            </a:r>
            <a:r>
              <a:rPr lang="en-US" altLang="ko-KR" i="1"/>
              <a:t>)"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복습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Add_TwoNumbers_ReturnsSum()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calc = new Calculator();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result = calc.Add(2, 3);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Assert.AreEqual(5, result);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모든 테스트는 이 세 단계로 구성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✓ 테스트 메서드 명명 규칙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메서드 명명 규칙</a:t>
            </a:r>
            <a:r>
              <a:rPr lang="en-US" altLang="ko-KR" i="1"/>
              <a:t>: </a:t>
            </a:r>
            <a:r>
              <a:rPr lang="ko-KR" altLang="en-US" i="1"/>
              <a:t>테스트대상</a:t>
            </a:r>
            <a:r>
              <a:rPr lang="en-US" altLang="ko-KR" i="1"/>
              <a:t>_</a:t>
            </a:r>
            <a:r>
              <a:rPr lang="ko-KR" altLang="en-US" i="1"/>
              <a:t>조건</a:t>
            </a:r>
            <a:r>
              <a:rPr lang="en-US" altLang="ko-KR" i="1"/>
              <a:t>_</a:t>
            </a:r>
            <a:r>
              <a:rPr lang="ko-KR" altLang="en-US" i="1"/>
              <a:t>기대결과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명명 규칙 복습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UnitOfWork_Condition_Expected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Add_TwoPositiveNumbers_ReturnsSum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 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 양수 두 개 넣으면 합계 반환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Divide_ByZero_ThrowsException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 Divide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나누면 예외 발생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GetUser_InvalidId_ReturnsNull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 GetUser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잘못된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넣으면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이름만 보고 뭘 테스트하는지 알 수 있어야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확인 퀴즈 ❓</a:t>
            </a:r>
          </a:p>
          <a:p>
            <a:r>
              <a:rPr lang="ko-KR" altLang="en-US"/>
              <a:t>오른쪽의 </a:t>
            </a:r>
            <a:r>
              <a:rPr lang="ko-KR" altLang="en-US" b="1"/>
              <a:t>확인 퀴즈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 b="1"/>
              <a:t>문제 </a:t>
            </a:r>
            <a:r>
              <a:rPr lang="en-US" altLang="ko-KR" b="1"/>
              <a:t>1: FIRST </a:t>
            </a:r>
            <a:r>
              <a:rPr lang="ko-KR" altLang="en-US" b="1"/>
              <a:t>원칙에서 </a:t>
            </a:r>
            <a:r>
              <a:rPr lang="en-US" altLang="ko-KR" b="1"/>
              <a:t>S</a:t>
            </a:r>
            <a:r>
              <a:rPr lang="ko-KR" altLang="en-US" b="1"/>
              <a:t>는 무엇을 의미하나요</a:t>
            </a:r>
            <a:r>
              <a:rPr lang="en-US" altLang="ko-KR" b="1"/>
              <a:t>?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퀴즈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무엇을 의미하나요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○ Self-Validating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자가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○ Specific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○ Simple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잠시 생각해보세요</a:t>
            </a:r>
            <a:r>
              <a:rPr lang="en-US" altLang="ko-KR"/>
              <a:t>...</a:t>
            </a:r>
          </a:p>
          <a:p>
            <a:r>
              <a:rPr lang="en-US" altLang="ko-KR"/>
              <a:t>...</a:t>
            </a:r>
          </a:p>
          <a:p>
            <a:r>
              <a:rPr lang="ko-KR" altLang="en-US"/>
              <a:t>정답은 **</a:t>
            </a:r>
            <a:r>
              <a:rPr lang="en-US" altLang="ko-KR"/>
              <a:t>Self-Validating (</a:t>
            </a:r>
            <a:r>
              <a:rPr lang="ko-KR" altLang="en-US"/>
              <a:t>자가 검증</a:t>
            </a:r>
            <a:r>
              <a:rPr lang="en-US" altLang="ko-KR"/>
              <a:t>)**</a:t>
            </a:r>
            <a:r>
              <a:rPr lang="ko-KR" altLang="en-US"/>
              <a:t>입니다</a:t>
            </a:r>
            <a:r>
              <a:rPr lang="en-US" altLang="ko-KR"/>
              <a:t>! ✅</a:t>
            </a:r>
          </a:p>
          <a:p>
            <a:r>
              <a:rPr lang="en-US" altLang="ko-KR" b="1"/>
              <a:t>Self-Validating</a:t>
            </a:r>
            <a:r>
              <a:rPr lang="ko-KR" altLang="en-US"/>
              <a:t>이란</a:t>
            </a:r>
            <a:r>
              <a:rPr lang="en-US" altLang="ko-KR"/>
              <a:t>?</a:t>
            </a:r>
          </a:p>
          <a:p>
            <a:r>
              <a:rPr lang="ko-KR" altLang="en-US"/>
              <a:t>테스트가 </a:t>
            </a:r>
            <a:r>
              <a:rPr lang="ko-KR" altLang="en-US" b="1"/>
              <a:t>스스로</a:t>
            </a:r>
            <a:r>
              <a:rPr lang="ko-KR" altLang="en-US"/>
              <a:t> 성공</a:t>
            </a:r>
            <a:r>
              <a:rPr lang="en-US" altLang="ko-KR"/>
              <a:t>/</a:t>
            </a:r>
            <a:r>
              <a:rPr lang="ko-KR" altLang="en-US"/>
              <a:t>실패를 판단</a:t>
            </a:r>
          </a:p>
          <a:p>
            <a:r>
              <a:rPr lang="en-US" altLang="ko-KR"/>
              <a:t>Assert</a:t>
            </a:r>
            <a:r>
              <a:rPr lang="ko-KR" altLang="en-US"/>
              <a:t>로 자동 검증</a:t>
            </a:r>
          </a:p>
          <a:p>
            <a:r>
              <a:rPr lang="en-US" altLang="ko-KR"/>
              <a:t>Console.WriteLine </a:t>
            </a:r>
            <a:r>
              <a:rPr lang="ko-KR" altLang="en-US"/>
              <a:t>출력하고 눈으로 확인하는 건 ❌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Self-Validating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Self-Validating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Console.WriteLine(result);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출력만 하고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사람이 눈으로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맞네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Self-Validating: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Assert.AreEqual(5, result);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자동으로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통과하면 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실패하면 ❌ 자동 판정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헷갈리기 쉬운 오답 분석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오답 분석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없는 단어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하지만 테스트는 구체적이어야 하긴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Simple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없는 단어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하지만 테스트는 단순해야 하긴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오직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Self-Validating!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암기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"Fast Independent Repeatable Self-validating Timely"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빠르고 독립적이고 반복 가능하고 자가검증하고 적시에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추가 복습 퀴즈 </a:t>
            </a:r>
            <a:r>
              <a:rPr lang="en-US" altLang="ko-KR" b="1"/>
              <a:t>(</a:t>
            </a:r>
            <a:r>
              <a:rPr lang="ko-KR" altLang="en-US" b="1"/>
              <a:t>구두로</a:t>
            </a:r>
            <a:r>
              <a:rPr lang="en-US" altLang="ko-KR" b="1"/>
              <a:t>)</a:t>
            </a:r>
          </a:p>
          <a:p>
            <a:r>
              <a:rPr lang="ko-KR" altLang="en-US"/>
              <a:t>시간 되면 구두로 몇 가지 더 물어볼게요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추가 퀴즈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Q1.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패턴의 세 단계는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→ Arrange, Act, Assert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Q2.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이름 형식은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(UnitOfWork_Condition_Expected)│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Q3. 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→ Fast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Q4. FIRST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→ Repeatable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Q5.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→ Red → Green → Refactor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학습 포인트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학습 포인트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다음 장에서는 이러한 단위테스트 개념들을 </a:t>
            </a:r>
            <a:r>
              <a:rPr lang="en-US" altLang="ko-KR" i="1"/>
              <a:t>C# </a:t>
            </a:r>
            <a:r>
              <a:rPr lang="ko-KR" altLang="en-US" i="1"/>
              <a:t>코드로 적용해보겠습니다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다음 단계 예고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지금까지 배운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테스트의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명명 규칙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이름 짓기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(Red-Green-Refactor)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다음에 배울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적용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NUnit/xUnit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활용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실전 프로젝트 테스트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기초 파트 </a:t>
            </a:r>
            <a:r>
              <a:rPr lang="ko-KR" altLang="en-US" b="1"/>
              <a:t>요약</a:t>
            </a:r>
            <a:r>
              <a:rPr lang="ko-KR" altLang="en-US"/>
              <a:t>이었습니다</a:t>
            </a:r>
            <a:r>
              <a:rPr lang="en-US" altLang="ko-KR"/>
              <a:t>!</a:t>
            </a:r>
          </a:p>
          <a:p>
            <a:r>
              <a:rPr lang="ko-KR" altLang="en-US" b="1"/>
              <a:t>핵심 </a:t>
            </a:r>
            <a:r>
              <a:rPr lang="en-US" altLang="ko-KR" b="1"/>
              <a:t>3</a:t>
            </a:r>
            <a:r>
              <a:rPr lang="ko-KR" altLang="en-US" b="1"/>
              <a:t>가지</a:t>
            </a:r>
            <a:r>
              <a:rPr lang="ko-KR" altLang="en-US"/>
              <a:t> 꼭 기억하세요</a:t>
            </a:r>
            <a:r>
              <a:rPr lang="en-US" altLang="ko-KR"/>
              <a:t>:</a:t>
            </a:r>
          </a:p>
          <a:p>
            <a:r>
              <a:rPr lang="en-US" altLang="ko-KR"/>
              <a:t>1️⃣ </a:t>
            </a:r>
            <a:r>
              <a:rPr lang="en-US" altLang="ko-KR" b="1"/>
              <a:t>FIRST </a:t>
            </a:r>
            <a:r>
              <a:rPr lang="ko-KR" altLang="en-US" b="1"/>
              <a:t>원칙</a:t>
            </a:r>
            <a:r>
              <a:rPr lang="ko-KR" altLang="en-US"/>
              <a:t> </a:t>
            </a:r>
            <a:r>
              <a:rPr lang="en-US" altLang="ko-KR"/>
              <a:t>Fast, Independent, Repeatable, </a:t>
            </a:r>
            <a:r>
              <a:rPr lang="en-US" altLang="ko-KR" b="1"/>
              <a:t>Self-Validating</a:t>
            </a:r>
            <a:r>
              <a:rPr lang="en-US" altLang="ko-KR"/>
              <a:t>, Timely</a:t>
            </a:r>
          </a:p>
          <a:p>
            <a:r>
              <a:rPr lang="en-US" altLang="ko-KR"/>
              <a:t>2️⃣ </a:t>
            </a:r>
            <a:r>
              <a:rPr lang="en-US" altLang="ko-KR" b="1"/>
              <a:t>AAA </a:t>
            </a:r>
            <a:r>
              <a:rPr lang="ko-KR" altLang="en-US" b="1"/>
              <a:t>패턴</a:t>
            </a:r>
            <a:r>
              <a:rPr lang="ko-KR" altLang="en-US"/>
              <a:t> </a:t>
            </a:r>
            <a:r>
              <a:rPr lang="en-US" altLang="ko-KR"/>
              <a:t>Arrange → Act → Assert</a:t>
            </a:r>
          </a:p>
          <a:p>
            <a:r>
              <a:rPr lang="en-US" altLang="ko-KR"/>
              <a:t>3️⃣ </a:t>
            </a:r>
            <a:r>
              <a:rPr lang="ko-KR" altLang="en-US" b="1"/>
              <a:t>명명 규칙</a:t>
            </a:r>
            <a:r>
              <a:rPr lang="ko-KR" altLang="en-US"/>
              <a:t> 테스트대상</a:t>
            </a:r>
            <a:r>
              <a:rPr lang="en-US" altLang="ko-KR"/>
              <a:t>_</a:t>
            </a:r>
            <a:r>
              <a:rPr lang="ko-KR" altLang="en-US"/>
              <a:t>조건</a:t>
            </a:r>
            <a:r>
              <a:rPr lang="en-US" altLang="ko-KR"/>
              <a:t>_</a:t>
            </a:r>
            <a:r>
              <a:rPr lang="ko-KR" altLang="en-US"/>
              <a:t>기대결과</a:t>
            </a:r>
          </a:p>
          <a:p>
            <a:r>
              <a:rPr lang="ko-KR" altLang="en-US"/>
              <a:t>퀴즈 정답률 어떠셨어요</a:t>
            </a:r>
            <a:r>
              <a:rPr lang="en-US" altLang="ko-KR"/>
              <a:t>? </a:t>
            </a:r>
            <a:r>
              <a:rPr lang="ko-KR" altLang="en-US"/>
              <a:t>헷갈리는 부분 있으면 질문 주세요</a:t>
            </a:r>
            <a:r>
              <a:rPr lang="en-US" altLang="ko-KR"/>
              <a:t>!</a:t>
            </a:r>
          </a:p>
          <a:p>
            <a:r>
              <a:rPr lang="ko-KR" altLang="en-US"/>
              <a:t>다음 시간에는 </a:t>
            </a:r>
            <a:r>
              <a:rPr lang="ko-KR" altLang="en-US" b="1"/>
              <a:t>실제 </a:t>
            </a:r>
            <a:r>
              <a:rPr lang="en-US" altLang="ko-KR" b="1"/>
              <a:t>C# </a:t>
            </a:r>
            <a:r>
              <a:rPr lang="ko-KR" altLang="en-US" b="1"/>
              <a:t>코드</a:t>
            </a:r>
            <a:r>
              <a:rPr lang="ko-KR" altLang="en-US"/>
              <a:t>로 적용해보겠습니다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**테스트 더블</a:t>
            </a:r>
            <a:r>
              <a:rPr lang="en-US" altLang="ko-KR"/>
              <a:t>(Test Double)**</a:t>
            </a:r>
            <a:r>
              <a:rPr lang="ko-KR" altLang="en-US"/>
              <a:t>에 대해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더블</a:t>
            </a:r>
            <a:r>
              <a:rPr lang="en-US" altLang="ko-KR"/>
              <a:t>"</a:t>
            </a:r>
            <a:r>
              <a:rPr lang="ko-KR" altLang="en-US"/>
              <a:t>이라는 단어</a:t>
            </a:r>
            <a:r>
              <a:rPr lang="en-US" altLang="ko-KR"/>
              <a:t>, </a:t>
            </a:r>
            <a:r>
              <a:rPr lang="ko-KR" altLang="en-US"/>
              <a:t>영화에서 들어보셨죠</a:t>
            </a:r>
            <a:r>
              <a:rPr lang="en-US" altLang="ko-KR"/>
              <a:t>? </a:t>
            </a:r>
            <a:r>
              <a:rPr lang="ko-KR" altLang="en-US" b="1"/>
              <a:t>스턴트 더블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배우 대신 위험한 장면을 촬영하는 대역 배우요</a:t>
            </a:r>
            <a:r>
              <a:rPr lang="en-US" altLang="ko-KR"/>
              <a:t>.</a:t>
            </a:r>
          </a:p>
          <a:p>
            <a:r>
              <a:rPr lang="ko-KR" altLang="en-US"/>
              <a:t>테스트에서도 마찬가지입니다</a:t>
            </a:r>
            <a:r>
              <a:rPr lang="en-US" altLang="ko-KR"/>
              <a:t>. </a:t>
            </a:r>
            <a:r>
              <a:rPr lang="ko-KR" altLang="en-US" b="1"/>
              <a:t>실제 객체 대신</a:t>
            </a:r>
            <a:r>
              <a:rPr lang="ko-KR" altLang="en-US"/>
              <a:t> 테스트를 위한 </a:t>
            </a:r>
            <a:r>
              <a:rPr lang="ko-KR" altLang="en-US" b="1"/>
              <a:t>가짜 객체</a:t>
            </a:r>
            <a:r>
              <a:rPr lang="ko-KR" altLang="en-US"/>
              <a:t>를 사용하는 거예요</a:t>
            </a:r>
            <a:r>
              <a:rPr lang="en-US" altLang="ko-KR"/>
              <a:t>.</a:t>
            </a:r>
          </a:p>
          <a:p>
            <a:r>
              <a:rPr lang="ko-KR" altLang="en-US"/>
              <a:t>왜 필요할까요</a:t>
            </a:r>
            <a:r>
              <a:rPr lang="en-US" altLang="ko-KR"/>
              <a:t>? </a:t>
            </a:r>
            <a:r>
              <a:rPr lang="ko-KR" altLang="en-US"/>
              <a:t>데이터베이스</a:t>
            </a:r>
            <a:r>
              <a:rPr lang="en-US" altLang="ko-KR"/>
              <a:t>, API, </a:t>
            </a:r>
            <a:r>
              <a:rPr lang="ko-KR" altLang="en-US"/>
              <a:t>파일 시스템</a:t>
            </a:r>
            <a:r>
              <a:rPr lang="en-US" altLang="ko-KR"/>
              <a:t>... </a:t>
            </a:r>
            <a:r>
              <a:rPr lang="ko-KR" altLang="en-US"/>
              <a:t>이런 </a:t>
            </a:r>
            <a:r>
              <a:rPr lang="ko-KR" altLang="en-US" b="1"/>
              <a:t>외부 의존성</a:t>
            </a:r>
            <a:r>
              <a:rPr lang="ko-KR" altLang="en-US"/>
              <a:t> 때문에 테스트가 느려지거나 불안정해지거든요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더블이란</a:t>
            </a:r>
            <a:r>
              <a:rPr lang="en-US" altLang="ko-KR" b="1"/>
              <a:t>?</a:t>
            </a:r>
          </a:p>
          <a:p>
            <a:r>
              <a:rPr lang="ko-KR" altLang="en-US"/>
              <a:t>상단의 정의를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더블은 단위 테스트에서 외부 의존성을 대체하는 객체로</a:t>
            </a:r>
            <a:r>
              <a:rPr lang="en-US" altLang="ko-KR" i="1"/>
              <a:t>, </a:t>
            </a:r>
            <a:r>
              <a:rPr lang="ko-KR" altLang="en-US" i="1"/>
              <a:t>테스트의 격리성과 속도를 높여줍니다</a:t>
            </a:r>
            <a:r>
              <a:rPr lang="en-US" altLang="ko-KR" i="1"/>
              <a:t>. </a:t>
            </a:r>
            <a:r>
              <a:rPr lang="ko-KR" altLang="en-US" i="1"/>
              <a:t>영화의 스턴트 더블처럼 실제 의존성을 대신해 테스트 환경을 단순화합니다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왜 테스트 더블이 필요할까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의존성 사용 시 문제점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🐢 느림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호출에 시간 소요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💥 불안정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네트워크 끊기면 테스트 실패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바뀌면 테스트 실패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설정 복잡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테스트용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 토큰 발급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해결책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더블로 대체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스턴트 더블 비유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🎬 영화 촬영                       🧪 단위 테스트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                 ─────────────────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실제 배우                        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위험한 장면 ❌                  → 느리고 불안정 ❌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스턴트 더블                       테스트 더블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대신 촬영 ✅                   → 대신 사용 ✅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안전하게 촬영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빠르고 안정적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더블의 </a:t>
            </a:r>
            <a:r>
              <a:rPr lang="en-US" altLang="ko-KR" b="1"/>
              <a:t>5</a:t>
            </a:r>
            <a:r>
              <a:rPr lang="ko-KR" altLang="en-US" b="1"/>
              <a:t>가지 종류</a:t>
            </a:r>
          </a:p>
          <a:p>
            <a:r>
              <a:rPr lang="ko-KR" altLang="en-US"/>
              <a:t>테스트 더블에는 </a:t>
            </a:r>
            <a:r>
              <a:rPr lang="en-US" altLang="ko-KR" b="1"/>
              <a:t>5</a:t>
            </a:r>
            <a:r>
              <a:rPr lang="ko-KR" altLang="en-US" b="1"/>
              <a:t>가지 종류</a:t>
            </a:r>
            <a:r>
              <a:rPr lang="ko-KR" altLang="en-US"/>
              <a:t>가 있습니다</a:t>
            </a:r>
            <a:r>
              <a:rPr lang="en-US" altLang="ko-KR"/>
              <a:t>. </a:t>
            </a:r>
            <a:r>
              <a:rPr lang="ko-KR" altLang="en-US"/>
              <a:t>각각의 역할이 다르니 잘 구분해두세요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Dummy </a:t>
            </a:r>
            <a:r>
              <a:rPr lang="ko-KR" altLang="en-US" b="1"/>
              <a:t>👤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단순 파라미터 채우기용 객체</a:t>
            </a:r>
            <a:r>
              <a:rPr lang="en-US" altLang="ko-KR" i="1"/>
              <a:t>, </a:t>
            </a:r>
            <a:r>
              <a:rPr lang="ko-KR" altLang="en-US" i="1"/>
              <a:t>실제로는 사용되지 않음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Dummy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파라미터 자리만 채움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SendNotification_DoesNotUseLogger()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ILogger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dummyLogger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안 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NotificationService(dummyLogger);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logger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호출되지 않음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service.SendSimpleNotification("Hello");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Dummy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그냥 자리 채우기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메서드 시그니처 맞추려고 넣는 것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실제로 호출되거나 사용되지 않음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2. Stub </a:t>
            </a:r>
            <a:r>
              <a:rPr lang="ko-KR" altLang="en-US" b="1"/>
              <a:t>📌</a:t>
            </a:r>
          </a:p>
          <a:p>
            <a:r>
              <a:rPr lang="en-US" altLang="ko-KR" i="1"/>
              <a:t>"</a:t>
            </a:r>
            <a:r>
              <a:rPr lang="ko-KR" altLang="en-US" i="1"/>
              <a:t>미리 준비된 답변만 제공하는 객체</a:t>
            </a:r>
            <a:r>
              <a:rPr lang="en-US" altLang="ko-KR" i="1"/>
              <a:t>, </a:t>
            </a:r>
            <a:r>
              <a:rPr lang="ko-KR" altLang="en-US" i="1"/>
              <a:t>일관된 결과 반환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Stub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 반환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IUserRepository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GetById(int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홍길동 반환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GetUser_ReturnsUserFromStub()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StubUserRepository();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UserService(stubRepo);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홍길동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Stub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준비된 답변 제공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특정 입력에 대해 미리 정해진 값 반환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상태 검증용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결과값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3. Fake </a:t>
            </a:r>
            <a:r>
              <a:rPr lang="ko-KR" altLang="en-US" b="1"/>
              <a:t>📄</a:t>
            </a:r>
          </a:p>
          <a:p>
            <a:r>
              <a:rPr lang="en-US" altLang="ko-KR" i="1"/>
              <a:t>"</a:t>
            </a:r>
            <a:r>
              <a:rPr lang="ko-KR" altLang="en-US" i="1"/>
              <a:t>실제 구현은 있지만 단순화된 구현체 </a:t>
            </a:r>
            <a:r>
              <a:rPr lang="en-US" altLang="ko-KR" i="1"/>
              <a:t>(</a:t>
            </a:r>
            <a:r>
              <a:rPr lang="ko-KR" altLang="en-US" i="1"/>
              <a:t>예</a:t>
            </a:r>
            <a:r>
              <a:rPr lang="en-US" altLang="ko-KR" i="1"/>
              <a:t>: </a:t>
            </a:r>
            <a:r>
              <a:rPr lang="ko-KR" altLang="en-US" i="1"/>
              <a:t>인메모리 </a:t>
            </a:r>
            <a:r>
              <a:rPr lang="en-US" altLang="ko-KR" i="1"/>
              <a:t>DB)"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Fake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동작하는 가짜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IUserRepository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Dictionary&lt;int,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User&gt; _users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_users[user.Id]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저장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GetById(int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_users.TryGetValue(id,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user : 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AddAndGetUser_WorksTogether()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FakeUserRepository();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fakeRepo.Add(new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fakeRepo.GetById(1);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Fake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단순화된 실제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실제로 동작하지만 프로덕션용은 아님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인메모리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대신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4. Spy </a:t>
            </a:r>
            <a:r>
              <a:rPr lang="ko-KR" altLang="en-US" b="1"/>
              <a:t>👁️</a:t>
            </a:r>
          </a:p>
          <a:p>
            <a:r>
              <a:rPr lang="en-US" altLang="ko-KR" i="1"/>
              <a:t>"</a:t>
            </a:r>
            <a:r>
              <a:rPr lang="ko-KR" altLang="en-US" i="1"/>
              <a:t>실제 객체를 감싸 호출을 기록</a:t>
            </a:r>
            <a:r>
              <a:rPr lang="en-US" altLang="ko-KR" i="1"/>
              <a:t>, </a:t>
            </a:r>
            <a:r>
              <a:rPr lang="ko-KR" altLang="en-US" i="1"/>
              <a:t>원래 구현도 사용 가능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Spy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기록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SpyEmailService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IEmailService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List&lt;string&gt; SentEmails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SentEmails.Add(to);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누구에게 보냈는지 기록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전송은 안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RegisterUser_SendsWelcomeEmail()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SpyEmailService();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UserService(spyEmail);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service.Register("user@test.com");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Assert.Contains("user@test.com", spyEmail.SentEmails);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Spy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감시 및 기록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메서드가 호출되었는지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번 호출되었는지 기록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행동 검증용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5. Mock </a:t>
            </a:r>
            <a:r>
              <a:rPr lang="ko-KR" altLang="en-US" b="1"/>
              <a:t>🎭</a:t>
            </a:r>
          </a:p>
          <a:p>
            <a:r>
              <a:rPr lang="en-US" altLang="ko-KR" i="1"/>
              <a:t>"</a:t>
            </a:r>
            <a:r>
              <a:rPr lang="ko-KR" altLang="en-US" i="1"/>
              <a:t>기대 호출과 결과를 미리 프로그래밍</a:t>
            </a:r>
            <a:r>
              <a:rPr lang="en-US" altLang="ko-KR" i="1"/>
              <a:t>, </a:t>
            </a:r>
            <a:r>
              <a:rPr lang="ko-KR" altLang="en-US" i="1"/>
              <a:t>행동 검증용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(Moq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GetUser_CallsRepositoryOnce()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 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GetById(1)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정확히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호출되었는가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행동 프로그래밍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호출하면 이걸 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메서드가 호출되었는지 확인해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가장 강력하고 많이 사용됨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종류 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더블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형제 비교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종류     역할               사용 상황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Dummy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자리 채우기        파라미터만 필요할 때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준비된 답변        특정 값 반환 필요할 때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구현          실제 동작 필요하지만 가볍게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기록          메서드 호출 여부 확인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프로그래밍    호출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검증 모두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실무에서 가장 많이 쓰는 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Mock!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Mock </a:t>
            </a:r>
            <a:r>
              <a:rPr lang="ko-KR" altLang="en-US" b="1"/>
              <a:t>객체 사용 예시 </a:t>
            </a:r>
            <a:r>
              <a:rPr lang="en-US" altLang="ko-KR" b="1"/>
              <a:t>(Moq) </a:t>
            </a:r>
            <a:r>
              <a:rPr lang="ko-KR" altLang="en-US" b="1"/>
              <a:t>💡</a:t>
            </a:r>
          </a:p>
          <a:p>
            <a:r>
              <a:rPr lang="ko-KR" altLang="en-US"/>
              <a:t>하단의 </a:t>
            </a:r>
            <a:r>
              <a:rPr lang="en-US" altLang="ko-KR" b="1"/>
              <a:t>Moq </a:t>
            </a:r>
            <a:r>
              <a:rPr lang="ko-KR" altLang="en-US" b="1"/>
              <a:t>예시</a:t>
            </a:r>
            <a:r>
              <a:rPr lang="ko-KR" altLang="en-US"/>
              <a:t>를 자세히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result.Name);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IUserRepository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인터페이스의 가짜 객체 생성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정의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"GetById(1)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호출하면 홍길동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객체처럼 사용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.Object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실제 인터페이스처럼 주입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검증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"GetById(1)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호출되었는지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라이브러리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하단에 **주요 라이브러리**가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"Moq, NSubstitute, FakeItEasy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통해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 더블을 쉽게 생성할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C#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🥇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인기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간결한 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풍부한 기능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Setup().Returns(), Verify()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NSubstitute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간결한 문법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repository.GetById(1).Returns(user);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FakeItEasy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쉬운 문법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A.CallTo(()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repo.Get(1)).Returns(user);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이 교육에서는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더블**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**개념**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의존성을 대체하는 가짜 객체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스턴트 더블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종류**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👤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자리 채우기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준비된 답변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📄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단순화된 구현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👁️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호출 기록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🎭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기대 프로그래밍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검증 ⭐ 가장 많이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**실무에서는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라이브러리로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객체를 만듭니다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자세히** 다뤄보겠습니다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의존성 역전과 인터페이스</a:t>
            </a:r>
            <a:r>
              <a:rPr lang="ko-KR" altLang="en-US"/>
              <a:t>에 대해 알아보겠습니다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앞에서 테스트 더블</a:t>
            </a:r>
            <a:r>
              <a:rPr lang="en-US" altLang="ko-KR"/>
              <a:t>, Mock </a:t>
            </a:r>
            <a:r>
              <a:rPr lang="ko-KR" altLang="en-US"/>
              <a:t>객체를 배웠죠</a:t>
            </a:r>
            <a:r>
              <a:rPr lang="en-US" altLang="ko-KR"/>
              <a:t>. </a:t>
            </a:r>
            <a:r>
              <a:rPr lang="ko-KR" altLang="en-US"/>
              <a:t>근데 </a:t>
            </a:r>
            <a:r>
              <a:rPr lang="en-US" altLang="ko-KR"/>
              <a:t>Mock</a:t>
            </a:r>
            <a:r>
              <a:rPr lang="ko-KR" altLang="en-US"/>
              <a:t>을 사용하려면 </a:t>
            </a:r>
            <a:r>
              <a:rPr lang="ko-KR" altLang="en-US" b="1"/>
              <a:t>코드가 특정 방식으로 설계</a:t>
            </a:r>
            <a:r>
              <a:rPr lang="ko-KR" altLang="en-US"/>
              <a:t>되어 있어야 합니다</a:t>
            </a:r>
            <a:r>
              <a:rPr lang="en-US" altLang="ko-KR"/>
              <a:t>.</a:t>
            </a:r>
          </a:p>
          <a:p>
            <a:r>
              <a:rPr lang="ko-KR" altLang="en-US"/>
              <a:t>그 핵심이 바로 **의존성 주입</a:t>
            </a:r>
            <a:r>
              <a:rPr lang="en-US" altLang="ko-KR"/>
              <a:t>(DI)**</a:t>
            </a:r>
            <a:r>
              <a:rPr lang="ko-KR" altLang="en-US"/>
              <a:t>과 </a:t>
            </a:r>
            <a:r>
              <a:rPr lang="ko-KR" altLang="en-US" b="1"/>
              <a:t>인터페이스</a:t>
            </a:r>
            <a:r>
              <a:rPr lang="ko-KR" altLang="en-US"/>
              <a:t>예요</a:t>
            </a:r>
            <a:r>
              <a:rPr lang="en-US" altLang="ko-KR"/>
              <a:t>.</a:t>
            </a:r>
          </a:p>
          <a:p>
            <a:r>
              <a:rPr lang="ko-KR" altLang="en-US"/>
              <a:t>이게 안 되어 있으면 </a:t>
            </a:r>
            <a:r>
              <a:rPr lang="en-US" altLang="ko-KR"/>
              <a:t>Mock</a:t>
            </a:r>
            <a:r>
              <a:rPr lang="ko-KR" altLang="en-US"/>
              <a:t>을 </a:t>
            </a:r>
            <a:r>
              <a:rPr lang="ko-KR" altLang="en-US" b="1"/>
              <a:t>끼워넣을 수가 없습니다</a:t>
            </a:r>
            <a:r>
              <a:rPr lang="en-US" altLang="ko-KR" b="1"/>
              <a:t>.</a:t>
            </a:r>
            <a:endParaRPr lang="ko-KR" altLang="en-US"/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DI (</a:t>
            </a:r>
            <a:r>
              <a:rPr lang="ko-KR" altLang="en-US" b="1"/>
              <a:t>의존성 주입</a:t>
            </a:r>
            <a:r>
              <a:rPr lang="en-US" altLang="ko-KR" b="1"/>
              <a:t>) ⇄</a:t>
            </a:r>
          </a:p>
          <a:p>
            <a:r>
              <a:rPr lang="ko-KR" altLang="en-US"/>
              <a:t>첫 번째</a:t>
            </a:r>
            <a:r>
              <a:rPr lang="en-US" altLang="ko-KR"/>
              <a:t>, **DI (Dependency Injection, </a:t>
            </a:r>
            <a:r>
              <a:rPr lang="ko-KR" altLang="en-US"/>
              <a:t>의존성 주입</a:t>
            </a:r>
            <a:r>
              <a:rPr lang="en-US" altLang="ko-KR"/>
              <a:t>)**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컴포넌트에 필요한 의존성을 외부에서 주입</a:t>
            </a:r>
            <a:r>
              <a:rPr lang="en-US" altLang="ko-KR" i="1"/>
              <a:t>. </a:t>
            </a:r>
            <a:r>
              <a:rPr lang="ko-KR" altLang="en-US" i="1"/>
              <a:t>구체적인 구현보다 추상화</a:t>
            </a:r>
            <a:r>
              <a:rPr lang="en-US" altLang="ko-KR" i="1"/>
              <a:t>(</a:t>
            </a:r>
            <a:r>
              <a:rPr lang="ko-KR" altLang="en-US" i="1"/>
              <a:t>인터페이스</a:t>
            </a:r>
            <a:r>
              <a:rPr lang="en-US" altLang="ko-KR" i="1"/>
              <a:t>)</a:t>
            </a:r>
            <a:r>
              <a:rPr lang="ko-KR" altLang="en-US" i="1"/>
              <a:t>에 의존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의존성 주입이란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 없이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(Bad)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UserService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UserRepository _repo = new UserRepository();│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                         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         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교체 불가능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(Good)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UserService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IUserRepository _repo;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UserService(IUserRepository repo)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{                            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외부에서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_repo = repo;              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불가능한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EmailService();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_db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Database();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테스트할 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EmailService, Database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바꿀 수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IEmailService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_email;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IDatabase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_db;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OrderService(IEmailService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email, IDatabase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외부에서 주입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_db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테스트할 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교체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IoC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제어의 역전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IoC (Inversion of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제어의 역전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책임을 프레임워크에 위임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의존성 해결을 외부 컨테이너가 담당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제어의 역전이란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흐름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내가 직접 객체를 생성한다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UserRepository();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UserService(repo);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IoC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컨테이너가 알아서 생성해서 주입해준다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services.AddScoped&lt;IUserRepository,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UserRepository&gt;();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services.AddScoped&lt;UserService&gt;();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컨테이너가 자동으로 의존성 해결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방향이 역전됨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나 → 프레임워크 에서 프레임워크 → 나 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ASP.NET Core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IoC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ConfigureServices(IServiceCollection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→ 구현체 매핑 등록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services.AddScoped&lt;IUserRepository,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services.AddScoped&lt;IEmailService,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services.AddScoped&lt;UserService&gt;();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필요한 곳에 자동 주입됨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설계 🔌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**인터페이스 설계**입니다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작고 명확한 역할 중심 인터페이스 설계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단일 책임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(SRP)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준수한 분리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설계 원칙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큼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IUserManager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SaveUser(User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user);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DeleteUser(int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id);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SendEmail(string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msg);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???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LogActivity(string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msg);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???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ValidateUser(User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user);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???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많은 책임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Mock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하기도 복잡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작고 명확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GetById(int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Save(User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IEmailService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to,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message);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역할별로 분리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Mock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하기 쉬움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ISP (Interface Segregation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인터페이스 분리 원칙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클라이언트가 사용하지 않는 메서드에 의존하면 안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**작고 집중된 인터페이스**가 좋아요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주입 권장 🔌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**생성자 주입 권장**입니다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의존성은 생성자를 통해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시 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객체로 쉽게 교체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생성자 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Injection) 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_repo;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{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_repo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repo;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불변성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의존성 명확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쉬움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속성 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(Property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ILogger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Logger { get; set; }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선택적 의존성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메서드 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(Method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Process(IValidator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validator) { ... }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주입의 장점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교체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 -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설계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**핵심 정리**입니다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역전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(DIP)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테스트 가능한 코드의 핵심입니다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고수준 모듈이 저수준 모듈에 의존하지 않고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둘 다 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의존함으로써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쉽게 테스트 대역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교체할 수 있는 구조를 만듭니다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역전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(DIP)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DIP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위반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 ────────▶ UserRepository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고수준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저수준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 클래스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고수준이 저수준에 직접 의존 → 교체 불가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준수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 ────────▶ IUserRepository ◀──── UserRepo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고수준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저수준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↑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MockRepo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 다 추상화에 의존 → 쉽게 교체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흐름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설계 흐름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인터페이스 설계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작고 명확한 역할별 인터페이스 정의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... }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생성자 주입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의존성을 생성자 파라미터로 받음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구현체 등록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services.AddScoped&lt;IUserRepository,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UserRepository&gt;();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가짜 객체로 교체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인터페이스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생성자 주입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가능한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**의존성 역전과 인터페이스**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⇄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외부에서 의존성을 주입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↰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IoC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제어의 역전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컨테이너가 객체 생성 담당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🔌 **인터페이스 설계**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작고 명확하게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🔌 **생성자 주입**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필수 의존성은 생성자로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구체 클래스가 아닌 **인터페이스**에 의존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**생성자**로 의존성 주입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교체**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원칙을 지키면 **테스트하기 쉬운 코드**가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드디어 </a:t>
            </a:r>
            <a:r>
              <a:rPr lang="en-US" altLang="ko-KR" b="1"/>
              <a:t>Moq </a:t>
            </a:r>
            <a:r>
              <a:rPr lang="ko-KR" altLang="en-US" b="1"/>
              <a:t>기본 사용법</a:t>
            </a:r>
            <a:r>
              <a:rPr lang="ko-KR" altLang="en-US"/>
              <a:t>을 배워보겠습니다</a:t>
            </a:r>
            <a:r>
              <a:rPr lang="en-US" altLang="ko-KR"/>
              <a:t>!</a:t>
            </a:r>
          </a:p>
          <a:p>
            <a:r>
              <a:rPr lang="en-US" altLang="ko-KR" b="1"/>
              <a:t>Moq</a:t>
            </a:r>
            <a:r>
              <a:rPr lang="en-US" altLang="ko-KR"/>
              <a:t> - </a:t>
            </a:r>
            <a:r>
              <a:rPr lang="ko-KR" altLang="en-US"/>
              <a:t>목 객체를 생성하고 </a:t>
            </a:r>
            <a:r>
              <a:rPr lang="en-US" altLang="ko-KR"/>
              <a:t>Setup </a:t>
            </a:r>
            <a:r>
              <a:rPr lang="ko-KR" altLang="en-US"/>
              <a:t>메서드를 통해 의존성 동작을 정의하는 기본 사용법입니다</a:t>
            </a:r>
            <a:r>
              <a:rPr lang="en-US" altLang="ko-KR"/>
              <a:t>.</a:t>
            </a:r>
          </a:p>
          <a:p>
            <a:r>
              <a:rPr lang="ko-KR" altLang="en-US"/>
              <a:t>앞에서 테스트 더블</a:t>
            </a:r>
            <a:r>
              <a:rPr lang="en-US" altLang="ko-KR"/>
              <a:t>, </a:t>
            </a:r>
            <a:r>
              <a:rPr lang="ko-KR" altLang="en-US"/>
              <a:t>의존성 주입을 배웠죠</a:t>
            </a:r>
            <a:r>
              <a:rPr lang="en-US" altLang="ko-KR"/>
              <a:t>. </a:t>
            </a:r>
            <a:r>
              <a:rPr lang="ko-KR" altLang="en-US"/>
              <a:t>이제 </a:t>
            </a:r>
            <a:r>
              <a:rPr lang="ko-KR" altLang="en-US" b="1"/>
              <a:t>실제로 </a:t>
            </a:r>
            <a:r>
              <a:rPr lang="en-US" altLang="ko-KR" b="1"/>
              <a:t>Mock </a:t>
            </a:r>
            <a:r>
              <a:rPr lang="ko-KR" altLang="en-US" b="1"/>
              <a:t>객체를 어떻게 만드는지</a:t>
            </a:r>
            <a:r>
              <a:rPr lang="ko-KR" altLang="en-US"/>
              <a:t> 코드로 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화면 오른쪽에 </a:t>
            </a:r>
            <a:r>
              <a:rPr lang="en-US" altLang="ko-KR" b="1"/>
              <a:t>"</a:t>
            </a:r>
            <a:r>
              <a:rPr lang="ko-KR" altLang="en-US" b="1"/>
              <a:t>성공</a:t>
            </a:r>
            <a:r>
              <a:rPr lang="en-US" altLang="ko-KR" b="1"/>
              <a:t>"</a:t>
            </a:r>
            <a:r>
              <a:rPr lang="ko-KR" altLang="en-US"/>
              <a:t> 표시가 있네요</a:t>
            </a:r>
            <a:r>
              <a:rPr lang="en-US" altLang="ko-KR"/>
              <a:t>. </a:t>
            </a:r>
            <a:r>
              <a:rPr lang="ko-KR" altLang="en-US"/>
              <a:t>이 테스트가 통과한다는 뜻입니다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전체 보기</a:t>
            </a:r>
          </a:p>
          <a:p>
            <a:r>
              <a:rPr lang="en-US" altLang="ko-KR" b="1"/>
              <a:t>UserServiceTests.cs</a:t>
            </a:r>
            <a:r>
              <a:rPr lang="en-US" altLang="ko-KR"/>
              <a:t> </a:t>
            </a:r>
            <a:r>
              <a:rPr lang="ko-KR" altLang="en-US"/>
              <a:t>파일입니다</a:t>
            </a:r>
            <a:r>
              <a:rPr lang="en-US" altLang="ko-KR"/>
              <a:t>. </a:t>
            </a:r>
            <a:r>
              <a:rPr lang="ko-KR" altLang="en-US"/>
              <a:t>전체 코드를 먼저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Moq;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NUnit.Framework;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UserServiceTests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GetUser_UserExists_ReturnsUser()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userRepository = new 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userId = 1;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expectedUser = new User { Id = userId, Name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userRepository.Setup(repo =&gt; repo.GetUser(userId)).Returns(expectedUser);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userService = new UserService(userRepository.Object);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result = userService.GetUserById(userId);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Assert.AreEqual(expectedUser,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분석 </a:t>
            </a:r>
            <a:r>
              <a:rPr lang="en-US" altLang="ko-KR" b="1"/>
              <a:t>- Step by Step</a:t>
            </a:r>
          </a:p>
          <a:p>
            <a:r>
              <a:rPr lang="ko-KR" altLang="en-US"/>
              <a:t>한 줄씩 분석해볼게요</a:t>
            </a:r>
            <a:r>
              <a:rPr lang="en-US" altLang="ko-KR"/>
              <a:t>.</a:t>
            </a:r>
          </a:p>
          <a:p>
            <a:r>
              <a:rPr lang="en-US" altLang="ko-KR" b="1"/>
              <a:t>Step 1: using </a:t>
            </a:r>
            <a:r>
              <a:rPr lang="ko-KR" altLang="en-US" b="1"/>
              <a:t>선언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Moq;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NUnit.Framework;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using Moq;              ←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사용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NUnit.Framework;  ←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프레임워크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dotnet add package Moq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2: Mock </a:t>
            </a:r>
            <a:r>
              <a:rPr lang="ko-KR" altLang="en-US" b="1"/>
              <a:t>객체 생성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userRepository = new 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Mock&lt;IUserRepository&gt;()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↑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인터페이스를 지정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가짜 구현체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생성됨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없이 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 클래스가 아닌 인터페이스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Mock&lt;UserRepository&gt;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3: </a:t>
            </a:r>
            <a:r>
              <a:rPr lang="ko-KR" altLang="en-US" b="1"/>
              <a:t>테스트 데이터 준비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userId = 1;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expectedUser = new User { Id = userId, Name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사용할 데이터 준비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 = 1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조회할 사용자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expectedUser = ...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기대하는 반환 객체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아니라 우리가 원하는 데이터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4: Setup - </a:t>
            </a:r>
            <a:r>
              <a:rPr lang="ko-KR" altLang="en-US" b="1"/>
              <a:t>동작 정의 ⭐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userRepository.Setup(repo =&gt; repo.GetUser(userId)).Returns(expectedUser);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핵심**입니다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분석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userRepository.Setup(repo =&gt; repo.GetUser(userId))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│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메서드를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GetUser(userId)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└────────────────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람다로 표현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.Returns(expectedUser);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반환할지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expectedUser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"GetUser(1)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호출되면 홍길동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흐름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실행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userService.GetUserById(1)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_repository.GetUser(1)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가로챔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정의된 거네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expectedUser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없이 우리가 정한 값이 반환됨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5: .Object</a:t>
            </a:r>
            <a:r>
              <a:rPr lang="ko-KR" altLang="en-US" b="1"/>
              <a:t>로 실제 객체처럼 사용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userService = new UserService(userRepository.Object);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.Object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속성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         → Mock&lt;IUserRepository&gt;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타입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설정용 래퍼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userRepository.Object  → IUserRepository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타입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UserService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받으니까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.Object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변환해서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6: Act - </a:t>
            </a:r>
            <a:r>
              <a:rPr lang="ko-KR" altLang="en-US" b="1"/>
              <a:t>테스트 대상 실행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userService.GetUserById(userId);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테스트 대상 메서드 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userService.GetUserById(1)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GetUser(1)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정의한 대로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저장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7: Assert - </a:t>
            </a:r>
            <a:r>
              <a:rPr lang="ko-KR" altLang="en-US" b="1"/>
              <a:t>검증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Assert.AreEqual(expectedUser,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검증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expectedUser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정한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반환된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같으면 ✅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다르면 ❌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사용법 정리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사용법**입니다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Mock&lt;T&gt;: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 클래스 목 생성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mock = new Mock&lt;IUserRepository&gt;();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Setup():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호출 동작 정의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mock.Setup(x =&gt; x.GetUser(1))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"GetUser(1)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호출되면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Returns() / Throws():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설정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.Returns(user);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반환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.Throws&lt;Exception&gt;();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사용할 목 인스턴스 접근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UserService(mock.Object);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IUserRepository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사용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추가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r.GetUser(-1))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.Throws&lt;ArgumentException&gt;();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값이든 매칭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(It.IsAny)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r.GetUser(It.IsAny&lt;int&gt;()))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Name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기본사용자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조건 매칭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(It.Is)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r.GetUser(It.Is&lt;int&gt;(id =&gt; id &gt; 0)))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Name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유효한사용자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사용법**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mock = new Mock&lt;IRepository&gt;();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Setup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동작 정의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mock.Setup(x =&gt; x.Method(param)).Returns(value);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.Object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주입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service = new Service(mock.Object);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4.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service.DoSomething();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Assert.AreEqual(expected,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`Mock&lt;T&gt;` -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`Setup()`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정의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`Returns()` / `Throws()`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`.Object`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인터페이스로 사용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시간에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배워서 호출 검증까지 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/>
              <a:t>Moq</a:t>
            </a:r>
            <a:r>
              <a:rPr lang="ko-KR" altLang="en-US"/>
              <a:t>의 </a:t>
            </a:r>
            <a:r>
              <a:rPr lang="en-US" altLang="ko-KR" b="1"/>
              <a:t>Setup</a:t>
            </a:r>
            <a:r>
              <a:rPr lang="ko-KR" altLang="en-US" b="1"/>
              <a:t>과 </a:t>
            </a:r>
            <a:r>
              <a:rPr lang="en-US" altLang="ko-KR" b="1"/>
              <a:t>Verify</a:t>
            </a:r>
            <a:r>
              <a:rPr lang="ko-KR" altLang="en-US"/>
              <a:t>를 자세히 알아보겠습니다</a:t>
            </a:r>
            <a:r>
              <a:rPr lang="en-US" altLang="ko-KR"/>
              <a:t>.</a:t>
            </a:r>
          </a:p>
          <a:p>
            <a:r>
              <a:rPr lang="en-US" altLang="ko-KR" b="1"/>
              <a:t>Setup</a:t>
            </a:r>
            <a:r>
              <a:rPr lang="ko-KR" altLang="en-US"/>
              <a:t>으로 동작 정의</a:t>
            </a:r>
            <a:r>
              <a:rPr lang="en-US" altLang="ko-KR"/>
              <a:t>, </a:t>
            </a:r>
            <a:r>
              <a:rPr lang="en-US" altLang="ko-KR" b="1"/>
              <a:t>Verify</a:t>
            </a:r>
            <a:r>
              <a:rPr lang="ko-KR" altLang="en-US"/>
              <a:t>로 호출 검증</a:t>
            </a:r>
            <a:r>
              <a:rPr lang="en-US" altLang="ko-KR"/>
              <a:t>!</a:t>
            </a:r>
          </a:p>
          <a:p>
            <a:r>
              <a:rPr lang="ko-KR" altLang="en-US"/>
              <a:t>앞에서 </a:t>
            </a:r>
            <a:r>
              <a:rPr lang="en-US" altLang="ko-KR"/>
              <a:t>Setup</a:t>
            </a:r>
            <a:r>
              <a:rPr lang="ko-KR" altLang="en-US"/>
              <a:t>은 배웠죠</a:t>
            </a:r>
            <a:r>
              <a:rPr lang="en-US" altLang="ko-KR"/>
              <a:t>? </a:t>
            </a:r>
            <a:r>
              <a:rPr lang="ko-KR" altLang="en-US"/>
              <a:t>이번엔 </a:t>
            </a:r>
            <a:r>
              <a:rPr lang="en-US" altLang="ko-KR" b="1"/>
              <a:t>Verify</a:t>
            </a:r>
            <a:r>
              <a:rPr lang="ko-KR" altLang="en-US"/>
              <a:t>가 핵심입니다</a:t>
            </a:r>
            <a:r>
              <a:rPr lang="en-US" altLang="ko-KR"/>
              <a:t>. "</a:t>
            </a:r>
            <a:r>
              <a:rPr lang="ko-KR" altLang="en-US"/>
              <a:t>이 메서드가 </a:t>
            </a:r>
            <a:r>
              <a:rPr lang="ko-KR" altLang="en-US" b="1"/>
              <a:t>정말 호출되었는지</a:t>
            </a:r>
            <a:r>
              <a:rPr lang="en-US" altLang="ko-KR"/>
              <a:t>" </a:t>
            </a:r>
            <a:r>
              <a:rPr lang="ko-KR" altLang="en-US"/>
              <a:t>검증하는 거예요</a:t>
            </a:r>
            <a:r>
              <a:rPr lang="en-US" altLang="ko-KR"/>
              <a:t>.</a:t>
            </a:r>
          </a:p>
          <a:p>
            <a:r>
              <a:rPr lang="ko-KR" altLang="en-US"/>
              <a:t>화면 오른쪽에 **</a:t>
            </a:r>
            <a:r>
              <a:rPr lang="en-US" altLang="ko-KR"/>
              <a:t>"</a:t>
            </a:r>
            <a:r>
              <a:rPr lang="ko-KR" altLang="en-US"/>
              <a:t>핵심 예제</a:t>
            </a:r>
            <a:r>
              <a:rPr lang="en-US" altLang="ko-KR"/>
              <a:t>"**</a:t>
            </a:r>
            <a:r>
              <a:rPr lang="ko-KR" altLang="en-US"/>
              <a:t>라고 표시되어 있네요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전체 보기</a:t>
            </a:r>
          </a:p>
          <a:p>
            <a:r>
              <a:rPr lang="en-US" altLang="ko-KR" b="1"/>
              <a:t>UserServiceTests.cs</a:t>
            </a:r>
            <a:r>
              <a:rPr lang="ko-KR" altLang="en-US"/>
              <a:t> 파일입니다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Setup: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동작 정의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User(1,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service.GetUserById(1);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Verify: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호출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Times.Once());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매개변수 매치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r.Save(It.IsAny&lt;User&gt;()), Times.Never());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Setup: </a:t>
            </a:r>
            <a:r>
              <a:rPr lang="ko-KR" altLang="en-US" b="1"/>
              <a:t>동작 정의</a:t>
            </a:r>
          </a:p>
          <a:p>
            <a:r>
              <a:rPr lang="ko-KR" altLang="en-US"/>
              <a:t>먼저 </a:t>
            </a:r>
            <a:r>
              <a:rPr lang="en-US" altLang="ko-KR" b="1"/>
              <a:t>Setup</a:t>
            </a:r>
            <a:r>
              <a:rPr lang="ko-KR" altLang="en-US"/>
              <a:t> 부분입니다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User(1,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복습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r.GetById(1))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"GetById(1)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호출되면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.Returns(new User(1,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↓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"...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객체를 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호출하면 이걸 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사전에 동작을 프로그래밍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Verify: </a:t>
            </a:r>
            <a:r>
              <a:rPr lang="ko-KR" altLang="en-US" b="1"/>
              <a:t>호출 검증 ⭐</a:t>
            </a:r>
          </a:p>
          <a:p>
            <a:r>
              <a:rPr lang="ko-KR" altLang="en-US"/>
              <a:t>이제 핵심</a:t>
            </a:r>
            <a:r>
              <a:rPr lang="en-US" altLang="ko-KR"/>
              <a:t>! </a:t>
            </a:r>
            <a:r>
              <a:rPr lang="en-US" altLang="ko-KR" b="1"/>
              <a:t>Verify</a:t>
            </a:r>
            <a:r>
              <a:rPr lang="ko-KR" altLang="en-US"/>
              <a:t> 부분입니다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Setup 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동작해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Verify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정말 호출됐어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mockRepo.Verify(r =&gt; r.GetById(1), Times.Once());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│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번 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│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"GetById(1)"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"GetById(1)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호출되었는지 확인해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왜 </a:t>
            </a:r>
            <a:r>
              <a:rPr lang="en-US" altLang="ko-KR" b="1"/>
              <a:t>Verify</a:t>
            </a:r>
            <a:r>
              <a:rPr lang="ko-KR" altLang="en-US" b="1"/>
              <a:t>가 필요할까요</a:t>
            </a:r>
            <a:r>
              <a:rPr lang="en-US" altLang="ko-KR" b="1"/>
              <a:t>?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필요한 이유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UserService.GetUserById()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우리가 검증하고 싶은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반환값이 맞는지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(Assert.AreEqual)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실제로 호출되었는지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(Verify) ⭐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캐시에서 가져왔을 수도 있잖아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"Repository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안 하고 하드코딩했을 수도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 로직을 탔는지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Times </a:t>
            </a:r>
            <a:r>
              <a:rPr lang="ko-KR" altLang="en-US" b="1"/>
              <a:t>옵션들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Times.Once());</a:t>
            </a:r>
          </a:p>
          <a:p>
            <a:r>
              <a:rPr lang="en-US" altLang="ko-KR" b="1"/>
              <a:t>Times</a:t>
            </a:r>
            <a:r>
              <a:rPr lang="ko-KR" altLang="en-US"/>
              <a:t>에는 여러 옵션이 있습니다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 정리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Times.Once()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Times.Never()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번도 호출 안 됨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Times.Exactly(n)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Times.AtLeast(n)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이상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Times.AtMost(n)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이하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Times.Between(m,n)  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이상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이하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r.GetById(1), Times.Once());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r.Save(user), Times.Never());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r.Log(msg), Times.AtLeast(2));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이상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r.Notify(), Times.Exactly(3));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매개변수 매칭</a:t>
            </a:r>
            <a:r>
              <a:rPr lang="en-US" altLang="ko-KR" b="1"/>
              <a:t>: It.IsAny</a:t>
            </a:r>
          </a:p>
          <a:p>
            <a:r>
              <a:rPr lang="ko-KR" altLang="en-US"/>
              <a:t>코드의 마지막 줄을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매개변수 매치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r.Save(It.IsAny&lt;User&gt;()), Times.Never());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It.IsAny&lt;T&gt;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It.IsAny&lt;User&gt;()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든 상관없이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mockRepo.Verify(r =&gt; r.Save(It.IsAny&lt;User&gt;()), Times.Never());│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"Save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메서드가 어떤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로든 호출되지 않았는지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특정 값이 아니라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타입만 맞으면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매칭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It </a:t>
            </a:r>
            <a:r>
              <a:rPr lang="ko-KR" altLang="en-US" b="1"/>
              <a:t>클래스 정리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매처 정리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It.IsAny&lt;T&gt;()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값이든 매칭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It.IsAny&lt;int&gt;(), It.IsAny&lt;User&gt;()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It.Is&lt;T&gt;(predicate)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조건을 만족하는 값만 매칭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It.Is&lt;int&gt;(x =&gt; x &gt; 0)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양수만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It.Is&lt;string&gt;(s =&gt; s.Contains("test"))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It.IsIn&lt;T&gt;(...)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값들 중 하나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It.IsIn(1, 2, 3)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It.IsRegex(pattern)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정규식 매칭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It.IsRegex(@"^\d+$")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It.Is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조건부 매칭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r.GetById(It.Is&lt;int&gt;(id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User(1,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매칭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음수는 매칭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핵심 메서드 정리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핵심 메서드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메서드 비교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Setup/Returns                    Verify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호출과 반환값 정의        메서드 호출 검증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파라미터 매칭 가능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Times: Once, Never, Exactly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동작해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호출됐어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사전 정의                     📌 사후 검증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상태 기반 테스트              📌 행동 기반 테스트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Setup vs Verify </a:t>
            </a:r>
            <a:r>
              <a:rPr lang="ko-KR" altLang="en-US" b="1"/>
              <a:t>비교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vs Verify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Setup (Arrange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mockRepo.Setup(r =&gt; r.GetById(1))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.Returns(user);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"GetById(1)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전에 미리 정의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 (Assert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mockRepo.Verify(r =&gt; r.GetById(1), Times.Once());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"GetById(1)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호출됐는지 확인해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후에 검증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써도 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여부만 확인할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실전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RegisterUser_SavesUserAndSendsEmail()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Mock&lt;IEmailService&gt;();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UserService(mockRepo.Object, mockEmail.Object);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service.Register(new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User(1,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r.Save(It.IsAny&lt;User&gt;()), Times.Once());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mockEmail.Verify(e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e.SendWelcome(It.IsAny&lt;string&gt;()), Times.Once());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GetUser_CachedUser_DoesNotCallRepository()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캐시된 경우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안 함을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service.GetCachedUser(1);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캐시에서 가져옴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Repository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호출되지 않았음을 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mockRepo.Verify(r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r.GetById(It.IsAny&lt;int&gt;()), Times.Never());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Moq Setup/Verify</a:t>
            </a:r>
            <a:r>
              <a:rPr lang="en-US" altLang="ko-KR"/>
              <a:t>:</a:t>
            </a:r>
          </a:p>
          <a:p>
            <a:r>
              <a:rPr lang="en-US" altLang="ko-KR" b="1"/>
              <a:t>Setup</a:t>
            </a:r>
            <a:r>
              <a:rPr lang="ko-KR" altLang="en-US"/>
              <a:t> </a:t>
            </a:r>
            <a:r>
              <a:rPr lang="en-US" altLang="ko-KR"/>
              <a:t>= </a:t>
            </a:r>
            <a:r>
              <a:rPr lang="ko-KR" altLang="en-US"/>
              <a:t>동작 정의 </a:t>
            </a:r>
            <a:r>
              <a:rPr lang="en-US" altLang="ko-KR"/>
              <a:t>(</a:t>
            </a:r>
            <a:r>
              <a:rPr lang="ko-KR" altLang="en-US"/>
              <a:t>사전</a:t>
            </a:r>
            <a:r>
              <a:rPr lang="en-US" altLang="ko-KR"/>
              <a:t>)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x.Method()).Returns(value);</a:t>
            </a:r>
          </a:p>
          <a:p>
            <a:r>
              <a:rPr lang="en-US" altLang="ko-KR" b="1"/>
              <a:t>Verify</a:t>
            </a:r>
            <a:r>
              <a:rPr lang="ko-KR" altLang="en-US"/>
              <a:t> </a:t>
            </a:r>
            <a:r>
              <a:rPr lang="en-US" altLang="ko-KR"/>
              <a:t>= </a:t>
            </a:r>
            <a:r>
              <a:rPr lang="ko-KR" altLang="en-US"/>
              <a:t>호출 검증 </a:t>
            </a:r>
            <a:r>
              <a:rPr lang="en-US" altLang="ko-KR"/>
              <a:t>(</a:t>
            </a:r>
            <a:r>
              <a:rPr lang="ko-KR" altLang="en-US"/>
              <a:t>사후</a:t>
            </a:r>
            <a:r>
              <a:rPr lang="en-US" altLang="ko-KR"/>
              <a:t>)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mock.Verify(x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x.Method(), Times.Once());</a:t>
            </a:r>
          </a:p>
          <a:p>
            <a:r>
              <a:rPr lang="en-US" altLang="ko-KR" b="1"/>
              <a:t>Times </a:t>
            </a:r>
            <a:r>
              <a:rPr lang="ko-KR" altLang="en-US" b="1"/>
              <a:t>옵션</a:t>
            </a:r>
            <a:r>
              <a:rPr lang="en-US" altLang="ko-KR"/>
              <a:t>: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Times.Once()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정확히 </a:t>
            </a:r>
            <a:r>
              <a:rPr lang="en-US" altLang="ko-KR"/>
              <a:t>1</a:t>
            </a:r>
            <a:r>
              <a:rPr lang="ko-KR" altLang="en-US"/>
              <a:t>번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Times.Never()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호출 안 됨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Times.Exactly(n)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정확히 </a:t>
            </a:r>
            <a:r>
              <a:rPr lang="en-US" altLang="ko-KR"/>
              <a:t>n</a:t>
            </a:r>
            <a:r>
              <a:rPr lang="ko-KR" altLang="en-US"/>
              <a:t>번</a:t>
            </a:r>
          </a:p>
          <a:p>
            <a:r>
              <a:rPr lang="ko-KR" altLang="en-US" b="1"/>
              <a:t>파라미터 매칭</a:t>
            </a:r>
            <a:r>
              <a:rPr lang="en-US" altLang="ko-KR"/>
              <a:t>: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It.IsAny&lt;T&gt;()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어떤 값이든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It.Is&lt;T&gt;(condition)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조건 만족하는 값</a:t>
            </a:r>
          </a:p>
          <a:p>
            <a:r>
              <a:rPr lang="en-US" altLang="ko-KR"/>
              <a:t>Verify</a:t>
            </a:r>
            <a:r>
              <a:rPr lang="ko-KR" altLang="en-US"/>
              <a:t>로 </a:t>
            </a:r>
            <a:r>
              <a:rPr lang="en-US" altLang="ko-KR" b="1"/>
              <a:t>"</a:t>
            </a:r>
            <a:r>
              <a:rPr lang="ko-KR" altLang="en-US" b="1"/>
              <a:t>진짜 호출되었는지</a:t>
            </a:r>
            <a:r>
              <a:rPr lang="en-US" altLang="ko-KR" b="1"/>
              <a:t>"</a:t>
            </a:r>
            <a:r>
              <a:rPr lang="ko-KR" altLang="en-US"/>
              <a:t> 확인하세요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/>
              <a:t>Moq</a:t>
            </a:r>
            <a:r>
              <a:rPr lang="ko-KR" altLang="en-US"/>
              <a:t>의 </a:t>
            </a:r>
            <a:r>
              <a:rPr lang="ko-KR" altLang="en-US" b="1"/>
              <a:t>고급 기능</a:t>
            </a:r>
            <a:r>
              <a:rPr lang="ko-KR" altLang="en-US"/>
              <a:t> </a:t>
            </a:r>
            <a:r>
              <a:rPr lang="en-US" altLang="ko-KR"/>
              <a:t>3</a:t>
            </a:r>
            <a:r>
              <a:rPr lang="ko-KR" altLang="en-US"/>
              <a:t>가지를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Moq</a:t>
            </a:r>
            <a:r>
              <a:rPr lang="ko-KR" altLang="en-US"/>
              <a:t>의 예외 발생</a:t>
            </a:r>
            <a:r>
              <a:rPr lang="en-US" altLang="ko-KR"/>
              <a:t>, </a:t>
            </a:r>
            <a:r>
              <a:rPr lang="ko-KR" altLang="en-US"/>
              <a:t>콜백</a:t>
            </a:r>
            <a:r>
              <a:rPr lang="en-US" altLang="ko-KR"/>
              <a:t>, </a:t>
            </a:r>
            <a:r>
              <a:rPr lang="ko-KR" altLang="en-US"/>
              <a:t>순차적 응답 기능을 활용한 테스트 패턴입니다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Returns()</a:t>
            </a:r>
            <a:r>
              <a:rPr lang="ko-KR" altLang="en-US"/>
              <a:t>로 값만 반환했죠</a:t>
            </a:r>
            <a:r>
              <a:rPr lang="en-US" altLang="ko-KR"/>
              <a:t>. </a:t>
            </a:r>
            <a:r>
              <a:rPr lang="ko-KR" altLang="en-US"/>
              <a:t>하지만 실제 시나리오는 더 복잡합니다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에러가 발생하면</a:t>
            </a:r>
            <a:r>
              <a:rPr lang="en-US" altLang="ko-KR"/>
              <a:t>?"</a:t>
            </a:r>
          </a:p>
          <a:p>
            <a:r>
              <a:rPr lang="en-US" altLang="ko-KR"/>
              <a:t>"</a:t>
            </a:r>
            <a:r>
              <a:rPr lang="ko-KR" altLang="en-US"/>
              <a:t>전달된 값을 확인하고 싶으면</a:t>
            </a:r>
            <a:r>
              <a:rPr lang="en-US" altLang="ko-KR"/>
              <a:t>?"</a:t>
            </a:r>
          </a:p>
          <a:p>
            <a:r>
              <a:rPr lang="en-US" altLang="ko-KR"/>
              <a:t>"</a:t>
            </a:r>
            <a:r>
              <a:rPr lang="ko-KR" altLang="en-US"/>
              <a:t>호출할 때마다 다른 값을 반환하면</a:t>
            </a:r>
            <a:r>
              <a:rPr lang="en-US" altLang="ko-KR"/>
              <a:t>?"</a:t>
            </a:r>
          </a:p>
          <a:p>
            <a:r>
              <a:rPr lang="ko-KR" altLang="en-US"/>
              <a:t>이런 상황을 위한 </a:t>
            </a:r>
            <a:r>
              <a:rPr lang="ko-KR" altLang="en-US" b="1"/>
              <a:t>핵심 패턴</a:t>
            </a:r>
            <a:r>
              <a:rPr lang="ko-KR" altLang="en-US"/>
              <a:t> </a:t>
            </a:r>
            <a:r>
              <a:rPr lang="en-US" altLang="ko-KR"/>
              <a:t>3</a:t>
            </a:r>
            <a:r>
              <a:rPr lang="ko-KR" altLang="en-US"/>
              <a:t>가지입니다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전체 보기</a:t>
            </a:r>
          </a:p>
          <a:p>
            <a:r>
              <a:rPr lang="en-US" altLang="ko-KR" b="1"/>
              <a:t>Moq </a:t>
            </a:r>
            <a:r>
              <a:rPr lang="ko-KR" altLang="en-US" b="1"/>
              <a:t>고급 기능 예제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(Throws)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r.GetById(999)).Throws&lt;KeyNotFoundException&gt;();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콜백 함수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(Callback)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r.Save(It.IsAny&lt;User&gt;()))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.Callback&lt;User&gt;(u =&gt; capturedUser = u);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순차적 응답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(SetupSequence)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mockRepo.SetupSequence(r =&gt; r.GetNext())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Id = 1 })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Id = 2 })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.Throws(new Exception());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</a:t>
            </a:r>
            <a:r>
              <a:rPr lang="ko-KR" altLang="en-US" b="1"/>
              <a:t>예외 발생 </a:t>
            </a:r>
            <a:r>
              <a:rPr lang="en-US" altLang="ko-KR" b="1"/>
              <a:t>(Throws) </a:t>
            </a:r>
            <a:r>
              <a:rPr lang="ko-KR" altLang="en-US" b="1"/>
              <a:t>🔴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(Throws)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r.GetById(999)).Throws&lt;KeyNotFoundException&gt;();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Throws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r.GetById(999))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.Throws&lt;KeyNotFoundException&gt;();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"GetById(999)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호출하면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KeyNotFoundException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던져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존재하지 않는 데이터 조회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네트워크 연결 실패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권한 없음 에러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타임아웃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GetUser_NotFound_ThrowsException()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mockRepo = new 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mockRepo.Setup(r =&gt; r.GetById(999))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.Throws&lt;KeyNotFoundException&gt;();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 &amp;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Assert.Throws&lt;KeyNotFoundException&gt;(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service.GetUserById(999));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변형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.Throws&lt;Exception&gt;()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생성자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.Throws(new Exception("msg"))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포함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.ThrowsAsync&lt;Exception&gt;()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메서드용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2. </a:t>
            </a:r>
            <a:r>
              <a:rPr lang="ko-KR" altLang="en-US" b="1"/>
              <a:t>콜백 함수 </a:t>
            </a:r>
            <a:r>
              <a:rPr lang="en-US" altLang="ko-KR" b="1"/>
              <a:t>(Callback) </a:t>
            </a:r>
            <a:r>
              <a:rPr lang="ko-KR" altLang="en-US" b="1"/>
              <a:t>📞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콜백 함수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(Callback)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r.Save(It.IsAny&lt;User&gt;()))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.Callback&lt;User&gt;(u =&gt; capturedUser = u);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Callback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r.Save(It.IsAny&lt;User&gt;()))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.Callback&lt;User&gt;(u =&gt; capturedUser = u);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"Save()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호출되면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전달된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capturedUser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저장해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흐름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service.Register("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repo.Save(user)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Callback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capturedUser = user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capturedUser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검증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 캡처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Register_SavesUserWithCorrectData()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mockRepo = new 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User capturedUser = null;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캡처할 변수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 r.Save(It.IsAny&lt;User&gt;()))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.Callback&lt;User&gt;(u =&gt; capturedUser = u);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service.Register("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"hong@test.com");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캡처된 값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capturedUser.Name);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Assert.AreEqual("hong@test.com", capturedUser.Email);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Callback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시나리오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파라미터 캡처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많이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호출 횟수 카운팅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디버깅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부수 효과 시뮬레이션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Callback + Returns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.Callback&lt;User&gt;(u =&gt; log.Add(u))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.Returns(true);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3. </a:t>
            </a:r>
            <a:r>
              <a:rPr lang="ko-KR" altLang="en-US" b="1"/>
              <a:t>순차적 응답 </a:t>
            </a:r>
            <a:r>
              <a:rPr lang="en-US" altLang="ko-KR" b="1"/>
              <a:t>(SetupSequence) </a:t>
            </a:r>
            <a:r>
              <a:rPr lang="ko-KR" altLang="en-US" b="1"/>
              <a:t>🔢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순차적 응답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(SetupSequence)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mockRepo.SetupSequence(r =&gt; r.GetNext())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Id = 1 })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.Returns(new User { Id = 2 })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.Throws(new Exception());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SetupSequence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mockRepo.SetupSequence(r =&gt; r.GetNext())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.Returns(new User { Id = 1 })   ←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.Returns(new User { Id = 2 })   ←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.Throws(new Exception());       ←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호출 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GetNext()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User(Id=1)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GetNext()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User(Id=2)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GetNext()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💥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SetupSequence: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호출마다 다른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페이징 처리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ProcessAll_HandlesMultiplePages()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mockRepo = new 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mockRepo.SetupSequence(r =&gt; r.GetNextPage())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.Returns(new[] { user1, user2 })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.Returns(new[] { user3 })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.Returns(Array.Empty&lt;User&gt;());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processed = service.ProcessAll();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Assert.AreEqual(3, processed);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로직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Fetch_RetriesOnFailure_SucceedsOnThird()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mockApi = new Mock&lt;IApiClient&gt;();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mockApi.SetupSequence(a =&gt; a.GetData())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.Throws&lt;TimeoutException&gt;()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.Throws&lt;TimeoutException&gt;()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.Returns("Success!");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service.FetchWithRetry(maxRetries: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Assert.AreEqual("Success!",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핵심 메서드 정리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핵심 정리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고급 기능 비교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기능              역할                    예시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Throws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상황 테스트        에러 처리 검증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Callback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 캡처           전달값 검증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사용자 정의 액션        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카운팅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SetupSequence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순차적 다른 결과 반환   페이징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vs SetupSequence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Setup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.Setup(x =&gt; x.Get()).Returns(value);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value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value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value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SetupSequence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.SetupSequence(x =&gt; x.Get())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.Returns(A).Returns(B).Returns(C);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A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B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호출마다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Get() → C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Moq </a:t>
            </a:r>
            <a:r>
              <a:rPr lang="ko-KR" altLang="en-US" b="1"/>
              <a:t>고급 기능 </a:t>
            </a:r>
            <a:r>
              <a:rPr lang="en-US" altLang="ko-KR" b="1"/>
              <a:t>3</a:t>
            </a:r>
            <a:r>
              <a:rPr lang="ko-KR" altLang="en-US" b="1"/>
              <a:t>가지</a:t>
            </a:r>
            <a:r>
              <a:rPr lang="en-US" altLang="ko-KR"/>
              <a:t>:</a:t>
            </a:r>
          </a:p>
          <a:p>
            <a:r>
              <a:rPr lang="ko-KR" altLang="en-US"/>
              <a:t>🔴 </a:t>
            </a:r>
            <a:r>
              <a:rPr lang="en-US" altLang="ko-KR" b="1"/>
              <a:t>Throws</a:t>
            </a:r>
            <a:r>
              <a:rPr lang="en-US" altLang="ko-KR"/>
              <a:t> - </a:t>
            </a:r>
            <a:r>
              <a:rPr lang="ko-KR" altLang="en-US"/>
              <a:t>예외 상황 테스트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.Throws&lt;KeyNotFoundException&gt;();</a:t>
            </a:r>
          </a:p>
          <a:p>
            <a:r>
              <a:rPr lang="ko-KR" altLang="en-US"/>
              <a:t>📞 </a:t>
            </a:r>
            <a:r>
              <a:rPr lang="en-US" altLang="ko-KR" b="1"/>
              <a:t>Callback</a:t>
            </a:r>
            <a:r>
              <a:rPr lang="en-US" altLang="ko-KR"/>
              <a:t> - </a:t>
            </a:r>
            <a:r>
              <a:rPr lang="ko-KR" altLang="en-US"/>
              <a:t>파라미터 캡처 및 사용자 정의 액션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.Callback&lt;User&gt;(u =&gt; capturedUser = u);</a:t>
            </a:r>
          </a:p>
          <a:p>
            <a:r>
              <a:rPr lang="ko-KR" altLang="en-US"/>
              <a:t>🔢 </a:t>
            </a:r>
            <a:r>
              <a:rPr lang="en-US" altLang="ko-KR" b="1"/>
              <a:t>SetupSequence</a:t>
            </a:r>
            <a:r>
              <a:rPr lang="en-US" altLang="ko-KR"/>
              <a:t> - </a:t>
            </a:r>
            <a:r>
              <a:rPr lang="ko-KR" altLang="en-US"/>
              <a:t>순차적 다른 결과 반환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.SetupSequence(x =&gt; x.Method())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.Returns(value1)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.Returns(value2)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.Throws&lt;Exception&gt;();</a:t>
            </a:r>
          </a:p>
          <a:p>
            <a:r>
              <a:rPr lang="ko-KR" altLang="en-US"/>
              <a:t>이 </a:t>
            </a:r>
            <a:r>
              <a:rPr lang="en-US" altLang="ko-KR"/>
              <a:t>3</a:t>
            </a:r>
            <a:r>
              <a:rPr lang="ko-KR" altLang="en-US"/>
              <a:t>가지로 </a:t>
            </a:r>
            <a:r>
              <a:rPr lang="ko-KR" altLang="en-US" b="1"/>
              <a:t>복잡한 시나리오</a:t>
            </a:r>
            <a:r>
              <a:rPr lang="ko-KR" altLang="en-US"/>
              <a:t>도 테스트 가능합니다</a:t>
            </a:r>
            <a:r>
              <a:rPr lang="en-US" altLang="ko-KR"/>
              <a:t>! </a:t>
            </a:r>
            <a:r>
              <a:rPr lang="ko-KR" altLang="en-US"/>
              <a:t>다음 시간에 실습해보겠습니다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HTTP </a:t>
            </a:r>
            <a:r>
              <a:rPr lang="ko-KR" altLang="en-US" b="1"/>
              <a:t>클라이언트 모킹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실무에서 </a:t>
            </a:r>
            <a:r>
              <a:rPr lang="ko-KR" altLang="en-US" b="1"/>
              <a:t>외부 </a:t>
            </a:r>
            <a:r>
              <a:rPr lang="en-US" altLang="ko-KR" b="1"/>
              <a:t>API</a:t>
            </a:r>
            <a:r>
              <a:rPr lang="ko-KR" altLang="en-US"/>
              <a:t>를 호출하는 코드가 많죠</a:t>
            </a:r>
            <a:r>
              <a:rPr lang="en-US" altLang="ko-KR"/>
              <a:t>? </a:t>
            </a:r>
            <a:r>
              <a:rPr lang="ko-KR" altLang="en-US"/>
              <a:t>결제 </a:t>
            </a:r>
            <a:r>
              <a:rPr lang="en-US" altLang="ko-KR"/>
              <a:t>API, </a:t>
            </a:r>
            <a:r>
              <a:rPr lang="ko-KR" altLang="en-US"/>
              <a:t>카카오톡 알림</a:t>
            </a:r>
            <a:r>
              <a:rPr lang="en-US" altLang="ko-KR"/>
              <a:t>, </a:t>
            </a:r>
            <a:r>
              <a:rPr lang="ko-KR" altLang="en-US"/>
              <a:t>날씨 정보 조회</a:t>
            </a:r>
            <a:r>
              <a:rPr lang="en-US" altLang="ko-KR"/>
              <a:t>...</a:t>
            </a:r>
          </a:p>
          <a:p>
            <a:r>
              <a:rPr lang="ko-KR" altLang="en-US"/>
              <a:t>이런 코드를 테스트할 때 </a:t>
            </a:r>
            <a:r>
              <a:rPr lang="ko-KR" altLang="en-US" b="1"/>
              <a:t>실제 </a:t>
            </a:r>
            <a:r>
              <a:rPr lang="en-US" altLang="ko-KR" b="1"/>
              <a:t>API</a:t>
            </a:r>
            <a:r>
              <a:rPr lang="ko-KR" altLang="en-US" b="1"/>
              <a:t>를 호출하면 안 됩니다</a:t>
            </a:r>
            <a:r>
              <a:rPr lang="en-US" altLang="ko-KR" b="1"/>
              <a:t>.</a:t>
            </a:r>
            <a:endParaRPr lang="ko-KR" altLang="en-US"/>
          </a:p>
          <a:p>
            <a:r>
              <a:rPr lang="ko-KR" altLang="en-US"/>
              <a:t>테스트할 때마다 돈이 나갈 수도 있고</a:t>
            </a:r>
          </a:p>
          <a:p>
            <a:r>
              <a:rPr lang="ko-KR" altLang="en-US"/>
              <a:t>네트워크 상태에 따라 테스트가 실패하고</a:t>
            </a:r>
          </a:p>
          <a:p>
            <a:r>
              <a:rPr lang="ko-KR" altLang="en-US"/>
              <a:t>외부 서버가 다운되면 테스트도 실패하고</a:t>
            </a:r>
          </a:p>
          <a:p>
            <a:r>
              <a:rPr lang="ko-KR" altLang="en-US"/>
              <a:t>그래서 </a:t>
            </a:r>
            <a:r>
              <a:rPr lang="en-US" altLang="ko-KR" b="1"/>
              <a:t>HttpClient</a:t>
            </a:r>
            <a:r>
              <a:rPr lang="ko-KR" altLang="en-US" b="1"/>
              <a:t>를 모킹</a:t>
            </a:r>
            <a:r>
              <a:rPr lang="ko-KR" altLang="en-US"/>
              <a:t>해야 합니다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HTTP </a:t>
            </a:r>
            <a:r>
              <a:rPr lang="ko-KR" altLang="en-US" b="1"/>
              <a:t>통신 테스트 🌐</a:t>
            </a:r>
          </a:p>
          <a:p>
            <a:r>
              <a:rPr lang="ko-KR" altLang="en-US"/>
              <a:t>왼쪽의 </a:t>
            </a:r>
            <a:r>
              <a:rPr lang="en-US" altLang="ko-KR" b="1"/>
              <a:t>HTTP </a:t>
            </a:r>
            <a:r>
              <a:rPr lang="ko-KR" altLang="en-US" b="1"/>
              <a:t>통신 테스트</a:t>
            </a:r>
            <a:r>
              <a:rPr lang="ko-KR" altLang="en-US"/>
              <a:t> 설명입니다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외부 </a:t>
            </a:r>
            <a:r>
              <a:rPr lang="en-US" altLang="ko-KR" i="1"/>
              <a:t>API </a:t>
            </a:r>
            <a:r>
              <a:rPr lang="ko-KR" altLang="en-US" i="1"/>
              <a:t>호출 코드를 테스트하기 위해 </a:t>
            </a:r>
            <a:r>
              <a:rPr lang="en-US" altLang="ko-KR" i="1"/>
              <a:t>HttpClient </a:t>
            </a:r>
            <a:r>
              <a:rPr lang="ko-KR" altLang="en-US" i="1"/>
              <a:t>의존성을 격리하고 모킹하는 실습입니다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 i="1"/>
              <a:t>"HttpMessageHandler</a:t>
            </a:r>
            <a:r>
              <a:rPr lang="ko-KR" altLang="en-US" i="1"/>
              <a:t>를 모킹하여 </a:t>
            </a:r>
            <a:r>
              <a:rPr lang="en-US" altLang="ko-KR" i="1"/>
              <a:t>HTTP </a:t>
            </a:r>
            <a:r>
              <a:rPr lang="ko-KR" altLang="en-US" i="1"/>
              <a:t>응답을 시뮬레이션합니다</a:t>
            </a:r>
            <a:r>
              <a:rPr lang="en-US" altLang="ko-KR" i="1"/>
              <a:t>. </a:t>
            </a:r>
            <a:r>
              <a:rPr lang="ko-KR" altLang="en-US" i="1"/>
              <a:t>이 패턴은 외부 서비스에 의존하는 모든 클라이언트 테스트에 활용 가능합니다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HttpMessageHandler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모킹할까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HttpClient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HttpClient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HttpMessageHandler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모킹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통신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자체는 모킹하기 어려움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내부의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HttpMessageHandler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모킹하는 게 표준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HttpMessageHandler </a:t>
            </a:r>
            <a:r>
              <a:rPr lang="ko-KR" altLang="en-US" b="1"/>
              <a:t>모킹 실습</a:t>
            </a:r>
          </a:p>
          <a:p>
            <a:r>
              <a:rPr lang="ko-KR" altLang="en-US"/>
              <a:t>오른쪽의 </a:t>
            </a:r>
            <a:r>
              <a:rPr lang="ko-KR" altLang="en-US" b="1"/>
              <a:t>모킹 실습</a:t>
            </a:r>
            <a:r>
              <a:rPr lang="ko-KR" altLang="en-US"/>
              <a:t> 내용입니다</a:t>
            </a:r>
            <a:r>
              <a:rPr lang="en-US" altLang="ko-KR"/>
              <a:t>.</a:t>
            </a:r>
          </a:p>
          <a:p>
            <a:r>
              <a:rPr lang="ko-KR" altLang="en-US" b="1"/>
              <a:t>모킹 시나리오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테스트해야 할 시나리오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성공 응답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(HTTP 200 OK)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데이터 반환 시 처리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서버 오류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(HTTP 500 Error)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에러 시 예외 처리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⏱️ 타임아웃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(TaskCanceledException)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지연 시 타임아웃 처리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검증 포인트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검증해야 할 포인트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🔍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URL,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 검증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올바른 엔드포인트로 요청했는가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GET/POST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맞게 호출했는가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Authorization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 포함했는가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요청 본문 직렬화 확인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형식이 맞는가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필드가 포함되었는가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코드별 예외 처리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처리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요청 처리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에러 처리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모킹 코드 예시</a:t>
            </a:r>
          </a:p>
          <a:p>
            <a:r>
              <a:rPr lang="ko-KR" altLang="en-US"/>
              <a:t>핵심 코드를 분석해볼게요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Mock&lt;HttpMessageHandler&gt;();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.Setup&lt;Task&lt;HttpResponseMessage&gt;&gt;("SendAsync",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ItExpr.IsAny&lt;HttpRequestMessage&gt;(),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HttpResponseMessage(HttpStatusCode.OK));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한 줄씩 분석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Mock&lt;HttpMessageHandler&gt;();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HttpMessageHandler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Protected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 접근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(SendAsync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이므로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.Setup&lt;Task&lt;HttpResponseMessage&gt;&gt;("SendAsync", ...)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SendAsync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동작 정의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문자열로 메서드명 지정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ItExpr.IsAny&lt;HttpRequestMessage&gt;()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요청이든 매칭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(It.IsAny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ItExpr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HttpResponseMessage(HttpStatusCode.OK));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HTTP 200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반환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핵심 포인트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Protected()</a:t>
            </a:r>
            <a:r>
              <a:rPr lang="ko-KR" altLang="en-US"/>
              <a:t> </a:t>
            </a:r>
            <a:r>
              <a:rPr lang="en-US" altLang="ko-KR"/>
              <a:t>- protected </a:t>
            </a:r>
            <a:r>
              <a:rPr lang="ko-KR" altLang="en-US"/>
              <a:t>메서드 접근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ItExpr</a:t>
            </a:r>
            <a:r>
              <a:rPr lang="ko-KR" altLang="en-US"/>
              <a:t> </a:t>
            </a:r>
            <a:r>
              <a:rPr lang="en-US" altLang="ko-KR"/>
              <a:t>- Protected </a:t>
            </a:r>
            <a:r>
              <a:rPr lang="ko-KR" altLang="en-US"/>
              <a:t>메서드용 매처 </a:t>
            </a:r>
            <a:r>
              <a:rPr lang="en-US" altLang="ko-KR"/>
              <a:t>(It </a:t>
            </a:r>
            <a:r>
              <a:rPr lang="ko-KR" altLang="en-US"/>
              <a:t>대신</a:t>
            </a:r>
            <a:r>
              <a:rPr lang="en-US" altLang="ko-KR"/>
              <a:t>)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ReturnsAsync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비동기 반환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전체 테스트 코드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GetUser_Success_ReturnsUser()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Mock&lt;HttpMessageHandler&gt;();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responseContent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JsonSerializer.Serialize(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.Setup&lt;Task&lt;HttpResponseMessage&gt;&gt;("SendAsync",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ItExpr.IsAny&lt;HttpRequestMessage&gt;(),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ItExpr.IsAny&lt;CancellationToken&gt;())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HttpResponseMessage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StatusCode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HttpStatusCode.OK,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Content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StringContent(responseContent,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Encoding.UTF8, "application/json")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HttpClient(handlerMock.Object)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BaseAddress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Uri("https://api.example.com")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UserApiService(httpClient);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시나리오별 테스트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 응답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 OK)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.Setup&lt;Task&lt;HttpResponseMessage&gt;&gt;("SendAsync",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ItExpr.IsAny&lt;HttpRequestMessage&gt;(),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HttpResponseMessage(HttpStatusCode.OK)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Content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StringContent("{\"id\":1,\"name\":\"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\"}")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오류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(500 Error)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.Setup&lt;Task&lt;HttpResponseMessage&gt;&gt;("SendAsync",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ItExpr.IsAny&lt;HttpRequestMessage&gt;(),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HttpResponseMessage(HttpStatusCode.InternalServerError));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(TaskCanceledException)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.Setup&lt;Task&lt;HttpResponseMessage&gt;&gt;("SendAsync",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ItExpr.IsAny&lt;HttpRequestMessage&gt;(),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.ThrowsAsync(new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TaskCanceledException("Request timed out"));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URL </a:t>
            </a:r>
            <a:r>
              <a:rPr lang="ko-KR" altLang="en-US" b="1"/>
              <a:t>및 메서드 검증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요청했는지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.Verify("SendAsync", Times.Once(),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ItExpr.Is&lt;HttpRequestMessage&gt;(req =&gt;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req.Method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HttpMethod.Get &amp;&amp;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req.RequestUri.ToString()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"https://api.example.com/users/1"),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POST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 본문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.Verify("SendAsync", Times.Once(),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ItExpr.Is&lt;HttpRequestMessage&gt;(req =&gt;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req.Method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HttpMethod.Post &amp;&amp;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req.Content.ReadAsStringAsync().Result.Contains("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ItExpr.IsAny&lt;CancellationToken&gt;());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모킹 패턴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클라이언트 모킹 패턴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HttpMessageHandler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Mock&lt;HttpMessageHandler&gt;();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Protected().Setup()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SendAsync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handlerMock.Protected()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.Setup&lt;Task&lt;HttpResponseMessage&gt;&gt;("SendAsync", ...)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.ReturnsAsync(response);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HttpClient(handlerMock.Object);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서비스에 주입하고 테스트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ApiService(httpClient);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클라이언트 모킹**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`HttpMessageHandler`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모킹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`Protected()`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`Setup("SendAsync", ...)`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`ItExpr`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매처 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**테스트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 성공 응답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❌ 서버 오류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⏱️ 타임아웃 처리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**검증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URL,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요청 본문 직렬화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 코드별 예외 처리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패턴은 **모든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호출**에 적용 가능합니다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DB </a:t>
            </a:r>
            <a:r>
              <a:rPr lang="ko-KR" altLang="en-US" b="1"/>
              <a:t>연동 테스트 전략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단위 테스트에서 </a:t>
            </a:r>
            <a:r>
              <a:rPr lang="ko-KR" altLang="en-US" b="1"/>
              <a:t>가장 까다로운 부분</a:t>
            </a:r>
            <a:r>
              <a:rPr lang="ko-KR" altLang="en-US"/>
              <a:t>이 </a:t>
            </a:r>
            <a:r>
              <a:rPr lang="en-US" altLang="ko-KR"/>
              <a:t>DB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실제 </a:t>
            </a:r>
            <a:r>
              <a:rPr lang="en-US" altLang="ko-KR"/>
              <a:t>DB</a:t>
            </a:r>
            <a:r>
              <a:rPr lang="ko-KR" altLang="en-US"/>
              <a:t>에 연결하면 테스트가 </a:t>
            </a:r>
            <a:r>
              <a:rPr lang="ko-KR" altLang="en-US" b="1"/>
              <a:t>느려지고</a:t>
            </a:r>
            <a:endParaRPr lang="ko-KR" altLang="en-US"/>
          </a:p>
          <a:p>
            <a:r>
              <a:rPr lang="ko-KR" altLang="en-US"/>
              <a:t>데이터가 </a:t>
            </a:r>
            <a:r>
              <a:rPr lang="ko-KR" altLang="en-US" b="1"/>
              <a:t>변경</a:t>
            </a:r>
            <a:r>
              <a:rPr lang="ko-KR" altLang="en-US"/>
              <a:t>되면 다른 테스트에 영향을 주고</a:t>
            </a:r>
          </a:p>
          <a:p>
            <a:r>
              <a:rPr lang="ko-KR" altLang="en-US"/>
              <a:t>개발자마다 </a:t>
            </a:r>
            <a:r>
              <a:rPr lang="en-US" altLang="ko-KR"/>
              <a:t>DB </a:t>
            </a:r>
            <a:r>
              <a:rPr lang="ko-KR" altLang="en-US"/>
              <a:t>환경이 </a:t>
            </a:r>
            <a:r>
              <a:rPr lang="ko-KR" altLang="en-US" b="1"/>
              <a:t>달라서</a:t>
            </a:r>
            <a:r>
              <a:rPr lang="ko-KR" altLang="en-US"/>
              <a:t> 테스트가 실패하고</a:t>
            </a:r>
          </a:p>
          <a:p>
            <a:r>
              <a:rPr lang="ko-KR" altLang="en-US"/>
              <a:t>이런 문제를 해결하는 </a:t>
            </a:r>
            <a:r>
              <a:rPr lang="en-US" altLang="ko-KR" b="1"/>
              <a:t>4</a:t>
            </a:r>
            <a:r>
              <a:rPr lang="ko-KR" altLang="en-US" b="1"/>
              <a:t>가지 전략</a:t>
            </a:r>
            <a:r>
              <a:rPr lang="ko-KR" altLang="en-US"/>
              <a:t>을 배워보겠습니다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</a:t>
            </a:r>
            <a:r>
              <a:rPr lang="ko-KR" altLang="en-US" b="1"/>
              <a:t>리포지토리 인터페이스 분리 📑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리포지토리 인터페이스 분리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데이터 액세스 로직을 인터페이스로 추상화</a:t>
            </a:r>
            <a:r>
              <a:rPr lang="en-US" altLang="ko-KR" i="1"/>
              <a:t>. </a:t>
            </a:r>
            <a:r>
              <a:rPr lang="ko-KR" altLang="en-US" i="1"/>
              <a:t>비즈니스 로직과 데이터 액세스 관심사 분리</a:t>
            </a:r>
            <a:r>
              <a:rPr lang="en-US" altLang="ko-KR" i="1"/>
              <a:t>. </a:t>
            </a:r>
            <a:r>
              <a:rPr lang="ko-KR" altLang="en-US" i="1"/>
              <a:t>테스트 시 대체 구현체로 교체 가능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인터페이스 분리 전략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분리 안 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어려움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UserService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DbContext _db = new AppDbContext();│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접근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분리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interface IUserRepository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User GetById(int id);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Save(User user);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UserService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IUserRepository _repo;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r.GetById(1)).Returns(new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service.GetUserById(1);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2. InMemory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 🗄️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InMemory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없이 메모리 내 데이터로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 Core InMemory Provider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빠른 실행 속도와 격리성 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EF Core InMemory Provider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메모리에서 동작하는 가짜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불필요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매우 빠름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격리 보장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 Core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 그대로 사용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특성 일부 미지원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SQL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쿼리 테스트 불가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InMemory Provider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GetUser_FromInMemoryDb_ReturnsUser()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 - InMemory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DbContextOptionsBuilder&lt;AppDbContext&gt;()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.UseInMemoryDatabase(databaseName: "TestDb_"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.Options;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AppDbContext(options);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데이터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context.Users.Add(new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context.SaveChangesAsync();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UserRepository(context);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repository.GetByIdAsync(1);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이유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.UseInMemoryDatabase(databaseName: "TestDb_"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Guid.NewGuid())│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테스트마다 고유한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→ 테스트 간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같은 이름 쓰면 데이터가 공유됨 ❌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 롤백 ↩️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**트랜잭션 롤백**입니다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시 테스트 후 변경사항 되돌림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TransactionScope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자동 롤백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간 데이터 독립성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 롤백 전략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사용하지만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후 원상복구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시작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트랜잭션 시작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(BEGIN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(INSERT, UPDATE, DELETE...)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 롤백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(ROLLBACK)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취소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테스트 전 상태로 복원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TransactionScope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TransactionScope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_transaction;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전 트랜잭션 시작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_transaction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TransactionScope(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TransactionScopeAsyncFlowOption.Enabled);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후 롤백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(Dispose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하면 자동 롤백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_transaction.Dispose();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SaveUser_InsertsToDb()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UserRepository(_realDbContext);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repo.Save(new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테스트유저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repo.GetByName("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테스트유저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Assert.IsNotNull(user);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TearDown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 롤백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남지 않음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데이터 관리 📊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데이터 관리**입니다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"Builder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패턴으로 테스트 데이터 구성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픽스처 공유 및 재사용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시드 데이터 초기화 자동화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데이터 관리 전략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객체 쉽게 생성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픽스처 공유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 데이터 재사용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시드 자동화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데이터 자동 설정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1️⃣ Builder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기본사용자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"default@test.com";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id) { _id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id;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WithName(string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name) { _name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name;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WithEmail(string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email) { _email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email;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_id,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_name, Email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_email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.WithName("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.WithEmail("hong@test.com")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.Build();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픽스처 공유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TestDataFixture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DefaultUser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AdminUser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List&lt;User&gt; SampleUsers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TestDataFixture()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DefaultUser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UserBuilder().WithName("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기본유저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").Build();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AdminUser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UserBuilder().WithName("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").Build();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SampleUsers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Enumerable.Range(1, 10)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.Select(i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UserBuilder().WithId(i).WithName($"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{i}").Build())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.ToList();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데이터 자동화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[OneTimeSetUp]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AppDbContext(options);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context.Database.EnsureCreated();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데이터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context.Users.AddRange(TestDataFixture.SampleUsers);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context.SaveChanges();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베스트 프랙티스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**베스트 프랙티스**입니다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테스트는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의존하지 않도록 설계하고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테스트에서만 제한적으로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연동을 테스트합니다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컨테이너로 격리된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환경을 구성하면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파이프라인에서도 안정적인 테스트가 가능합니다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레벨별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Test)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Mock Repository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InMemory Database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❌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통합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(Integration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TransactionScope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롤백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Docker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→ 테스트 → 컨테이너 삭제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 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전략 비교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전략                 용도              속도    실제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여부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인터페이스 분리      단위 테스트       ⚡ 빠름   ❌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InMemory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⚡ 빠름   ❌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트랜잭션 롤백        통합 테스트       🐢 느림   ✅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데이터 관리   데이터 구성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Mock/InMemory,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테스트 전략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**리포지토리 인터페이스 분리**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가능하게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InMemory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 Core InMemory 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**트랜잭션 롤백**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후 원상복구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**테스트 데이터 관리**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Builder,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픽스처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 테스트 →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Mock/InMemory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빠르고 격리됨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테스트 → **실제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트랜잭션 롤백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 테스트를 포기하지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시간</a:t>
            </a:r>
            <a:r>
              <a:rPr lang="en-US" altLang="ko-KR" b="1"/>
              <a:t>, </a:t>
            </a:r>
            <a:r>
              <a:rPr lang="ko-KR" altLang="en-US" b="1"/>
              <a:t>랜덤</a:t>
            </a:r>
            <a:r>
              <a:rPr lang="en-US" altLang="ko-KR" b="1"/>
              <a:t>, </a:t>
            </a:r>
            <a:r>
              <a:rPr lang="ko-KR" altLang="en-US" b="1"/>
              <a:t>정적 메서드 제어</a:t>
            </a:r>
            <a:r>
              <a:rPr lang="ko-KR" altLang="en-US"/>
              <a:t>를 알아보겠습니다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테스트에서 가장 골치 아픈 것들이 있죠</a:t>
            </a:r>
            <a:r>
              <a:rPr lang="en-US" altLang="ko-KR"/>
              <a:t>.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DateTime.Now</a:t>
            </a:r>
            <a:r>
              <a:rPr lang="en-US" altLang="ko-KR"/>
              <a:t> - </a:t>
            </a:r>
            <a:r>
              <a:rPr lang="ko-KR" altLang="en-US"/>
              <a:t>실행할 때마다 값이 바뀜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</a:t>
            </a:r>
            <a:r>
              <a:rPr lang="en-US" altLang="ko-KR"/>
              <a:t> - </a:t>
            </a:r>
            <a:r>
              <a:rPr lang="ko-KR" altLang="en-US"/>
              <a:t>랜덤값이라 예측 불가</a:t>
            </a:r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File.Exists()</a:t>
            </a:r>
            <a:r>
              <a:rPr lang="en-US" altLang="ko-KR"/>
              <a:t> - </a:t>
            </a:r>
            <a:r>
              <a:rPr lang="ko-KR" altLang="en-US"/>
              <a:t>정적 메서드라 </a:t>
            </a:r>
            <a:r>
              <a:rPr lang="en-US" altLang="ko-KR"/>
              <a:t>Mock </a:t>
            </a:r>
            <a:r>
              <a:rPr lang="ko-KR" altLang="en-US"/>
              <a:t>불가</a:t>
            </a:r>
          </a:p>
          <a:p>
            <a:r>
              <a:rPr lang="ko-KR" altLang="en-US"/>
              <a:t>이런 </a:t>
            </a:r>
            <a:r>
              <a:rPr lang="ko-KR" altLang="en-US" b="1"/>
              <a:t>비결정적 요소</a:t>
            </a:r>
            <a:r>
              <a:rPr lang="ko-KR" altLang="en-US"/>
              <a:t> 때문에 테스트가 </a:t>
            </a:r>
            <a:r>
              <a:rPr lang="ko-KR" altLang="en-US" b="1"/>
              <a:t>가끔 성공</a:t>
            </a:r>
            <a:r>
              <a:rPr lang="en-US" altLang="ko-KR" b="1"/>
              <a:t>, </a:t>
            </a:r>
            <a:r>
              <a:rPr lang="ko-KR" altLang="en-US" b="1"/>
              <a:t>가끔 실패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오늘 이 문제를 해결하는 </a:t>
            </a:r>
            <a:r>
              <a:rPr lang="en-US" altLang="ko-KR" b="1"/>
              <a:t>4</a:t>
            </a:r>
            <a:r>
              <a:rPr lang="ko-KR" altLang="en-US" b="1"/>
              <a:t>가지 패턴</a:t>
            </a:r>
            <a:r>
              <a:rPr lang="ko-KR" altLang="en-US"/>
              <a:t>을 배워보겠습니다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IClock </a:t>
            </a:r>
            <a:r>
              <a:rPr lang="ko-KR" altLang="en-US" b="1"/>
              <a:t>주입 🕐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IClock </a:t>
            </a:r>
            <a:r>
              <a:rPr lang="ko-KR" altLang="en-US" b="1"/>
              <a:t>주입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시간에 의존하는 코드를 테스트하기 위한 방법</a:t>
            </a:r>
            <a:r>
              <a:rPr lang="en-US" altLang="ko-KR" i="1"/>
              <a:t>. </a:t>
            </a:r>
            <a:r>
              <a:rPr lang="ko-KR" altLang="en-US" i="1"/>
              <a:t>고정된 시간 제공 및 시간 흐름 제어 가능</a:t>
            </a:r>
            <a:r>
              <a:rPr lang="en-US" altLang="ko-KR" i="1"/>
              <a:t>. DateTime.Now </a:t>
            </a:r>
            <a:r>
              <a:rPr lang="ko-KR" altLang="en-US" i="1"/>
              <a:t>대신 </a:t>
            </a:r>
            <a:r>
              <a:rPr lang="en-US" altLang="ko-KR" i="1"/>
              <a:t>IClock.Now </a:t>
            </a:r>
            <a:r>
              <a:rPr lang="ko-KR" altLang="en-US" i="1"/>
              <a:t>사용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문제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bool IsHolidayDiscount()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DateTime.Now.Month == 12;  // 12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월이면 할인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12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월에만 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개월은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시점마다 결과가 달라짐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해결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주입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IClock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 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 UtcNow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프로덕션용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SystemClock : IClock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DateTime Now =&gt; DateTime.Now;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DateTime UtcNow =&gt; DateTime.UtcNow;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FakeClock : IClock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DateTime Now { get; set;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DateTime UtcNow { get; set;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DiscountService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IClock _clock;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DiscountService(IClock clock)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_clock = 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bool IsHolidayDiscount()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_clock.Now.Month == 12;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IClock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IsHolidayDiscount_InDecember_ReturnsTrue()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fakeClock = new FakeClock { Now = new DateTime(2024, 12, 25)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DiscountService(fakeClock);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Assert.IsTrue(service.IsHolidayDiscount());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2. Random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 🔀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값을 테스트 시 항상 동일한 결과로 제어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Random(seed: 42)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같이 시드 값 고정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랜덤 인터페이스 주입으로 테스트 가능성 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Random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문제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RollDice()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new Random().Next(1, 7);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1~6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실행할 때마다 결과가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Assert.AreEqual(???, result)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기대해야 하지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값 고정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RollDice_WithFixedSeed_ReturnsPredictableValue()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random = new Random(seed: 42);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random.Next(1, 7);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생성한 첫 번째 값은 항상 동일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주입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IRandomGenerator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 Next(int minValue, int maxValue);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GameService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IRandomGenerator _random;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GameService(IRandomGenerator random)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_random = random;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RollDice()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_random.Next(1, 7);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RollDice_MockedRandom_ReturnsExpectedValue()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mockRandom = new Mock&lt;IRandomGenerator&gt;();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mockRandom.Setup(r =&gt; r.Next(1, 7)).Returns(6);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service = new GameService(mockRandom.Object);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Assert.AreEqual(6, service.RollDice());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 래핑 🔧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**정적 메서드 래핑**입니다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어려운 정적 메서드를 인스턴스 메서드로 변환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인터페이스를 통한 추상화로 모킹 가능하게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File.Exists(path) → IFileSystem.FileExists(path)"*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메서드의 문제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ProcessFile(string path)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(File.Exists(path))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var content = File.ReadAllText(path);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...                                                │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}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File.Exists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정적 메서드라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테스트하려면 실제 파일이 있어야 함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 상태에 의존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해결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래퍼 인터페이스로 감싸기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IFileSystem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bool FileExists(string 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string ReadAllText(string 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void WriteAllText(string path, string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프로덕션용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FileSystemWrapper : IFileSystem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bool FileExists(string path) =&gt; File.Exists(path);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string ReadAllText(string path) =&gt; File.ReadAllText(path);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WriteAllText(string path, string content)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File.WriteAllText(path,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FileProcessor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IFileSystem _fileSystem;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FileProcessor(IFileSystem fileSystem)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_fileSystem = fileSystem;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string ProcessFile(string path)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(_fileSystem.FileExists(path))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사용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 _fileSystem.ReadAllText(path);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null;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ProcessFile_FileExists_ReturnsContent()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mockFs = new Mock&lt;IFileSystem&gt;();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mockFs.Setup(fs =&gt; fs.FileExists("test.txt")).Returns(true);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mockFs.Setup(fs =&gt; fs.ReadAllText("test.txt")).Returns("Hello!");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processor = new FileProcessor(mockFs.Object);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processor.ProcessFile("test.txt");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Assert.AreEqual("Hello!", result);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파일 없이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4. </a:t>
            </a:r>
            <a:r>
              <a:rPr lang="ko-KR" altLang="en-US" b="1"/>
              <a:t>시스템 시간 가상화 📅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시스템 시간 가상화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특정 시점이나 날짜 기반 로직 테스트</a:t>
            </a:r>
            <a:r>
              <a:rPr lang="en-US" altLang="ko-KR" i="1"/>
              <a:t>. </a:t>
            </a:r>
            <a:r>
              <a:rPr lang="ko-KR" altLang="en-US" i="1"/>
              <a:t>시간 흐름 시뮬레이션 </a:t>
            </a:r>
            <a:r>
              <a:rPr lang="en-US" altLang="ko-KR" i="1"/>
              <a:t>(</a:t>
            </a:r>
            <a:r>
              <a:rPr lang="ko-KR" altLang="en-US" i="1"/>
              <a:t>오래된 데이터</a:t>
            </a:r>
            <a:r>
              <a:rPr lang="en-US" altLang="ko-KR" i="1"/>
              <a:t>, </a:t>
            </a:r>
            <a:r>
              <a:rPr lang="ko-KR" altLang="en-US" i="1"/>
              <a:t>미래 날짜</a:t>
            </a:r>
            <a:r>
              <a:rPr lang="en-US" altLang="ko-KR" i="1"/>
              <a:t>). </a:t>
            </a:r>
            <a:r>
              <a:rPr lang="ko-KR" altLang="en-US" i="1"/>
              <a:t>타임존</a:t>
            </a:r>
            <a:r>
              <a:rPr lang="en-US" altLang="ko-KR" i="1"/>
              <a:t>, </a:t>
            </a:r>
            <a:r>
              <a:rPr lang="ko-KR" altLang="en-US" i="1"/>
              <a:t>서머타임 관련 로직 안정적 테스트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가상화 활용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SubscriptionService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IClock _clock;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SubscriptionService(IClock clock)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_clock = 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bool IsExpired(Subscription sub)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sub.ExpiryDate &lt; _clock.Now;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시간과 비교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시간 시나리오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IsExpired_PastDate_ReturnsTrue()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fakeClock = new FakeClock { Now = new DateTime(2024, 6, 1)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SubscriptionService(fakeClock);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sub = new Subscription { ExpiryDate = new DateTime(2024, 5, 1)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Assert.IsTrue(service.IsExpired(sub));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IsExpired_FutureDate_ReturnsFalse()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fakeClock = new FakeClock { Now = new DateTime(2024, 6, 1)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SubscriptionService(fakeClock);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sub = new Subscription { ExpiryDate = new DateTime(2024, 12, 31)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Assert.IsFalse(service.IsExpired(sub));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가상화 시나리오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만료일 검증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과거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미래 시점 테스트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시간 흐름 시뮬레이션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상황 테스트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fakeClock.Now = fakeClock.Now.AddDays(30);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타임존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서머타임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특정 타임존에서의 동작 검증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 로직 테스트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연말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월말 경계값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전환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윤년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처리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패턴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**구현 패턴** 정리입니다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테스트 가능성을 저해하는 주요 원인입니다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인터페이스 주입과 래퍼 클래스 패턴을 활용하면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이러한 요소들을 효과적으로 제어하고 격리된 테스트를 작성할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 요소 제어 패턴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문제               해결 패턴             인터페이스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      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IClock.Now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Random.Next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주입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IRandomGenerator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File.Exists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래퍼 클래스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IFileSystem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HttpClient         Handler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모킹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HttpMessageHandler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Environment.GetEnv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래퍼 클래스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IEnvironment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공통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정의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구현체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구현체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(Fake/Mock)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주입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**비결정적 요소 제어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예측 가능한 랜덤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🔧 **정적 메서드 래핑**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File, Environment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📅 **시스템 시간 가상화**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미래 시뮬레이션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비결정적 요소를 **인터페이스**로 추상화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**생성자 주입**으로 교체 가능하게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테스트에서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Fake/Mock**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패턴들로 **항상 동일한 결과**를 내는 테스트를 만드세요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단위 테스트와 통합 테스트의 경계</a:t>
            </a:r>
            <a:r>
              <a:rPr lang="ko-KR" altLang="en-US"/>
              <a:t>를 알아보겠습니다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이거 단위 테스트야</a:t>
            </a:r>
            <a:r>
              <a:rPr lang="en-US" altLang="ko-KR"/>
              <a:t>? </a:t>
            </a:r>
            <a:r>
              <a:rPr lang="ko-KR" altLang="en-US"/>
              <a:t>통합 테스트야</a:t>
            </a:r>
            <a:r>
              <a:rPr lang="en-US" altLang="ko-KR"/>
              <a:t>?" </a:t>
            </a:r>
            <a:r>
              <a:rPr lang="ko-KR" altLang="en-US"/>
              <a:t>실무에서 자주 하는 질문이죠</a:t>
            </a:r>
            <a:r>
              <a:rPr lang="en-US" altLang="ko-KR"/>
              <a:t>.</a:t>
            </a:r>
          </a:p>
          <a:p>
            <a:r>
              <a:rPr lang="ko-KR" altLang="en-US"/>
              <a:t>경계가 모호하면 </a:t>
            </a:r>
            <a:r>
              <a:rPr lang="ko-KR" altLang="en-US" b="1"/>
              <a:t>중복 테스트</a:t>
            </a:r>
            <a:r>
              <a:rPr lang="ko-KR" altLang="en-US"/>
              <a:t>도 생기고</a:t>
            </a:r>
            <a:r>
              <a:rPr lang="en-US" altLang="ko-KR"/>
              <a:t>, </a:t>
            </a:r>
            <a:r>
              <a:rPr lang="ko-KR" altLang="en-US"/>
              <a:t>어떤 테스트를 작성해야 할지 </a:t>
            </a:r>
            <a:r>
              <a:rPr lang="ko-KR" altLang="en-US" b="1"/>
              <a:t>혼란</a:t>
            </a:r>
            <a:r>
              <a:rPr lang="ko-KR" altLang="en-US"/>
              <a:t>스럽습니다</a:t>
            </a:r>
            <a:r>
              <a:rPr lang="en-US" altLang="ko-KR"/>
              <a:t>.</a:t>
            </a:r>
          </a:p>
          <a:p>
            <a:r>
              <a:rPr lang="ko-KR" altLang="en-US"/>
              <a:t>오늘 이 경계를 </a:t>
            </a:r>
            <a:r>
              <a:rPr lang="ko-KR" altLang="en-US" b="1"/>
              <a:t>명확히</a:t>
            </a:r>
            <a:r>
              <a:rPr lang="ko-KR" altLang="en-US"/>
              <a:t> 구분해보겠습니다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경계의 이해</a:t>
            </a:r>
          </a:p>
          <a:p>
            <a:r>
              <a:rPr lang="ko-KR" altLang="en-US"/>
              <a:t>상단의 정의를 볼게요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테스트는 외부 의존성을 모의</a:t>
            </a:r>
            <a:r>
              <a:rPr lang="en-US" altLang="ko-KR" i="1"/>
              <a:t>(mock)</a:t>
            </a:r>
            <a:r>
              <a:rPr lang="ko-KR" altLang="en-US" i="1"/>
              <a:t>하여 격리된 컴포넌트를 검증하는 반면</a:t>
            </a:r>
            <a:r>
              <a:rPr lang="en-US" altLang="ko-KR" i="1"/>
              <a:t>, </a:t>
            </a:r>
            <a:r>
              <a:rPr lang="ko-KR" altLang="en-US" i="1"/>
              <a:t>통합 테스트는 실제 의존성과의 상호작용을 포함합니다</a:t>
            </a:r>
            <a:r>
              <a:rPr lang="en-US" altLang="ko-KR" i="1"/>
              <a:t>. </a:t>
            </a:r>
            <a:r>
              <a:rPr lang="ko-KR" altLang="en-US" i="1"/>
              <a:t>경계를 명확히 하여 테스트 효율성을 높이세요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핵심 차이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 Test)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테스트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클래스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속도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매우 빠름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로직 검증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통합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(Integration Test)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사용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테스트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컴포넌트 상호작용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속도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🐢 상대적 느림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검증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경계 정의 📋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경계 정의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명확한 테스트 경계는 중복을 줄이고 테스트 유형별 가치를 극대화합니다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무엇을 테스트할 것인가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테스트로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처리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예외 처리 로직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알고리즘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통합 테스트로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(CRUD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파일 시스템 접근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메시지 큐 연동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컴포넌트 간 상호작용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피라미드 🔺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테스트 피라미드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</a:t>
            </a:r>
            <a:r>
              <a:rPr lang="en-US" altLang="ko-KR" i="1"/>
              <a:t>(Unit) &gt; </a:t>
            </a:r>
            <a:r>
              <a:rPr lang="ko-KR" altLang="en-US" i="1"/>
              <a:t>서비스</a:t>
            </a:r>
            <a:r>
              <a:rPr lang="en-US" altLang="ko-KR" i="1"/>
              <a:t>(Service) &gt; UI(E2E) </a:t>
            </a:r>
            <a:r>
              <a:rPr lang="ko-KR" altLang="en-US" i="1"/>
              <a:t>순으로 비율을 구성하세요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피라미드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/\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/  \      E2E/UI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  \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적게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/──────\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🐢 느림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💰 비쌈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      \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/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적당히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/────────────\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🚶 중간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            \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/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많이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/──────────────────\ 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💵 저렴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권장 비율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  |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 |  E2E 10%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왜 이런 비율일까요</a:t>
            </a:r>
            <a:r>
              <a:rPr lang="en-US" altLang="ko-KR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피라미드 비율 이유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유형    속도      비용      안정성     범위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          ⚡ 빠름   💵 저렴   🎯 높음    좁음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통합           🚶 중간   💰 중간   😐 중간    중간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🐢 느림   💰💰 비쌈  😰 낮음    넓음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빠르고 안정적인 테스트를 많이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느리고 불안정한 테스트는 최소화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균형적 접근 ⚖️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균형적 접근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로직은 단위 테스트로</a:t>
            </a:r>
            <a:r>
              <a:rPr lang="en-US" altLang="ko-KR" i="1"/>
              <a:t>, </a:t>
            </a:r>
            <a:r>
              <a:rPr lang="ko-KR" altLang="en-US" i="1"/>
              <a:t>통합 지점은 통합 테스트로 검증하세요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언제 무엇을 쓸까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상황                              테스트 유형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가격 계산 로직                    단위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할인율 적용 규칙                  단위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입력값 유효성 검증                단위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주문 저장 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              통합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외부 결제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               통합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+ 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        통합 테스트 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전체 주문 플로우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(UI→DB)          E2E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✅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유형 비교 코드 💡</a:t>
            </a:r>
          </a:p>
          <a:p>
            <a:r>
              <a:rPr lang="ko-KR" altLang="en-US"/>
              <a:t>하단의 </a:t>
            </a:r>
            <a:r>
              <a:rPr lang="ko-KR" altLang="en-US" b="1"/>
              <a:t>코드 비교</a:t>
            </a:r>
            <a:r>
              <a:rPr lang="ko-KR" altLang="en-US"/>
              <a:t>를 볼게요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 모의 처리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Assert.AreEqual(expectedTotal, service.CalculateTotal(items));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의존성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OrderRepository(realDbConnection);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OrderService(repo);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Assert.IsNotNull(repo.GetById(service.PlaceOrder(order)));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비교 분석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Mock&lt;IOrderRepository&gt;();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↑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사용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service.CalculateTotal(items)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로직만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OrderRepository(realDbConnection);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사용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service.PlaceOrder(order)  →  repo.GetById(...)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저장 후 조회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흐름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OrderService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전략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CalculateTotal(items)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ApplyDiscount(total)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ValidateOrder(order)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PlaceOrder(order)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GetOrder(id)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로직 메서드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메서드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CalculateTotal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CalculateTotal_MultipleItems_ReturnsSumOfPrices()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new[]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Price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Price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Assert.AreEqual(3000, service.CalculateTotal(items));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PlaceOrder →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→ 조회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PlaceOrder_ValidOrder_CanBeRetrieved()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OrderRepository(realDbConnection);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OrderService(repo);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CustomerId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Items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savedOrder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service.PlaceOrder(order);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repo.GetById(savedOrder.Id);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Assert.IsNotNull(retrieved);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Assert.AreEqual(savedOrder.Id, retrieved.Id);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경계**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📋 **경계 정의**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로직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의존성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🔺 **테스트 피라미드**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E2E 10%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빠르고 안정적인 테스트를 많이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⚖️ **균형적 접근**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지점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쓰나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쓰나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실습 시간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r>
              <a:rPr lang="ko-KR" altLang="en-US" b="1"/>
              <a:t>주문 합계 계산 서비스 모킹 실습</a:t>
            </a:r>
            <a:r>
              <a:rPr lang="ko-KR" altLang="en-US"/>
              <a:t> </a:t>
            </a:r>
            <a:r>
              <a:rPr lang="en-US" altLang="ko-KR"/>
              <a:t>- Moq</a:t>
            </a:r>
            <a:r>
              <a:rPr lang="ko-KR" altLang="en-US"/>
              <a:t>를 활용한 서비스 레이어 테스트</a:t>
            </a:r>
          </a:p>
          <a:p>
            <a:r>
              <a:rPr lang="ko-KR" altLang="en-US"/>
              <a:t>지금까지 배운 </a:t>
            </a:r>
            <a:r>
              <a:rPr lang="en-US" altLang="ko-KR"/>
              <a:t>Mock </a:t>
            </a:r>
            <a:r>
              <a:rPr lang="ko-KR" altLang="en-US"/>
              <a:t>개념을 </a:t>
            </a:r>
            <a:r>
              <a:rPr lang="ko-KR" altLang="en-US" b="1"/>
              <a:t>실제 코드</a:t>
            </a:r>
            <a:r>
              <a:rPr lang="ko-KR" altLang="en-US"/>
              <a:t>로 적용해보겠습니다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시나리오는 </a:t>
            </a:r>
            <a:r>
              <a:rPr lang="ko-KR" altLang="en-US" b="1"/>
              <a:t>주문 처리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주문 합계를 계산하고</a:t>
            </a:r>
          </a:p>
          <a:p>
            <a:r>
              <a:rPr lang="ko-KR" altLang="en-US"/>
              <a:t>쿠폰이 있으면 할인을 적용하는</a:t>
            </a:r>
          </a:p>
          <a:p>
            <a:r>
              <a:rPr lang="ko-KR" altLang="en-US"/>
              <a:t>간단하지만 </a:t>
            </a:r>
            <a:r>
              <a:rPr lang="ko-KR" altLang="en-US" b="1"/>
              <a:t>실무에서 흔히 볼 수 있는</a:t>
            </a:r>
            <a:r>
              <a:rPr lang="ko-KR" altLang="en-US"/>
              <a:t> 구조예요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1: </a:t>
            </a:r>
            <a:r>
              <a:rPr lang="ko-KR" altLang="en-US" b="1"/>
              <a:t>서비스 인터페이스 정의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서비스 인터페이스 정의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IOrderCalculationService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decimal CalculateTotal(Order order);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decimal ApplyDiscount(decimal total, string couponCode);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분석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IOrderCalculationService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CalculateTotal(Order order)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주문의 총 금액 계산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가격들의 합계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ApplyDiscount(decimal total, string couponCode)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코드로 할인 적용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"SAVE10" → 10%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인터페이스로 정의했으니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왜 인터페이스인가요</a:t>
            </a:r>
            <a:r>
              <a:rPr lang="en-US" altLang="ko-KR" b="1"/>
              <a:t>?</a:t>
            </a:r>
            <a:endParaRPr lang="ko-KR" altLang="en-US"/>
          </a:p>
          <a:p>
            <a:r>
              <a:rPr lang="ko-KR" altLang="en-US"/>
              <a:t>실제 구현체</a:t>
            </a:r>
            <a:r>
              <a:rPr lang="en-US" altLang="ko-KR"/>
              <a:t>: DB </a:t>
            </a:r>
            <a:r>
              <a:rPr lang="ko-KR" altLang="en-US"/>
              <a:t>조회</a:t>
            </a:r>
            <a:r>
              <a:rPr lang="en-US" altLang="ko-KR"/>
              <a:t>, </a:t>
            </a:r>
            <a:r>
              <a:rPr lang="ko-KR" altLang="en-US"/>
              <a:t>복잡한 계산</a:t>
            </a:r>
            <a:r>
              <a:rPr lang="en-US" altLang="ko-KR"/>
              <a:t>, </a:t>
            </a:r>
            <a:r>
              <a:rPr lang="ko-KR" altLang="en-US"/>
              <a:t>외부 </a:t>
            </a:r>
            <a:r>
              <a:rPr lang="en-US" altLang="ko-KR"/>
              <a:t>API </a:t>
            </a:r>
            <a:r>
              <a:rPr lang="ko-KR" altLang="en-US"/>
              <a:t>호출</a:t>
            </a:r>
          </a:p>
          <a:p>
            <a:r>
              <a:rPr lang="ko-KR" altLang="en-US"/>
              <a:t>테스트할 때</a:t>
            </a:r>
            <a:r>
              <a:rPr lang="en-US" altLang="ko-KR"/>
              <a:t>: Mock</a:t>
            </a:r>
            <a:r>
              <a:rPr lang="ko-KR" altLang="en-US"/>
              <a:t>으로 대체</a:t>
            </a:r>
            <a:r>
              <a:rPr lang="en-US" altLang="ko-KR"/>
              <a:t>!</a:t>
            </a:r>
          </a:p>
          <a:p>
            <a:r>
              <a:rPr lang="ko-KR" altLang="en-US"/>
              <a:t>인터페이스가 있어야 </a:t>
            </a:r>
            <a:r>
              <a:rPr lang="en-US" altLang="ko-KR"/>
              <a:t>Mock </a:t>
            </a:r>
            <a:r>
              <a:rPr lang="ko-KR" altLang="en-US"/>
              <a:t>주입 가능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2: </a:t>
            </a:r>
            <a:r>
              <a:rPr lang="ko-KR" altLang="en-US" b="1"/>
              <a:t>테스트할 컨트롤러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테스트할 컨트롤러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OrderController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IOrderCalculationService _service;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OrderController(IOrderCalculationService service)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_service = 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decimal ProcessOrder(Order order, string coupon)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합계 계산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total = _service.CalculateTotal(order);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적용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있는 경우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(!string.IsNullOrEmpty(coupon))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total = _service.ApplyDiscount(total, coupon);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total;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컨트롤러 코드 분석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생성자 주입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OrderController(IOrderCalculationService service)│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_service = service;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주입받음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로직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total = _service.CalculateTotal(order);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 합계 계산 위임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(!string.IsNullOrEmpty(coupon))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total = _service.ApplyDiscount(total, coupon);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있으면 할인 적용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시나리오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시나리오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시나리오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없이 주문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Order, coupon = null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CalculateTotal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호출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없는 총액 반환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시나리오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쿠폰으로 주문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Order, coupon = "SAVE10"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CalculateTotal → ApplyDiscount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호출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적용된 금액 반환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시나리오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쿠폰으로 주문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Order, coupon = ""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CalculateTotal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호출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(ApplyDiscount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없는 총액 반환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코드 미리보기</a:t>
            </a:r>
          </a:p>
          <a:p>
            <a:r>
              <a:rPr lang="ko-KR" altLang="en-US"/>
              <a:t>다음 슬라이드</a:t>
            </a:r>
            <a:r>
              <a:rPr lang="en-US" altLang="ko-KR"/>
              <a:t>(2/2)</a:t>
            </a:r>
            <a:r>
              <a:rPr lang="ko-KR" altLang="en-US"/>
              <a:t>에서 작성할 테스트 코드를 미리 보면</a:t>
            </a:r>
            <a:r>
              <a:rPr lang="en-US" altLang="ko-KR"/>
              <a:t>: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ProcessOrder_WithCoupon_AppliesDiscount()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mockService = new Mock&lt;IOrderCalculationService&gt;();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CalculateTotal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호출되면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mockService.Setup(s =&gt; s.CalculateTotal(It.IsAny&lt;Order&gt;()))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.Returns(10000m);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ApplyDiscount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호출되면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9000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mockService.Setup(s =&gt; s.ApplyDiscount(10000m, "SAVE10"))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.Returns(9000m);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controller = new OrderController(mockService.Object);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controller.ProcessOrder(new Order(), "SAVE10");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Assert.AreEqual(9000m,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mockService.Verify(s =&gt; s.ApplyDiscount(10000m, "SAVE10"), Times.Once);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포인트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실습의 핵심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인터페이스 정의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IOrderCalculationService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가능한 구조의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생성자 주입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OrderController(IOrderCalculationService service)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주입 가능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OrderController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ProcessOrder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메서드의 로직 검증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서비스는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컨트롤러는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조율자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역할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실제 계산은 서비스가 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컨트롤러는 흐름을 제어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팁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**팁**입니다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인터페이스는 단일 책임으로 작고 명확하게 설계하세요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모킹 테스트에 최적화됩니다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인터페이스 설계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책임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IOrderCalculationService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decimal CalculateTotal(Order order);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decimal ApplyDiscount(decimal total, string code);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관련 책임만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많은 책임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IOrderService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decimal CalculateTotal(Order order);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SaveOrder(Order order);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DB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SendEmail(string to);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ProcessPayment(Payment p);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책임이 너무 많음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설정도 복잡해짐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이번 슬라이드에서는 **실습 준비**를 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**인터페이스 정의**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IOrderCalculationService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- CalculateTotal: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합계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**컨트롤러 구조**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OrderController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 주입으로 서비스 받음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서비스 메서드 호출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슬라이드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(2/2)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**실제 테스트 코드**를 작성해보겠습니다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직접 따라 치면서 해보세요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이어서 </a:t>
            </a:r>
            <a:r>
              <a:rPr lang="en-US" altLang="ko-KR" b="1"/>
              <a:t>Moq</a:t>
            </a:r>
            <a:r>
              <a:rPr lang="ko-KR" altLang="en-US" b="1"/>
              <a:t>를 활용한 주문합계 계산 서비스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앞에서 인터페이스와 컨트롤러 구조를 봤죠</a:t>
            </a:r>
            <a:r>
              <a:rPr lang="en-US" altLang="ko-KR"/>
              <a:t>. </a:t>
            </a:r>
            <a:r>
              <a:rPr lang="ko-KR" altLang="en-US"/>
              <a:t>이제 </a:t>
            </a:r>
            <a:r>
              <a:rPr lang="ko-KR" altLang="en-US" b="1"/>
              <a:t>실제 테스트 코드 구조</a:t>
            </a:r>
            <a:r>
              <a:rPr lang="ko-KR" altLang="en-US"/>
              <a:t>를 작성해보겠습니다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이번 슬라이드에서는 </a:t>
            </a:r>
            <a:r>
              <a:rPr lang="en-US" altLang="ko-KR" b="1"/>
              <a:t>SetUp </a:t>
            </a:r>
            <a:r>
              <a:rPr lang="ko-KR" altLang="en-US" b="1"/>
              <a:t>부분</a:t>
            </a:r>
            <a:r>
              <a:rPr lang="en-US" altLang="ko-KR"/>
              <a:t>, </a:t>
            </a:r>
            <a:r>
              <a:rPr lang="ko-KR" altLang="en-US"/>
              <a:t>즉 테스트 준비 단계를 다룹니다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Step 3: Moq </a:t>
            </a:r>
            <a:r>
              <a:rPr lang="ko-KR" altLang="en-US" b="1"/>
              <a:t>테스트 코드 구조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en-US" altLang="ko-KR" b="1"/>
              <a:t>Moq </a:t>
            </a:r>
            <a:r>
              <a:rPr lang="ko-KR" altLang="en-US" b="1"/>
              <a:t>테스트 코드 구조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b="1"/>
              <a:t>Mock </a:t>
            </a:r>
            <a:r>
              <a:rPr lang="ko-KR" altLang="en-US" b="1"/>
              <a:t>리포지토리 생성 및 주입 구조</a:t>
            </a:r>
            <a:r>
              <a:rPr lang="ko-KR" altLang="en-US"/>
              <a:t>를 보겠습니다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OrderService _orderService;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Mock&lt;IOrderRepository&gt; _mockRepository;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_mockRepository = new 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_orderService = new OrderService(_mockRepository.Object);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페이지에서 테스트 메서드 구현을 확인하세요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한 줄씩 분석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클래스 구조 분석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OrderServiceTests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필드 선언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전체에서 사용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OrderService _orderService;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private Mock&lt;IOrderRepository&gt; _mockRepository;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1️⃣ </a:t>
            </a:r>
            <a:r>
              <a:rPr lang="ko-KR" altLang="en-US" b="1"/>
              <a:t>필드 선언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OrderService _orderService;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Mock&lt;IOrderRepository&gt; _mockRepository;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필드 설명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_orderService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(SUT: System Under Test)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테스트할 클래스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_mockRepository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IOrderRepository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가짜 구현체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 없이 테스트 가능하게 해줌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왜 필드로 선언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초기화하고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테스트에서 사용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중복 코드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2️⃣ SetUp </a:t>
            </a:r>
            <a:r>
              <a:rPr lang="ko-KR" altLang="en-US" b="1"/>
              <a:t>메서드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_mockRepository = new 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_orderService = new OrderService(_mockRepository.Object);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 실행 전에 호출됨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_mockRepository = new Mock&lt;IOrderRepository&gt;();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매 테스트마다 새로 생성 → 테스트 간 독립성 보장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_orderService = new OrderService(_mockRepository.Object);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└───────────────────┘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.Object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실제 인터페이스 추출│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생성하면서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흐름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흐름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[SetUp] Setup()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new Mock&lt;IOrderRepository&gt;()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OrderService(mock.Object)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↓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Test1()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[SetUp] Setup()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Mock&lt;IOrderRepository&gt;()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생성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OrderService(mock.Object)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생성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↓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Test2()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매 테스트마다 깨끗한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Mock! (Independent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구조 시각화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 구조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환경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Mock&lt;IOrderRepository&gt;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│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│ .Object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▼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┌─────────────────────────┐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OrderService         │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(SUT)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                     │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_repository.GetById()  │  →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가로챔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└─────────────────────────┘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프로덕션 환경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OrderRepository(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│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▼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OrderService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접근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다음 단계 예고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페이지에서 테스트 메서드 구현을 확인하세요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CalculateTotal_ValidOrder_ReturnsCorrectTotal()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 - 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_mockRepository.Setup(r =&gt; r.GetOrderItems(It.IsAny&lt;int&gt;()))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.Returns(new List&lt;OrderItem&gt; { ... 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_orderService.CalculateTotal(1);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Assert.AreEqual(expectedTotal,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팁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**팁**입니다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활용할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메서드에서는 필요한 목 객체를 초기화하고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테스트에서는 목 객체의 동작을 설정합니다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SetUp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 역할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Setup()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할 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(new Mock&lt;T&gt;())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SUT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공통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테스트에 적용되는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[Test]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메서드에서 할 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테스트에 필요한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(Setup().Returns())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(Assert, Verify)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분리 이유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SetUp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 준비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테스트에 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개별 시나리오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테스트마다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이번 슬라이드에서는 **테스트 코드 구조**를 봤습니다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private OrderService _orderService;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SUT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private Mock&lt;IOrderRepository&gt; _mockRepository;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Mock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_mockRepository = new Mock&lt;IOrderRepository&gt;();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_orderService = new OrderService(_mockRepository.Object);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필드로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주입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`.Object`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실제 인터페이스 추출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매 테스트마다 새로운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슬라이드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(3/3)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**실제 테스트 메서드**를 작성합니다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Moq </a:t>
            </a:r>
            <a:r>
              <a:rPr lang="ko-KR" altLang="en-US"/>
              <a:t>파트를 마무리하면서 </a:t>
            </a:r>
            <a:r>
              <a:rPr lang="ko-KR" altLang="en-US" b="1"/>
              <a:t>베스트 프랙티스</a:t>
            </a:r>
            <a:r>
              <a:rPr lang="ko-KR" altLang="en-US"/>
              <a:t>를 정리해보겠습니다</a:t>
            </a:r>
            <a:r>
              <a:rPr lang="en-US" altLang="ko-KR"/>
              <a:t>.</a:t>
            </a:r>
          </a:p>
          <a:p>
            <a:r>
              <a:rPr lang="en-US" altLang="ko-KR"/>
              <a:t>Moq </a:t>
            </a:r>
            <a:r>
              <a:rPr lang="ko-KR" altLang="en-US"/>
              <a:t>라이브러리를 효과적으로 활용하기 위한 핵심 베스트 프랙티스를 정리했습니다</a:t>
            </a:r>
            <a:r>
              <a:rPr lang="en-US" altLang="ko-KR"/>
              <a:t>.</a:t>
            </a:r>
          </a:p>
          <a:p>
            <a:r>
              <a:rPr lang="en-US" altLang="ko-KR"/>
              <a:t>Mock</a:t>
            </a:r>
            <a:r>
              <a:rPr lang="ko-KR" altLang="en-US"/>
              <a:t>을 </a:t>
            </a:r>
            <a:r>
              <a:rPr lang="ko-KR" altLang="en-US" b="1"/>
              <a:t>잘못 사용하면</a:t>
            </a:r>
            <a:r>
              <a:rPr lang="ko-KR" altLang="en-US"/>
              <a:t> 오히려 테스트가 복잡해지고</a:t>
            </a:r>
            <a:r>
              <a:rPr lang="en-US" altLang="ko-KR"/>
              <a:t>, </a:t>
            </a:r>
            <a:r>
              <a:rPr lang="ko-KR" altLang="en-US"/>
              <a:t>유지보수가 어려워집니다</a:t>
            </a:r>
            <a:r>
              <a:rPr lang="en-US" altLang="ko-KR"/>
              <a:t>.</a:t>
            </a:r>
          </a:p>
          <a:p>
            <a:r>
              <a:rPr lang="ko-KR" altLang="en-US"/>
              <a:t>오늘 배운 </a:t>
            </a:r>
            <a:r>
              <a:rPr lang="en-US" altLang="ko-KR" b="1"/>
              <a:t>4</a:t>
            </a:r>
            <a:r>
              <a:rPr lang="ko-KR" altLang="en-US" b="1"/>
              <a:t>가지 원칙</a:t>
            </a:r>
            <a:r>
              <a:rPr lang="ko-KR" altLang="en-US"/>
              <a:t>을 꼭 기억하세요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</a:t>
            </a:r>
            <a:r>
              <a:rPr lang="ko-KR" altLang="en-US" b="1"/>
              <a:t>인터페이스 중심 설계 ⚙️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인터페이스 중심 설계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구체 클래스보다 인터페이스를 모킹하세요</a:t>
            </a:r>
            <a:r>
              <a:rPr lang="en-US" altLang="ko-KR" i="1"/>
              <a:t>. </a:t>
            </a:r>
            <a:r>
              <a:rPr lang="ko-KR" altLang="en-US" i="1"/>
              <a:t>테스트 대상 코드가 인터페이스에 의존하도록 설계하면 </a:t>
            </a:r>
            <a:r>
              <a:rPr lang="en-US" altLang="ko-KR" i="1"/>
              <a:t>Moq</a:t>
            </a:r>
            <a:r>
              <a:rPr lang="ko-KR" altLang="en-US" i="1"/>
              <a:t>를 훨씬 효과적으로 활용할 수 있습니다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인터페이스 중심 설계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구체 클래스에 의존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OrderRepository _repo;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           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 클래스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어려움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인터페이스에 의존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IOrderRepository _repo;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             ↑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쉬움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설계 단계에서부터 테스트를 고려하세요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2. </a:t>
            </a:r>
            <a:r>
              <a:rPr lang="ko-KR" altLang="en-US" b="1"/>
              <a:t>최소한의 행위 검증 🎯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최소한의 행위 검증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모든 호출을 검증하는 대신 핵심 동작만 검증하세요</a:t>
            </a:r>
            <a:r>
              <a:rPr lang="en-US" altLang="ko-KR" i="1"/>
              <a:t>. </a:t>
            </a:r>
            <a:r>
              <a:rPr lang="ko-KR" altLang="en-US" i="1"/>
              <a:t>과도한 </a:t>
            </a:r>
            <a:r>
              <a:rPr lang="en-US" altLang="ko-KR" i="1"/>
              <a:t>Verify</a:t>
            </a:r>
            <a:r>
              <a:rPr lang="ko-KR" altLang="en-US" i="1"/>
              <a:t>는 테스트를 구현 세부사항에 결합시켜 리팩토링을 어렵게 만듭니다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문제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모든 호출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r.GetById(1), Times.Once);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r.ValidateOrder(order), Times.Once);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r.CalculateTotal(order), Times.Once);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r.ApplyDiscount(total), Times.Once);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r.SaveOrder(order), Times.Once);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mock.Verify(r =&gt; r.SendEmail(email), Times.Once);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구현 바뀌면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다 고쳐야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동작만 검증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결과값으로 검증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Assert.AreEqual(expectedTotal, result);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부수효과만 검증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mock.Verify(r =&gt; r.SaveOrder(It.IsAny&lt;Order&gt;()),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Times.Once);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가이드라인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필요한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부수효과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발송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메서드가 호출되지 않아야 할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(Times.Never)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불필요한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반환값으로 검증 가능할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(Assert.AreEqual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구현 순서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구현에 결합됨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3. </a:t>
            </a:r>
            <a:r>
              <a:rPr lang="ko-KR" altLang="en-US" b="1"/>
              <a:t>공개 인터페이스만 모킹 👥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공개 인터페이스만 모킹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비공개 메서드나 내부 구현 세부사항은 모킹하지 마세요</a:t>
            </a:r>
            <a:r>
              <a:rPr lang="en-US" altLang="ko-KR" i="1"/>
              <a:t>. </a:t>
            </a:r>
            <a:r>
              <a:rPr lang="ko-KR" altLang="en-US" i="1"/>
              <a:t>테스트는 공개 </a:t>
            </a:r>
            <a:r>
              <a:rPr lang="en-US" altLang="ko-KR" i="1"/>
              <a:t>API</a:t>
            </a:r>
            <a:r>
              <a:rPr lang="ko-KR" altLang="en-US" i="1"/>
              <a:t>에 초점을 맞춰야 합니다</a:t>
            </a:r>
            <a:r>
              <a:rPr lang="en-US" altLang="ko-KR" i="1"/>
              <a:t>. </a:t>
            </a:r>
            <a:r>
              <a:rPr lang="ko-KR" altLang="en-US" i="1"/>
              <a:t>내부 로직을 검증하려면 설계를 재고하세요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공개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테스트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내부 구현에 의존한 테스트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private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메서드를 리플렉션으로 호출해서 테스트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method = typeof(Service)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.GetMethod("PrivateMethod", BindingFlags.NonPublic);│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method.Invoke(service, params);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😰 리팩토링하면 테스트 깨짐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공개 메서드만 호출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result = service.ProcessOrder(order);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결과로 내부 로직도 간접 검증됨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Assert.AreEqual(expected, result);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테스트하고 싶다면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로직을 별도 클래스로 추출하고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4. </a:t>
            </a:r>
            <a:r>
              <a:rPr lang="ko-KR" altLang="en-US" b="1"/>
              <a:t>실제 버그에 가까운 시나리오 🐛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실제 버그에 가까운 시나리오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현실적인 시나리오를 테스트하세요</a:t>
            </a:r>
            <a:r>
              <a:rPr lang="en-US" altLang="ko-KR" i="1"/>
              <a:t>. </a:t>
            </a:r>
            <a:r>
              <a:rPr lang="ko-KR" altLang="en-US" i="1"/>
              <a:t>실무에서 발생할 수 있는 문제 상황</a:t>
            </a:r>
            <a:r>
              <a:rPr lang="en-US" altLang="ko-KR" i="1"/>
              <a:t>(</a:t>
            </a:r>
            <a:r>
              <a:rPr lang="ko-KR" altLang="en-US" i="1"/>
              <a:t>타임아웃</a:t>
            </a:r>
            <a:r>
              <a:rPr lang="en-US" altLang="ko-KR" i="1"/>
              <a:t>, </a:t>
            </a:r>
            <a:r>
              <a:rPr lang="ko-KR" altLang="en-US" i="1"/>
              <a:t>네트워크 오류 등</a:t>
            </a:r>
            <a:r>
              <a:rPr lang="en-US" altLang="ko-KR" i="1"/>
              <a:t>)</a:t>
            </a:r>
            <a:r>
              <a:rPr lang="ko-KR" altLang="en-US" i="1"/>
              <a:t>을 </a:t>
            </a:r>
            <a:r>
              <a:rPr lang="en-US" altLang="ko-KR" i="1"/>
              <a:t>Moq</a:t>
            </a:r>
            <a:r>
              <a:rPr lang="ko-KR" altLang="en-US" i="1"/>
              <a:t>로 재현하여 견고한 코드를 작성하세요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실제 시나리오 테스트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 Path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테스트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mock.Setup(r =&gt; r.GetUser(1)).Returns(user);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성공하는 시나리오만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발생 가능한 오류도 테스트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mock.Setup(r =&gt; r.GetUser(1))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.ThrowsAsync&lt;TimeoutException&gt;();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오류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mock.Setup(r =&gt; r.GetUser(1))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.ThrowsAsync&lt;HttpRequestException&gt;();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없음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mock.Setup(r =&gt; r.GetUser(999)).Returns((User)null);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권한 없음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mock.Setup(r =&gt; r.GetUser(1))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.Throws&lt;UnauthorizedAccessException&gt;();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로직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GetUser_NetworkError_RetriesAndSucceeds()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mock.SetupSequence(r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r.GetUserAsync(1))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.ThrowsAsync(new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HttpRequestException())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.ThrowsAsync(new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HttpRequestException())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.ReturnsAsync(new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ResilientUserService(mock.Object, maxRetries: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service.GetUserWithRetryAsync(1);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user.Name);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요약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**핵심 요약**입니다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모킹은 격리된 테스트 환경을 제공하는 도구일 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모든 테스트에 필요한 것은 아닙니다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단순한 로직은 실제 객체로 테스트하는 것이 더 명확할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사용할 때는 테스트 의도가 명확히 드러나도록 작성하고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자체가 유지보수의 부담이 되지 않도록 주의하세요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판단 기준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시스템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(DB, API,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파일시스템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의존성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비결정적 요소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테스트하기 어려운 상황 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오류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불필요한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계산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(Calculator)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객체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(DTO, Entity)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유틸리티 클래스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먼저 질문하세요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원칙 체크리스트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베스트 프랙티스 체크리스트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인터페이스 중심 설계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구체 클래스가 아닌 인터페이스에 의존하는가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행위 검증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불필요한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많지 않은가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결과값으로 검증할 수 있는데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쓰진 않았는가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공개 인터페이스만 모킹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메서드를 테스트하려고 하진 않는가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검증 가능한가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버그에 가까운 시나리오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 Path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테스트하진 않는가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상황도 테스트했는가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베스트 프랙티스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⚙️ **인터페이스 중심 설계**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가능한 구조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🎯 **최소한의 행위 검증**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👥 **공개 인터페이스만 모킹**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내부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🐛 **실제 시나리오 테스트**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오류 상황 포함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**도구**일 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곳에 필요하지 않음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**의도**가 명확하게 드러나야 함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테스트도 **유지보수**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원칙들을 지키면 **좋은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테스트**가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/>
              <a:t>📋 </a:t>
            </a:r>
            <a:r>
              <a:rPr lang="en-US" altLang="ko-KR" b="1"/>
              <a:t>TDD </a:t>
            </a:r>
            <a:r>
              <a:rPr lang="ko-KR" altLang="en-US" b="1"/>
              <a:t>사이클 심화 슬라이드 강의 스크립트</a:t>
            </a:r>
          </a:p>
          <a:p>
            <a:r>
              <a:rPr lang="ko-KR" altLang="en-US" b="1"/>
              <a:t>🎤 강사 멘트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TDD </a:t>
            </a:r>
            <a:r>
              <a:rPr lang="ko-KR" altLang="en-US" b="1"/>
              <a:t>사이클 심화</a:t>
            </a:r>
            <a:r>
              <a:rPr lang="ko-KR" altLang="en-US"/>
              <a:t>를 다뤄보겠습니다</a:t>
            </a:r>
            <a:r>
              <a:rPr lang="en-US" altLang="ko-KR"/>
              <a:t>.</a:t>
            </a:r>
          </a:p>
          <a:p>
            <a:r>
              <a:rPr lang="en-US" altLang="ko-KR"/>
              <a:t>Red-Green-Refactor </a:t>
            </a:r>
            <a:r>
              <a:rPr lang="ko-KR" altLang="en-US"/>
              <a:t>사이클을 더 효과적으로 적용하는 방법입니다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의 기본은 배웠지만</a:t>
            </a:r>
            <a:r>
              <a:rPr lang="en-US" altLang="ko-KR"/>
              <a:t>, </a:t>
            </a:r>
            <a:r>
              <a:rPr lang="ko-KR" altLang="en-US"/>
              <a:t>실제로 적용하려면 </a:t>
            </a:r>
            <a:r>
              <a:rPr lang="ko-KR" altLang="en-US" b="1"/>
              <a:t>노하우</a:t>
            </a:r>
            <a:r>
              <a:rPr lang="ko-KR" altLang="en-US"/>
              <a:t>가 필요해요</a:t>
            </a:r>
            <a:r>
              <a:rPr lang="en-US" altLang="ko-KR"/>
              <a:t>. "</a:t>
            </a:r>
            <a:r>
              <a:rPr lang="ko-KR" altLang="en-US"/>
              <a:t>언제 커밋해야 하지</a:t>
            </a:r>
            <a:r>
              <a:rPr lang="en-US" altLang="ko-KR"/>
              <a:t>?", "</a:t>
            </a:r>
            <a:r>
              <a:rPr lang="ko-KR" altLang="en-US"/>
              <a:t>얼마나 작은 단위로 해야 하지</a:t>
            </a:r>
            <a:r>
              <a:rPr lang="en-US" altLang="ko-KR"/>
              <a:t>?"</a:t>
            </a:r>
          </a:p>
          <a:p>
            <a:r>
              <a:rPr lang="ko-KR" altLang="en-US"/>
              <a:t>오늘 이런 </a:t>
            </a:r>
            <a:r>
              <a:rPr lang="ko-KR" altLang="en-US" b="1"/>
              <a:t>실전 팁</a:t>
            </a:r>
            <a:r>
              <a:rPr lang="ko-KR" altLang="en-US"/>
              <a:t>들을 정리해보겠습니다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Red-Green-Refactor </a:t>
            </a:r>
            <a:r>
              <a:rPr lang="ko-KR" altLang="en-US" b="1"/>
              <a:t>복습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흐름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┌───▶│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│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│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│테스트작성│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└────┬─────┘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│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▼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│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│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│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│코드로통과│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└────┬─────┘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│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     ▼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│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└────│🔄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Refactor│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코드개선 │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└──────────┘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💡 이 사이클을 작은 단위로 빠르게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🔴 </a:t>
            </a:r>
            <a:r>
              <a:rPr lang="en-US" altLang="ko-KR" b="1"/>
              <a:t>Red: </a:t>
            </a:r>
            <a:r>
              <a:rPr lang="ko-KR" altLang="en-US" b="1"/>
              <a:t>실패하는 테스트 작성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Red </a:t>
            </a:r>
            <a:r>
              <a:rPr lang="ko-KR" altLang="en-US" b="1"/>
              <a:t>단계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실패하는 테스트 작성입니다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구현하기 전에 실패하는 테스트 작성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ko-KR" altLang="en-US"/>
              <a:t>✓ 명확한 기대값 설정 ✓ 작은 단위로 테스트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핵심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기대값 설정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애매한 기대값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Assert.IsTrue(result &gt; 0);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커야 하지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기대값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Assert.AreEqual(5, calculator.Add(2, 3));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2+3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정확히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5!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단위로 테스트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큰 기능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TestOrderProcessingWithDiscountAndTaxAndShipping()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단위씩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Test_CalculateSubtotal()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Test_ApplyDiscount()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Test_CalculateTax()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Red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Add_TwoPositiveNumbers_ReturnsSum()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시점에서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클래스가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Assert.AreEqual(5, result);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기대값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컴파일 에러 또는 테스트 실패 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코드로 통과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최소한의 코드로 통과입니다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간단한 방법으로 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하드코딩도 허용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한 번에 한 테스트만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핵심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하드코딩도 허용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하드코딩으로 통과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일단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개선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테스트 추가 후 일반화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진짜 구현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한 번에 한 테스트만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작성 → 통과시키기 → 커밋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작성 → 통과시키기 → 커밋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작성 → 통과시키기 → 커밋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작성 → 한 번에 통과시키기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**왜 하드코딩이 허용될까요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일단 **초록불**을 보는 게 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테스트가 하드코딩을 **강제로 깨뜨림**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점진적으로 **일반화**됨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개선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 개선입니다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상태에서 코드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중복 제거 및 패턴 적용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메서드명 개선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핵심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중복 제거 및 패턴 적용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tax1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0.1m;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tax2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price2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0.1m;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tax3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price3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0.1m;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추출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CalculateTax(decimal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price)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TAX_RATE;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메서드명 개선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         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0.1m;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          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subtotal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firstItem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secondItem;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subtotal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TAX_RATE;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중 테스트는 계속 통과해야 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실전 팁**입니다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👥 작은 단계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테스트 하나에만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작은 단위로 분해하여 진행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단계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큰 단계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전체 기능을 한 번에 구현하자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작성에만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단계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생성 테스트 →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추가 테스트 →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 계산 테스트 →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 테스트 →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...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코끼리를 먹는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입씩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자주 커밋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 완료 후 커밋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변경 이력을 세밀하게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커밋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권장 커밋 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→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→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→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커밋 메시지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"feat: Add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기본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"feat: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처리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변수명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잘못되면 쉽게 되돌릴 수 있음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⏱️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타이밍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테스트가 통과한 상태에서만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 추가와 리팩토링 분리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타이밍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잘못된 타이밍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실패 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(Red)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 좀 정리하고 싶은데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리팩토링 시작 → 😱 더 많은 테스트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올바른 타이밍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모든 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리팩토링해도 안전해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리팩토링 → 테스트 실행 → 🟢 여전히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기능 추가와 리팩토링을 동시에 하지 말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둘 중 하나만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섞으면 버그 원인 찾기 어려움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정리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하단의 **핵심 정리**입니다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작은 단계의 반복적인 사이클입니다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하나의 큰 단계로 건너뛰지 말고 각 단계를 충실히 수행하세요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심화 요약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기대값 설정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단위로 테스트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것이 정상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하드코딩도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일단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한 테스트만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코드로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제거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 적용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메서드명 개선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테스트는 계속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📌 실전 팁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단계로 분해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 후 커밋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심화**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🔴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명확한 기대값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🟢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하드코딩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하나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🔄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중복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개선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**실전 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👥 **작은 단계**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쪼개서 진행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🔀 **자주 커밋**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Green/Refactor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 커밋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⏱️ **리팩토링 타이밍**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초록불일 때만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단계로 건너뛰지 말고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사이클을 빠르게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처음엔 느리게 느껴져도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익숙해지면 **더 빠르고 안전**해집니다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문자열 계산기 </a:t>
            </a:r>
            <a:r>
              <a:rPr lang="en-US" altLang="ko-KR" b="1"/>
              <a:t>TDD </a:t>
            </a:r>
            <a:r>
              <a:rPr lang="ko-KR" altLang="en-US" b="1"/>
              <a:t>실습</a:t>
            </a:r>
            <a:r>
              <a:rPr lang="ko-KR" altLang="en-US"/>
              <a:t>을 시작하겠습니다</a:t>
            </a:r>
            <a:r>
              <a:rPr lang="en-US" altLang="ko-KR"/>
              <a:t>!</a:t>
            </a:r>
          </a:p>
          <a:p>
            <a:r>
              <a:rPr lang="ko-KR" altLang="en-US"/>
              <a:t>문자열로 된 숫자를 입력받아 덧셈 연산을 수행하는 계산기를 </a:t>
            </a:r>
            <a:r>
              <a:rPr lang="en-US" altLang="ko-KR" b="1"/>
              <a:t>TDD </a:t>
            </a:r>
            <a:r>
              <a:rPr lang="ko-KR" altLang="en-US" b="1"/>
              <a:t>방식으로 개발</a:t>
            </a:r>
            <a:r>
              <a:rPr lang="ko-KR" altLang="en-US"/>
              <a:t>합니다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작은 단계로 진행하며 </a:t>
            </a:r>
            <a:r>
              <a:rPr lang="en-US" altLang="ko-KR" i="1"/>
              <a:t>TDD</a:t>
            </a:r>
            <a:r>
              <a:rPr lang="ko-KR" altLang="en-US" i="1"/>
              <a:t>의 핵심 원칙을 체득합니다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이 예제는 </a:t>
            </a:r>
            <a:r>
              <a:rPr lang="en-US" altLang="ko-KR" b="1"/>
              <a:t>String Calculator Kata</a:t>
            </a:r>
            <a:r>
              <a:rPr lang="ko-KR" altLang="en-US"/>
              <a:t>라고 불리는 유명한 </a:t>
            </a:r>
            <a:r>
              <a:rPr lang="en-US" altLang="ko-KR"/>
              <a:t>TDD </a:t>
            </a:r>
            <a:r>
              <a:rPr lang="ko-KR" altLang="en-US"/>
              <a:t>연습 문제입니다</a:t>
            </a:r>
            <a:r>
              <a:rPr lang="en-US" altLang="ko-KR"/>
              <a:t>. </a:t>
            </a:r>
            <a:r>
              <a:rPr lang="ko-KR" altLang="en-US"/>
              <a:t>단순해 보이지만</a:t>
            </a:r>
            <a:r>
              <a:rPr lang="en-US" altLang="ko-KR"/>
              <a:t>, TDD</a:t>
            </a:r>
            <a:r>
              <a:rPr lang="ko-KR" altLang="en-US"/>
              <a:t>의 핵심을 모두 체험할 수 있어요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기능 요구사항</a:t>
            </a:r>
          </a:p>
          <a:p>
            <a:r>
              <a:rPr lang="ko-KR" altLang="en-US"/>
              <a:t>오른쪽의 </a:t>
            </a:r>
            <a:r>
              <a:rPr lang="ko-KR" altLang="en-US" b="1"/>
              <a:t>기능 요구사항</a:t>
            </a:r>
            <a:r>
              <a:rPr lang="ko-KR" altLang="en-US"/>
              <a:t>을 보겠습니다</a:t>
            </a:r>
            <a:r>
              <a:rPr lang="en-US" altLang="ko-KR"/>
              <a:t>.</a:t>
            </a:r>
          </a:p>
          <a:p>
            <a:r>
              <a:rPr lang="ko-KR" altLang="en-US" b="1"/>
              <a:t>기본 동작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기본 동작 요구사항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문자열을 입력할 경우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반환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Add("")  →  0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하나를 문자열로 입력할 경우 해당 숫자를 반환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Add("1")  →  1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Add("5")  →  5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쉼표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(,)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구분된 숫자의 합 반환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Add("1,2,3")  →  6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Add("10,20")  →  30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구분자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구분자 요구사항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개행문자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(\n)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구분자로 사용 가능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Add("1\n2,3")  →  6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5️⃣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구분자 지정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"//[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구분자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]\n[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]"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Add("//;\n1;2")  →  3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Add("//|\n1|2|3")  →  6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 b="1"/>
              <a:t>예외 처리 및 제한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예외 처리 및 제한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입력 시 예외 발생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Add("-1,2")  →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음수는 허용되지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[-1]"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Add("-1,-2")  →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음수는 허용되지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[-1,-2]"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7️⃣ 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숫자는 무시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Add("2,1001")  →  2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Add("1000,1001,2")  →  1002  (1000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제외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TDD </a:t>
            </a:r>
            <a:r>
              <a:rPr lang="ko-KR" altLang="en-US" b="1"/>
              <a:t>진행 순서 미리보기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 순서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    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쉬운 것부터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하나 → 그 숫자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쉼표로 구분된 두 숫자 → 합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숫자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개행문자 구분자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구분자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예외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8: 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무시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복잡한 것을 한 번에 ❌ 작은 단계씩 ✅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</a:t>
            </a:r>
            <a:r>
              <a:rPr lang="ko-KR" altLang="en-US" b="1"/>
              <a:t>테스트 목록</a:t>
            </a:r>
            <a:r>
              <a:rPr lang="ko-KR" altLang="en-US"/>
              <a:t>을 작성합니다</a:t>
            </a:r>
            <a:r>
              <a:rPr lang="en-US" altLang="ko-KR"/>
              <a:t>.</a:t>
            </a:r>
          </a:p>
          <a:p>
            <a:r>
              <a:rPr lang="ko-KR" altLang="en-US"/>
              <a:t>문자열 계산기 </a:t>
            </a:r>
            <a:r>
              <a:rPr lang="en-US" altLang="ko-KR"/>
              <a:t>Add </a:t>
            </a:r>
            <a:r>
              <a:rPr lang="ko-KR" altLang="en-US"/>
              <a:t>메서드를 </a:t>
            </a:r>
            <a:r>
              <a:rPr lang="en-US" altLang="ko-KR"/>
              <a:t>TDD</a:t>
            </a:r>
            <a:r>
              <a:rPr lang="ko-KR" altLang="en-US"/>
              <a:t>로 구현하기 위한 주요 테스트 케이스입니다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에서는 </a:t>
            </a:r>
            <a:r>
              <a:rPr lang="ko-KR" altLang="en-US" b="1"/>
              <a:t>구현 전에 테스트 목록</a:t>
            </a:r>
            <a:r>
              <a:rPr lang="ko-KR" altLang="en-US"/>
              <a:t>을 먼저 정리합니다</a:t>
            </a:r>
            <a:r>
              <a:rPr lang="en-US" altLang="ko-KR"/>
              <a:t>. </a:t>
            </a:r>
            <a:r>
              <a:rPr lang="ko-KR" altLang="en-US"/>
              <a:t>어떤 테스트를 작성해야 할지 </a:t>
            </a:r>
            <a:r>
              <a:rPr lang="ko-KR" altLang="en-US" b="1"/>
              <a:t>로드맵</a:t>
            </a:r>
            <a:r>
              <a:rPr lang="ko-KR" altLang="en-US"/>
              <a:t>을 만드는 거예요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1. </a:t>
            </a:r>
            <a:r>
              <a:rPr lang="ko-KR" altLang="en-US" b="1"/>
              <a:t>빈 문자열 테스트</a:t>
            </a:r>
          </a:p>
          <a:p>
            <a:r>
              <a:rPr lang="en-US" altLang="ko-KR" i="1"/>
              <a:t>"</a:t>
            </a:r>
            <a:r>
              <a:rPr lang="ko-KR" altLang="en-US" i="1"/>
              <a:t>빈 문자열이 입력되면 </a:t>
            </a:r>
            <a:r>
              <a:rPr lang="en-US" altLang="ko-KR" i="1"/>
              <a:t>0</a:t>
            </a:r>
            <a:r>
              <a:rPr lang="ko-KR" altLang="en-US" i="1"/>
              <a:t>을 반환해야 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Assert.That(calculator.Add(""), Is.EqualTo(0));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""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가장 단순한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시작합니다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2. </a:t>
            </a:r>
            <a:r>
              <a:rPr lang="ko-KR" altLang="en-US" b="1"/>
              <a:t>단일 숫자 테스트</a:t>
            </a:r>
          </a:p>
          <a:p>
            <a:r>
              <a:rPr lang="en-US" altLang="ko-KR" i="1"/>
              <a:t>"</a:t>
            </a:r>
            <a:r>
              <a:rPr lang="ko-KR" altLang="en-US" i="1"/>
              <a:t>하나의 숫자가 입력되면 해당 숫자를 반환합니다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Assert.That(calculator.Add("1"),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"1"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문자열 → 숫자 변환이 필요해집니다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3. </a:t>
            </a:r>
            <a:r>
              <a:rPr lang="ko-KR" altLang="en-US" b="1"/>
              <a:t>쉼표로 구분된 숫자들 테스트</a:t>
            </a:r>
          </a:p>
          <a:p>
            <a:r>
              <a:rPr lang="en-US" altLang="ko-KR" i="1"/>
              <a:t>"</a:t>
            </a:r>
            <a:r>
              <a:rPr lang="ko-KR" altLang="en-US" i="1"/>
              <a:t>쉼표로 구분된 숫자들의 합을 반환합니다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Assert.That(calculator.Add("1,2"), Is.EqualTo(3));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"1,2"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  (1 + 2)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문자열 분할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(Split)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필요해집니다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4. </a:t>
            </a:r>
            <a:r>
              <a:rPr lang="ko-KR" altLang="en-US" b="1"/>
              <a:t>고급 기능 테스트</a:t>
            </a:r>
          </a:p>
          <a:p>
            <a:r>
              <a:rPr lang="en-US" altLang="ko-KR" i="1"/>
              <a:t>"</a:t>
            </a:r>
            <a:r>
              <a:rPr lang="ko-KR" altLang="en-US" i="1"/>
              <a:t>개행 문자</a:t>
            </a:r>
            <a:r>
              <a:rPr lang="en-US" altLang="ko-KR" i="1"/>
              <a:t>, </a:t>
            </a:r>
            <a:r>
              <a:rPr lang="ko-KR" altLang="en-US" i="1"/>
              <a:t>커스텀 구분자</a:t>
            </a:r>
            <a:r>
              <a:rPr lang="en-US" altLang="ko-KR" i="1"/>
              <a:t>, </a:t>
            </a:r>
            <a:r>
              <a:rPr lang="ko-KR" altLang="en-US" i="1"/>
              <a:t>음수 예외 처리를 테스트합니다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개행 및 커스텀 구분자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Assert.That(calculator.Add("1\n2,3"), Is.EqualTo(6));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예외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Assert.Throws&lt;ArgumentException&gt;(()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calculator.Add("-1,2"));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고급 테스트 케이스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개행 구분자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"1\n2,3"  →  6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구분자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"//;\n1;2"  →  3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"-1,2"  →  ArgumentException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무시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"2,1001"  →  2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팁</a:t>
            </a:r>
            <a:r>
              <a:rPr lang="en-US" altLang="ko-KR" b="1"/>
              <a:t>: </a:t>
            </a:r>
            <a:r>
              <a:rPr lang="ko-KR" altLang="en-US" b="1"/>
              <a:t>테스트 순서 💡</a:t>
            </a:r>
          </a:p>
          <a:p>
            <a:r>
              <a:rPr lang="en-US" altLang="ko-KR" i="1"/>
              <a:t>"</a:t>
            </a:r>
            <a:r>
              <a:rPr lang="ko-KR" altLang="en-US" i="1"/>
              <a:t>가장 간단한 테스트부터 시작하고</a:t>
            </a:r>
            <a:r>
              <a:rPr lang="en-US" altLang="ko-KR" i="1"/>
              <a:t>, </a:t>
            </a:r>
            <a:r>
              <a:rPr lang="ko-KR" altLang="en-US" i="1"/>
              <a:t>테스트를 통과시킬 수 있는 최소한의 코드만 작성하세요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작성 원칙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간단한 것 → 복잡한 것 순서로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한 번에 하나의 테스트만 작성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테스트가 실패하면 → 최소한의 코드로 통과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통과하면 → 다음 테스트로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→ 단일 숫자 → 두 숫자 → 여러 숫자 →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개행 → 커스텀 구분자 → 음수 예외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</a:t>
            </a:r>
            <a:r>
              <a:rPr lang="ko-KR" altLang="en-US" b="1"/>
              <a:t>단계별 구현</a:t>
            </a:r>
            <a:r>
              <a:rPr lang="ko-KR" altLang="en-US"/>
              <a:t>을 진행합니다</a:t>
            </a:r>
            <a:r>
              <a:rPr lang="en-US" altLang="ko-KR"/>
              <a:t>.</a:t>
            </a:r>
          </a:p>
          <a:p>
            <a:r>
              <a:rPr lang="ko-KR" altLang="en-US"/>
              <a:t>문자열 계산기 예제를 통한 </a:t>
            </a:r>
            <a:r>
              <a:rPr lang="en-US" altLang="ko-KR"/>
              <a:t>TDD</a:t>
            </a:r>
            <a:r>
              <a:rPr lang="ko-KR" altLang="en-US"/>
              <a:t>의 단계별 구현 프로세스입니다</a:t>
            </a:r>
            <a:r>
              <a:rPr lang="en-US" altLang="ko-KR"/>
              <a:t>.</a:t>
            </a:r>
          </a:p>
          <a:p>
            <a:r>
              <a:rPr lang="ko-KR" altLang="en-US"/>
              <a:t>각 단계마다 </a:t>
            </a:r>
            <a:r>
              <a:rPr lang="en-US" altLang="ko-KR" b="1"/>
              <a:t>Red → Green → Refactor</a:t>
            </a:r>
            <a:r>
              <a:rPr lang="en-US" altLang="ko-KR"/>
              <a:t> </a:t>
            </a:r>
            <a:r>
              <a:rPr lang="ko-KR" altLang="en-US"/>
              <a:t>사이클을 반복합니다</a:t>
            </a:r>
            <a:r>
              <a:rPr lang="en-US" altLang="ko-KR"/>
              <a:t>. </a:t>
            </a:r>
            <a:r>
              <a:rPr lang="ko-KR" altLang="en-US"/>
              <a:t>실제로 코드를 작성하면서 따라해 보세요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 </a:t>
            </a:r>
            <a:r>
              <a:rPr lang="ko-KR" altLang="en-US" b="1"/>
              <a:t>사이클 흐름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      →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     →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테스트              코드 구현              코드 개선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1️⃣ </a:t>
            </a:r>
            <a:r>
              <a:rPr lang="ko-KR" altLang="en-US" b="1"/>
              <a:t>빈 문자열 테스트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Add("") = 0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return input == "" ? 0 : -1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Add_EmptyString_ReturnsZero()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Assert.That(calculator.Add(""), Is.EqualTo(0));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구현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input == "" ? 0 : -1;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2️⃣ </a:t>
            </a:r>
            <a:r>
              <a:rPr lang="ko-KR" altLang="en-US" b="1"/>
              <a:t>단일 숫자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Add("1") = 1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return input == "" ? 0 : int.Parse(input)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Add_SingleNumber_ReturnsThatNumber()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Assert.That(calculator.Add("1"), Is.EqualTo(1));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수정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(string.IsNullOrEmpty(input))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return 0;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int.Parse(input);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3️⃣ </a:t>
            </a:r>
            <a:r>
              <a:rPr lang="ko-KR" altLang="en-US" b="1"/>
              <a:t>쉼표 구분자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Add("1,2") = 3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쉼표로 분할 후 합산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Add_TwoNumbers_ReturnsSum()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Assert.That(calculator.Add("1,2"), Is.EqualTo(3));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수정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(string.IsNullOrEmpty(input))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return 0;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numbers = input.Split(',');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numbers.Sum(n =&gt; int.Parse(n));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4️⃣ </a:t>
            </a:r>
            <a:r>
              <a:rPr lang="ko-KR" altLang="en-US" b="1"/>
              <a:t>여러 숫자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   Add("1,2,3,4") = 10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REFACTOR: LINQ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최적화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(Split + Sum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여러 숫자도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→ 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(string.IsNullOrEmpty(input))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return 0;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input.Split(',')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.Select(int.Parse)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.Sum();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5️⃣ </a:t>
            </a:r>
            <a:r>
              <a:rPr lang="ko-KR" altLang="en-US" b="1"/>
              <a:t>개행 구분자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Add("1\n2,3") = 6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구분자 지원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(string.IsNullOrEmpty(input))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return 0;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input.Split(new[] { ',', '\n' })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.Select(int.Parse)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.Sum();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6️⃣ </a:t>
            </a:r>
            <a:r>
              <a:rPr lang="ko-KR" altLang="en-US" b="1"/>
              <a:t>커스텀 구분자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Add("//;\n1;2") = 3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구분자 파싱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if (string.IsNullOrEmpty(input))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return 0;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delimiters = new List&lt;char&gt; { ',', '\n' };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구분자 확인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(input.StartsWith("//"))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{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delimiters.Add(input[2]);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input = input.Substring(4);  // "//;\n"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제거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return input.Split(delimiters.ToArray())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.Select(int.Parse)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.Sum();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7️⃣ </a:t>
            </a:r>
            <a:r>
              <a:rPr lang="ko-KR" altLang="en-US" b="1"/>
              <a:t>음수 예외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Add("-1,2")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검증 추가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public void Add_NegativeNumber_ThrowsException()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var ex = Assert.Throws&lt;ArgumentException&gt;(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() =&gt; calculator.Add("-1,2"));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Assert.That(ex.Message, Does.Contain("-1"));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구현에 추가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negatives = numbers.Where(n =&gt; n &lt; 0);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if (negatives.Any())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throw new ArgumentException(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음수는 허용되지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[{string.Join(",", negatives)}]");│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8️⃣ 1000 </a:t>
            </a:r>
            <a:r>
              <a:rPr lang="ko-KR" altLang="en-US" b="1"/>
              <a:t>초과 무시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  Add("2,1001") = 2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GREEN: 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필터링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구현에 추가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numbers.Where(n =&gt; n &lt;= 1000).Sum();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흐름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numbers = ParseNumbers(input);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ValidateNoNegatives(numbers);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return numbers.Where(n =&gt; n &lt;= 1000).Sum();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마지막으로 </a:t>
            </a:r>
            <a:r>
              <a:rPr lang="ko-KR" altLang="en-US" b="1"/>
              <a:t>리팩토링 기법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8</a:t>
            </a:r>
            <a:r>
              <a:rPr lang="ko-KR" altLang="en-US"/>
              <a:t>단계까지 구현하면 코드가 꽤 복잡해졌을 거예요</a:t>
            </a:r>
            <a:r>
              <a:rPr lang="en-US" altLang="ko-KR"/>
              <a:t>. </a:t>
            </a:r>
            <a:r>
              <a:rPr lang="ko-KR" altLang="en-US"/>
              <a:t>이제 </a:t>
            </a:r>
            <a:r>
              <a:rPr lang="en-US" altLang="ko-KR" b="1"/>
              <a:t>Green </a:t>
            </a:r>
            <a:r>
              <a:rPr lang="ko-KR" altLang="en-US" b="1"/>
              <a:t>상태</a:t>
            </a:r>
            <a:r>
              <a:rPr lang="ko-KR" altLang="en-US"/>
              <a:t>에서 코드를 개선합니다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🔗 메서드 분리</a:t>
            </a:r>
          </a:p>
          <a:p>
            <a:r>
              <a:rPr lang="en-US" altLang="ko-KR" i="1"/>
              <a:t>"</a:t>
            </a:r>
            <a:r>
              <a:rPr lang="ko-KR" altLang="en-US" i="1"/>
              <a:t>중복 코드나 복잡한 로직을 별도 메서드로 추출하여 재사용성과 가독성을 높입니다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ExtractDelimiter()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SplitNumbers()</a:t>
            </a:r>
            <a:r>
              <a:rPr lang="en-US" altLang="ko-KR"/>
              <a:t> </a:t>
            </a:r>
            <a:r>
              <a:rPr lang="ko-KR" altLang="en-US"/>
              <a:t>등의 헬퍼 메서드 추출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로직이 한 메서드에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(string.IsNullOrEmpty(input))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delimiters = new List&lt;char&gt; { ',', '\n'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(input.StartsWith("//"))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delimiters.Add(input[2]);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input = input.Substring(4);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numbers = input.Split(delimiters.ToArray())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.Select(int.Parse)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.ToList();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negatives = numbers.Where(n =&gt; n &lt; 0).ToList();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(negatives.Any())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throw new ArgumentException($"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{string.Join(",", negatives)}");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numbers.Where(n =&gt; n &lt;= 1000).Sum();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분리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(string.IsNullOrEmpty(input))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(delimiters, numberPart) = ExtractDelimiter(input);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numbers = SplitNumbers(numberPart, delimiters);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ValidateNoNegatives(numbers);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numbers.Where(n =&gt; n &lt;= 1000).Sum();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(char[] delimiters, string numberPart) ExtractDelimiter(string input) 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IEnumerable&lt;int&gt; SplitNumbers(string input, char[] delimiters) 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void ValidateNoNegatives(IEnumerable&lt;int&gt; numbers) { ... 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⇄ </a:t>
            </a:r>
            <a:r>
              <a:rPr lang="ko-KR" altLang="en-US" b="1"/>
              <a:t>파라미터화</a:t>
            </a:r>
          </a:p>
          <a:p>
            <a:r>
              <a:rPr lang="en-US" altLang="ko-KR" i="1"/>
              <a:t>"</a:t>
            </a:r>
            <a:r>
              <a:rPr lang="ko-KR" altLang="en-US" i="1"/>
              <a:t>유사한 로직을 매개변수를 받는 단일 메서드로 통합하여 중복을 제거합니다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여러 구분자 처리 →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Parse(string input, string delimiter)</a:t>
            </a:r>
            <a:endParaRPr lang="en-US" altLang="ko-KR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구분자별 중복 로직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int[] ParseWithComma(string input) 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int[] ParseWithNewLine(string input) 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int[] ParseWithCustom(string input, char custom) { ... 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int[] Parse(string input, char[] delimiters)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input.Split(delimiters)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.Select(int.Parse)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.ToArray();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💬 의도를 드러내는 이름</a:t>
            </a:r>
          </a:p>
          <a:p>
            <a:r>
              <a:rPr lang="en-US" altLang="ko-KR" i="1"/>
              <a:t>"</a:t>
            </a:r>
            <a:r>
              <a:rPr lang="ko-KR" altLang="en-US" i="1"/>
              <a:t>메서드와 변수 이름을 통해 코드의 의도를 명확히 표현합니다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 → numbers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→ customDelimiter</a:t>
            </a:r>
            <a:r>
              <a:rPr lang="en-US" altLang="ko-KR"/>
              <a:t>,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→ Calculate</a:t>
            </a:r>
            <a:endParaRPr lang="en-US" altLang="ko-KR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불명확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 = input.Split(',');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p = input[2];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x =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 (var n in 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x += int.Parse(n);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 명확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numberStrings = input.Split(delimiters);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customDelimiter = input[2];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sum = numberStrings.Select(int.Parse).Sum();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🛡️ 불변</a:t>
            </a:r>
            <a:r>
              <a:rPr lang="en-US" altLang="ko-KR" b="1"/>
              <a:t>/</a:t>
            </a:r>
            <a:r>
              <a:rPr lang="ko-KR" altLang="en-US" b="1"/>
              <a:t>순수 함수</a:t>
            </a:r>
          </a:p>
          <a:p>
            <a:r>
              <a:rPr lang="en-US" altLang="ko-KR" i="1"/>
              <a:t>"</a:t>
            </a:r>
            <a:r>
              <a:rPr lang="ko-KR" altLang="en-US" i="1"/>
              <a:t>사이드 이펙트 없는 순수 함수를 작성하여 안정성을 높입니다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ko-KR" altLang="en-US"/>
              <a:t>상태 변경 없이 입력에 따른 결과만 반환하는 메서드 설계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Before: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변경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사이드 이펙트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List&lt;int&gt; _numbers = new List&lt;int&gt;();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Parse(string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_numbers.Clear();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_numbers.AddRange(input.Split(',').Select(int.Parse));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GetSum() =&gt; _numbers.Sum();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After: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함수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 Add(string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→ 출력만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numbers = ParseNumbers(input);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numbers.Where(n =&gt; n &lt;= 1000).Sum();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IEnumerable&lt;int&gt; ParseNumbers(string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변경 없음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input.Split(delimiters).Select(int.Parse);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리팩토링의 중요성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리팩토링은 테스트가 성공한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수행해야 하는 단계입니다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코드가 올바르게 동작하는지 확인한 후에 코드의 품질을 개선하는 과정입니다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지속적인 리팩토링은 코드의 기술 부채를 관리하고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유지보수성을 높이는 핵심 프랙티스입니다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체크리스트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테스트가 모두 통과하는가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중복 코드가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추출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메서드가 너무 긴가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메서드명이 의도를 드러내는가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리팩토링 후에도 테스트가 통과하는가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중에는 기능을 추가하지 않는다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최종 코드 구조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StringCalculator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static readonly char[] DefaultDelimiters = { ',', '\n'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const int MaxNumber = 1000;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Add(string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(string.IsNullOrEmpty(input))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(delimiters, numberPart) = ExtractDelimiter(input);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numbers = ParseNumbers(numberPart, delimiters);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ValidateNoNegatives(numbers);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numbers.Where(n =&gt; n &lt;= MaxNumber).Sum();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(char[] delimiters, string numberPart) ExtractDelimiter(string input)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(!input.StartsWith("//"))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return (DefaultDelimiters, input);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customDelimiter = input[2];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numberPart = input.Substring(4);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(DefaultDelimiters.Append(customDelimiter).ToArray(), numberPart);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IEnumerable&lt;int&gt; ParseNumbers(string input, char[] delimiters)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input.Split(delimiters)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.Select(int.Parse);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void ValidateNoNegatives(IEnumerable&lt;int&gt; numbers)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negatives = numbers.Where(n =&gt; n &lt; 0).ToList();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(negatives.Any())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throw new ArgumentException(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음수는 허용되지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[{string.Join(",", negatives)}]");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**문자열 계산기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실습**을 완료했습니다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**배운 것들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 먼저 작성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코드로 통과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품질 개선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진행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빈 문자열 → 단일 숫자 → 쉼표 → 여러 숫자 →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개행 → 커스텀 구분자 → 음수 예외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초과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**리팩토링 기법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메서드 분리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파라미터화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의도를 드러내는 이름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순수 함수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직접 따라 해보면서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리듬**을 체득하세요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쇼핑카트 시스템의 할인 규칙 테스트</a:t>
            </a:r>
            <a:r>
              <a:rPr lang="ko-KR" altLang="en-US"/>
              <a:t>를 다뤄보겠습니다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쇼핑카트 시스템의 다양한 할인 규칙 테스트 방법 </a:t>
            </a:r>
            <a:r>
              <a:rPr lang="en-US" altLang="ko-KR"/>
              <a:t>- BOGO</a:t>
            </a:r>
            <a:r>
              <a:rPr lang="ko-KR" altLang="en-US"/>
              <a:t>와 </a:t>
            </a:r>
            <a:r>
              <a:rPr lang="en-US" altLang="ko-KR"/>
              <a:t>Bulk </a:t>
            </a:r>
            <a:r>
              <a:rPr lang="ko-KR" altLang="en-US"/>
              <a:t>할인입니다</a:t>
            </a:r>
            <a:r>
              <a:rPr lang="en-US" altLang="ko-KR"/>
              <a:t>.</a:t>
            </a:r>
          </a:p>
          <a:p>
            <a:r>
              <a:rPr lang="ko-KR" altLang="en-US"/>
              <a:t>실무에서 자주 만나는 </a:t>
            </a:r>
            <a:r>
              <a:rPr lang="ko-KR" altLang="en-US" b="1"/>
              <a:t>비즈니스 규칙</a:t>
            </a:r>
            <a:r>
              <a:rPr lang="ko-KR" altLang="en-US"/>
              <a:t>을 </a:t>
            </a:r>
            <a:r>
              <a:rPr lang="en-US" altLang="ko-KR"/>
              <a:t>TDD</a:t>
            </a:r>
            <a:r>
              <a:rPr lang="ko-KR" altLang="en-US"/>
              <a:t>로 구현해볼게요</a:t>
            </a:r>
            <a:r>
              <a:rPr lang="en-US" altLang="ko-KR"/>
              <a:t>. </a:t>
            </a:r>
            <a:r>
              <a:rPr lang="ko-KR" altLang="en-US"/>
              <a:t>쇼핑몰이라면 반드시 있는 기능이죠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1️⃣ BOGO(Buy One Get One) </a:t>
            </a:r>
            <a:r>
              <a:rPr lang="ko-KR" altLang="en-US" b="1"/>
              <a:t>할인 테스트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BOGO </a:t>
            </a:r>
            <a:r>
              <a:rPr lang="ko-KR" altLang="en-US" b="1"/>
              <a:t>할인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동일 상품 </a:t>
            </a:r>
            <a:r>
              <a:rPr lang="en-US" altLang="ko-KR" i="1"/>
              <a:t>2</a:t>
            </a:r>
            <a:r>
              <a:rPr lang="ko-KR" altLang="en-US" i="1"/>
              <a:t>개 구매 시 </a:t>
            </a:r>
            <a:r>
              <a:rPr lang="en-US" altLang="ko-KR" i="1"/>
              <a:t>1</a:t>
            </a:r>
            <a:r>
              <a:rPr lang="ko-KR" altLang="en-US" i="1"/>
              <a:t>개 무료 할인 검증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BogoDiscount_WhenTwoItems_AppliesDiscount()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BogoDiscountRule().ApplyDiscount(cart);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Assert.AreEqual(100.0m,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상품 무료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BOGO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분석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 = Buy One Get One (1+1)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가격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 × 2 = 200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BOGO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무료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원만 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cart.AddItem(new Product { Price = 100.0m }, 2);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원짜리 상품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추가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BogoDiscountRule().ApplyDiscount(cart);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BOGO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 적용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Assert.AreEqual(100.0m, result);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BOGO </a:t>
            </a:r>
            <a:r>
              <a:rPr lang="ko-KR" altLang="en-US" b="1"/>
              <a:t>추가 테스트 케이스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구매 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BogoDiscount_WhenOneItem_NoDiscount()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BogoDiscountRule().ApplyDiscount(cart);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Assert.AreEqual(100.0m,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구매 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무료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BogoDiscount_WhenThreeItems_OneFree()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BogoDiscountRule().ApplyDiscount(cart);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Assert.AreEqual(200.0m,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중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무료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4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구매 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무료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BogoDiscount_WhenFourItems_TwoFree()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4);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BogoDiscountRule().ApplyDiscount(cart);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Assert.AreEqual(200.0m,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4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중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무료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2️⃣ Bulk </a:t>
            </a:r>
            <a:r>
              <a:rPr lang="ko-KR" altLang="en-US" b="1"/>
              <a:t>할인 테스트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Bulk </a:t>
            </a:r>
            <a:r>
              <a:rPr lang="ko-KR" altLang="en-US" b="1"/>
              <a:t>할인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동일 상품 </a:t>
            </a:r>
            <a:r>
              <a:rPr lang="en-US" altLang="ko-KR" i="1"/>
              <a:t>3</a:t>
            </a:r>
            <a:r>
              <a:rPr lang="ko-KR" altLang="en-US" i="1"/>
              <a:t>개 이상 구매 시 </a:t>
            </a:r>
            <a:r>
              <a:rPr lang="en-US" altLang="ko-KR" i="1"/>
              <a:t>10% </a:t>
            </a:r>
            <a:r>
              <a:rPr lang="ko-KR" altLang="en-US" i="1"/>
              <a:t>할인 적용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BulkDiscount_WhenThreeOrMore_AppliesDiscount()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BulkDiscountRule(0.1m).ApplyDiscount(cart);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Assert.AreEqual(270.0m, result);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Bulk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분석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대량 구매 할인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가격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 × 3 = 300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10% (0.1m)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300 × 0.1 =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300 - 30 = 270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코드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new BulkDiscountRule(0.1m)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10%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할인율로 규칙 생성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Assert.AreEqual(270.0m, result);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300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Bulk </a:t>
            </a:r>
            <a:r>
              <a:rPr lang="ko-KR" altLang="en-US" b="1"/>
              <a:t>추가 테스트 케이스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구매 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미만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BulkDiscount_WhenTwoItems_NoDiscount()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BulkDiscountRule(0.1m).ApplyDiscount(cart);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Assert.AreEqual(200.0m,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없음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BulkDiscount_ExactlyThree_AppliesDiscount()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Product { Price = 100.0m },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new BulkDiscountRule(0.1m).ApplyDiscount(cart);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Assert.AreEqual(270.0m, result);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테스트 전략 팁 💡</a:t>
            </a:r>
          </a:p>
          <a:p>
            <a:r>
              <a:rPr lang="en-US" altLang="ko-KR" i="1"/>
              <a:t>"</a:t>
            </a:r>
            <a:r>
              <a:rPr lang="ko-KR" altLang="en-US" i="1"/>
              <a:t>각 할인 규칙은 단독 테스트 후 규칙 간 충돌이나 우선순위를 테스트하세요</a:t>
            </a:r>
            <a:r>
              <a:rPr lang="en-US" altLang="ko-KR" i="1"/>
              <a:t>. </a:t>
            </a:r>
            <a:r>
              <a:rPr lang="ko-KR" altLang="en-US" i="1"/>
              <a:t>다음 페이지에서 </a:t>
            </a:r>
            <a:r>
              <a:rPr lang="en-US" altLang="ko-KR" i="1"/>
              <a:t>Percent </a:t>
            </a:r>
            <a:r>
              <a:rPr lang="ko-KR" altLang="en-US" i="1"/>
              <a:t>할인과 엣지케이스를 다룹니다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할인 규칙 테스트 전략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규칙 단독 테스트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규칙만 테스트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규칙만 테스트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규칙만 테스트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BOGO: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Bulk: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 간 충돌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 + Bulk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적용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규칙이 먼저 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이어서 </a:t>
            </a:r>
            <a:r>
              <a:rPr lang="en-US" altLang="ko-KR" b="1"/>
              <a:t>Percent </a:t>
            </a:r>
            <a:r>
              <a:rPr lang="ko-KR" altLang="en-US" b="1"/>
              <a:t>할인</a:t>
            </a:r>
            <a:r>
              <a:rPr lang="ko-KR" altLang="en-US"/>
              <a:t>을 테스트합니다</a:t>
            </a:r>
            <a:r>
              <a:rPr lang="en-US" altLang="ko-KR"/>
              <a:t>.</a:t>
            </a:r>
          </a:p>
          <a:p>
            <a:r>
              <a:rPr lang="ko-KR" altLang="en-US"/>
              <a:t>쇼핑카트 시스템의 다양한 할인 규칙을 테스트하는 방법 </a:t>
            </a:r>
            <a:r>
              <a:rPr lang="en-US" altLang="ko-KR"/>
              <a:t>- Percent </a:t>
            </a:r>
            <a:r>
              <a:rPr lang="ko-KR" altLang="en-US"/>
              <a:t>할인입니다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3️⃣ Percent </a:t>
            </a:r>
            <a:r>
              <a:rPr lang="ko-KR" altLang="en-US" b="1"/>
              <a:t>할인 테스트</a:t>
            </a:r>
          </a:p>
          <a:p>
            <a:r>
              <a:rPr lang="en-US" altLang="ko-KR" i="1"/>
              <a:t>"</a:t>
            </a:r>
            <a:r>
              <a:rPr lang="ko-KR" altLang="en-US" i="1"/>
              <a:t>구매 금액의 특정 비율을 할인해주는 규칙 테스트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ApplyPercentDiscount_Should_Reduce_Price_By_Percentage()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Arrange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item = new Item("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cart.AddItem(item,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rule = new PercentDiscountRule(10);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Act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rule.ApplyDiscount(cart);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Assert.AreEqual(900000, cart.TotalAmount);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후 금액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Percent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분석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비율 할인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(%,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1,000,000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10%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1,000,000 × 0.1 = 100,000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금액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1,000,000 - 100,000 = 900,000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Arrange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cart = new ShoppingCart();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item = new Item("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cart.AddItem(item, 1);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rule = new PercentDiscountRule(10);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Act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rule.ApplyDiscount(cart);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Assert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Assert.AreEqual(900000, cart.TotalAmount);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Percent </a:t>
            </a:r>
            <a:r>
              <a:rPr lang="ko-KR" altLang="en-US" b="1"/>
              <a:t>할인 추가 시나리오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할인율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[TestCase(5, 950000)]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5%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[TestCase(10, 900000)]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[TestCase(20, 800000)]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[TestCase(50, 500000)]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50%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PercentDiscount_VariousRates_AppliesCorrectly(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 percent, decimal 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Item("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new PercentDiscountRule(percent).ApplyDiscount(cart);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Assert.AreEqual(expected, cart.TotalAmount);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PercentDiscount_ZeroPercent_NoChange()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Item("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new PercentDiscountRule(0).ApplyDiscount(cart);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Assert.AreEqual(1000000, cart.TotalAmount);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PercentDiscount_HundredPercent_Free()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cart = new ShoppingCart();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 Item("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new PercentDiscountRule(100).ApplyDiscount(cart);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Assert.AreEqual(0, cart.TotalAmount);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작성 팁 💡</a:t>
            </a:r>
          </a:p>
          <a:p>
            <a:r>
              <a:rPr lang="en-US" altLang="ko-KR" i="1"/>
              <a:t>"</a:t>
            </a:r>
            <a:r>
              <a:rPr lang="ko-KR" altLang="en-US" i="1"/>
              <a:t>할인율 변경 테스트</a:t>
            </a:r>
            <a:r>
              <a:rPr lang="en-US" altLang="ko-KR" i="1"/>
              <a:t>, </a:t>
            </a:r>
            <a:r>
              <a:rPr lang="ko-KR" altLang="en-US" i="1"/>
              <a:t>최소</a:t>
            </a:r>
            <a:r>
              <a:rPr lang="en-US" altLang="ko-KR" i="1"/>
              <a:t>/</a:t>
            </a:r>
            <a:r>
              <a:rPr lang="ko-KR" altLang="en-US" i="1"/>
              <a:t>최대 할인 금액 제한 테스트</a:t>
            </a:r>
            <a:r>
              <a:rPr lang="en-US" altLang="ko-KR" i="1"/>
              <a:t>, </a:t>
            </a:r>
            <a:r>
              <a:rPr lang="ko-KR" altLang="en-US" i="1"/>
              <a:t>소수점 처리 테스트 등 다양한 비율 할인 시나리오를 고려하세요</a:t>
            </a:r>
            <a:r>
              <a:rPr lang="en-US" altLang="ko-KR" i="1"/>
              <a:t>. </a:t>
            </a:r>
            <a:r>
              <a:rPr lang="ko-KR" altLang="en-US" i="1"/>
              <a:t>각 테스트는 단일 기능에 집중해야 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테스트 시나리오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다양한 할인율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(5%, 20%, 50%)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→ 금액 변화 없음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→ 무료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할인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음수 할인율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소수점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시 소수점 반올림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버림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33.33%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복잡한 비율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제한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최대 할인 금액 제한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50,000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최소 결제 금액 보장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</a:t>
            </a:r>
            <a:r>
              <a:rPr lang="ko-KR" altLang="en-US" b="1"/>
              <a:t>가지 할인 규칙 비교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할인 규칙 비교 정리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규칙          조건                   할인 방식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 상품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N/2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무료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 상품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    전체 금액의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 없음              전체 금액의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구현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interface IDiscountRule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decimal ApplyDiscount(ShoppingCart cart);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IDiscountRule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ApplyDiscount(ShoppingCart cart);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마지막으로 </a:t>
            </a:r>
            <a:r>
              <a:rPr lang="ko-KR" altLang="en-US" b="1"/>
              <a:t>설계 진화와 테스트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를 하면 </a:t>
            </a:r>
            <a:r>
              <a:rPr lang="ko-KR" altLang="en-US" b="1"/>
              <a:t>설계가 자연스럽게 좋아진다</a:t>
            </a:r>
            <a:r>
              <a:rPr lang="ko-KR" altLang="en-US"/>
              <a:t>고 했죠</a:t>
            </a:r>
            <a:r>
              <a:rPr lang="en-US" altLang="ko-KR"/>
              <a:t>? </a:t>
            </a:r>
            <a:r>
              <a:rPr lang="ko-KR" altLang="en-US"/>
              <a:t>실제로 어떻게 진화하는지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주도 설계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테스트를 먼저 작성하는 과정에서 자연스럽게 인터페이스가 설계됩니다</a:t>
            </a:r>
            <a:r>
              <a:rPr lang="en-US" altLang="ko-KR" i="1"/>
              <a:t>. </a:t>
            </a:r>
            <a:r>
              <a:rPr lang="ko-KR" altLang="en-US" i="1"/>
              <a:t>테스트 코드는 </a:t>
            </a:r>
            <a:r>
              <a:rPr lang="en-US" altLang="ko-KR" i="1"/>
              <a:t>'</a:t>
            </a:r>
            <a:r>
              <a:rPr lang="ko-KR" altLang="en-US" i="1"/>
              <a:t>첫 번째 클라이언트</a:t>
            </a:r>
            <a:r>
              <a:rPr lang="en-US" altLang="ko-KR" i="1"/>
              <a:t>'</a:t>
            </a:r>
            <a:r>
              <a:rPr lang="ko-KR" altLang="en-US" i="1"/>
              <a:t>가 되어 사용자 관점에서 직관적인 </a:t>
            </a:r>
            <a:r>
              <a:rPr lang="en-US" altLang="ko-KR" i="1"/>
              <a:t>API</a:t>
            </a:r>
            <a:r>
              <a:rPr lang="ko-KR" altLang="en-US" i="1"/>
              <a:t>를 유도합니다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클라이언트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코드를 먼저 작성하면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클래스를 어떻게 사용할까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먼저 생각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사용하기 편한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자연스럽게 설계됨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복잡성이 제거됨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먼저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cart = new ShoppingCart();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cart.AddItem(item, 2);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rule.ApplyDiscount(cart);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정의함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설계 개선 </a:t>
            </a:r>
            <a:r>
              <a:rPr lang="en-US" altLang="ko-KR" b="1"/>
              <a:t>3</a:t>
            </a:r>
            <a:r>
              <a:rPr lang="ko-KR" altLang="en-US" b="1"/>
              <a:t>가지 효과</a:t>
            </a:r>
          </a:p>
          <a:p>
            <a:r>
              <a:rPr lang="ko-KR" altLang="en-US" b="1"/>
              <a:t>🔗 응집도 향상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테스트를 먼저 작성하면 단일 책임 원칙을 자연스럽게 따르게 되어 높은 응집도를 가진 설계가 만들어집니다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응집도 향상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낮은 응집도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어려움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OrderService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CreateOrder() { ... }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SendEmail() { ... }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없는 책임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GenerateReport() { ... }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없는 책임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 응집도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쉬움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OrderService { void CreateOrder() { ... } }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EmailService { void SendEmail() { ... } }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ReportService { void GenerateReport() { ... } }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테스트를 작성하다 보면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분리해야겠다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보임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🔓 결합도 감소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격리를 위해 의존성 주입과 인터페이스를 활용해 컴포넌트 간 결합도를 낮춥니다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결합도 감소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높은 결합도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어려움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OrderService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SqlDatabase _db = new SqlDatabase();│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 클래스에 직접 의존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낮은 결합도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쉬움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class OrderService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private readonly IOrderRepository _repo;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OrderService(IOrderRepository repo)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{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_repo = repo;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주입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테스트를 위해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필요 → 자연스럽게 인터페이스 도입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지속적 개선</a:t>
            </a:r>
          </a:p>
          <a:p>
            <a:r>
              <a:rPr lang="en-US" altLang="ko-KR" i="1"/>
              <a:t>"</a:t>
            </a:r>
            <a:r>
              <a:rPr lang="ko-KR" altLang="en-US" i="1"/>
              <a:t>새로운 요구사항마다 테스트를 먼저 작성하면서 </a:t>
            </a:r>
            <a:r>
              <a:rPr lang="en-US" altLang="ko-KR" i="1"/>
              <a:t>API</a:t>
            </a:r>
            <a:r>
              <a:rPr lang="ko-KR" altLang="en-US" i="1"/>
              <a:t>가 점진적으로 진화하고 개선됩니다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지속적 개선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생성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할인 규칙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IDiscountRule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추출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우선순위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작성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DiscountEngine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도입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각 단계마다 테스트가 안전망 역할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설계 진화 예시</a:t>
            </a:r>
          </a:p>
          <a:p>
            <a:r>
              <a:rPr lang="en-US" altLang="ko-KR" i="1"/>
              <a:t>"</a:t>
            </a:r>
            <a:r>
              <a:rPr lang="ko-KR" altLang="en-US" i="1"/>
              <a:t>주문 시스템 인터페이스 진화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주문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customer, List&lt;Item&gt; items);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규칙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customer, List&lt;Item&gt; items);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order, IDiscountRule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진화 과정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기능만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IOrderService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Order CreateOrder(Customer customer,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List&lt;Item&gt; items);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요구사항 추가 → 인터페이스 확장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IOrderService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Order CreateOrder(Customer customer,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List&lt;Item&gt; items);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Order ApplyDiscount(Order order,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IDiscountRule rule);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IDiscountRule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다형성으로 여러 할인 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BOGO, Bulk, Percent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 같은 인터페이스로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최종 설계 구조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규칙 인터페이스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IDiscountRule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ApplyDiscount(ShoppingCart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IsApplicable(ShoppingCart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구체적인 할인 규칙들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BogoDiscountRule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BulkDiscountRule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...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... 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서비스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IOrderService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customer, List&lt;Item&gt; items);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order, IDiscountRule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ApplyDiscounts(Order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order, IEnumerable&lt;IDiscountRule&gt; rules);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엔진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규칙 조합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DiscountEngine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List&lt;IDiscountRule&gt; _rules;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decimal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CalculateBestDiscount(ShoppingCart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_rules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.Where(r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r.IsApplicable(cart))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.Select(r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r.ApplyDiscount(cart))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.Min();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 b="1"/>
              <a:t>쇼핑카트 할인 규칙 테스트</a:t>
            </a:r>
            <a:r>
              <a:rPr lang="ko-KR" altLang="en-US"/>
              <a:t>를 완료했습니다</a:t>
            </a:r>
            <a:r>
              <a:rPr lang="en-US" altLang="ko-KR"/>
              <a:t>!</a:t>
            </a:r>
          </a:p>
          <a:p>
            <a:r>
              <a:rPr lang="en-US" altLang="ko-KR" b="1"/>
              <a:t>3</a:t>
            </a:r>
            <a:r>
              <a:rPr lang="ko-KR" altLang="en-US" b="1"/>
              <a:t>가지 할인 규칙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🎁 </a:t>
            </a:r>
            <a:r>
              <a:rPr lang="en-US" altLang="ko-KR" b="1"/>
              <a:t>BOGO</a:t>
            </a:r>
            <a:r>
              <a:rPr lang="ko-KR" altLang="en-US"/>
              <a:t> </a:t>
            </a:r>
            <a:r>
              <a:rPr lang="en-US" altLang="ko-KR"/>
              <a:t>- 1+1 (2</a:t>
            </a:r>
            <a:r>
              <a:rPr lang="ko-KR" altLang="en-US"/>
              <a:t>개 구매 시 </a:t>
            </a:r>
            <a:r>
              <a:rPr lang="en-US" altLang="ko-KR"/>
              <a:t>1</a:t>
            </a:r>
            <a:r>
              <a:rPr lang="ko-KR" altLang="en-US"/>
              <a:t>개 무료</a:t>
            </a:r>
            <a:r>
              <a:rPr lang="en-US" altLang="ko-KR"/>
              <a:t>)</a:t>
            </a:r>
          </a:p>
          <a:p>
            <a:r>
              <a:rPr lang="ko-KR" altLang="en-US"/>
              <a:t>📦 </a:t>
            </a:r>
            <a:r>
              <a:rPr lang="en-US" altLang="ko-KR" b="1"/>
              <a:t>Bulk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대량 구매 할인 </a:t>
            </a:r>
            <a:r>
              <a:rPr lang="en-US" altLang="ko-KR"/>
              <a:t>(3</a:t>
            </a:r>
            <a:r>
              <a:rPr lang="ko-KR" altLang="en-US"/>
              <a:t>개 이상 </a:t>
            </a:r>
            <a:r>
              <a:rPr lang="en-US" altLang="ko-KR"/>
              <a:t>10%)</a:t>
            </a:r>
          </a:p>
          <a:p>
            <a:r>
              <a:rPr lang="ko-KR" altLang="en-US"/>
              <a:t>💯 </a:t>
            </a:r>
            <a:r>
              <a:rPr lang="en-US" altLang="ko-KR" b="1"/>
              <a:t>Percent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비율 할인 </a:t>
            </a:r>
            <a:r>
              <a:rPr lang="en-US" altLang="ko-KR"/>
              <a:t>(</a:t>
            </a:r>
            <a:r>
              <a:rPr lang="ko-KR" altLang="en-US"/>
              <a:t>전체 금액의 </a:t>
            </a:r>
            <a:r>
              <a:rPr lang="en-US" altLang="ko-KR"/>
              <a:t>X%)</a:t>
            </a:r>
          </a:p>
          <a:p>
            <a:r>
              <a:rPr lang="ko-KR" altLang="en-US" b="1"/>
              <a:t>설계 진화 효과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🔗 응집도 향상 </a:t>
            </a:r>
            <a:r>
              <a:rPr lang="en-US" altLang="ko-KR"/>
              <a:t>- </a:t>
            </a:r>
            <a:r>
              <a:rPr lang="ko-KR" altLang="en-US"/>
              <a:t>단일 책임</a:t>
            </a:r>
          </a:p>
          <a:p>
            <a:r>
              <a:rPr lang="ko-KR" altLang="en-US"/>
              <a:t>🔓 결합도 감소 </a:t>
            </a:r>
            <a:r>
              <a:rPr lang="en-US" altLang="ko-KR"/>
              <a:t>- </a:t>
            </a:r>
            <a:r>
              <a:rPr lang="ko-KR" altLang="en-US"/>
              <a:t>인터페이스 활용</a:t>
            </a:r>
          </a:p>
          <a:p>
            <a:r>
              <a:rPr lang="ko-KR" altLang="en-US"/>
              <a:t>🔄 지속적 개선 </a:t>
            </a:r>
            <a:r>
              <a:rPr lang="en-US" altLang="ko-KR"/>
              <a:t>- </a:t>
            </a:r>
            <a:r>
              <a:rPr lang="ko-KR" altLang="en-US"/>
              <a:t>요구사항마다 진화</a:t>
            </a:r>
          </a:p>
          <a:p>
            <a:r>
              <a:rPr lang="ko-KR" altLang="en-US" b="1"/>
              <a:t>핵심 포인트</a:t>
            </a:r>
            <a:r>
              <a:rPr lang="en-US" altLang="ko-KR" b="1"/>
              <a:t>:</a:t>
            </a:r>
            <a:r>
              <a:rPr lang="ko-KR" altLang="en-US"/>
              <a:t> 테스트가 </a:t>
            </a:r>
            <a:r>
              <a:rPr lang="en-US" altLang="ko-KR"/>
              <a:t>"</a:t>
            </a:r>
            <a:r>
              <a:rPr lang="ko-KR" altLang="en-US"/>
              <a:t>첫 번째 클라이언트</a:t>
            </a:r>
            <a:r>
              <a:rPr lang="en-US" altLang="ko-KR"/>
              <a:t>"</a:t>
            </a:r>
            <a:r>
              <a:rPr lang="ko-KR" altLang="en-US"/>
              <a:t>가 되어 좋은 </a:t>
            </a:r>
            <a:r>
              <a:rPr lang="en-US" altLang="ko-KR"/>
              <a:t>API</a:t>
            </a:r>
            <a:r>
              <a:rPr lang="ko-KR" altLang="en-US"/>
              <a:t>를 유도합니다</a:t>
            </a:r>
            <a:r>
              <a:rPr lang="en-US" altLang="ko-KR"/>
              <a:t>!</a:t>
            </a:r>
          </a:p>
          <a:p>
            <a:r>
              <a:rPr lang="ko-KR" altLang="en-US"/>
              <a:t>실무에서 할인 규칙 구현할 때 이 패턴을 적용해보세요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Given-When-Then </a:t>
            </a:r>
            <a:r>
              <a:rPr lang="ko-KR" altLang="en-US" b="1"/>
              <a:t>스타일</a:t>
            </a:r>
            <a:r>
              <a:rPr lang="ko-KR" altLang="en-US"/>
              <a:t>을 배워보겠습니다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이것은 </a:t>
            </a:r>
            <a:r>
              <a:rPr lang="en-US" altLang="ko-KR" b="1"/>
              <a:t>BDD (Behavior-Driven Development)</a:t>
            </a:r>
            <a:r>
              <a:rPr lang="ko-KR" altLang="en-US"/>
              <a:t> 에서 사용하는 테스트 작성 패턴입니다</a:t>
            </a:r>
            <a:r>
              <a:rPr lang="en-US" altLang="ko-KR"/>
              <a:t>.</a:t>
            </a:r>
          </a:p>
          <a:p>
            <a:r>
              <a:rPr lang="ko-KR" altLang="en-US"/>
              <a:t>앞서 배운 </a:t>
            </a:r>
            <a:r>
              <a:rPr lang="en-US" altLang="ko-KR"/>
              <a:t>AAA </a:t>
            </a:r>
            <a:r>
              <a:rPr lang="ko-KR" altLang="en-US"/>
              <a:t>패턴</a:t>
            </a:r>
            <a:r>
              <a:rPr lang="en-US" altLang="ko-KR"/>
              <a:t>(Arrange-Act-Assert)</a:t>
            </a:r>
            <a:r>
              <a:rPr lang="ko-KR" altLang="en-US"/>
              <a:t>과 유사하지만</a:t>
            </a:r>
            <a:r>
              <a:rPr lang="en-US" altLang="ko-KR"/>
              <a:t>, </a:t>
            </a:r>
            <a:r>
              <a:rPr lang="ko-KR" altLang="en-US" b="1"/>
              <a:t>비즈니스 관점</a:t>
            </a:r>
            <a:r>
              <a:rPr lang="ko-KR" altLang="en-US"/>
              <a:t>에서 테스트를 표현한다는 점이 다릅니다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Given (</a:t>
            </a:r>
            <a:r>
              <a:rPr lang="ko-KR" altLang="en-US" b="1"/>
              <a:t>준비</a:t>
            </a:r>
            <a:r>
              <a:rPr lang="en-US" altLang="ko-KR" b="1"/>
              <a:t>)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Given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준비 단계입니다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테스트를 위한 전제 조건과 초기 상태를 설정</a:t>
            </a:r>
            <a:r>
              <a:rPr lang="en-US" altLang="ko-KR" i="1"/>
              <a:t>. </a:t>
            </a:r>
            <a:r>
              <a:rPr lang="ko-KR" altLang="en-US" i="1"/>
              <a:t>특정 조건과 컨텍스트를 명시적으로 정의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등급이고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담았을 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Grade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"VIP"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cart.AddItem(new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150000),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Given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주어진 상황에서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(Given that...)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테스트의 사전 조건 설정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상태 정의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컨텍스트 구성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Given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등급일 때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Given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상품이 있을 때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Given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때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When (</a:t>
            </a:r>
            <a:r>
              <a:rPr lang="ko-KR" altLang="en-US" b="1"/>
              <a:t>행동</a:t>
            </a:r>
            <a:r>
              <a:rPr lang="en-US" altLang="ko-KR" b="1"/>
              <a:t>)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When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행동 단계입니다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대상 행위를 수행하는 단계</a:t>
            </a:r>
            <a:r>
              <a:rPr lang="en-US" altLang="ko-KR" i="1"/>
              <a:t>. </a:t>
            </a:r>
            <a:r>
              <a:rPr lang="ko-KR" altLang="en-US" i="1"/>
              <a:t>명확한 하나의 행동에 집중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할인을 적용하면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discountedPrice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discountService.ApplyDiscount(cart, customer);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When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▶ "~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(When...)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테스트하려는 행동 실행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 하나의 행동만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시스템에 대한 액션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When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버튼을 클릭하면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쿠폰을 적용하면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상품을 장바구니에 추가하면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Then (</a:t>
            </a:r>
            <a:r>
              <a:rPr lang="ko-KR" altLang="en-US" b="1"/>
              <a:t>검증</a:t>
            </a:r>
            <a:r>
              <a:rPr lang="en-US" altLang="ko-KR" b="1"/>
              <a:t>)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en-US" altLang="ko-KR" b="1"/>
              <a:t>Then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검증 단계입니다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기대하는 결과와 상태 변화를 검증</a:t>
            </a:r>
            <a:r>
              <a:rPr lang="en-US" altLang="ko-KR" i="1"/>
              <a:t>. </a:t>
            </a:r>
            <a:r>
              <a:rPr lang="ko-KR" altLang="en-US" i="1"/>
              <a:t>관찰 가능한 행동이나 상태에 집중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20%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할인이 적용되어야 한다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Assert.That(discountedPrice, Is.EqualTo(120000));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150000 * 0.8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Then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✓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(Then...)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 결과 검증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변화 확인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관찰 가능한 결과에 집중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주문이 생성되어야 한다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Then 20%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할인이 적용되어야 한다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 부족 에러가 발생해야 한다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언어 반영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**도메인 언어 반영**도 중요한 특징입니다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용어와 규칙을 테스트에 반영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개발자와 비기술팀 간 소통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언어 반영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기술적 표현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"items.Count &gt;=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&gt; 100000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 = 0.1"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비즈니스 표현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구매하면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할인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기획자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테스트 이해 가능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요구사항과 테스트가 일치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규칙이 코드에 명시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AAA vs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AAA vs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Given-When-Then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주어진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(~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AAA: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기술적 관점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GWT: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관점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이해관계자용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실제 코드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구매시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VIP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장바구니에 담았을 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Grade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"VIP"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cart.AddItem(new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150000), 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DiscountService();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할인을 적용하면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discountService.ApplyDiscount(cart, customer);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20%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할인된 금액이 반환되어야 한다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Assert.That(result, Is.EqualTo(120000));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BDD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스타일의 이점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구조는 테스트 명세를 명확하게 하여 가독성을 높이고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테스트의 의도를 분명히 전달합니다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문서의 역할도 겸하게 되어 요구사항과 행동을 함께 명세할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BDD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스타일의 이점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📖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살아있는 문서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향상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누구나 테스트 의도를 이해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명세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비즈니스 규칙이 테스트에 그대로 표현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소통 도구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개발자 ↔ 기획자 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공통 언어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 테스트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비즈니스 규칙 변경 시 테스트도 함께 수정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Given-When-Then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스타일은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전제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상태 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테스트할 행동 실행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결과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패턴과 구조는 같지만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**비즈니스 언어**로 표현한다는 점이 핵심입니다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**살아있는 문서** 역할을 하게 되어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기획자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QA,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 모두가 이해할 수 있는 테스트를 작성할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Outside-in vs Inside-out</a:t>
            </a:r>
            <a:r>
              <a:rPr lang="ko-KR" altLang="en-US"/>
              <a:t> 두 가지 </a:t>
            </a:r>
            <a:r>
              <a:rPr lang="en-US" altLang="ko-KR"/>
              <a:t>TDD </a:t>
            </a:r>
            <a:r>
              <a:rPr lang="ko-KR" altLang="en-US"/>
              <a:t>접근 방식을 비교해보겠습니다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를 할 때 </a:t>
            </a:r>
            <a:r>
              <a:rPr lang="en-US" altLang="ko-KR"/>
              <a:t>"</a:t>
            </a:r>
            <a:r>
              <a:rPr lang="ko-KR" altLang="en-US"/>
              <a:t>어디서부터 시작할까</a:t>
            </a:r>
            <a:r>
              <a:rPr lang="en-US" altLang="ko-KR"/>
              <a:t>?"</a:t>
            </a:r>
            <a:r>
              <a:rPr lang="ko-KR" altLang="en-US"/>
              <a:t>라는 고민이 있죠</a:t>
            </a:r>
            <a:r>
              <a:rPr lang="en-US" altLang="ko-KR"/>
              <a:t>?</a:t>
            </a:r>
          </a:p>
          <a:p>
            <a:r>
              <a:rPr lang="ko-KR" altLang="en-US" b="1"/>
              <a:t>바깥에서 안으로</a:t>
            </a:r>
            <a:r>
              <a:rPr lang="ko-KR" altLang="en-US"/>
              <a:t> 갈 것인가</a:t>
            </a:r>
            <a:r>
              <a:rPr lang="en-US" altLang="ko-KR"/>
              <a:t>, </a:t>
            </a:r>
            <a:r>
              <a:rPr lang="ko-KR" altLang="en-US" b="1"/>
              <a:t>안에서 바깥으로</a:t>
            </a:r>
            <a:r>
              <a:rPr lang="ko-KR" altLang="en-US"/>
              <a:t> 갈 것인가</a:t>
            </a:r>
            <a:r>
              <a:rPr lang="en-US" altLang="ko-KR"/>
              <a:t>. </a:t>
            </a:r>
            <a:r>
              <a:rPr lang="ko-KR" altLang="en-US"/>
              <a:t>두 방식 모두 장단점이 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접근 방식</a:t>
            </a:r>
          </a:p>
          <a:p>
            <a:r>
              <a:rPr lang="ko-KR" altLang="en-US"/>
              <a:t>먼저 </a:t>
            </a:r>
            <a:r>
              <a:rPr lang="ko-KR" altLang="en-US" b="1"/>
              <a:t>접근 방식</a:t>
            </a:r>
            <a:r>
              <a:rPr lang="ko-KR" altLang="en-US"/>
              <a:t>의 차이입니다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접근 방식 비교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├────────────────────────────┬────────────────────────────────────┤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 (Top-down)    │   Inside-out (Bottom-up)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├────────────────────────────┼────────────────────────────────────┤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│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관점 우선         │   도메인 모델 우선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철학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│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API, UI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설계         │   핵심 로직부터 구현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│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└────────────────────────────┴────────────────────────────────────┘</a:t>
            </a:r>
          </a:p>
          <a:p>
            <a:r>
              <a:rPr lang="en-US" altLang="ko-KR" b="1"/>
              <a:t>Outside-in</a:t>
            </a:r>
            <a:r>
              <a:rPr lang="ko-KR" altLang="en-US"/>
              <a:t>은 사용자가 보는 화면</a:t>
            </a:r>
            <a:r>
              <a:rPr lang="en-US" altLang="ko-KR"/>
              <a:t>, API</a:t>
            </a:r>
            <a:r>
              <a:rPr lang="ko-KR" altLang="en-US"/>
              <a:t>부터 시작합니다</a:t>
            </a:r>
            <a:r>
              <a:rPr lang="en-US" altLang="ko-KR"/>
              <a:t>. "</a:t>
            </a:r>
            <a:r>
              <a:rPr lang="ko-KR" altLang="en-US"/>
              <a:t>사용자가 어떻게 사용할까</a:t>
            </a:r>
            <a:r>
              <a:rPr lang="en-US" altLang="ko-KR"/>
              <a:t>?"</a:t>
            </a:r>
            <a:r>
              <a:rPr lang="ko-KR" altLang="en-US"/>
              <a:t>를 먼저 생각하죠</a:t>
            </a:r>
            <a:r>
              <a:rPr lang="en-US" altLang="ko-KR"/>
              <a:t>.</a:t>
            </a:r>
          </a:p>
          <a:p>
            <a:r>
              <a:rPr lang="en-US" altLang="ko-KR" b="1"/>
              <a:t>Inside-out</a:t>
            </a:r>
            <a:r>
              <a:rPr lang="ko-KR" altLang="en-US"/>
              <a:t>은 핵심 비즈니스 로직부터 시작합니다</a:t>
            </a:r>
            <a:r>
              <a:rPr lang="en-US" altLang="ko-KR"/>
              <a:t>. "</a:t>
            </a:r>
            <a:r>
              <a:rPr lang="ko-KR" altLang="en-US"/>
              <a:t>이 기능의 핵심 알고리즘은 뭘까</a:t>
            </a:r>
            <a:r>
              <a:rPr lang="en-US" altLang="ko-KR"/>
              <a:t>?"</a:t>
            </a:r>
            <a:r>
              <a:rPr lang="ko-KR" altLang="en-US"/>
              <a:t>를 먼저 구현합니다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작업 흐름</a:t>
            </a:r>
          </a:p>
          <a:p>
            <a:r>
              <a:rPr lang="ko-KR" altLang="en-US" b="1"/>
              <a:t>작업 흐름</a:t>
            </a:r>
            <a:r>
              <a:rPr lang="ko-KR" altLang="en-US"/>
              <a:t>을 보겠습니다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 (Top-down)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UI/Controller → Service → Repository → Database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↓           ↓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Mock         Mock        Mock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→ 하위 레벨 진행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활용도 높음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 (Bottom-up)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Domain Model → Repository → Service → Controller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↓           ↓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         실제        실제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하위 → 상위 레벨 진행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실제 구현체 선호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 b="1"/>
              <a:t>Outside-in</a:t>
            </a:r>
            <a:r>
              <a:rPr lang="ko-KR" altLang="en-US"/>
              <a:t>은 위에서 아래로 내려가면서 </a:t>
            </a:r>
            <a:r>
              <a:rPr lang="en-US" altLang="ko-KR"/>
              <a:t>Mock</a:t>
            </a:r>
            <a:r>
              <a:rPr lang="ko-KR" altLang="en-US"/>
              <a:t>을 많이 씁니다</a:t>
            </a:r>
            <a:r>
              <a:rPr lang="en-US" altLang="ko-KR"/>
              <a:t>. </a:t>
            </a:r>
            <a:r>
              <a:rPr lang="ko-KR" altLang="en-US"/>
              <a:t>아직 구현 안 된 하위 레이어를 </a:t>
            </a:r>
            <a:r>
              <a:rPr lang="en-US" altLang="ko-KR"/>
              <a:t>Mock</a:t>
            </a:r>
            <a:r>
              <a:rPr lang="ko-KR" altLang="en-US"/>
              <a:t>으로 대체하죠</a:t>
            </a:r>
            <a:r>
              <a:rPr lang="en-US" altLang="ko-KR"/>
              <a:t>.</a:t>
            </a:r>
          </a:p>
          <a:p>
            <a:r>
              <a:rPr lang="en-US" altLang="ko-KR" b="1"/>
              <a:t>Inside-out</a:t>
            </a:r>
            <a:r>
              <a:rPr lang="ko-KR" altLang="en-US"/>
              <a:t>은 아래에서 위로 올라가면서 실제 구현체를 조립합니다</a:t>
            </a:r>
            <a:r>
              <a:rPr lang="en-US" altLang="ko-KR"/>
              <a:t>. </a:t>
            </a:r>
            <a:r>
              <a:rPr lang="ko-KR" altLang="en-US"/>
              <a:t>이미 만들어진 부품을 가져다 쓰는 거죠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특징</a:t>
            </a:r>
            <a:r>
              <a:rPr lang="en-US" altLang="ko-KR" b="1"/>
              <a:t>/</a:t>
            </a:r>
            <a:r>
              <a:rPr lang="ko-KR" altLang="en-US" b="1"/>
              <a:t>장단점</a:t>
            </a:r>
          </a:p>
          <a:p>
            <a:r>
              <a:rPr lang="ko-KR" altLang="en-US" b="1"/>
              <a:t>특징과 장단점</a:t>
            </a:r>
            <a:r>
              <a:rPr lang="ko-KR" altLang="en-US"/>
              <a:t>을 자세히 보겠습니다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더블 루프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┌─────────────────────────────────────────┐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루프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인수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┌─────────────────────────────┐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루프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    │      │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→ Green → Refactor    │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└─────────────────────────────┘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루프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인수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└─────────────────────────────────────────┘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중심 설계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단점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증가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🎯 클래식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중심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Domain Model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로직 명확화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단점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방향성 놓칠 수 있음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추천 사용처</a:t>
            </a:r>
          </a:p>
          <a:p>
            <a:r>
              <a:rPr lang="ko-KR" altLang="en-US" b="1"/>
              <a:t>언제 어떤 방식을 쓸까요</a:t>
            </a:r>
            <a:r>
              <a:rPr lang="en-US" altLang="ko-KR" b="1"/>
              <a:t>?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추천 사용처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├────────────────────────────┬────────────────────────────────────┤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               │   Inside-out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├────────────────────────────┼────────────────────────────────────┤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│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개발     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불명확한 요구사항  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도메인 모델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설계           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수학적 계산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스토리 기반  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비즈니스 규칙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│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└────────────────────────────┴────────────────────────────────────┘</a:t>
            </a:r>
          </a:p>
          <a:p>
            <a:r>
              <a:rPr lang="en-US" altLang="ko-KR" b="1"/>
              <a:t>Outside-in</a:t>
            </a:r>
            <a:r>
              <a:rPr lang="ko-KR" altLang="en-US"/>
              <a:t>은 요구사항이 불명확할 때</a:t>
            </a:r>
            <a:r>
              <a:rPr lang="en-US" altLang="ko-KR"/>
              <a:t>, </a:t>
            </a:r>
            <a:r>
              <a:rPr lang="ko-KR" altLang="en-US"/>
              <a:t>사용자 입장에서 </a:t>
            </a:r>
            <a:r>
              <a:rPr lang="en-US" altLang="ko-KR"/>
              <a:t>"</a:t>
            </a:r>
            <a:r>
              <a:rPr lang="ko-KR" altLang="en-US"/>
              <a:t>이렇게 동작해야 해</a:t>
            </a:r>
            <a:r>
              <a:rPr lang="en-US" altLang="ko-KR"/>
              <a:t>"</a:t>
            </a:r>
            <a:r>
              <a:rPr lang="ko-KR" altLang="en-US"/>
              <a:t>를 먼저 정의하고 싶을 때 좋습니다</a:t>
            </a:r>
            <a:r>
              <a:rPr lang="en-US" altLang="ko-KR"/>
              <a:t>.</a:t>
            </a:r>
          </a:p>
          <a:p>
            <a:r>
              <a:rPr lang="en-US" altLang="ko-KR" b="1"/>
              <a:t>Inside-out</a:t>
            </a:r>
            <a:r>
              <a:rPr lang="ko-KR" altLang="en-US"/>
              <a:t>은 알고리즘이나 복잡한 비즈니스 로직처럼 핵심 도메인이 명확할 때 좋습니다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실제 예시 비교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═══════════════════════════════════════════════════════════════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Outside-in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시작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═══════════════════════════════════════════════════════════════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Controller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Service)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_API_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Mock&lt;IOrderService&gt;();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mockService.Setup(s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s.CreateOrder(It.IsAny&lt;OrderRequest&gt;()))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.Returns(new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OrderController(mockService.Object);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controller.CreateOrder(new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OrderRequest());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Assert.That(result.Id,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Service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Repository) ...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아래로 진행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═══════════════════════════════════════════════════════════════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Inside-out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모델부터 시작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═══════════════════════════════════════════════════════════════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모델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총액은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상품가격과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곱이다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order.AddItem(new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1000000),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order.CalculateTotal();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Assert.That(total, Is.EqualTo(2000000));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Repository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위로 진행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 적용 가이드 💡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실무에서는 두 방식을 상황에 따라 혼합하여 사용하는 것이 효과적입니다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새로운 기능은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흐름을 파악한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복잡한 로직은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접근하는 하이브리드 방식이 권장됩니다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 접근법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새 기능 시작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전체 흐름 파악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인수 테스트로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정의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복잡한 로직 발견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핵심 알고리즘 구현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단위 테스트로 견고하게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조립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실제 구현체로 통합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인수 테스트 통과 확인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상황에 맞게 유연하게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시작점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적합한 상황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|------|--------|-----------|-------------|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UI/API 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많음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불명확한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도메인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복잡한 알고리즘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둘 중 하나만 고집할 필요 없습니다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**하이브리드 방식**으로 상황에 맞게 유연하게 적용하세요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Outside-in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큰 그림을 그리고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Inside-out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세부 로직을 채워나가는 겁니다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en-US" altLang="ko-KR" b="1"/>
              <a:t>TDD </a:t>
            </a:r>
            <a:r>
              <a:rPr lang="ko-KR" altLang="en-US" b="1"/>
              <a:t>실전 요약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를 실무에서 효과적으로 적용하기 위한 핵심 원칙과 실천 방법입니다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배운 내용을 </a:t>
            </a:r>
            <a:r>
              <a:rPr lang="en-US" altLang="ko-KR"/>
              <a:t>4</a:t>
            </a:r>
            <a:r>
              <a:rPr lang="ko-KR" altLang="en-US"/>
              <a:t>가지 핵심 포인트로 정리해보겠습니다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🌱 작게 시작 </a:t>
            </a:r>
            <a:r>
              <a:rPr lang="en-US" altLang="ko-KR" b="1"/>
              <a:t>- </a:t>
            </a:r>
            <a:r>
              <a:rPr lang="ko-KR" altLang="en-US" b="1"/>
              <a:t>자주 피드백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작게 시작 </a:t>
            </a:r>
            <a:r>
              <a:rPr lang="en-US" altLang="ko-KR" b="1"/>
              <a:t>- </a:t>
            </a:r>
            <a:r>
              <a:rPr lang="ko-KR" altLang="en-US" b="1"/>
              <a:t>자주 피드백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구현 범위를 최소화하고 </a:t>
            </a:r>
            <a:r>
              <a:rPr lang="en-US" altLang="ko-KR" i="1"/>
              <a:t>Red-Green-Refactor </a:t>
            </a:r>
            <a:r>
              <a:rPr lang="ko-KR" altLang="en-US" i="1"/>
              <a:t>사이클을 빠르게 반복하여 방향성 검증을 수시로 진행하세요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작게 시작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피드백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잘못된 방식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큰 기능 설계 → 한 번에 구현 → 테스트 → 버그 발견 😱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...)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방식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🔴 → 🟢 →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→ 🟢 →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→ 🟢 →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...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피드백 루프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사이클 하나당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이내 권장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한 번에 큰 기능을 만들려고 하지 마세요</a:t>
            </a:r>
            <a:r>
              <a:rPr lang="en-US" altLang="ko-KR"/>
              <a:t>. </a:t>
            </a:r>
            <a:r>
              <a:rPr lang="ko-KR" altLang="en-US" b="1"/>
              <a:t>작은 단위</a:t>
            </a:r>
            <a:r>
              <a:rPr lang="ko-KR" altLang="en-US"/>
              <a:t>로 쪼개서 빠르게 피드백을 받는 게 핵심입니다</a:t>
            </a:r>
            <a:r>
              <a:rPr lang="en-US" altLang="ko-KR"/>
              <a:t>.</a:t>
            </a:r>
          </a:p>
          <a:p>
            <a:r>
              <a:rPr lang="ko-KR" altLang="en-US"/>
              <a:t>잘못된 방향으로 </a:t>
            </a:r>
            <a:r>
              <a:rPr lang="en-US" altLang="ko-KR"/>
              <a:t>2</a:t>
            </a:r>
            <a:r>
              <a:rPr lang="ko-KR" altLang="en-US"/>
              <a:t>시간 가는 것보다</a:t>
            </a:r>
            <a:r>
              <a:rPr lang="en-US" altLang="ko-KR"/>
              <a:t>, 5</a:t>
            </a:r>
            <a:r>
              <a:rPr lang="ko-KR" altLang="en-US"/>
              <a:t>분마다 방향을 확인하는 게 훨씬 효율적입니다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📝 테스트는 명세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테스트는 명세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테스트는 실행 가능한 문서입니다</a:t>
            </a:r>
            <a:r>
              <a:rPr lang="en-US" altLang="ko-KR" i="1"/>
              <a:t>. </a:t>
            </a:r>
            <a:r>
              <a:rPr lang="ko-KR" altLang="en-US" i="1"/>
              <a:t>테스트가 요구사항을 명확히 표현하면 코드의 의도가 분명해집니다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테스트는 명세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📄 일반 문서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구매 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시간이 지나면 코드와 불일치 😢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가능한 문서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VIP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구매시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Given: 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담았을 때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결제하면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20%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할인이 적용된다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코드와 동기화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실행하면 검증됨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✅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테스트 코드를 읽으면 </a:t>
            </a:r>
            <a:r>
              <a:rPr lang="ko-KR" altLang="en-US" b="1"/>
              <a:t>이 기능이 뭘 해야 하는지</a:t>
            </a:r>
            <a:r>
              <a:rPr lang="ko-KR" altLang="en-US"/>
              <a:t> 바로 알 수 있어야 합니다</a:t>
            </a:r>
            <a:r>
              <a:rPr lang="en-US" altLang="ko-KR"/>
              <a:t>.</a:t>
            </a:r>
          </a:p>
          <a:p>
            <a:r>
              <a:rPr lang="ko-KR" altLang="en-US"/>
              <a:t>테스트가 곧 </a:t>
            </a:r>
            <a:r>
              <a:rPr lang="ko-KR" altLang="en-US" b="1"/>
              <a:t>살아있는 문서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코드가 변경되면 테스트도 함께 변경되니까 항상 최신 상태를 유지하죠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🔄 리팩토링은 습관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리팩토링은 습관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통과 후에는 반드시 리팩토링하세요</a:t>
            </a:r>
            <a:r>
              <a:rPr lang="en-US" altLang="ko-KR" i="1"/>
              <a:t>. </a:t>
            </a:r>
            <a:r>
              <a:rPr lang="ko-KR" altLang="en-US" i="1"/>
              <a:t>코드 중복 제거와 가독성 향상에 지속적으로 투자하세요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리팩토링은 습관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 작성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최소한의 코드로 통과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↓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→ 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멈추지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⭐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체크리스트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메서드가 너무 길지 않나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변수명이 의도를 드러내나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나은 구조가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정리해야지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안 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Green </a:t>
            </a:r>
            <a:r>
              <a:rPr lang="ko-KR" altLang="en-US"/>
              <a:t>단계에서 멈추면 안 됩니다</a:t>
            </a:r>
            <a:r>
              <a:rPr lang="en-US" altLang="ko-KR"/>
              <a:t>!</a:t>
            </a:r>
          </a:p>
          <a:p>
            <a:r>
              <a:rPr lang="ko-KR" altLang="en-US"/>
              <a:t>테스트가 통과했으니 </a:t>
            </a:r>
            <a:r>
              <a:rPr lang="ko-KR" altLang="en-US" b="1"/>
              <a:t>안전하게 리팩토링</a:t>
            </a:r>
            <a:r>
              <a:rPr lang="ko-KR" altLang="en-US"/>
              <a:t>할 수 있는 거예요</a:t>
            </a:r>
            <a:r>
              <a:rPr lang="en-US" altLang="ko-KR"/>
              <a:t>. </a:t>
            </a:r>
            <a:r>
              <a:rPr lang="ko-KR" altLang="en-US"/>
              <a:t>이때 코드 품질을 높이지 않으면 기술 부채가 쌓입니다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나중에 정리해야지</a:t>
            </a:r>
            <a:r>
              <a:rPr lang="en-US" altLang="ko-KR"/>
              <a:t>"... </a:t>
            </a:r>
            <a:r>
              <a:rPr lang="ko-KR" altLang="en-US"/>
              <a:t>그 나중은 절대 안 옵니다</a:t>
            </a:r>
            <a:r>
              <a:rPr lang="en-US" altLang="ko-KR"/>
              <a:t>. </a:t>
            </a:r>
            <a:r>
              <a:rPr lang="ko-KR" altLang="en-US"/>
              <a:t>😅 </a:t>
            </a:r>
            <a:r>
              <a:rPr lang="ko-KR" altLang="en-US" b="1"/>
              <a:t>지금 바로</a:t>
            </a:r>
            <a:r>
              <a:rPr lang="ko-KR" altLang="en-US"/>
              <a:t> 정리하세요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📈 점진적 설계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점진적 설계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설계는 점진적으로 발전시키고</a:t>
            </a:r>
            <a:r>
              <a:rPr lang="en-US" altLang="ko-KR" i="1"/>
              <a:t>, YAGNI </a:t>
            </a:r>
            <a:r>
              <a:rPr lang="ko-KR" altLang="en-US" i="1"/>
              <a:t>원칙에 따라 과도한 추상화는 필요할 때만 도입하세요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점진적 설계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YAGNI = "You Aren't Gonna Need It"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그거 필요 없을 거야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설계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(Big Design Up Front)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확장할 것 같으니까 미리 인터페이스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만들자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개는 죽은 코드 😢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점진적 설계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구현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발견 → 리팩토링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발견 → 추상화 도입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필요할 때 필요한 만큼만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ko-KR" altLang="en-US"/>
              <a:t>미래를 예측해서 미리 다 만들어두지 마세요</a:t>
            </a:r>
            <a:r>
              <a:rPr lang="en-US" altLang="ko-KR"/>
              <a:t>.</a:t>
            </a:r>
          </a:p>
          <a:p>
            <a:r>
              <a:rPr lang="ko-KR" altLang="en-US" b="1"/>
              <a:t>지금 필요한 것</a:t>
            </a:r>
            <a:r>
              <a:rPr lang="ko-KR" altLang="en-US"/>
              <a:t>만 구현하고</a:t>
            </a:r>
            <a:r>
              <a:rPr lang="en-US" altLang="ko-KR"/>
              <a:t>, </a:t>
            </a:r>
            <a:r>
              <a:rPr lang="ko-KR" altLang="en-US"/>
              <a:t>필요해지면 그때 추상화를 도입하세요</a:t>
            </a:r>
            <a:r>
              <a:rPr lang="en-US" altLang="ko-KR"/>
              <a:t>.</a:t>
            </a:r>
          </a:p>
          <a:p>
            <a:r>
              <a:rPr lang="ko-KR" altLang="en-US"/>
              <a:t>설계는 테스트를 통해 </a:t>
            </a:r>
            <a:r>
              <a:rPr lang="ko-KR" altLang="en-US" b="1"/>
              <a:t>자연스럽게 발전</a:t>
            </a:r>
            <a:r>
              <a:rPr lang="ko-KR" altLang="en-US"/>
              <a:t>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4</a:t>
            </a:r>
            <a:r>
              <a:rPr lang="ko-KR" altLang="en-US" b="1"/>
              <a:t>가지 원칙 정리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🌱 작게 시작       빠른 사이클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피드백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📝 테스트는 명세   실행 가능한 문서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표현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리팩토링 습관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 반드시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부채 방지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📈 점진적 설계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YAGNI,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필요할 때 추상화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핵심 요약 💡</a:t>
            </a:r>
          </a:p>
          <a:p>
            <a:r>
              <a:rPr lang="en-US" altLang="ko-KR" i="1"/>
              <a:t>"TDD</a:t>
            </a:r>
            <a:r>
              <a:rPr lang="ko-KR" altLang="en-US" i="1"/>
              <a:t>는 단순한 테스트 작성 방법론이 아닌 소프트웨어 설계 접근법입니다</a:t>
            </a:r>
            <a:r>
              <a:rPr lang="en-US" altLang="ko-KR" i="1"/>
              <a:t>. </a:t>
            </a:r>
            <a:r>
              <a:rPr lang="ko-KR" altLang="en-US" i="1"/>
              <a:t>테스트부터 시작하면 명확한 인터페이스와 유지보수 가능한 코드를 작성할 수 있습니다</a:t>
            </a:r>
            <a:r>
              <a:rPr lang="en-US" altLang="ko-KR" i="1"/>
              <a:t>. </a:t>
            </a:r>
            <a:r>
              <a:rPr lang="ko-KR" altLang="en-US" i="1"/>
              <a:t>절차보다 원칙을 이해하고 유연하게 적용하는 것이 중요합니다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본질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≠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기법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소프트웨어 설계 접근법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테스트 먼저 → 명확한 인터페이스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→ 유지보수 가능한 코드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→ 자신감 있는 리팩토링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→ 살아있는 문서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절차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(Red-Green-Refactor)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이렇게 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이해하세요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TDD </a:t>
            </a:r>
            <a:r>
              <a:rPr lang="ko-KR" altLang="en-US" b="1"/>
              <a:t>실전 </a:t>
            </a:r>
            <a:r>
              <a:rPr lang="en-US" altLang="ko-KR" b="1"/>
              <a:t>4</a:t>
            </a:r>
            <a:r>
              <a:rPr lang="ko-KR" altLang="en-US" b="1"/>
              <a:t>원칙</a:t>
            </a:r>
            <a:r>
              <a:rPr lang="en-US" altLang="ko-KR"/>
              <a:t>:</a:t>
            </a:r>
          </a:p>
          <a:p>
            <a:r>
              <a:rPr lang="ko-KR" altLang="en-US"/>
              <a:t>🌱 </a:t>
            </a:r>
            <a:r>
              <a:rPr lang="ko-KR" altLang="en-US" b="1"/>
              <a:t>작게 시작</a:t>
            </a:r>
            <a:r>
              <a:rPr lang="ko-KR" altLang="en-US"/>
              <a:t> </a:t>
            </a:r>
            <a:r>
              <a:rPr lang="en-US" altLang="ko-KR"/>
              <a:t>- 5</a:t>
            </a:r>
            <a:r>
              <a:rPr lang="ko-KR" altLang="en-US"/>
              <a:t>분 사이클로 빠른 피드백</a:t>
            </a:r>
          </a:p>
          <a:p>
            <a:r>
              <a:rPr lang="ko-KR" altLang="en-US"/>
              <a:t>📝 </a:t>
            </a:r>
            <a:r>
              <a:rPr lang="ko-KR" altLang="en-US" b="1"/>
              <a:t>테스트는 명세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실행 가능한 살아있는 문서</a:t>
            </a:r>
          </a:p>
          <a:p>
            <a:r>
              <a:rPr lang="ko-KR" altLang="en-US"/>
              <a:t>🔄 </a:t>
            </a:r>
            <a:r>
              <a:rPr lang="ko-KR" altLang="en-US" b="1"/>
              <a:t>리팩토링 습관</a:t>
            </a:r>
            <a:r>
              <a:rPr lang="ko-KR" altLang="en-US"/>
              <a:t> </a:t>
            </a:r>
            <a:r>
              <a:rPr lang="en-US" altLang="ko-KR"/>
              <a:t>- Green </a:t>
            </a:r>
            <a:r>
              <a:rPr lang="ko-KR" altLang="en-US"/>
              <a:t>후 반드시 개선</a:t>
            </a:r>
          </a:p>
          <a:p>
            <a:r>
              <a:rPr lang="ko-KR" altLang="en-US"/>
              <a:t>📈 </a:t>
            </a:r>
            <a:r>
              <a:rPr lang="ko-KR" altLang="en-US" b="1"/>
              <a:t>점진적 설계</a:t>
            </a:r>
            <a:r>
              <a:rPr lang="ko-KR" altLang="en-US"/>
              <a:t> </a:t>
            </a:r>
            <a:r>
              <a:rPr lang="en-US" altLang="ko-KR"/>
              <a:t>- YAGNI, </a:t>
            </a:r>
            <a:r>
              <a:rPr lang="ko-KR" altLang="en-US"/>
              <a:t>필요할 때만 추상화</a:t>
            </a:r>
          </a:p>
          <a:p>
            <a:r>
              <a:rPr lang="en-US" altLang="ko-KR"/>
              <a:t>TDD</a:t>
            </a:r>
            <a:r>
              <a:rPr lang="ko-KR" altLang="en-US"/>
              <a:t>는 단순히 </a:t>
            </a:r>
            <a:r>
              <a:rPr lang="en-US" altLang="ko-KR"/>
              <a:t>"</a:t>
            </a:r>
            <a:r>
              <a:rPr lang="ko-KR" altLang="en-US"/>
              <a:t>테스트 먼저 쓰기</a:t>
            </a:r>
            <a:r>
              <a:rPr lang="en-US" altLang="ko-KR"/>
              <a:t>"</a:t>
            </a:r>
            <a:r>
              <a:rPr lang="ko-KR" altLang="en-US"/>
              <a:t>가 아닙니다</a:t>
            </a:r>
            <a:r>
              <a:rPr lang="en-US" altLang="ko-KR"/>
              <a:t>. </a:t>
            </a:r>
            <a:r>
              <a:rPr lang="ko-KR" altLang="en-US" b="1"/>
              <a:t>설계 방법론</a:t>
            </a:r>
            <a:r>
              <a:rPr lang="ko-KR" altLang="en-US"/>
              <a:t>이자 </a:t>
            </a:r>
            <a:r>
              <a:rPr lang="ko-KR" altLang="en-US" b="1"/>
              <a:t>개발 철학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절차에 얽매이지 말고</a:t>
            </a:r>
            <a:r>
              <a:rPr lang="en-US" altLang="ko-KR"/>
              <a:t>, </a:t>
            </a:r>
            <a:r>
              <a:rPr lang="ko-KR" altLang="en-US" b="1"/>
              <a:t>원칙을 이해</a:t>
            </a:r>
            <a:r>
              <a:rPr lang="ko-KR" altLang="en-US"/>
              <a:t>하고 </a:t>
            </a:r>
            <a:r>
              <a:rPr lang="ko-KR" altLang="en-US" b="1"/>
              <a:t>유연하게 적용</a:t>
            </a:r>
            <a:r>
              <a:rPr lang="ko-KR" altLang="en-US"/>
              <a:t>하세요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예외 처리 테스트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정상적인 동작만 테스트하면 안 됩니다</a:t>
            </a:r>
            <a:r>
              <a:rPr lang="en-US" altLang="ko-KR"/>
              <a:t>! </a:t>
            </a:r>
            <a:r>
              <a:rPr lang="ko-KR" altLang="en-US" b="1"/>
              <a:t>예외 상황</a:t>
            </a:r>
            <a:r>
              <a:rPr lang="ko-KR" altLang="en-US"/>
              <a:t>을 어떻게 처리하는지도 검증해야 하죠</a:t>
            </a:r>
            <a:r>
              <a:rPr lang="en-US" altLang="ko-KR"/>
              <a:t>.</a:t>
            </a:r>
          </a:p>
          <a:p>
            <a:r>
              <a:rPr lang="ko-KR" altLang="en-US"/>
              <a:t>예외 테스트의 </a:t>
            </a:r>
            <a:r>
              <a:rPr lang="en-US" altLang="ko-KR"/>
              <a:t>4</a:t>
            </a:r>
            <a:r>
              <a:rPr lang="ko-KR" altLang="en-US"/>
              <a:t>가지 핵심 포인트를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🎯 </a:t>
            </a:r>
            <a:r>
              <a:rPr lang="en-US" altLang="ko-KR" b="1"/>
              <a:t>Assert.Throws / ThrowsAsync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Assert.Throws / ThrowsAsync</a:t>
            </a:r>
            <a:r>
              <a:rPr lang="en-US" altLang="ko-KR"/>
              <a:t> 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예외 발생 명시적 검증</a:t>
            </a:r>
            <a:r>
              <a:rPr lang="en-US" altLang="ko-KR" i="1"/>
              <a:t>. </a:t>
            </a:r>
            <a:r>
              <a:rPr lang="ko-KR" altLang="en-US" i="1"/>
              <a:t>비동기 메서드는 </a:t>
            </a:r>
            <a:r>
              <a:rPr lang="en-US" altLang="ko-KR" i="1"/>
              <a:t>ThrowsAsync </a:t>
            </a:r>
            <a:r>
              <a:rPr lang="ko-KR" altLang="en-US" i="1"/>
              <a:t>사용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동기 메서드 예외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Divide_ByZero_ThrowsDivideByZeroException()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calculator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Assert.Throws&lt;DivideByZeroException&gt;(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calculator.Divide(10,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메서드 예외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async Task GetUser_NotFound_ThrowsNotFoundException()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Assert.ThrowsAsync&lt;NotFoundException&gt;(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async () =&gt; await service.GetUserAsync(999));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Assert.Throws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Assert.Throws&lt;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예외타입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예외발생코드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Assert.ThrowsAsync&lt;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예외타입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&gt;(async () =&gt; await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());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지정한 예외가 발생하면 → 테스트 통과 ✅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예외가 발생하지 않으면 → 테스트 실패 ❌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예외가 발생하면 → 테스트 실패 ❌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⚠️ 예외 메시지 </a:t>
            </a:r>
            <a:r>
              <a:rPr lang="en-US" altLang="ko-KR" b="1"/>
              <a:t>/ </a:t>
            </a:r>
            <a:r>
              <a:rPr lang="ko-KR" altLang="en-US" b="1"/>
              <a:t>도메인 예외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예외 메시지 </a:t>
            </a:r>
            <a:r>
              <a:rPr lang="en-US" altLang="ko-KR" b="1"/>
              <a:t>/ </a:t>
            </a:r>
            <a:r>
              <a:rPr lang="ko-KR" altLang="en-US" b="1"/>
              <a:t>도메인 예외</a:t>
            </a:r>
            <a:r>
              <a:rPr lang="ko-KR" altLang="en-US"/>
              <a:t> 검증입니다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메시지 내용 및 속성 검증</a:t>
            </a:r>
            <a:r>
              <a:rPr lang="en-US" altLang="ko-KR" i="1"/>
              <a:t>. </a:t>
            </a:r>
            <a:r>
              <a:rPr lang="ko-KR" altLang="en-US" i="1"/>
              <a:t>도메인 특화 예외 클래스 활용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메시지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Withdraw_InsufficientFunds_ThrowsWithMessage()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account = new BankAccount(1000);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ex = Assert.Throws&lt;InsufficientFundsException&gt;(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account.Withdraw(5000));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Assert.That(ex.Message, Does.Contain("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잔액 부족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예외 속성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Order_InvalidQuantity_ThrowsWithDetails()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OrderService();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ex = Assert.Throws&lt;InvalidOrderException&gt;(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service.CreateOrder(productId: 1, quantity: -5));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예외의 추가 속성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Assert.That(ex.ErrorCode, Is.EqualTo("INVALID_QUANTITY"));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Assert.That(ex.InvalidValue, Is.EqualTo(-5));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특화 예외 클래스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예외 대신 도메인 예외 사용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 new Exception("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잔액 부족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 new InsufficientFundsException(balance, amount);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예외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InsufficientFundsException : Exception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decimal Balance { get; }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decimal RequestedAmount { get; }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string ErrorCode =&gt; "INSUFFICIENT_FUNDS";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타입으로 원인 구분 가능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요청금액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포함 가능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상세 검증 가능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✖️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경로 우선 검증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**실패 경로 우선 검증**입니다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케이스 먼저 작성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경계조건 테스트에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경로 우선 검증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작성 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실패 케이스 먼저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값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범위 초과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경계값 테스트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정상 케이스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Happy Path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실패 케이스를 먼저 작성하면 방어적 코드가 자연스럽게 작성됨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케이스 우선 작성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UserServiceTests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케이스 먼저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CreateUser_NullEmail_ThrowsArgumentNullException()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Assert.Throws&lt;ArgumentNullException&gt;(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() =&gt; _service.CreateUser(null));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CreateUser_EmptyEmail_ThrowsArgumentException()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Assert.Throws&lt;ArgumentException&gt;(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() =&gt; _service.CreateUser(""));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CreateUser_InvalidEmailFormat_ThrowsValidationException()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Assert.Throws&lt;ValidationException&gt;(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() =&gt; _service.CreateUser("invalid-email"));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CreateUser_EmailTooLong_ThrowsValidationException()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longEmail = new string('a', 256) + "@test.com";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Assert.Throws&lt;ValidationException&gt;(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() =&gt; _service.CreateUser(longEmail));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3️⃣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케이스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CreateUser_ValidEmail_ReturnsUser()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user = _service.CreateUser("test@example.com");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Assert.That(user, Is.Not.Null);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&lt;/&gt; </a:t>
            </a:r>
            <a:r>
              <a:rPr lang="ko-KR" altLang="en-US" b="1"/>
              <a:t>예외 처리 패턴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예외 처리 패턴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"try-catch </a:t>
            </a:r>
            <a:r>
              <a:rPr lang="ko-KR" altLang="en-US" i="1"/>
              <a:t>블록 테스트</a:t>
            </a:r>
            <a:r>
              <a:rPr lang="en-US" altLang="ko-KR" i="1"/>
              <a:t>. </a:t>
            </a:r>
            <a:r>
              <a:rPr lang="ko-KR" altLang="en-US" i="1"/>
              <a:t>예외 변환 및 복구 로직 검증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변환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하위 예외 → 상위 예외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SaveOrder_DatabaseError_ThrowsServiceException()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DB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SqlException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발생하도록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_mockRepository.Setup(r =&gt; r.Save(It.IsAny&lt;Order&gt;()))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.Throws(new SqlException("Connection failed"));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Then: ServiceException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변환되는지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ex = Assert.Throws&lt;ServiceException&gt;(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_service.SaveOrder(new Order()));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예외가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InnerException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포함되는지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Assert.That(ex.InnerException, Is.TypeOf&lt;SqlException&gt;());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복구 테스트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로직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SendEmail_FailsTwiceThenSucceeds_RetriesAndCompletes()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실패 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성공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callCount = 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_mockEmailClient.Setup(c =&gt; c.Send(It.IsAny&lt;Email&gt;()))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.Callback(() =&gt;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callCount++;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if (callCount &lt; 3)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throw new EmailException("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일시적 오류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_service.SendEmailWithRetry(new Email());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호출되었는지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Assert.That(callCount, Is.EqualTo(3));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패턴들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예외 변환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(Exception Translation)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SqlException → ServiceException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하위 레이어 예외를 상위 레이어 예외로 변환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예외 복구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(Exception Recovery)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기본값 반환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예외 발생 시 복구 시도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예외 로깅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(Exception Logging)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정보 기록 후 재발생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디버깅을 위한 정보 보존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예외 무시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(Exception Suppression)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예외는 무시하고 계속 진행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주의해서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예시 💡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코드 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Divide_ByZero_ThrowsDivideByZeroException()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calculator = new Calculator();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Assert.Throws&lt;DivideByZeroException&gt;(() =&gt; calculator.Divide(10, 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분석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calculator = new Calculator();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대상 객체 생성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Assert.Throws&lt;DivideByZeroException&gt;(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"DivideByZeroException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발생해야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 선언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calculator.Divide(10, 0)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10 ÷ 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람다 표현식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);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DivideByZeroException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발생하면 테스트 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코드는 예외를 던져야 정상이다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검증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체크리스트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체크리스트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올바른 예외 타입이 발생하는가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메시지가 적절한가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예외의 추가 속성이 올바른가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입력을 처리하는가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경계값에서 예외가 발생하는가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변환이 올바르게 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InnerException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보존되는가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ThrowsAsync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**예외 처리 테스트**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Assert.Throws**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발생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ThrowsAsync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⚠️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예외**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메시지 내용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속성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✖️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**실패 경로 우선**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실패 케이스 먼저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경계조건 집중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&lt;/&gt;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**예외 처리 패턴**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복구 로직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 Path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테스트하지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실패 케이스를 먼저 작성하면 더 견고한 코드가 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경계값</a:t>
            </a:r>
            <a:r>
              <a:rPr lang="en-US" altLang="ko-KR" b="1"/>
              <a:t>/</a:t>
            </a:r>
            <a:r>
              <a:rPr lang="ko-KR" altLang="en-US" b="1"/>
              <a:t>동등 분할</a:t>
            </a:r>
            <a:r>
              <a:rPr lang="ko-KR" altLang="en-US"/>
              <a:t>을 배워보겠습니다</a:t>
            </a:r>
            <a:r>
              <a:rPr lang="en-US" altLang="ko-KR"/>
              <a:t>.</a:t>
            </a:r>
          </a:p>
          <a:p>
            <a:r>
              <a:rPr lang="ko-KR" altLang="en-US"/>
              <a:t>이것은 </a:t>
            </a:r>
            <a:r>
              <a:rPr lang="ko-KR" altLang="en-US" b="1"/>
              <a:t>테스트 케이스 설계 기법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모든 입력값을 테스트할 수는 없잖아요</a:t>
            </a:r>
            <a:r>
              <a:rPr lang="en-US" altLang="ko-KR"/>
              <a:t>? </a:t>
            </a:r>
            <a:r>
              <a:rPr lang="ko-KR" altLang="en-US"/>
              <a:t>그래서 </a:t>
            </a:r>
            <a:r>
              <a:rPr lang="ko-KR" altLang="en-US" b="1"/>
              <a:t>효율적으로 테스트 케이스를 선별</a:t>
            </a:r>
            <a:r>
              <a:rPr lang="ko-KR" altLang="en-US"/>
              <a:t>하는 방법이 필요합니다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케이스 설계 기법</a:t>
            </a:r>
          </a:p>
          <a:p>
            <a:r>
              <a:rPr lang="en-US" altLang="ko-KR" i="1"/>
              <a:t>"</a:t>
            </a:r>
            <a:r>
              <a:rPr lang="ko-KR" altLang="en-US" i="1"/>
              <a:t>경계값 분석은 경계 부근에서 결함이 발생하기 쉽다는 점을 활용해 경계값을 집중 테스트하며</a:t>
            </a:r>
            <a:r>
              <a:rPr lang="en-US" altLang="ko-KR" i="1"/>
              <a:t>, </a:t>
            </a:r>
            <a:r>
              <a:rPr lang="ko-KR" altLang="en-US" i="1"/>
              <a:t>동등 분할은 입력값을 동등한 그룹으로 나누어 각 그룹에서 대표값만 테스트합니다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테스트 케이스 설계의 필요성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1~100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범위를 테스트해야 한다면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값 테스트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2, 3, 4, ... 98, 99, 100 (100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😱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전략적 선별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(5~10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버그는 어디서 발생할까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대부분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부근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📏 경계값 분석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경계값 분석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최소값</a:t>
            </a:r>
            <a:r>
              <a:rPr lang="en-US" altLang="ko-KR" i="1"/>
              <a:t>, </a:t>
            </a:r>
            <a:r>
              <a:rPr lang="ko-KR" altLang="en-US" i="1"/>
              <a:t>최대값</a:t>
            </a:r>
            <a:r>
              <a:rPr lang="en-US" altLang="ko-KR" i="1"/>
              <a:t>, </a:t>
            </a:r>
            <a:r>
              <a:rPr lang="ko-KR" altLang="en-US" i="1"/>
              <a:t>경계 내</a:t>
            </a:r>
            <a:r>
              <a:rPr lang="en-US" altLang="ko-KR" i="1"/>
              <a:t>/</a:t>
            </a:r>
            <a:r>
              <a:rPr lang="ko-KR" altLang="en-US" i="1"/>
              <a:t>외부 값 테스트</a:t>
            </a:r>
            <a:r>
              <a:rPr lang="en-US" altLang="ko-KR" i="1"/>
              <a:t>. </a:t>
            </a:r>
            <a:r>
              <a:rPr lang="ko-KR" altLang="en-US" i="1"/>
              <a:t>예</a:t>
            </a:r>
            <a:r>
              <a:rPr lang="en-US" altLang="ko-KR" i="1"/>
              <a:t>: 1~100 </a:t>
            </a:r>
            <a:r>
              <a:rPr lang="ko-KR" altLang="en-US" i="1"/>
              <a:t>범위면 </a:t>
            </a:r>
            <a:r>
              <a:rPr lang="en-US" altLang="ko-KR" i="1"/>
              <a:t>0, 1, 100, 101 </a:t>
            </a:r>
            <a:r>
              <a:rPr lang="ko-KR" altLang="en-US" i="1"/>
              <a:t>테스트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경계값 분석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(Boundary Value Analysis)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 범위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 ~ 100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     경계      유효 범위      경계     경계 외부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──────┼──────────┼────────────────────┼──────────┼──────────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         1                   100        101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↑          ↑                    ↑          ↑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무효        최소값              최대값      무효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테스트할 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0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 미만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무효 ❌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1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 ✅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100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 ✅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101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 초과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무효 ❌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경계 바로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직후에서 버그가 많이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(off-by-one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분석 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 유효성 검사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(0~100)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ValidateScore_BelowMinimum_ReturnsFalse()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Assert.That(validator.IsValid(-1), Is.False);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 미만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ValidateScore_AtMinimum_ReturnsTrue()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Assert.That(validator.IsValid(0), Is.True);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ValidateScore_AtMaximum_ReturnsTrue()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Assert.That(validator.IsValid(100), Is.True);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ValidateScore_AboveMaximum_ReturnsFalse()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Assert.That(validator.IsValid(101), Is.False);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 초과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🔲 동등 분할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**동등 분할**입니다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 동작 입력을 그룹화하고 각 그룹당 대표 케이스만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0,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동등 분할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(Equivalence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Partitioning)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아이디어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그룹 내의 값들은 동일하게 동작한다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그룹당 하나만 테스트하면 충분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입력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┌─────────────┬─────────────┬─────────────┐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음수   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   양수      │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∞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0)   │    {0}      │  (0,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∞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├─────────────┼─────────────┼─────────────┤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-5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└─────────────┴─────────────┴─────────────┘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테스트하면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-1, -10, -100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같은 결과라고 가정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동등 분할 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부호 판별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그룹 대표값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[TestCase(-1)]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그룹 대표값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GetSign_NegativeNumber_ReturnsMinusOne(int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Assert.That(calculator.GetSign(number), Is.EqualTo(-1));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[TestCase(0)]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0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GetSign_Zero_ReturnsZero(int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Assert.That(calculator.GetSign(number), Is.EqualTo(0));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[TestCase(1)]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 그룹 대표값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[TestCase(100)]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 그룹 대표값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GetSign_PositiveNumber_ReturnsOne(int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Assert.That(calculator.GetSign(number),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결정 테이블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**결정 테이블**입니다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입력 조건 조합을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비즈니스 규칙이나 조건 테스트에 적합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 테이블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(Decision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정책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┌──────────────┬───────┬───────┬───────┬───────┐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조건   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Case1 │ Case2 │ Case3 │ Case4 │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├──────────────┼───────┼───────┼───────┼───────┤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   │  Y    │  N    │  N    │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   │  N    │  Y    │  N    │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├──────────────┼───────┼───────┼───────┼───────┤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       │       │       │       │       │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├──────────────┼───────┼───────┼───────┼───────┤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할인율  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└──────────────┴───────┴───────┴───────┴───────┘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모든 조건 조합을 체계적으로 테스트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 테이블 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정책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[TestCase(true,  true,  20)]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VIP + 10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[TestCase(true,  false, 10)]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VIP + 10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미만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[TestCase(false, true,  5)]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[TestCase(false, false, 0)]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+ 10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미만 →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GetDiscountRate_VariousConditions_ReturnsCorrectRate(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isVip, 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isOver100K,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expectedRate)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IsVip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isVip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amount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isOver100K ? 150000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50000;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discountService.GetDiscountRate(customer, amount);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Assert.That(rate, Is.EqualTo(expectedRate));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실전 예시</a:t>
            </a:r>
            <a:r>
              <a:rPr lang="en-US" altLang="ko-KR" b="1"/>
              <a:t>: </a:t>
            </a:r>
            <a:r>
              <a:rPr lang="ko-KR" altLang="en-US" b="1"/>
              <a:t>나이 확인 기능 </a:t>
            </a:r>
            <a:r>
              <a:rPr lang="en-US" altLang="ko-KR" b="1"/>
              <a:t>(18~65</a:t>
            </a:r>
            <a:r>
              <a:rPr lang="ko-KR" altLang="en-US" b="1"/>
              <a:t>세</a:t>
            </a:r>
            <a:r>
              <a:rPr lang="en-US" altLang="ko-KR" b="1"/>
              <a:t>)</a:t>
            </a:r>
          </a:p>
          <a:p>
            <a:r>
              <a:rPr lang="ko-KR" altLang="en-US"/>
              <a:t>실전 예시를 보겠습니다</a:t>
            </a:r>
            <a:r>
              <a:rPr lang="en-US" altLang="ko-KR"/>
              <a:t>. </a:t>
            </a:r>
            <a:r>
              <a:rPr lang="en-US" altLang="ko-KR" b="1"/>
              <a:t>18</a:t>
            </a:r>
            <a:r>
              <a:rPr lang="ko-KR" altLang="en-US" b="1"/>
              <a:t>세 이상 </a:t>
            </a:r>
            <a:r>
              <a:rPr lang="en-US" altLang="ko-KR" b="1"/>
              <a:t>65</a:t>
            </a:r>
            <a:r>
              <a:rPr lang="ko-KR" altLang="en-US" b="1"/>
              <a:t>세 이하</a:t>
            </a:r>
            <a:r>
              <a:rPr lang="ko-KR" altLang="en-US"/>
              <a:t>만 서비스 이용 가능한 경우입니다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[Theory]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[InlineData(17, false)]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 미만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[InlineData(18, true)]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[InlineData(40, true)]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동등 분할 내부값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[InlineData(65, true)]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[InlineData(66, false)]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외부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 초과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IsEligible_ChecksAgeBoundaries(int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age, 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Assert.Equal(expected, userService.IsEligible(age));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케이스 분석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유효 범위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무효        유효 범위                    무효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←────────┼─────────────────────────────┼────────→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┌──────┬───────────────────────────┬──────────┐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 │ 설명                      │ 기대결과 │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├──────┼───────────────────────────┼──────────┤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경계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 미만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│  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 ← 경계값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 ← 경계값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동등 분할 내부값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 ← 동등분할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 ← 경계값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경계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상한 초과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│  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 ← 경계값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└──────┴───────────────────────────┴──────────┘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테스트로 전체 범위를 효과적으로 커버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기법 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기법 비교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기법          초점              사용 시점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경계값 분석   경계 부근 값      범위가 있는 입력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(min, max ±1)     off-by-one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 방지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동등 분할     그룹 대표값       유사하게 동작하는 입력 그룹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테스트 케이스 수 줄이기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결정 테이블   조건 조합         복잡한 비즈니스 규칙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여러 조건의 조합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실무에서는 세 가지를 조합해서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케이스 설계 기법**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📏 **경계값 분석**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최소값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직전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🔲 **동등 분할**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그룹당 대표값만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**결정 테이블**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조건 조합을 체계적으로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모든 값을 테스트할 수 없으니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**전략적으로 테스트 케이스를 선별**하는 것이 핵심입니다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특히 **경계값**에서 버그가 많이 발생하니까 꼭 챙기세요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비동기</a:t>
            </a:r>
            <a:r>
              <a:rPr lang="en-US" altLang="ko-KR" b="1"/>
              <a:t>/</a:t>
            </a:r>
            <a:r>
              <a:rPr lang="ko-KR" altLang="en-US" b="1"/>
              <a:t>병렬 테스트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요즘 대부분의 애플리케이션이 비동기 처리를 사용하죠</a:t>
            </a:r>
            <a:r>
              <a:rPr lang="en-US" altLang="ko-KR"/>
              <a:t>? API </a:t>
            </a:r>
            <a:r>
              <a:rPr lang="ko-KR" altLang="en-US"/>
              <a:t>호출</a:t>
            </a:r>
            <a:r>
              <a:rPr lang="en-US" altLang="ko-KR"/>
              <a:t>, </a:t>
            </a:r>
            <a:r>
              <a:rPr lang="ko-KR" altLang="en-US"/>
              <a:t>파일 </a:t>
            </a:r>
            <a:r>
              <a:rPr lang="en-US" altLang="ko-KR"/>
              <a:t>I/O, </a:t>
            </a:r>
            <a:r>
              <a:rPr lang="ko-KR" altLang="en-US"/>
              <a:t>데이터베이스 접근 등</a:t>
            </a:r>
            <a:r>
              <a:rPr lang="en-US" altLang="ko-KR"/>
              <a:t>...</a:t>
            </a:r>
          </a:p>
          <a:p>
            <a:r>
              <a:rPr lang="ko-KR" altLang="en-US"/>
              <a:t>비동기 코드를 </a:t>
            </a:r>
            <a:r>
              <a:rPr lang="ko-KR" altLang="en-US" b="1"/>
              <a:t>어떻게 테스트하는지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 핵심 포인트를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⚡ </a:t>
            </a:r>
            <a:r>
              <a:rPr lang="en-US" altLang="ko-KR" b="1"/>
              <a:t>async/await </a:t>
            </a:r>
            <a:r>
              <a:rPr lang="ko-KR" altLang="en-US" b="1"/>
              <a:t>테스트 패턴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async/await </a:t>
            </a:r>
            <a:r>
              <a:rPr lang="ko-KR" altLang="en-US" b="1"/>
              <a:t>테스트 패턴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비동기 메서드는 </a:t>
            </a:r>
            <a:r>
              <a:rPr lang="en-US" altLang="ko-KR" i="1"/>
              <a:t>async Task </a:t>
            </a:r>
            <a:r>
              <a:rPr lang="ko-KR" altLang="en-US" i="1"/>
              <a:t>반환 형식으로 작성</a:t>
            </a:r>
            <a:r>
              <a:rPr lang="en-US" altLang="ko-KR" i="1"/>
              <a:t>. </a:t>
            </a:r>
            <a:r>
              <a:rPr lang="ko-KR" altLang="en-US" i="1"/>
              <a:t>반드시 </a:t>
            </a:r>
            <a:r>
              <a:rPr lang="en-US" altLang="ko-KR" i="1"/>
              <a:t>await </a:t>
            </a:r>
            <a:r>
              <a:rPr lang="ko-KR" altLang="en-US" i="1"/>
              <a:t>사용 </a:t>
            </a:r>
            <a:r>
              <a:rPr lang="en-US" altLang="ko-KR" i="1"/>
              <a:t>(fire-and-forget </a:t>
            </a:r>
            <a:r>
              <a:rPr lang="ko-KR" altLang="en-US" i="1"/>
              <a:t>지양</a:t>
            </a:r>
            <a:r>
              <a:rPr lang="en-US" altLang="ko-KR" i="1"/>
              <a:t>). </a:t>
            </a:r>
            <a:r>
              <a:rPr lang="ko-KR" altLang="en-US" i="1"/>
              <a:t>테스트 메서드에도 </a:t>
            </a:r>
            <a:r>
              <a:rPr lang="en-US" altLang="ko-KR" i="1"/>
              <a:t>async </a:t>
            </a:r>
            <a:r>
              <a:rPr lang="ko-KR" altLang="en-US" i="1"/>
              <a:t>키워드 필수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방식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fire-and-forget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GetUser_WrongWay()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service.GetUserAsync(1);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await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기다리지 않음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끝나도 비동기 작업은 아직 실행 중일 수 있음 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방식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async/await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GetUser_CorrectWay()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service.GetUserAsync(1);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await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완료 대기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Assert.That(user, Is.Not.Null);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Assert.That(user.Id,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async/await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패턴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필수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 메서드에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키워드 추가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TestMethod()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반환 타입은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(void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❌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→ 예외 추적 불가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동작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비동기 호출에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필수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service.GetUserAsync(1);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예외 테스트는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Assert.ThrowsAsync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Assert.ThrowsAsync&lt;Exception&gt;(async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...)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⏱️ 타임아웃 처리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타임아웃 처리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"Task.Delay</a:t>
            </a:r>
            <a:r>
              <a:rPr lang="ko-KR" altLang="en-US" i="1"/>
              <a:t>로 비동기 동작 시뮬레이션</a:t>
            </a:r>
            <a:r>
              <a:rPr lang="en-US" altLang="ko-KR" i="1"/>
              <a:t>. NUnit: [Timeout(1000)] </a:t>
            </a:r>
            <a:r>
              <a:rPr lang="ko-KR" altLang="en-US" i="1"/>
              <a:t>어트리뷰트</a:t>
            </a:r>
            <a:r>
              <a:rPr lang="en-US" altLang="ko-KR" i="1"/>
              <a:t>. xUnit: TimeoutAttribute </a:t>
            </a:r>
            <a:r>
              <a:rPr lang="ko-KR" altLang="en-US" i="1"/>
              <a:t>패키지 설치 필요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NUnit: Timeout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[Timeout(1000)]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(1000ms)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내에 완료되어야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GetUser_ShouldCompleteWithinTimeout()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Assert.That(user, Is.Not.Null);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작업 감지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[Timeout(500)]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SlowOperation_ShouldTimeout()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500ms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초과하면 실패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Task.Delay(100);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100ms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대기 → 통과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처리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[Timeout(1000)]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밀리초 단위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제공 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 필요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Xunit.Extensions.Ordering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직접 구현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Task.Delay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동작 시뮬레이션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Task.Delay(100);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100ms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대기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타임아웃과 함께 사용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CancellationTokenSource(1000);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service.DoWorkAsync(cts.Token);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타임아웃 테스트로 성능 저하 조기 발견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🚫 취소 토큰 테스트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취소 토큰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"CancellationTokenSource</a:t>
            </a:r>
            <a:r>
              <a:rPr lang="ko-KR" altLang="en-US" i="1"/>
              <a:t>로 취소 시뮬레이션</a:t>
            </a:r>
            <a:r>
              <a:rPr lang="en-US" altLang="ko-KR" i="1"/>
              <a:t>. token.ThrowIfCancellationRequested() </a:t>
            </a:r>
            <a:r>
              <a:rPr lang="ko-KR" altLang="en-US" i="1"/>
              <a:t>검증</a:t>
            </a:r>
            <a:r>
              <a:rPr lang="en-US" altLang="ko-KR" i="1"/>
              <a:t>. </a:t>
            </a:r>
            <a:r>
              <a:rPr lang="ko-KR" altLang="en-US" i="1"/>
              <a:t>취소 후 </a:t>
            </a:r>
            <a:r>
              <a:rPr lang="en-US" altLang="ko-KR" i="1"/>
              <a:t>OperationCanceledException </a:t>
            </a:r>
            <a:r>
              <a:rPr lang="ko-KR" altLang="en-US" i="1"/>
              <a:t>기대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토큰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LongRunningOperation_WhenCancelled_ThrowsOperationCanceledException()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토큰 소스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 취소 요청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cts.Cancel();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OperationCanceledException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 확인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Assert.ThrowsAsync&lt;OperationCanceledException&gt;(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service.ProcessDataAsync(cts.Token));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후 자동 취소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Operation_WhenTimedOut_IsCancelled()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500ms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 자동 취소되는 토큰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CancellationTokenSource(500);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타임아웃으로 인한 취소 예외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Assert.ThrowsAsync&lt;OperationCanceledException&gt;(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service.VerySlowOperationAsync(cts.Token));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토큰 테스트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 취소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CancellationTokenSource();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cts.Cancel();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 취소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후 자동 취소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CancellationTokenSource(1000);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후 취소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코드에서 취소 확인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DoWorkAsync(CancellationToken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token)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token.ThrowIfCancellationRequested();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시 예외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   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(token.IsCancellationRequested) return;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장시간 작업에는 반드시 취소 토큰 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🔒 스레드 안전성 검증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스레드 안전성 검증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"Parallel.ForEach</a:t>
            </a:r>
            <a:r>
              <a:rPr lang="ko-KR" altLang="en-US" i="1"/>
              <a:t>로 경쟁 상태 테스트</a:t>
            </a:r>
            <a:r>
              <a:rPr lang="en-US" altLang="ko-KR" i="1"/>
              <a:t>. Interlocked </a:t>
            </a:r>
            <a:r>
              <a:rPr lang="ko-KR" altLang="en-US" i="1"/>
              <a:t>클래스 활용 검증</a:t>
            </a:r>
            <a:r>
              <a:rPr lang="en-US" altLang="ko-KR" i="1"/>
              <a:t>. </a:t>
            </a:r>
            <a:r>
              <a:rPr lang="ko-KR" altLang="en-US" i="1"/>
              <a:t>불변성 보장 패턴 우선 적용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스레드 안전성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접근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Counter_WhenAccessedConcurrently_IsThreadSafe()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ThreadSafeCounter();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병렬로 동시 증가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Parallel.For(0, iterations, _ =&gt;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counter.Increment();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이어야 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Assert.That(counter.Value, Is.EqualTo(iterations));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경쟁 상태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SharedResource_WhenAccessedConcurrently_NoDataCorruption()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ConcurrentBag&lt;int&gt;();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병렬로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Parallel.ForEach(Enumerable.Range(1, 1000), i =&gt;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list.Add(i);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항목이 추가됨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Assert.That(list.Count, Is.EqualTo(1000));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스레드 안전성 검증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경쟁 상태 테스트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Parallel.For / ForEach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Parallel.For(0, 10000, _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sharedResource.Increment());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스레드 안전 클래스들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Interlocked.Increment(ref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count)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ConcurrentDictionary&lt;K, V&gt;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ConcurrentBag&lt;T&gt;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ConcurrentQueue&lt;T&gt;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키워드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불변성 패턴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안전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상태를 변경하지 않는 객체 사용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객체 반환 방식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상태를 피하라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가장 좋은 스레드 안전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비동기 테스트 모범 사례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테스트하기 어려우므로 항상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테스트에서는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사용하여 비동기 작업 완료를 보장하고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모의 객체에서 비동기 메서드를 설정할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ReturnsAsync()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경쟁 상태나 교착 상태를 방지하려면 테스트 격리와 멱등성을 유지하는 것이 중요합니다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테스트 모범 사례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DO: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완료 대기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ReturnsAsync()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CancellationToken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격리 유지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.Result, .Wait()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데드락 위험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상태 사용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fire-and-forget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Moq</a:t>
            </a:r>
            <a:r>
              <a:rPr lang="ko-KR" altLang="en-US" b="1"/>
              <a:t>에서 비동기 메서드 모킹</a:t>
            </a:r>
          </a:p>
          <a:p>
            <a:r>
              <a:rPr lang="ko-KR" altLang="en-US"/>
              <a:t>슬라이드 하단의 </a:t>
            </a:r>
            <a:r>
              <a:rPr lang="en-US" altLang="ko-KR" b="1"/>
              <a:t>Moq </a:t>
            </a:r>
            <a:r>
              <a:rPr lang="ko-KR" altLang="en-US" b="1"/>
              <a:t>비동기 모킹</a:t>
            </a:r>
            <a:r>
              <a:rPr lang="ko-KR" altLang="en-US"/>
              <a:t> 예시입니다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Moq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비동기 메서드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x.GetAsync()).ReturnsAsync(result);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완전한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GetUser_ReturnsUserFromRepository()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Mock&lt;IUserRepository&gt;();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메서드 모킹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ReturnsAsync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r.GetByIdAsync(1))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.ReturnsAsync(expectedUser);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UserService(mockRepo.Object);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Assert.That(result.Name,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예외 모킹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mockRepo.Setup(r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r.GetByIdAsync(999))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.ThrowsAsync(new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NotFoundException("User not found"));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메서드 모킹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vs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ReturnsAsync: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동기 메서드 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x.Get()).Returns(result);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메서드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x.GetAsync()).ReturnsAsync(result);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예외   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mockRepo.Setup(x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x.GetAsync()).ThrowsAsync(new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Exception());│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비동기 메서드는 반드시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ReturnsAsync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ThrowsAsync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**비동기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테스트**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async/await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필수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⏱️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**타임아웃**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[Timeout]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Task.Delay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🚫 **취소 토큰**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CancellationTokenSource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취소 시뮬레이션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🔒 **스레드 안전성**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Parallel.ForEach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경쟁 상태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비동기 코드 테스트의 핵심은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완료 대기**입니다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시간 의존 코드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여러분</a:t>
            </a:r>
            <a:r>
              <a:rPr lang="en-US" altLang="ko-KR"/>
              <a:t>, </a:t>
            </a:r>
            <a:r>
              <a:rPr lang="ko-KR" altLang="en-US"/>
              <a:t>이런 코드 작성해보신 적 있죠</a:t>
            </a:r>
            <a:r>
              <a:rPr lang="en-US" altLang="ko-KR"/>
              <a:t>?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(DateTime.Now &gt; expirationDate)</a:t>
            </a:r>
            <a:r>
              <a:rPr lang="ko-KR" altLang="en-US"/>
              <a:t> </a:t>
            </a:r>
            <a:r>
              <a:rPr lang="en-US" altLang="ko-KR"/>
              <a:t>...</a:t>
            </a:r>
          </a:p>
          <a:p>
            <a:r>
              <a:rPr lang="ko-KR" altLang="en-US"/>
              <a:t>이런 코드는 </a:t>
            </a:r>
            <a:r>
              <a:rPr lang="ko-KR" altLang="en-US" b="1"/>
              <a:t>테스트하기 정말 어렵습니다</a:t>
            </a:r>
            <a:r>
              <a:rPr lang="en-US" altLang="ko-KR" b="1"/>
              <a:t>!</a:t>
            </a:r>
            <a:r>
              <a:rPr lang="ko-KR" altLang="en-US"/>
              <a:t> 왜 그런지</a:t>
            </a:r>
            <a:r>
              <a:rPr lang="en-US" altLang="ko-KR"/>
              <a:t>, </a:t>
            </a:r>
            <a:r>
              <a:rPr lang="ko-KR" altLang="en-US"/>
              <a:t>어떻게 해결하는지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시간 의존 코드의 문제점</a:t>
            </a:r>
          </a:p>
          <a:p>
            <a:r>
              <a:rPr lang="en-US" altLang="ko-KR" i="1"/>
              <a:t>"DateTime.Now</a:t>
            </a:r>
            <a:r>
              <a:rPr lang="ko-KR" altLang="en-US" i="1"/>
              <a:t>나 </a:t>
            </a:r>
            <a:r>
              <a:rPr lang="en-US" altLang="ko-KR" i="1"/>
              <a:t>DateTimeOffset.UtcNow</a:t>
            </a:r>
            <a:r>
              <a:rPr lang="ko-KR" altLang="en-US" i="1"/>
              <a:t>를 직접 사용하는 코드는 테스트하기 어렵습니다</a:t>
            </a:r>
            <a:r>
              <a:rPr lang="en-US" altLang="ko-KR" i="1"/>
              <a:t>. </a:t>
            </a:r>
            <a:r>
              <a:rPr lang="ko-KR" altLang="en-US" i="1"/>
              <a:t>테스트 실행 시점에 따라 결과가 달라져 효과적인 테스트를 위해 시간을 제어할 수 있는 추상화가 필요합니다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테스트하기 어려운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IsValid(Coupon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coupon.ExpirationDate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😱 직접 사용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코드의 문제점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IsValid_ExpiredCoupon_ReturnsFalse()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ExpirationDate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12, 31)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service.IsValid(coupon);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😱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 실행하면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true, 2025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 실행하면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결과가 실행 시점에 따라 달라진다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의존 코드의 문제점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사용 시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 결과가 실행 시점에 따라 달라짐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오늘 통과한 테스트가 내일 실패할 수 있음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특정 시간 조건 테스트 불가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자정에만 발생하는 버그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어떻게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연말 정산 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일에만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시간 경과 테스트 불가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후 만료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기다려야 하나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해결책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받아서 제어 가능하게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🕐 </a:t>
            </a:r>
            <a:r>
              <a:rPr lang="en-US" altLang="ko-KR" b="1"/>
              <a:t>IClock </a:t>
            </a:r>
            <a:r>
              <a:rPr lang="ko-KR" altLang="en-US" b="1"/>
              <a:t>인터페이스</a:t>
            </a:r>
          </a:p>
          <a:p>
            <a:r>
              <a:rPr lang="ko-KR" altLang="en-US"/>
              <a:t>첫 번째 해결책</a:t>
            </a:r>
            <a:r>
              <a:rPr lang="en-US" altLang="ko-KR"/>
              <a:t>, </a:t>
            </a:r>
            <a:r>
              <a:rPr lang="en-US" altLang="ko-KR" b="1"/>
              <a:t>IClock </a:t>
            </a:r>
            <a:r>
              <a:rPr lang="ko-KR" altLang="en-US" b="1"/>
              <a:t>인터페이스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시간 제공을 추상화하는 인터페이스로 의존성 주입</a:t>
            </a:r>
            <a:r>
              <a:rPr lang="en-US" altLang="ko-KR" i="1"/>
              <a:t>. DateTime.Now </a:t>
            </a:r>
            <a:r>
              <a:rPr lang="ko-KR" altLang="en-US" i="1"/>
              <a:t>대신 </a:t>
            </a:r>
            <a:r>
              <a:rPr lang="en-US" altLang="ko-KR" i="1"/>
              <a:t>clock.Now</a:t>
            </a:r>
            <a:r>
              <a:rPr lang="ko-KR" altLang="en-US" i="1"/>
              <a:t>를 사용합니다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추상화 인터페이스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서비스에서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CouponService(IClock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clock)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_clock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clock;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IsValid(Coupon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coupon.ExpirationDate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_clock.Now;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추상화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패턴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직접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CouponService  ──────────▶  DateTime.Now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 불가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After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추상화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CouponService  ──────────▶  IClock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▲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┌───────────┴───────────┐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│                       │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SystemClock             FakeClock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의존성 역전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(DIP)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🎭 가짜 시계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가짜 시계 </a:t>
            </a:r>
            <a:r>
              <a:rPr lang="en-US" altLang="ko-KR" b="1"/>
              <a:t>(FakeClock)</a:t>
            </a:r>
            <a:r>
              <a:rPr lang="ko-KR" altLang="en-US"/>
              <a:t> 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테스트에서는 고정된 시간을 반환하거나</a:t>
            </a:r>
            <a:r>
              <a:rPr lang="en-US" altLang="ko-KR" i="1"/>
              <a:t>, </a:t>
            </a:r>
            <a:r>
              <a:rPr lang="ko-KR" altLang="en-US" i="1"/>
              <a:t>원하는 시간으로 조작 가능한 </a:t>
            </a:r>
            <a:r>
              <a:rPr lang="en-US" altLang="ko-KR" i="1"/>
              <a:t>FakeClock</a:t>
            </a:r>
            <a:r>
              <a:rPr lang="ko-KR" altLang="en-US" i="1"/>
              <a:t>을 사용합니다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가짜 시계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SetTime(DateTime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IsValid_ExpiredCoupon_ReturnsFalse()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2025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일로 시간 고정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1, 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CouponService(fakeClock);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ExpirationDate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12, 31)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만료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service.IsValid(coupon);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결과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Assert.That(result, Is.False);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가짜 시계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(FakeClock)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고정된 시간 반환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1, 1));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반환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테스트마다 다른 시간 설정 가능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만료 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날짜 등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실행 시점과 무관하게 일관된 결과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오늘 실행해도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내년에 실행해도 같은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[TestCase("2024-12-30", true)]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 전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[TestCase("2024-12-31", true)]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 당일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[TestCase("2025-01-01", false)]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 후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⏩ 시간 이동 기능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시간 이동 기능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"AdvanceBy()</a:t>
            </a:r>
            <a:r>
              <a:rPr lang="ko-KR" altLang="en-US" i="1"/>
              <a:t>나 </a:t>
            </a:r>
            <a:r>
              <a:rPr lang="en-US" altLang="ko-KR" i="1"/>
              <a:t>SetCurrentTime() </a:t>
            </a:r>
            <a:r>
              <a:rPr lang="ko-KR" altLang="en-US" i="1"/>
              <a:t>같은 메서드로 테스트 중 가상 시간을 조작해 검증합니다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이동 기능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SetTime(DateTime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앞으로 이동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AdvanceBy(TimeSpan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duration)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_now.Add(duration);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뒤로 이동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GoBack(TimeSpan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duration)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_now.Subtract(duration);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경과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Session_ExpiresAfter30Minutes()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세션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1, 1, 10, 0, 0));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10:00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Session(fakeClock);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session.Start();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29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경과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아직 유효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fakeClock.AdvanceBy(TimeSpan.FromMinutes(29));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Assert.That(session.IsExpired, Is.False);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더 경과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fakeClock.AdvanceBy(TimeSpan.FromMinutes(1));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Assert.That(session.IsExpired, Is.True);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이동 기능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시간 조작 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SetTime(DateTime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시점으로 설정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AdvanceBy(TimeSpan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duration)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시간을 앞으로 이동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GoBack(TimeSpan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duration)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시간을 뒤로 이동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활용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DateTime(2024, 12, 31, 23, 59, 0));│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fakeClock.AdvanceBy(TimeSpan.FromMinutes(2));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00:01 →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연도 전환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기다릴 필요 없이 즉시 시간 경과 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구현 예시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구현 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{ get;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가짜 시계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SetTime(DateTime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구조 정리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정의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{ get; }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프로덕션용 구현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구현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IClock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DateTime.Now;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_now;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SetTime(DateTime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_now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time;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4. DI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등록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services.AddSingleton&lt;IClock,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SystemClock&gt;();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실전 활용 예시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시간 관련 테스트 시나리오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SubscriptionServiceTests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SubscriptionService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_fakeClock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FakeClock();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_service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SubscriptionService(_fakeClock);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Subscription_ValidFor30Days()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구독 시작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1, 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_service.Subscribe("user1");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Then: 29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_fakeClock.AdvanceBy(TimeSpan.FromDays(29));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Assert.That(subscription.IsActive(_fakeClock.Now), Is.True);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Then: 31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_fakeClock.AdvanceBy(TimeSpan.FromDays(2));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Assert.That(subscription.IsActive(_fakeClock.Now), Is.False);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YearEndPromotion_OnlyInDecember()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12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12, 15));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Assert.That(_service.IsYearEndPromotion(), Is.True);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1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_fakeClock.SetTime(new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DateTime(2025, 1, 15));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Assert.That(_service.IsYearEndPromotion(), Is.False);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**시간 의존 코드** 테스트 해결책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🕐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시간 제공 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🎭 **가짜 시계**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고정된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테스트별 다른 시간 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⏩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**시간 이동**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AdvanceBy(), SetTime()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시간 조작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핵심은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직접 사용하지 말고**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추상화**해서 테스트 가능하게 만드는 것입니다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파일</a:t>
            </a:r>
            <a:r>
              <a:rPr lang="en-US" altLang="ko-KR" b="1"/>
              <a:t>/IO/</a:t>
            </a:r>
            <a:r>
              <a:rPr lang="ko-KR" altLang="en-US" b="1"/>
              <a:t>환경 격리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파일 시스템</a:t>
            </a:r>
            <a:r>
              <a:rPr lang="en-US" altLang="ko-KR"/>
              <a:t>, </a:t>
            </a:r>
            <a:r>
              <a:rPr lang="ko-KR" altLang="en-US"/>
              <a:t>환경 변수</a:t>
            </a:r>
            <a:r>
              <a:rPr lang="en-US" altLang="ko-KR"/>
              <a:t>, </a:t>
            </a:r>
            <a:r>
              <a:rPr lang="ko-KR" altLang="en-US"/>
              <a:t>네트워크 같은 </a:t>
            </a:r>
            <a:r>
              <a:rPr lang="ko-KR" altLang="en-US" b="1"/>
              <a:t>외부 의존성</a:t>
            </a:r>
            <a:r>
              <a:rPr lang="ko-KR" altLang="en-US"/>
              <a:t>이 있는 코드는 테스트하기 까다롭습니다</a:t>
            </a:r>
            <a:r>
              <a:rPr lang="en-US" altLang="ko-KR"/>
              <a:t>.</a:t>
            </a:r>
          </a:p>
          <a:p>
            <a:r>
              <a:rPr lang="ko-KR" altLang="en-US"/>
              <a:t>실행 환경에 따라 결과가 달라지기 때문이죠</a:t>
            </a:r>
            <a:r>
              <a:rPr lang="en-US" altLang="ko-KR"/>
              <a:t>. </a:t>
            </a:r>
            <a:r>
              <a:rPr lang="ko-KR" altLang="en-US"/>
              <a:t>이를 어떻게 </a:t>
            </a:r>
            <a:r>
              <a:rPr lang="ko-KR" altLang="en-US" b="1"/>
              <a:t>격리</a:t>
            </a:r>
            <a:r>
              <a:rPr lang="ko-KR" altLang="en-US"/>
              <a:t>해서 테스트하는지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📁 </a:t>
            </a:r>
            <a:r>
              <a:rPr lang="en-US" altLang="ko-KR" b="1"/>
              <a:t>Temp </a:t>
            </a:r>
            <a:r>
              <a:rPr lang="ko-KR" altLang="en-US" b="1"/>
              <a:t>디렉터리 사용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en-US" altLang="ko-KR" b="1"/>
              <a:t>Temp </a:t>
            </a:r>
            <a:r>
              <a:rPr lang="ko-KR" altLang="en-US" b="1"/>
              <a:t>디렉터리 사용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"Path.GetTempPath()</a:t>
            </a:r>
            <a:r>
              <a:rPr lang="ko-KR" altLang="en-US" i="1"/>
              <a:t>를 활용한 임시 파일 테스트</a:t>
            </a:r>
            <a:r>
              <a:rPr lang="en-US" altLang="ko-KR" i="1"/>
              <a:t>. </a:t>
            </a:r>
            <a:r>
              <a:rPr lang="ko-KR" altLang="en-US" i="1"/>
              <a:t>테스트 완료 후 자동 정리 </a:t>
            </a:r>
            <a:r>
              <a:rPr lang="en-US" altLang="ko-KR" i="1"/>
              <a:t>(Setup/TearDown)"</a:t>
            </a:r>
            <a:endParaRPr lang="en-US" altLang="ko-KR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FileServiceTests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string _tempDirectory;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임시 디렉터리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_tempDirectory = Path.Combine(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Path.GetTempPath(),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$"test_{Guid.NewGuid()}");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Directory.CreateDirectory(_tempDirectory);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후 정리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(Directory.Exists(_tempDirectory))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Directory.Delete(_tempDirectory, recursive: 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SaveFile_CreatesFileInDirectory()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service = new FileService(_tempDirectory);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content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내용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service.Save("test.txt",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filePath = Path.Combine(_tempDirectory, "test.txt");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Assert.That(File.Exists(filePath), Is.True);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Assert.That(File.ReadAllText(filePath), Is.EqualTo(content));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Temp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 사용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실제 경로 사용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path = "C:\\MyApp\\Data\\test.txt";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권한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테스트와 충돌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 사용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path = Path.GetTempPath();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OS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제공하는 임시 경로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어디서든 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권한 보장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격리된 환경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생명주기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[SetUp]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디렉터리 생성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작업 테스트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디렉터리 삭제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고유 디렉터리명 → 병렬 테스트도 안전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환경변수 주입</a:t>
            </a:r>
            <a:r>
              <a:rPr lang="en-US" altLang="ko-KR" b="1"/>
              <a:t>/</a:t>
            </a:r>
            <a:r>
              <a:rPr lang="ko-KR" altLang="en-US" b="1"/>
              <a:t>복원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환경변수 주입</a:t>
            </a:r>
            <a:r>
              <a:rPr lang="en-US" altLang="ko-KR" b="1"/>
              <a:t>/</a:t>
            </a:r>
            <a:r>
              <a:rPr lang="ko-KR" altLang="en-US" b="1"/>
              <a:t>복원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테스트용 환경변수 값 설정 및 테스트 후 원래 값 복원</a:t>
            </a:r>
            <a:r>
              <a:rPr lang="en-US" altLang="ko-KR" i="1"/>
              <a:t>. Environment.SetEnvironmentVariable </a:t>
            </a:r>
            <a:r>
              <a:rPr lang="ko-KR" altLang="en-US" i="1"/>
              <a:t>활용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[TestFixture]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ConfigServiceTests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string _originalApiKey;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[SetUp]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SetUp()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값 저장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_originalApiKey = Environment.GetEnvironmentVariable("API_KEY");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[TearDown]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TearDown()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값 복원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Environment.SetEnvironmentVariable("API_KEY", _originalApiKey);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GetApiKey_ReturnsEnvironmentVariable()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환경변수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Environment.SetEnvironmentVariable("API_KEY", "test-key-12345");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service = new ConfigService();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apiKey = service.GetApiKey();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Assert.That(apiKey, Is.EqualTo("test-key-12345"));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GetApiKey_WhenMissing_ThrowsException()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환경변수 제거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Environment.SetEnvironmentVariable("API_KEY", null);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service = new ConfigService();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Assert.Throws&lt;ConfigurationException&gt;(() =&gt; service.GetApiKey());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환경변수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복원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핵심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→ 설정 → 테스트 → 복원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_original = Environment.GetEnvironmentVariable("KEY");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[Test]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Environment.SetEnvironmentVariable("KEY", "test-value");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  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[TearDown]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Environment.SetEnvironmentVariable("KEY", _original);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주의사항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테스트 시 충돌 가능 → 인터페이스 추상화 권장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테스트에 영향 주지 않도록 반드시 복원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📂 </a:t>
            </a:r>
            <a:r>
              <a:rPr lang="en-US" altLang="ko-KR" b="1"/>
              <a:t>IO </a:t>
            </a:r>
            <a:r>
              <a:rPr lang="ko-KR" altLang="en-US" b="1"/>
              <a:t>인터페이스화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en-US" altLang="ko-KR" b="1"/>
              <a:t>IO </a:t>
            </a:r>
            <a:r>
              <a:rPr lang="ko-KR" altLang="en-US" b="1"/>
              <a:t>인터페이스화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"IFileSystem, IFile </a:t>
            </a:r>
            <a:r>
              <a:rPr lang="ko-KR" altLang="en-US" i="1"/>
              <a:t>등 인터페이스 도입</a:t>
            </a:r>
            <a:r>
              <a:rPr lang="en-US" altLang="ko-KR" i="1"/>
              <a:t>. System.IO.Abstractions </a:t>
            </a:r>
            <a:r>
              <a:rPr lang="ko-KR" altLang="en-US" i="1"/>
              <a:t>라이브러리 활용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System.IO.Abstractions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Install-Package System.IO.Abstractions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IFileSystem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bool FileExists(string 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string ReadAllText(string 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void WriteAllText(string path, string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RealFileSystem : IFileSystem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bool FileExists(string path) =&gt; File.Exists(path);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string ReadAllText(string path) =&gt; File.ReadAllText(path);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void WriteAllText(string path, string content)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File.WriteAllText(path,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서비스에서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ReportService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IFileSystem _fileSystem;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ReportService(IFileSystem fileSystem)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_fileSystem = fileSystem;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string LoadReport(string path)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(!_fileSystem.FileExists(path))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throw new FileNotFoundException();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_fileSystem.ReadAllText(path);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LoadReport_FileNotFound_ThrowsException()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mockFileSystem = new Mock&lt;IFileSystem&gt;();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mockFileSystem.Setup(fs =&gt; fs.FileExists("report.txt"))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.Returns(false);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ReportService(mockFileSystem.Object);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Assert.Throws&lt;FileNotFoundException&gt;(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() =&gt; service.LoadReport("report.txt"));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LoadReport_ReturnsFileContent()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mockFileSystem = new Mock&lt;IFileSystem&gt;();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mockFileSystem.Setup(fs =&gt; fs.FileExists("report.txt")).Returns(true);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mockFileSystem.Setup(fs =&gt; fs.ReadAllText("report.txt"))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.Returns("Report Content");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ReportService(mockFileSystem.Object);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result = service.LoadReport("report.txt");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Assert.That(result, Is.EqualTo("Report Content"));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System.IO.Abstractions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NuGet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         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Install-Package System.IO.Abstractions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Install-Package System.IO.Abstractions.TestingHelpers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제공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IFileSystem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 전체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IFile            → File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IDirectory       → Directory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IPath            → Path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테스트용 구현체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MockFileSystem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 기반 가짜 파일 시스템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실제 파일 없이 파일 작업 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🔌 네트워크</a:t>
            </a:r>
            <a:r>
              <a:rPr lang="en-US" altLang="ko-KR" b="1"/>
              <a:t>/</a:t>
            </a:r>
            <a:r>
              <a:rPr lang="ko-KR" altLang="en-US" b="1"/>
              <a:t>소켓 격리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네트워크</a:t>
            </a:r>
            <a:r>
              <a:rPr lang="en-US" altLang="ko-KR" b="1"/>
              <a:t>/</a:t>
            </a:r>
            <a:r>
              <a:rPr lang="ko-KR" altLang="en-US" b="1"/>
              <a:t>소켓 격리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로컬 포트 사용 테스트</a:t>
            </a:r>
            <a:r>
              <a:rPr lang="en-US" altLang="ko-KR" i="1"/>
              <a:t>. </a:t>
            </a:r>
            <a:r>
              <a:rPr lang="ko-KR" altLang="en-US" i="1"/>
              <a:t>네트워크 래퍼 클래스로 의존성 분리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클라이언트 인터페이스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IHttpClientWrapper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Task&lt;string&gt; GetAsync(string url);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Task&lt;string&gt; PostAsync(string url, string content);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HttpClientWrapper : IHttpClientWrapper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HttpClient _client;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HttpClientWrapper(HttpClient client)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_client = client;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async Task&lt;string&gt; GetAsync(string url)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response = await _client.GetAsync(url);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await response.Content.ReadAsStringAsync();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async Task&lt;string&gt; PostAsync(string url, string content)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response = await _client.PostAsync(url,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new StringContent(content));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await response.Content.ReadAsStringAsync();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async Task GetUserData_ReturnsUserFromApi()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mockHttp = new Mock&lt;IHttpClientWrapper&gt;();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mockHttp.Setup(h =&gt; h.GetAsync("https://api.example.com/user/1"))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.ReturnsAsync("{\"id\":1,\"name\":\"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\"}");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UserApiService(mockHttp.Object);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user = await service.GetUserAsync(1);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Assert.That(user.Name,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소켓 격리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격리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인터페이스 추상화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IHttpClientWrapper, ISocketClient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가능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로컬 테스트 서버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로컬 서버 실행  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server = new TestServer(builder);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var client = server.CreateClient();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WireMock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HTTP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시뮬레이션       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server = WireMockServer.Start();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server.Given(Request.Create().WithPath("/api/user"))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.RespondWith(Response.Create().WithBody("{}"));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 없이 네트워크 코드 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 격리 원칙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환경에 의존하는 테스트는 불안정하고 실행 환경에 영향을 받기 쉽습니다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파일 시스템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등 외부 의존성을 인터페이스로 추상화하고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중에는 가짜 구현체를 사용하여 안정적이고 격리된 테스트를 만들어야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격리 원칙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외부 의존성 종류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IFileSystem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IConfiguration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IHttpClient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IRepository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   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IClock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의존성을 인터페이스로 감싸기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생성자를 통해 의존성 주입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대체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가짜 구현체 사용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정리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후 원래 상태로 복원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격리 기법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격리 기법 비교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기법              대상              방법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     파일 시스템       임시 폴더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환경변수 주입     환경 설정         저장 → 설정 → 복원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인터페이스화   파일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         IFileSystem + Mock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격리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소켓         래퍼 클래스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팁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슬라이드 하단에 있는 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테스트는 통합 테스트로 분리하는 것이 효과적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분리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실행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격리된 환경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 검증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통합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IO):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사용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느리지만 실제 환경 검증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별도 실행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분리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[Category("Unit")]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ProcessFile_ValidInput_ReturnsResult()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[Category("Integration")]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ProcessFile_RealFile_WritesToDisk()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/IO/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격리**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기법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임시 폴더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SetUp/TearDown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정리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**환경변수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복원**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원래 값 저장 후 복원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📂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IFileSystem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추상화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🔌 **네트워크 격리**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래퍼 클래스로 의존성 분리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핵심은 **외부 의존성을 인터페이스로 추상화**해서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테스트에서 **가짜 구현체로 대체**하는 것입니다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랜덤</a:t>
            </a:r>
            <a:r>
              <a:rPr lang="en-US" altLang="ko-KR" b="1"/>
              <a:t>/</a:t>
            </a:r>
            <a:r>
              <a:rPr lang="ko-KR" altLang="en-US" b="1"/>
              <a:t>비결정성 제어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랜덤 값을 사용하는 코드</a:t>
            </a:r>
            <a:r>
              <a:rPr lang="en-US" altLang="ko-KR"/>
              <a:t>, </a:t>
            </a:r>
            <a:r>
              <a:rPr lang="ko-KR" altLang="en-US"/>
              <a:t>테스트해보신 적 있으신가요</a:t>
            </a:r>
            <a:r>
              <a:rPr lang="en-US" altLang="ko-KR"/>
              <a:t>? </a:t>
            </a:r>
            <a:r>
              <a:rPr lang="ko-KR" altLang="en-US"/>
              <a:t>실행할 때마다 결과가 달라져서 굉장히 까다롭죠</a:t>
            </a:r>
            <a:r>
              <a:rPr lang="en-US" altLang="ko-KR"/>
              <a:t>.</a:t>
            </a:r>
          </a:p>
          <a:p>
            <a:r>
              <a:rPr lang="ko-KR" altLang="en-US"/>
              <a:t>이런 </a:t>
            </a:r>
            <a:r>
              <a:rPr lang="ko-KR" altLang="en-US" b="1"/>
              <a:t>비결정적</a:t>
            </a:r>
            <a:r>
              <a:rPr lang="en-US" altLang="ko-KR" b="1"/>
              <a:t>(Non-deterministic)</a:t>
            </a:r>
            <a:r>
              <a:rPr lang="en-US" altLang="ko-KR"/>
              <a:t> </a:t>
            </a:r>
            <a:r>
              <a:rPr lang="ko-KR" altLang="en-US"/>
              <a:t>코드를 어떻게 테스트하는지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🎲 시드 고정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시드 고정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"var rnd = new Random(42); // </a:t>
            </a:r>
            <a:r>
              <a:rPr lang="ko-KR" altLang="en-US" i="1"/>
              <a:t>고정 시드</a:t>
            </a:r>
            <a:r>
              <a:rPr lang="en-US" altLang="ko-KR" i="1"/>
              <a:t>. </a:t>
            </a:r>
            <a:r>
              <a:rPr lang="ko-KR" altLang="en-US" i="1"/>
              <a:t>테스트마다 동일한 난수 시퀀스 생성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문제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다른 결과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LotteryService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DrawNumber()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random = new Random();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시드가 매번 다름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random.Next(1, 46);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1~45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 랜덤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테스트는 불안정함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(Flaky)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DrawNumber_ReturnsValidNumber()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LotteryService();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number = service.DrawNumber();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다른 숫자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값 검증 불가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해결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LotteryService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Random _random;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LotteryService(int? seed = null)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_random = seed.HasValue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? new Random(seed.Value)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 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new Random();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DrawNumber()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_random.Next(1, 46);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동일한 시드 → 동일한 결과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DrawNumber_WithSameSeed_ReturnsSameSequence()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service1 = new LotteryService(seed: 42);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service2 = new LotteryService(seed: 42);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시드 → 같은 시퀀스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Assert.That(service1.DrawNumber(), Is.EqualTo(service2.DrawNumber()));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Assert.That(service1.DrawNumber(), Is.EqualTo(service2.DrawNumber()));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클래스의 특성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new Random()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 시간 기반 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매번 다름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new Random(42)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 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시퀀스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생성하면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호출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같은 값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 전체가 동일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 재현성 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어제도 오늘도 같은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🎯 랜덤 주입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랜덤 주입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"IRandomProvider </a:t>
            </a:r>
            <a:r>
              <a:rPr lang="ko-KR" altLang="en-US" i="1"/>
              <a:t>인터페이스 생성</a:t>
            </a:r>
            <a:r>
              <a:rPr lang="en-US" altLang="ko-KR" i="1"/>
              <a:t>. </a:t>
            </a:r>
            <a:r>
              <a:rPr lang="ko-KR" altLang="en-US" i="1"/>
              <a:t>테스트에서 예측 가능한 구현체 주입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추상화 인터페이스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IRandomProvider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int Next(int minValue, int maxValue);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double NextDouble();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RandomProvider : IRandomProvider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Random _random = new Random();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Next(int minValue, int maxValue)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_random.Next(minValue, maxValue);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double NextDouble()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_random.NextDouble();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구현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FakeRandomProvider : IRandomProvider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Queue&lt;int&gt; _intValues;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Queue&lt;double&gt; _doubleValues;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FakeRandomProvider(params int[] values)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_intValues = new Queue&lt;int&gt;(values);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_doubleValues = new Queue&lt;double&gt;();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Next(int minValue, int maxValue)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_intValues.Dequeue();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double NextDouble()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=&gt; _doubleValues.Dequeue();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서비스에서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DiceGame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IRandomProvider _random;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DiceGame(IRandomProvider random)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_random = random;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int Roll()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_random.Next(1, 7);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1~6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bool IsWin(int guess)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Roll() == guess;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제어된 랜덤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IsWin_CorrectGuess_ReturnsTrue()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주사위가 항상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나오도록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fakeRandom = new FakeRandomProvider(3);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game = new DiceGame(fakeRandom);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Assert.That(game.IsWin(3), Is.True);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맞춤 → 승리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IsWin_WrongGuess_ReturnsFalse()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주사위가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나오도록 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fakeRandom = new FakeRandomProvider(5);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game = new DiceGame(fakeRandom);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 &amp; Then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Assert.That(game.IsWin(3), Is.False);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3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추측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5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나옴 → 패배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주입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의존성 역전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DiceGame  ──────────▶  IRandomProvider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▲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┌───────────┴───────────┐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│                       │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RandomProvider         FakeRandomProvider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정확한 값 지정 가능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 지정 가능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(1, 3, 5, 2, ...)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예측 가능한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분포 검증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분포 검증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모의 난수 생성 결과의 통계적 특성 검증</a:t>
            </a:r>
            <a:r>
              <a:rPr lang="en-US" altLang="ko-KR" i="1"/>
              <a:t>. </a:t>
            </a:r>
            <a:r>
              <a:rPr lang="ko-KR" altLang="en-US" i="1"/>
              <a:t>예상 범위 내 결과값 확인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자체의 특성을 테스트할 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DrawNumber_AlwaysReturnsValidRange()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LotteryService();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실행해서 모두 범위 내인지 확인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(int i = 0; i &lt; 1000; i++)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var number = service.DrawNumber();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Assert.That(number, Is.InRange(1, 45));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 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균등하게 분포하는지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Roll_Distribution_IsReasonablyUniform()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game = new DiceGame(new RandomProvider());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distribution = new int[7];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1~6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인덱스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iterations = 60000;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When: 60000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굴리기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(int i = 0; i &lt; iterations; i++)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distribution[game.Roll()]++;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숫자가 약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번씩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(±15%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expectedPerNumber = iterations / 6;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10000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tolerance = expectedPerNumber * 0.15;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1500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 (int i = 1; i &lt;= 6; i++)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Assert.That(distribution[i],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Is.InRange(expectedPerNumber - tolerance,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expectedPerNumber + tolerance),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분포가 불균등합니다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 검증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언제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자체가 요구사항일 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시뮬레이션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균등 분포가 중요할 때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검증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범위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항상 유효 범위 내인지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Assert.That(result, Is.InRange(min, max));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통계적으로 균등한지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많이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 오차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(±10~15%)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테스트는 가끔 실패할 수 있음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확률적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허용 오차를 적절히 설정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🔀 비결정성 격리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비결정성 격리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"Guid.NewGuid() </a:t>
            </a:r>
            <a:r>
              <a:rPr lang="ko-KR" altLang="en-US" i="1"/>
              <a:t>등 정적 메서드 래핑</a:t>
            </a:r>
            <a:r>
              <a:rPr lang="en-US" altLang="ko-KR" i="1"/>
              <a:t>. </a:t>
            </a:r>
            <a:r>
              <a:rPr lang="ko-KR" altLang="en-US" i="1"/>
              <a:t>테스트에서 예측 가능한 값으로 대체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Guid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추상화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interface IGuidProvider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Guid NewGuid();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GuidProvider : IGuidProvider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Guid NewGuid() =&gt; Guid.NewGuid();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테스트용 구현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FakeGuidProvider : IGuidProvider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Queue&lt;Guid&gt; _guids;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FakeGuidProvider(params Guid[] guids)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_guids = new Queue&lt;Guid&gt;(guids);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Guid NewGuid() =&gt; _guids.Dequeue();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서비스에서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private readonly IGuidProvider _guidProvider;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OrderService(IGuidProvider guidProvider)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_guidProvider = guidProvider;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 Order CreateOrder(string product)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new Order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Id = _guidProvider.NewGuid(),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Product = product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가능한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CreateOrder_AssignsProvidedGuid()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Given: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expectedGuid = Guid.Parse("12345678-1234-1234-1234-123456789012");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fakeGuid = new FakeGuidProvider(expectedGuid);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service = new OrderService(fakeGuid);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 order = 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지정한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할당됨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Assert.That(order.Id, Is.EqualTo(expectedGuid));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비결정성 격리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비결정적 요소들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Guid.NewGuid()        → IGuidProvider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DateTime.Now          → IClock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Random.Next()         → IRandomProvider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Environment.MachineName → IEnvironment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래핑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 호출    →    인터페이스로 추상화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      →    _guidProvider.NewGuid()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모든 비결정적 요소는 주입 가능하게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랜덤 테스트 패턴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코드는 비결정적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난수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의존성으로 주입받아야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랜덤 요소가 필요한 테스트는 결정적인 부분과 확률적인 부분을 명확히 구분하고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확률적 특성만 별도로 테스트합니다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테스트 패턴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분리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결정적 로직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대부분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Mock/Fake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랜덤 값 고정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비즈니스 로직 검증에 집중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재현 가능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확률적 특성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 검증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많은 반복 실행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허용 오차 설정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[Category("Unit")]       → Fake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결정적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[Category("Statistical")]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랜덤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 검증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경고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슬라이드 하단의 주의사항입니다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코드를 다루는 테스트는 간헐적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(Flaky)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위험이 높습니다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⚠️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주의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코드인데 때때로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때때로 실패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파이프라인의 악몽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😱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제어되지 않은 랜덤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의존성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의존성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의존성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random = new Random();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random = new FakeRandomProvider(1, 2, 3);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분포 테스트를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포함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분포 테스트를 별도 카테고리로 분리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**랜덤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비결정성 제어**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기법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🎲 **시드 고정**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Random(42)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동일한 시퀀스 보장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**랜덤 주입**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IRandomProvider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추상화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**분포 검증**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범위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분포의 통계적 특성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**비결정성 격리**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정적 메서드 래핑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핵심은 **비결정적 요소를 의존성으로 주입**받아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테스트에서 **예측 가능한 값으로 대체**하는 것입니다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스냅샷 대안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스냅샷 테스트가 뭔지 아시죠</a:t>
            </a:r>
            <a:r>
              <a:rPr lang="en-US" altLang="ko-KR"/>
              <a:t>? </a:t>
            </a:r>
            <a:r>
              <a:rPr lang="ko-KR" altLang="en-US"/>
              <a:t>결과를 파일로 저장해두고 비교하는 방식입니다</a:t>
            </a:r>
            <a:r>
              <a:rPr lang="en-US" altLang="ko-KR"/>
              <a:t>. UI</a:t>
            </a:r>
            <a:r>
              <a:rPr lang="ko-KR" altLang="en-US"/>
              <a:t>나 </a:t>
            </a:r>
            <a:r>
              <a:rPr lang="en-US" altLang="ko-KR"/>
              <a:t>JSON </a:t>
            </a:r>
            <a:r>
              <a:rPr lang="ko-KR" altLang="en-US"/>
              <a:t>같은 복잡한 출력에 유용하지만</a:t>
            </a:r>
            <a:r>
              <a:rPr lang="en-US" altLang="ko-KR"/>
              <a:t>, </a:t>
            </a:r>
            <a:r>
              <a:rPr lang="ko-KR" altLang="en-US"/>
              <a:t>단점도 있습니다</a:t>
            </a:r>
            <a:r>
              <a:rPr lang="en-US" altLang="ko-KR"/>
              <a:t>.</a:t>
            </a:r>
          </a:p>
          <a:p>
            <a:r>
              <a:rPr lang="ko-KR" altLang="en-US" b="1"/>
              <a:t>더 나은 대안</a:t>
            </a:r>
            <a:r>
              <a:rPr lang="ko-KR" altLang="en-US"/>
              <a:t>들을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스냅샷 테스트의 문제점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스냅샷 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파일로 저장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저장된 스냅샷과 비교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다르면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같으면 통과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실패했는지 알기 어려움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작은 포맷 변경에도 깨짐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줄바꿈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 파일 관리 부담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의도하지 않은 변경도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승인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하기 쉬움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테스트 의도가 불명확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더 나은 대안이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✅ 명시적 </a:t>
            </a:r>
            <a:r>
              <a:rPr lang="en-US" altLang="ko-KR" b="1"/>
              <a:t>Assert</a:t>
            </a:r>
          </a:p>
          <a:p>
            <a:r>
              <a:rPr lang="ko-KR" altLang="en-US"/>
              <a:t>첫 번째 대안</a:t>
            </a:r>
            <a:r>
              <a:rPr lang="en-US" altLang="ko-KR"/>
              <a:t>, </a:t>
            </a:r>
            <a:r>
              <a:rPr lang="ko-KR" altLang="en-US" b="1"/>
              <a:t>명시적 </a:t>
            </a:r>
            <a:r>
              <a:rPr lang="en-US" altLang="ko-KR" b="1"/>
              <a:t>Assert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기대 값을 명시적으로 선언하여 테스트 의도를 분명히 표현</a:t>
            </a:r>
            <a:r>
              <a:rPr lang="en-US" altLang="ko-KR" i="1"/>
              <a:t>. </a:t>
            </a:r>
            <a:r>
              <a:rPr lang="ko-KR" altLang="en-US" i="1"/>
              <a:t>스냅샷보다 테스트 가독성과 유지보수성 향상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 방식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 불명확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GetUser_Snapshot()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user.ShouldMatchSnapshot();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검증하는지 모름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 명확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GetUser_ReturnsCorrectUserData()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When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service.GetUser(1);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Then: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의도가 명확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Assert.That(user.Id,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Assert.That(user.Name,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Assert.That(user.Email, Is.EqualTo("hong@example.com"));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Assert.That(user.IsActive, Is.True);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user.ShouldMatchSnapshot();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뭔가 달라졌어요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Assert.That(user.Name,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이어야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무엇이 틀렸는지 바로 알 수 있음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 의도가 코드에 드러남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리뷰어가 테스트 목적을 이해하기 쉬움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🛡️ 포맷 변화에 강한 검증</a:t>
            </a:r>
          </a:p>
          <a:p>
            <a:r>
              <a:rPr lang="ko-KR" altLang="en-US"/>
              <a:t>두 번째 대안</a:t>
            </a:r>
            <a:r>
              <a:rPr lang="en-US" altLang="ko-KR"/>
              <a:t>, </a:t>
            </a:r>
            <a:r>
              <a:rPr lang="ko-KR" altLang="en-US" b="1"/>
              <a:t>포맷 변화에 강한 검증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객체 구조나 값에 집중하고 형식 변경에 민감하지 않은 검증</a:t>
            </a:r>
            <a:r>
              <a:rPr lang="en-US" altLang="ko-KR" i="1"/>
              <a:t>. </a:t>
            </a:r>
            <a:r>
              <a:rPr lang="ko-KR" altLang="en-US" i="1"/>
              <a:t>시각적 요소</a:t>
            </a:r>
            <a:r>
              <a:rPr lang="en-US" altLang="ko-KR" i="1"/>
              <a:t>/JSON </a:t>
            </a:r>
            <a:r>
              <a:rPr lang="ko-KR" altLang="en-US" i="1"/>
              <a:t>포맷 변경에도 테스트 안정성 유지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 비교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포맷에 민감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ToJson_Fragile()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serializer.ToJson(user);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줄바꿈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바뀌면 실패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Assert.That(json, Is.EqualTo("{\"Id\":1,\"Name\":\"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\"}"));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기반 검증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포맷에 강함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ToJson_Robust()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serializer.ToJson(user);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JSON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파싱 후 값만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JsonDocument.Parse(json);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parsed.RootElement;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Assert.That(root.GetProperty("Id").GetInt32(), Is.EqualTo(1));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Assert.That(root.GetProperty("Name").GetString(),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역직렬화 후 비교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Serialization_RoundTrip()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serializer.ToJson(original);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serializer.FromJson&lt;User&gt;(json);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값 비교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 무관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Assert.That(restored.Id, Is.EqualTo(original.Id));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Assert.That(restored.Name, Is.EqualTo(original.Name));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 변화에 강한 검증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문제 상황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{"Id":1,"Name":"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"}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vs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"Id": 1, "Name":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공백만 달라도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해결책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파싱 후 값 비교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JsonDocument.Parse(json).RootElement.GetProperty("Id")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역직렬화 후 객체 비교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JsonSerializer.Deserialize&lt;User&gt;(json);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정규화 후 비교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json.Replace(" ", "").Replace("\n", "")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무시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🔍 구조적 검증</a:t>
            </a:r>
          </a:p>
          <a:p>
            <a:r>
              <a:rPr lang="ko-KR" altLang="en-US"/>
              <a:t>세 번째 대안</a:t>
            </a:r>
            <a:r>
              <a:rPr lang="en-US" altLang="ko-KR"/>
              <a:t>, </a:t>
            </a:r>
            <a:r>
              <a:rPr lang="ko-KR" altLang="en-US" b="1"/>
              <a:t>구조적 검증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전체 객체 대신 핵심 속성만 검증하는 방식</a:t>
            </a:r>
            <a:r>
              <a:rPr lang="en-US" altLang="ko-KR" i="1"/>
              <a:t>. FluentAssertions</a:t>
            </a:r>
            <a:r>
              <a:rPr lang="ko-KR" altLang="en-US" i="1"/>
              <a:t>나 확장 메서드로 가독성 있는 검증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객체 비교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속성까지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CreateOrder_AllProperties()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Id, CreatedAt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검증 불필요한 것까지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Assert.That(order.Id, Is.Not.Empty);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Assert.That(order.Product,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Assert.That(order.Quantity, Is.EqualTo(2));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Assert.That(order.CreatedAt, Is.Not.Null);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굳이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Assert.That(order.UpdatedAt, Is.Null);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굳이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속성만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CreateOrder_CoreProperties()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로직에 중요한 것만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Assert.That(order.Product,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Assert.That(order.Quantity, Is.EqualTo(2));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Assert.That(order.TotalPrice, Is.EqualTo(3000000));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FluentAssertions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CreateOrder_FluentStyle()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좋은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order.Product.Should().Be("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order.Quantity.Should().Be(2);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order.TotalPrice.Should().BeGreaterThan(0);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컬렉션 검증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order.Items.Should().HaveCount(2);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order.Items.Should().Contain(i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i.Name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확장 메서드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OrderAssertions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ShouldBeValidOrder(this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expectedProduct,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expectedQuantity)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Assert.That(order.Product, Is.EqualTo(expectedProduct));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Assert.That(order.Quantity, Is.EqualTo(expectedQuantity));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Assert.That(order.Id, Is.Not.Empty);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CreateOrder_CustomAssertion()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order.ShouldBeValidOrder("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재사용 가능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 검증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비즈니스에 중요한 것만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Install-Package FluentAssertions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쉬운 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order.Product.Should().Be("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풍부한 검증 메서드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메시지가 상세함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확장 메서드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특화 검증 로직 재사용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중복 제거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객체 비교 라이브러리</a:t>
            </a:r>
          </a:p>
          <a:p>
            <a:r>
              <a:rPr lang="ko-KR" altLang="en-US"/>
              <a:t>네 번째 대안</a:t>
            </a:r>
            <a:r>
              <a:rPr lang="en-US" altLang="ko-KR"/>
              <a:t>, </a:t>
            </a:r>
            <a:r>
              <a:rPr lang="ko-KR" altLang="en-US" b="1"/>
              <a:t>객체 비교 라이브러리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"CompareNETObjects, DeepEqual </a:t>
            </a:r>
            <a:r>
              <a:rPr lang="ko-KR" altLang="en-US" i="1"/>
              <a:t>등 활용</a:t>
            </a:r>
            <a:r>
              <a:rPr lang="en-US" altLang="ko-KR" i="1"/>
              <a:t>. </a:t>
            </a:r>
            <a:r>
              <a:rPr lang="ko-KR" altLang="en-US" i="1"/>
              <a:t>지능적인 차이 비교와 무시할 속성 설정 가능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CompareNETObjects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Install-Package CompareNETObjects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KellermanSoftware.CompareNetObjects;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CloneUser_DeepEqual()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Address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City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service.CloneUser(original);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깊은 비교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중첩 객체 포함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CompareLogic();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comparer.Compare(original, clone);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Assert.That(result.AreEqual, Is.True, result.DifferencesString);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속성 무시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UpdateUser_IgnoreTimestamps()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service.UpdateUser(original,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김철수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comparer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CompareLogic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Config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MembersToIgnore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List&lt;string&gt;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{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"UpdatedAt",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타임스탬프 무시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"Id"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ID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Name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변경되었는지 확인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comparer.Compare(original, updated);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Assert.That(result.AreEqual, Is.False);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Assert.That(result.DifferencesString, Does.Contain("Name"));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FluentAssertions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객체 비교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CloneUser_FluentEquivalent()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Id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Name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service.CloneUser(original);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 동등성 비교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clone.Should().BeEquivalentTo(original);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속성 제외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clone.Should().BeEquivalentTo(original, options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options.Excluding(u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u.UpdatedAt)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.Excluding(u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u.Id));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 비교 라이브러리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주요 라이브러리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CompareNETObjects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깊은 비교 지원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차이점 상세 리포트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무시할 속성 설정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DeepEqual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actual.ShouldDeepEqual(expected)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BeEquivalentTo()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유연한 옵션 설정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지능적 비교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무시 속성 등 설정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베스트 프랙티스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 테스트는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컴포넌트나 직렬화된 결과물처럼 복잡한 출력에 유용할 수 있지만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 테스트에서는 명시적 검증이 더 효과적입니다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테스트가 실패했을 때 무엇이 왜 실패했는지 명확히 알 수 있는 방식으로 작성하세요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대안 비교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스냅샷        명시적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원인         불명확        명확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유지보수          어려움        쉬움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의도       숨겨짐        드러남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포맷 변경 영향    큼           작음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복잡한 출력       유용          번거로움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권장 사용처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스냅샷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컴포넌트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HTML/JSON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복잡한 객체 처리 팁</a:t>
            </a:r>
          </a:p>
          <a:p>
            <a:r>
              <a:rPr lang="ko-KR" altLang="en-US"/>
              <a:t>슬라이드 하단의 팁입니다</a:t>
            </a:r>
            <a:r>
              <a:rPr lang="en-US" altLang="ko-KR"/>
              <a:t>. </a:t>
            </a:r>
            <a:r>
              <a:rPr lang="en-US" altLang="ko-KR" i="1"/>
              <a:t>"</a:t>
            </a:r>
            <a:r>
              <a:rPr lang="ko-KR" altLang="en-US" i="1"/>
              <a:t>복잡한 객체는 </a:t>
            </a:r>
            <a:r>
              <a:rPr lang="en-US" altLang="ko-KR" i="1"/>
              <a:t>ToStringHelpers</a:t>
            </a:r>
            <a:r>
              <a:rPr lang="ko-KR" altLang="en-US" i="1"/>
              <a:t>나 커스텀 비교기를 활용하세요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ToString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재정의로 디버깅 용이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 { get; set;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 { get; set;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override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ToString()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$"Order[Product={Product}, Qty={Quantity}]";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OrderComparer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IEqualityComparer&lt;Order&gt;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Equals(Order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 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x.Product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y.Product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x.Quantity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y.Quantity;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GetHashCode(Order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obj) =&gt;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obj.Product.GetHashCode();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Orders_CustomComparer()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Product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Quantity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service.CreateOrder("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노트북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Assert.That(actual, Is.EqualTo(expected).Using(new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OrderComparer()));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**스냅샷 대안**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기법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**명시적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기대 값을 코드로 표현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 명확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🛡️ **포맷 변화에 강한 검증**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값에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무시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**구조적 검증**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 속성만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FluentAssertions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**객체 비교 라이브러리**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CompareNETObjects, DeepEqual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스냅샷은 복잡한 출력에만 사용하고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단위 테스트에서는 **명시적 검증**으로 의도를 드러내세요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성능</a:t>
            </a:r>
            <a:r>
              <a:rPr lang="en-US" altLang="ko-KR" b="1"/>
              <a:t>/</a:t>
            </a:r>
            <a:r>
              <a:rPr lang="ko-KR" altLang="en-US" b="1"/>
              <a:t>회귀 테스트 구분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테스트에도 여러 종류가 있죠</a:t>
            </a:r>
            <a:r>
              <a:rPr lang="en-US" altLang="ko-KR"/>
              <a:t>? </a:t>
            </a:r>
            <a:r>
              <a:rPr lang="ko-KR" altLang="en-US"/>
              <a:t>단위 테스트</a:t>
            </a:r>
            <a:r>
              <a:rPr lang="en-US" altLang="ko-KR"/>
              <a:t>, </a:t>
            </a:r>
            <a:r>
              <a:rPr lang="ko-KR" altLang="en-US"/>
              <a:t>통합 테스트</a:t>
            </a:r>
            <a:r>
              <a:rPr lang="en-US" altLang="ko-KR"/>
              <a:t>, </a:t>
            </a:r>
            <a:r>
              <a:rPr lang="ko-KR" altLang="en-US"/>
              <a:t>성능 테스트</a:t>
            </a:r>
            <a:r>
              <a:rPr lang="en-US" altLang="ko-KR"/>
              <a:t>, </a:t>
            </a:r>
            <a:r>
              <a:rPr lang="ko-KR" altLang="en-US"/>
              <a:t>부하 테스트</a:t>
            </a:r>
            <a:r>
              <a:rPr lang="en-US" altLang="ko-KR"/>
              <a:t>...</a:t>
            </a:r>
          </a:p>
          <a:p>
            <a:r>
              <a:rPr lang="ko-KR" altLang="en-US"/>
              <a:t>이들을 </a:t>
            </a:r>
            <a:r>
              <a:rPr lang="ko-KR" altLang="en-US" b="1"/>
              <a:t>왜</a:t>
            </a:r>
            <a:r>
              <a:rPr lang="en-US" altLang="ko-KR" b="1"/>
              <a:t>, </a:t>
            </a:r>
            <a:r>
              <a:rPr lang="ko-KR" altLang="en-US" b="1"/>
              <a:t>어떻게 분리</a:t>
            </a:r>
            <a:r>
              <a:rPr lang="ko-KR" altLang="en-US"/>
              <a:t>해야 하는지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테스트 유형 분리의 중요성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테스트와 비기능 테스트</a:t>
            </a:r>
            <a:r>
              <a:rPr lang="en-US" altLang="ko-KR" i="1"/>
              <a:t>(</a:t>
            </a:r>
            <a:r>
              <a:rPr lang="ko-KR" altLang="en-US" i="1"/>
              <a:t>성능</a:t>
            </a:r>
            <a:r>
              <a:rPr lang="en-US" altLang="ko-KR" i="1"/>
              <a:t>, </a:t>
            </a:r>
            <a:r>
              <a:rPr lang="ko-KR" altLang="en-US" i="1"/>
              <a:t>부하</a:t>
            </a:r>
            <a:r>
              <a:rPr lang="en-US" altLang="ko-KR" i="1"/>
              <a:t>)</a:t>
            </a:r>
            <a:r>
              <a:rPr lang="ko-KR" altLang="en-US" i="1"/>
              <a:t>는 목적이 다르므로 분리해야 합니다</a:t>
            </a:r>
            <a:r>
              <a:rPr lang="en-US" altLang="ko-KR" i="1"/>
              <a:t>. </a:t>
            </a:r>
            <a:r>
              <a:rPr lang="ko-KR" altLang="en-US" i="1"/>
              <a:t>단위 테스트는 기능 정확성 검증에 집중하고</a:t>
            </a:r>
            <a:r>
              <a:rPr lang="en-US" altLang="ko-KR" i="1"/>
              <a:t>, </a:t>
            </a:r>
            <a:r>
              <a:rPr lang="ko-KR" altLang="en-US" i="1"/>
              <a:t>성능 테스트는 시스템 자원 사용과 응답 시간에 초점을 맞춥니다</a:t>
            </a:r>
            <a:r>
              <a:rPr lang="en-US" altLang="ko-KR" i="1"/>
              <a:t>. </a:t>
            </a:r>
            <a:r>
              <a:rPr lang="ko-KR" altLang="en-US" i="1"/>
              <a:t>두 유형을 명확히 구분하여 각각 최적화하세요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테스트 유형별 목적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(Unit Test)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정확성 검증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코드가 올바르게 동작하는가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실행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성능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(Performance Test)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처리량 측정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코드가 충분히 빠른가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환경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가끔 실행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부하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(Load Test)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사용자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한계 측정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얼마나 많은 요청을 처리할 수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환경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전 실행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목적이 다르면 분리해서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⚡ 실행 속도 차이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실행 속도 차이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테스트는 밀리초 단위로 빠르게 실행되지만</a:t>
            </a:r>
            <a:r>
              <a:rPr lang="en-US" altLang="ko-KR" i="1"/>
              <a:t>, </a:t>
            </a:r>
            <a:r>
              <a:rPr lang="ko-KR" altLang="en-US" i="1"/>
              <a:t>성능 테스트는 유의미한 데이터 수집을 위해 더 오래 실행됩니다</a:t>
            </a:r>
            <a:r>
              <a:rPr lang="en-US" altLang="ko-KR" i="1"/>
              <a:t>. CI </a:t>
            </a:r>
            <a:r>
              <a:rPr lang="ko-KR" altLang="en-US" i="1"/>
              <a:t>파이프라인에서 분리하세요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실행 속도 차이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████ 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매 커밋마다 실행 가능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성능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████████████████████████████████ 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야간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전에만 실행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분리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→ 단위 테스트만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피드백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Merge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배포 전 → 전체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야간   → 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 테스트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🖥️ 환경 요구사항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환경 요구사항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테스트는 모든 환경에서 일관된 결과를 보이지만</a:t>
            </a:r>
            <a:r>
              <a:rPr lang="en-US" altLang="ko-KR" i="1"/>
              <a:t>, </a:t>
            </a:r>
            <a:r>
              <a:rPr lang="ko-KR" altLang="en-US" i="1"/>
              <a:t>성능 테스트는 실제와 유사한 환경에서 실행해야 의미가 있습니다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환경 요구사항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낮은 스펙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환경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어디서든 동일한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프로세스 영향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저스펙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프로덕션과 유사한 전용 서버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실제 환경에서만 의미 있는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 환경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프로덕션과 동일한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조건 반영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프로세스 영향 최소화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📈 평가 기준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평가 기준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 테스트는 성공</a:t>
            </a:r>
            <a:r>
              <a:rPr lang="en-US" altLang="ko-KR" i="1"/>
              <a:t>/</a:t>
            </a:r>
            <a:r>
              <a:rPr lang="ko-KR" altLang="en-US" i="1"/>
              <a:t>실패의 이분법적 결과를 제공하지만</a:t>
            </a:r>
            <a:r>
              <a:rPr lang="en-US" altLang="ko-KR" i="1"/>
              <a:t>, </a:t>
            </a:r>
            <a:r>
              <a:rPr lang="ko-KR" altLang="en-US" i="1"/>
              <a:t>성능 테스트는 응답 시간</a:t>
            </a:r>
            <a:r>
              <a:rPr lang="en-US" altLang="ko-KR" i="1"/>
              <a:t>, </a:t>
            </a:r>
            <a:r>
              <a:rPr lang="ko-KR" altLang="en-US" i="1"/>
              <a:t>처리량</a:t>
            </a:r>
            <a:r>
              <a:rPr lang="en-US" altLang="ko-KR" i="1"/>
              <a:t>, </a:t>
            </a:r>
            <a:r>
              <a:rPr lang="ko-KR" altLang="en-US" i="1"/>
              <a:t>자원 사용률 등 다양한 지표로 평가합니다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평가 기준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 테스트 평가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Pass ✅ / Fail ❌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실제값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이분법적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명확함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성능 테스트 평가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응답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150ms, P95 300ms, P99 500ms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처리량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1000 req/sec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70%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메모리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2GB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다차원적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 기반 판단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성능 테스트 판단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P95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시간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500ms → Pass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CPU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80% → Pass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 누수 없음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이분법적 결과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Add_TwoNumbers_ReturnsSum()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calculator.Add(2, 3);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Assert.That(result, Is.EqualTo(5));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Pass or Fail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 기반 평가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[Category("Performance")]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ProcessOrder_ResponseTime_Under200ms()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stopwatch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Stopwatch.StartNew();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0; i 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100; i++)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service.ProcessOrder(new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Order());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stopwatch.Stop();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avgMs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stopwatch.ElapsedMilliseconds 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100.0;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TestContext.WriteLine($"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응답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{avgMs}ms");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Assert.That(avgMs, Is.LessThan(200),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$"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응답 시간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{avgMs}ms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임계값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200ms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초과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구분 방법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구조와 명명 규칙으로 테스트 유형 분리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OrderService.Tests.Unit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OrderService.Tests.Integration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OrderService.Tests.Performance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[TestCategory("Unit")]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태그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[TestCategory("Performance")]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 태그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구조로 분리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OrderService.csproj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tests/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OrderService.Tests.Unit/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← 단위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OrderService.Tests.Unit.csproj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OrderService.Tests.Integration/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← 통합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OrderService.Tests.Integration.csproj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│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OrderService.Tests.Performance/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← 성능 테스트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OrderService.Tests.Performance.csproj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프로젝트 단위로 분리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선택적 실행 가능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Category/Tag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분리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[Category("Unit")]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[Category("Integration")]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[Category("Performance")]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xUnit: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[Trait("Category", "Unit")]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[Trait("Category", "Integration")]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[Trait("Category", "Performance")]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명령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테스트만 실행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Category=Unit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 제외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 Category!=Performance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카테고리만 실행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 "Category=Unit|Category=Integration"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CI/CD </a:t>
            </a:r>
            <a:r>
              <a:rPr lang="ko-KR" altLang="en-US" b="1"/>
              <a:t>파이프라인 구성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GitHub Actions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CI/CD Pipeline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unit-tests: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Unit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--filter Category=Unit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마다 실행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피드백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integration-tests: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needs: unit-tests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통과 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if: github.ref == 'refs/heads/main'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Integration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--filter Category=Integration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main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브랜치에만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performance-tests: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[self-hosted, performance]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 러너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needs: integration-tests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if: github.event_name == 'release'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Performance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--filter Category=Performance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시에만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구성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[Unit Tests] ────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 ──── ✅ 빠른 피드백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 to main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[Integration] ──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──── ✅ 통합 검증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배포 준비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[Performance] ──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─── ✅ 성능 검증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단계별로 적절한 테스트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유형 비교 정리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유형 비교표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├──────────────┬────────────────┬────────────────┬────────────────┤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단위 테스트   │   통합 테스트   │  성능 테스트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├──────────────┼────────────────┼────────────────┼────────────────┤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목적         │ 기능 정확성    │ 컴포넌트 연동  │ 응답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처리량│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실행 속도    │ 밀리초         │ 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  │ 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환경 의존성  │ 없음           │ 중간           │ 높음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실행 빈도    │ 매 커밋        │ 매 머지        │ 배포 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야간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평가 기준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Pass/Fail      │ Pass/Fail  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 기반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│ 많음           │ 일부           │ 없음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└──────────────┴────────────────┴────────────────┴────────────────┘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회귀 테스트 구분**의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**실행 속도**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(ms)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분리 실행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🖥️ **환경 요구사항**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어디서든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**평가 기준**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(Pass/Fail) 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 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구조나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태그로 분리하고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파이프라인에서 **적절한 시점에 적절한 테스트**를 실행하세요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고급 기법 요약</a:t>
            </a:r>
            <a:r>
              <a:rPr lang="ko-KR" altLang="en-US"/>
              <a:t>으로 마무리하겠습니다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배운 단위테스트 고급 기술들을 효과적으로 적용하기 위한 </a:t>
            </a:r>
            <a:r>
              <a:rPr lang="ko-KR" altLang="en-US" b="1"/>
              <a:t>핵심 원칙과 베스트 프랙티스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5</a:t>
            </a:r>
            <a:r>
              <a:rPr lang="ko-KR" altLang="en-US"/>
              <a:t>가지 핵심 포인트를 정리해드리겠습니다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🔒 결정적인 테스트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결정적인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시간</a:t>
            </a:r>
            <a:r>
              <a:rPr lang="en-US" altLang="ko-KR" i="1"/>
              <a:t>, </a:t>
            </a:r>
            <a:r>
              <a:rPr lang="ko-KR" altLang="en-US" i="1"/>
              <a:t>랜덤</a:t>
            </a:r>
            <a:r>
              <a:rPr lang="en-US" altLang="ko-KR" i="1"/>
              <a:t>, </a:t>
            </a:r>
            <a:r>
              <a:rPr lang="ko-KR" altLang="en-US" i="1"/>
              <a:t>환경 변수는 인터페이스로 격리하세요</a:t>
            </a:r>
            <a:r>
              <a:rPr lang="en-US" altLang="ko-KR" i="1"/>
              <a:t>. </a:t>
            </a:r>
            <a:r>
              <a:rPr lang="ko-KR" altLang="en-US" i="1"/>
              <a:t>날짜</a:t>
            </a:r>
            <a:r>
              <a:rPr lang="en-US" altLang="ko-KR" i="1"/>
              <a:t>/</a:t>
            </a:r>
            <a:r>
              <a:rPr lang="ko-KR" altLang="en-US" i="1"/>
              <a:t>시간은 </a:t>
            </a:r>
            <a:r>
              <a:rPr lang="en-US" altLang="ko-KR" i="1"/>
              <a:t>IClock </a:t>
            </a:r>
            <a:r>
              <a:rPr lang="ko-KR" altLang="en-US" i="1"/>
              <a:t>패턴</a:t>
            </a:r>
            <a:r>
              <a:rPr lang="en-US" altLang="ko-KR" i="1"/>
              <a:t>, </a:t>
            </a:r>
            <a:r>
              <a:rPr lang="ko-KR" altLang="en-US" i="1"/>
              <a:t>랜덤은 시드 고정이나 주입 패턴을 사용합니다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🔒 결정적인 테스트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비결정적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DateTime.Now      → IClock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Random.Next()     → IRandomProvider 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Guid.NewGuid()    → IGuidProvider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Environment       → IConfiguration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요인은 인터페이스로 추상화하고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예측 가능한 값으로 대체하라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어제도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내일도 같은 결과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방지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안정성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⚠️ 경계값과 실패 시나리오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경계값과 실패 시나리오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경계값 분석과 동등 분할로 테스트를 설계하세요</a:t>
            </a:r>
            <a:r>
              <a:rPr lang="en-US" altLang="ko-KR" i="1"/>
              <a:t>. </a:t>
            </a:r>
            <a:r>
              <a:rPr lang="ko-KR" altLang="en-US" i="1"/>
              <a:t>정상 경로보다 예외와 실패 경로를 먼저 테스트하면 더 견고해집니다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⚠️ 경계값과 실패 시나리오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경계값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±1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1~100 → 0, 1, 100, 101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동등 분할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유사 동작 그룹에서 대표값 선택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(-5),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(0),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경로 우선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1️⃣ null,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→ 예외 검증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→ 엣지 케이스 검증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경로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 Path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버그는 경계에서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케이스 먼저 작성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📝 명시적 어서션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명시적 어서션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스냅샷보다 명시적 </a:t>
            </a:r>
            <a:r>
              <a:rPr lang="en-US" altLang="ko-KR" i="1"/>
              <a:t>Assert</a:t>
            </a:r>
            <a:r>
              <a:rPr lang="ko-KR" altLang="en-US" i="1"/>
              <a:t>로 의도를 표현하세요</a:t>
            </a:r>
            <a:r>
              <a:rPr lang="en-US" altLang="ko-KR" i="1"/>
              <a:t>. Given-When-Then </a:t>
            </a:r>
            <a:r>
              <a:rPr lang="ko-KR" altLang="en-US" i="1"/>
              <a:t>구조로 테스트 목적과 검증 대상을 명확히 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📝 명시적 어서션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스냅샷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user.ShouldMatchSnapshot();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Assert.That(user.Name, Is.EqualTo("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Given: VIP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구매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customer = new Customer { IsVip = true };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order = new Order { Amount = 150000 };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When: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적용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discount = service.CalculateDiscount(customer, order);│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Then: 20%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Assert.That(discount.Percentage, Is.EqualTo(20));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가능한 명세서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비동기 코드 테스트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ko-KR" altLang="en-US" b="1"/>
              <a:t>비동기 코드 테스트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"async/await </a:t>
            </a:r>
            <a:r>
              <a:rPr lang="ko-KR" altLang="en-US" i="1"/>
              <a:t>패턴을 사용하고</a:t>
            </a:r>
            <a:r>
              <a:rPr lang="en-US" altLang="ko-KR" i="1"/>
              <a:t>, </a:t>
            </a:r>
            <a:r>
              <a:rPr lang="ko-KR" altLang="en-US" i="1"/>
              <a:t>타임아웃과 취소 토큰을 테스트하세요</a:t>
            </a:r>
            <a:r>
              <a:rPr lang="en-US" altLang="ko-KR" i="1"/>
              <a:t>. </a:t>
            </a:r>
            <a:r>
              <a:rPr lang="ko-KR" altLang="en-US" i="1"/>
              <a:t>병렬 코드는 경쟁 상태를 고려한 설계가 필요합니다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비동기 코드 테스트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async/await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public async Task TestMethod()    // 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async void TestMethod()    // void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await service.GetAsync()          // await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[Timeout(1000)]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어트리뷰트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CancellationTokenSource.Cancel()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Assert.ThrowsAsync&lt;Exception&gt;()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Parallel.For(0, 10000, _ =&gt; counter.Increment());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경쟁 상태 검증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Assert.That(counter.Value, Is.EqualTo(10000));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mockRepo.Setup(r =&gt; r.GetAsync()).ReturnsAsync(result);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핵심 요약</a:t>
            </a:r>
          </a:p>
          <a:p>
            <a:r>
              <a:rPr lang="en-US" altLang="ko-KR" i="1"/>
              <a:t>"</a:t>
            </a:r>
            <a:r>
              <a:rPr lang="ko-KR" altLang="en-US" i="1"/>
              <a:t>고급 테스트의 핵심은 결정성과 격리입니다</a:t>
            </a:r>
            <a:r>
              <a:rPr lang="en-US" altLang="ko-KR" i="1"/>
              <a:t>. </a:t>
            </a:r>
            <a:r>
              <a:rPr lang="ko-KR" altLang="en-US" i="1"/>
              <a:t>외부 요인을 제어하는 패턴을 익히고</a:t>
            </a:r>
            <a:r>
              <a:rPr lang="en-US" altLang="ko-KR" i="1"/>
              <a:t>, </a:t>
            </a:r>
            <a:r>
              <a:rPr lang="ko-KR" altLang="en-US" i="1"/>
              <a:t>성능 테스트와 단위 테스트를 구분하세요</a:t>
            </a:r>
            <a:r>
              <a:rPr lang="en-US" altLang="ko-KR" i="1"/>
              <a:t>. </a:t>
            </a:r>
            <a:r>
              <a:rPr lang="ko-KR" altLang="en-US" i="1"/>
              <a:t>모든 테스트는 의도가 명확하고</a:t>
            </a:r>
            <a:r>
              <a:rPr lang="en-US" altLang="ko-KR" i="1"/>
              <a:t>, </a:t>
            </a:r>
            <a:r>
              <a:rPr lang="ko-KR" altLang="en-US" i="1"/>
              <a:t>실행이 빠르며</a:t>
            </a:r>
            <a:r>
              <a:rPr lang="en-US" altLang="ko-KR" i="1"/>
              <a:t>, </a:t>
            </a:r>
            <a:r>
              <a:rPr lang="ko-KR" altLang="en-US" i="1"/>
              <a:t>결과가 일관되어야 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💡 핵심 요약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고급 테스트의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(Deterministic)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어디서 실행해도 같은 결과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(Isolation)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 없이 독립적 실행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(Clarity)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목적과 검증 대상이 분명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좋은 테스트의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의도가 명확하다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실행이 빠르다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결과가 일관된다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유지보수가 쉽다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고급 기법 전체 정리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고급 기법 체크리스트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🔒 결정적인 테스트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 → IClock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Random → IRandomProvider 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시드 고정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Guid.NewGuid() → IGuidProvider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 → 주입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복원 패턴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경계값과 실패 시나리오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경계값 분석 적용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동등 분할 적용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실패 경로 먼저 테스트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예외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(Assert.Throws)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📝 명시적 어서션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스냅샷 대신 명시적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FluentAssertions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비동기 코드 테스트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 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(void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await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타임아웃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토큰 테스트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경쟁 상태 검증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📊 테스트 분리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 테스트 분리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 활용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구성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마무리하겠습니다</a:t>
            </a:r>
            <a:r>
              <a:rPr lang="en-US" altLang="ko-KR"/>
              <a:t>.</a:t>
            </a:r>
          </a:p>
          <a:p>
            <a:r>
              <a:rPr lang="ko-KR" altLang="en-US" b="1"/>
              <a:t>고급 테스트 기법</a:t>
            </a:r>
            <a:r>
              <a:rPr lang="ko-KR" altLang="en-US"/>
              <a:t>의 </a:t>
            </a:r>
            <a:r>
              <a:rPr lang="en-US" altLang="ko-KR"/>
              <a:t>5</a:t>
            </a:r>
            <a:r>
              <a:rPr lang="ko-KR" altLang="en-US"/>
              <a:t>가지 핵심</a:t>
            </a:r>
            <a:r>
              <a:rPr lang="en-US" altLang="ko-KR"/>
              <a:t>:</a:t>
            </a:r>
          </a:p>
          <a:p>
            <a:r>
              <a:rPr lang="ko-KR" altLang="en-US"/>
              <a:t>🔒 </a:t>
            </a:r>
            <a:r>
              <a:rPr lang="ko-KR" altLang="en-US" b="1"/>
              <a:t>결정적인 테스트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랜덤</a:t>
            </a:r>
            <a:r>
              <a:rPr lang="en-US" altLang="ko-KR"/>
              <a:t>, </a:t>
            </a:r>
            <a:r>
              <a:rPr lang="ko-KR" altLang="en-US"/>
              <a:t>환경 변수 격리</a:t>
            </a:r>
          </a:p>
          <a:p>
            <a:r>
              <a:rPr lang="ko-KR" altLang="en-US"/>
              <a:t>⚠️ </a:t>
            </a:r>
            <a:r>
              <a:rPr lang="ko-KR" altLang="en-US" b="1"/>
              <a:t>경계값과 실패 시나리오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실패 경로 먼저</a:t>
            </a:r>
            <a:r>
              <a:rPr lang="en-US" altLang="ko-KR"/>
              <a:t>, </a:t>
            </a:r>
            <a:r>
              <a:rPr lang="ko-KR" altLang="en-US"/>
              <a:t>경계값 집중</a:t>
            </a:r>
          </a:p>
          <a:p>
            <a:r>
              <a:rPr lang="ko-KR" altLang="en-US"/>
              <a:t>📝 </a:t>
            </a:r>
            <a:r>
              <a:rPr lang="ko-KR" altLang="en-US" b="1"/>
              <a:t>명시적 어서션</a:t>
            </a:r>
            <a:r>
              <a:rPr lang="ko-KR" altLang="en-US"/>
              <a:t> </a:t>
            </a:r>
            <a:r>
              <a:rPr lang="en-US" altLang="ko-KR"/>
              <a:t>- Given-When-Then, </a:t>
            </a:r>
            <a:r>
              <a:rPr lang="ko-KR" altLang="en-US"/>
              <a:t>의도 명확히</a:t>
            </a:r>
          </a:p>
          <a:p>
            <a:r>
              <a:rPr lang="ko-KR" altLang="en-US"/>
              <a:t>🔄 </a:t>
            </a:r>
            <a:r>
              <a:rPr lang="ko-KR" altLang="en-US" b="1"/>
              <a:t>비동기 코드 테스트</a:t>
            </a:r>
            <a:r>
              <a:rPr lang="ko-KR" altLang="en-US"/>
              <a:t> </a:t>
            </a:r>
            <a:r>
              <a:rPr lang="en-US" altLang="ko-KR"/>
              <a:t>- async/await, </a:t>
            </a:r>
            <a:r>
              <a:rPr lang="ko-KR" altLang="en-US"/>
              <a:t>타임아웃</a:t>
            </a:r>
            <a:r>
              <a:rPr lang="en-US" altLang="ko-KR"/>
              <a:t>, </a:t>
            </a:r>
            <a:r>
              <a:rPr lang="ko-KR" altLang="en-US"/>
              <a:t>취소 토큰</a:t>
            </a:r>
          </a:p>
          <a:p>
            <a:r>
              <a:rPr lang="ko-KR" altLang="en-US"/>
              <a:t>📊 </a:t>
            </a:r>
            <a:r>
              <a:rPr lang="ko-KR" altLang="en-US" b="1"/>
              <a:t>테스트 분리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단위</a:t>
            </a:r>
            <a:r>
              <a:rPr lang="en-US" altLang="ko-KR"/>
              <a:t>/</a:t>
            </a:r>
            <a:r>
              <a:rPr lang="ko-KR" altLang="en-US"/>
              <a:t>성능 구분</a:t>
            </a:r>
            <a:r>
              <a:rPr lang="en-US" altLang="ko-KR"/>
              <a:t>, CI/CD </a:t>
            </a:r>
            <a:r>
              <a:rPr lang="ko-KR" altLang="en-US"/>
              <a:t>최적화</a:t>
            </a:r>
          </a:p>
          <a:p>
            <a:r>
              <a:rPr lang="ko-KR" altLang="en-US"/>
              <a:t>기억하세요</a:t>
            </a:r>
            <a:r>
              <a:rPr lang="en-US" altLang="ko-KR"/>
              <a:t>: </a:t>
            </a:r>
            <a:r>
              <a:rPr lang="en-US" altLang="ko-KR" b="1"/>
              <a:t>"</a:t>
            </a:r>
            <a:r>
              <a:rPr lang="ko-KR" altLang="en-US" b="1"/>
              <a:t>결정성</a:t>
            </a:r>
            <a:r>
              <a:rPr lang="en-US" altLang="ko-KR" b="1"/>
              <a:t>, </a:t>
            </a:r>
            <a:r>
              <a:rPr lang="ko-KR" altLang="en-US" b="1"/>
              <a:t>격리</a:t>
            </a:r>
            <a:r>
              <a:rPr lang="en-US" altLang="ko-KR" b="1"/>
              <a:t>, </a:t>
            </a:r>
            <a:r>
              <a:rPr lang="ko-KR" altLang="en-US" b="1"/>
              <a:t>명확성</a:t>
            </a:r>
            <a:r>
              <a:rPr lang="en-US" altLang="ko-KR" b="1"/>
              <a:t>"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이 세 가지가 고급 테스트의 핵심입니다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커버리지 지표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테스트를 얼마나 잘 작성했는지 어떻게 알 수 있을까요</a:t>
            </a:r>
            <a:r>
              <a:rPr lang="en-US" altLang="ko-KR"/>
              <a:t>?" </a:t>
            </a:r>
            <a:r>
              <a:rPr lang="ko-KR" altLang="en-US"/>
              <a:t>코드 커버리지가 그 답의 일부를 제공합니다</a:t>
            </a:r>
            <a:r>
              <a:rPr lang="en-US" altLang="ko-KR"/>
              <a:t>.</a:t>
            </a:r>
          </a:p>
          <a:p>
            <a:r>
              <a:rPr lang="ko-KR" altLang="en-US"/>
              <a:t>커버리지가 무엇이고</a:t>
            </a:r>
            <a:r>
              <a:rPr lang="en-US" altLang="ko-KR"/>
              <a:t>, </a:t>
            </a:r>
            <a:r>
              <a:rPr lang="ko-KR" altLang="en-US"/>
              <a:t>어떻게 해석해야 하는지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커버리지란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</a:t>
            </a:r>
            <a:r>
              <a:rPr lang="ko-KR" altLang="en-US" i="1"/>
              <a:t>코드 커버리지는 테스트 실행 중 코드의 어느 부분이 실행되었는지 측정하는 지표입니다</a:t>
            </a:r>
            <a:r>
              <a:rPr lang="en-US" altLang="ko-KR" i="1"/>
              <a:t>. </a:t>
            </a:r>
            <a:r>
              <a:rPr lang="ko-KR" altLang="en-US" i="1"/>
              <a:t>테스트 품질과 미테스트 영역을 파악하는 데 유용합니다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코드 커버리지란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실행될 때 소스 코드의 어느 부분이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실행되었는지를 백분율로 나타낸 지표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int Divide(int a, int b)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if (b == 0)  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안 됨 ❌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 new Exception();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안 됨 ❌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a / b;    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됨 ✅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 코드의 라인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1/3 = 33%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용도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테스트되지 않은 코드 발견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품질의 대략적 지표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전 안전망 확인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라인 커버리지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라인 커버리지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실행된 코드 라인의 비율</a:t>
            </a:r>
            <a:r>
              <a:rPr lang="en-US" altLang="ko-KR" i="1"/>
              <a:t>. </a:t>
            </a:r>
            <a:r>
              <a:rPr lang="ko-KR" altLang="en-US" i="1"/>
              <a:t>가장 기본적이고 직관적인 지표로 미실행 코드를 빠르게 식별합니다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코드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b,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(operation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"add")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(operation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"subtract")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✅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(operation ==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"multiply")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b;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ArgumentException();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❌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Calculate_Add_ReturnsSum()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calculator.Calculate(2, 3, "add");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Assert.That(result, Is.EqualTo(5));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Calculate_Subtract_ReturnsDifference()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calculator.Calculate(5, 3, "subtract");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Assert.That(result, Is.EqualTo(2));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4/8 = 50%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multiply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분기가 테스트되지 않음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라인 커버리지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계산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실행된 라인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전체 라인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이해하기 쉬움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미테스트 코드를 빠르게 발견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대부분의 도구에서 기본 제공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한계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라인에 여러 분기가 있으면 정확하지 않음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조건의 일부만 테스트해도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표시될 수 있음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a=1, b=1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→ 라인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a=-1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케이스는 미테스트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🔀 브랜치 커버리지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브랜치 커버리지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조건문</a:t>
            </a:r>
            <a:r>
              <a:rPr lang="en-US" altLang="ko-KR" i="1"/>
              <a:t>(if, switch)</a:t>
            </a:r>
            <a:r>
              <a:rPr lang="ko-KR" altLang="en-US" i="1"/>
              <a:t>의 분기 테스트 여부</a:t>
            </a:r>
            <a:r>
              <a:rPr lang="en-US" altLang="ko-KR" i="1"/>
              <a:t>. </a:t>
            </a:r>
            <a:r>
              <a:rPr lang="ko-KR" altLang="en-US" i="1"/>
              <a:t>모든 의사결정 경로가 테스트되었는지 검증합니다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조건문 분기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GetGrade(int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(score &gt;=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90)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true/false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(score &gt;=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80)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true/false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(score &gt;=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70)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true/false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"F";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위한 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[TestCase(95, "A")]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[TestCase(85, "B")]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false,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[TestCase(75, "C")]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1,2 false,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[TestCase(50, "F")]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분기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GetGrade_ReturnsCorrectGrade(int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score, 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var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service.GetGrade(score);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Assert.That(result, Is.EqualTo(expected));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브랜치 커버리지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계산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실행된 분기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전체 분기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(Branch)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true/false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경로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switch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문의 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삼항 연산자의 양쪽 경로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연산자의 단축 평가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↓         ↓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a=1, b=1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a=1, b=-1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a=-1, b=?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단축 평가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라인 커버리지보다 더 정밀한 측정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👤 메서드 커버리지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메서드 커버리지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테스트된 메서드의 비율</a:t>
            </a:r>
            <a:r>
              <a:rPr lang="en-US" altLang="ko-KR" i="1"/>
              <a:t>. </a:t>
            </a:r>
            <a:r>
              <a:rPr lang="ko-KR" altLang="en-US" i="1"/>
              <a:t>어떤 기능이 테스트에서 완전히 누락되었는지 파악하는 데 유용합니다</a:t>
            </a:r>
            <a:r>
              <a:rPr lang="en-US" altLang="ko-KR" i="1"/>
              <a:t>."</a:t>
            </a:r>
            <a:endParaRPr lang="ko-KR" altLang="en-US"/>
          </a:p>
          <a:p>
            <a:r>
              <a:rPr lang="en-US" altLang="ko-KR"/>
              <a:t>csharp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클래스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CreateOrder(string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product) { ... }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CancelOrder(int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orderId) { ... }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GetOrder(int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orderId) { ... }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UpdateOrder(Order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order) { ... }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List&lt;Order&gt; GetAllOrders() { ... }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❌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안 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커버리지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3/5 = 60%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👤 메서드 커버리지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계산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실행된 메서드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전체 메서드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용도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누락된 기능 발견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범위의 거시적 파악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기능 추가 시 테스트 누락 방지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메서드가 한 번이라도 호출되면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표시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로직의 모든 경로가 테스트되었는지는 알 수 없음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CreateOrder() 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줄만 실행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메서드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거시적 파악용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세부 품질은 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커버리지 리포트 예시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슬라이드의 **커버리지 리포트 예시**입니다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Line: 82.5%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(165/200) 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Branch: 76.3%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(45/59)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Method: 90.1%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(91/101) 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Class: 95.0%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(19/20)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커버리지 리포트 해석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Line: 82.5%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(165/200)     ← 200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실행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Branch: 76.3%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(45/59)     ← 59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분기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Method: 90.1%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(91/101)    ← 101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메서드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호출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Class: 95.0%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(19/20)      ← 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클래스 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테스트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해석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Class 95%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대부분의 클래스가 테스트됨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 90%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대부분의 메서드가 호출됨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82.5%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일부 코드가 미실행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76.3%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일부 분기가 미테스트 ← 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우선순위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Branch 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 &lt;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브랜치가 가장 세밀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클래스가 가장 거시적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목표 설정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슬라이드 하단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목표는 코드의 중요도와 위험도에 따라 차등 설정하는 것이 효과적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목표 설정 가이드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코드 유형별 권장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Line: 90%+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Branch: 85%+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로직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일반 비즈니스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Line: 80%+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Branch: 70%+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CRUD,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 검증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유틸리티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헬퍼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Line: 70%+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Branch: 60%+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변환기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테스트 불필요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생성 코드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DTO/POCO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getter/setter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도구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도구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널리 사용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통합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JSON, XML, Cobertura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Studio (Enterprise)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IDE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내장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시각적 하이라이팅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커버리지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JetBrains dotCover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Rider/ReSharper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리포트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 명령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(Coverlet):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 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/p:CollectCoverage=true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커버리지의 함정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커버리지의 함정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높은 커버리지 ≠ 좋은 테스트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함정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없는 테스트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Test()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service.ProcessOrder(order);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Assert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커버리지는 올라가지만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아무것도 검증 안 함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함정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없는 테스트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Assert.That(user.Name, Is.EqualTo(user.Name));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통과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없음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함정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숫자에만 집착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달성이 목표가 되면 안 됨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코드가 테스트되었는지가 핵심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커버리지는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 지표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맹신하지 말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**커버리지 지표**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**라인 커버리지**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실행된 코드 라인 비율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기본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**브랜치 커버리지**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조건문 분기 테스트 비율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정밀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👤 **메서드 커버리지**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호출된 메서드 비율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거시적 파악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기억하세요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**커버리지 목표는 코드의 중요도에 따라 차등 설정**하고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**높은 커버리지가 좋은 테스트를 보장하지는 않습니다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Coverlet </a:t>
            </a:r>
            <a:r>
              <a:rPr lang="ko-KR" altLang="en-US" b="1"/>
              <a:t>설정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Coverlet</a:t>
            </a:r>
            <a:r>
              <a:rPr lang="ko-KR" altLang="en-US"/>
              <a:t>은 </a:t>
            </a:r>
            <a:r>
              <a:rPr lang="en-US" altLang="ko-KR" b="1"/>
              <a:t>.NET Core </a:t>
            </a:r>
            <a:r>
              <a:rPr lang="ko-KR" altLang="en-US" b="1"/>
              <a:t>프로젝트를 위한 코드 커버리지 도구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무료이고 오픈소스이며</a:t>
            </a:r>
            <a:r>
              <a:rPr lang="en-US" altLang="ko-KR"/>
              <a:t>, </a:t>
            </a:r>
            <a:r>
              <a:rPr lang="ko-KR" altLang="en-US"/>
              <a:t>쉽게 설치하고 실행할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설치부터 리포트 생성까지 함께 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Coverlet</a:t>
            </a:r>
            <a:r>
              <a:rPr lang="ko-KR" altLang="en-US" b="1"/>
              <a:t>이란</a:t>
            </a:r>
            <a:r>
              <a:rPr lang="en-US" altLang="ko-KR" b="1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.NET Core/5/6/7/8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위한 코드 커버리지 도구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크로스 플랫폼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(Windows, macOS, Linux)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완벽 통합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다양한 출력 형식 지원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(Cobertura, OpenCover, JSON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연동 용이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GitHub: https://github.com/coverlet-coverage/coverlet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</a:t>
            </a:r>
            <a:r>
              <a:rPr lang="en-US" altLang="ko-KR" b="1"/>
              <a:t>Coverlet </a:t>
            </a:r>
            <a:r>
              <a:rPr lang="ko-KR" altLang="en-US" b="1"/>
              <a:t>설치 및 실행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설치 및 실행 명령어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coverlet.collector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수집을 포함하여 테스트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많은 옵션을 지정하여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/p:CoverletOutputFormat=cobertura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🔧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및 실행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 package coverlet.collector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테스트 프로젝트에 추가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수집하며 테스트 실행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가장 간단한 방법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 지정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/p:CoverletOutputFormat=cobertura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Cobertura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출력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연동에 유용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방법 상세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설치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coverlet.collector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프로젝트에 추가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MyProject.Tests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add package coverlet.collector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Collector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동작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방법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coverlet.msbuild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프로젝트에 추가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 package coverlet.msbuild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MSBuild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태스크로 동작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많은 옵션 제공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생성된 결과 파일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실행하면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./TestResults/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경로에 커버리지 파일이 생성됩니다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형식은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Cobertura XML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 사용할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📁 생성된 결과 파일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디렉토리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MyProject.Tests/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TestResults/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{guid}/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coverage.cobertura.xml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파일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Cobertura XML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업계 표준 형식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대부분의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도구와 호환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Azure DevOps, GitHub Actions, 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커버리지 게이트 설정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트렌드 추적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형식 옵션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형식 옵션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지원 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cobertura   →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연동에 가장 널리 사용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처리에 용이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lcov        → LCOV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opencover   → OpenCover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teamcity    → TeamCity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복수 형식 출력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/p:CoverletOutputFormat="cobertura,json"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출력 경로 지정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/p:CoverletOutput="./coverage/"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</a:t>
            </a:r>
            <a:r>
              <a:rPr lang="en-US" altLang="ko-KR" b="1"/>
              <a:t>: </a:t>
            </a:r>
            <a:r>
              <a:rPr lang="ko-KR" altLang="en-US" b="1"/>
              <a:t>커버리지 수집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테스트 프로젝트 생성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있다면 생략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new nunit -n MyApp.Tests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MyApp.Tests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Coverlet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add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 coverlet.collector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수집하며 테스트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확인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TestResults/*/coverage.cobertura.xml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실습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 결과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execution, please wait...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 total of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 matched the specified pattern.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Passed!  - Failed:     0, Passed:    15, Skipped: 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Attachments: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/path/TestResults/{guid}/coverage.cobertura.xml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Attachments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생성된 파일 경로가 표시됨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고급 옵션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고급 옵션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(coverlet.msbuild)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제외 필터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코드 제외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/p:Exclude="[*]*.Migrations.*"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/p:Exclude="[*]*.Models.*"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포함 필터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코드만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/p:Include="[MyApp.Core]*"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임계값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미달 시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/p:CollectCoverage=true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/p:Threshold=80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/p:ThresholdType=line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미만이면 테스트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csproj </a:t>
            </a:r>
            <a:r>
              <a:rPr lang="ko-KR" altLang="en-US" b="1"/>
              <a:t>파일에 설정</a:t>
            </a:r>
          </a:p>
          <a:p>
            <a:r>
              <a:rPr lang="en-US" altLang="ko-KR"/>
              <a:t>xml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MyApp.Tests.csproj --&gt;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&lt;Project Sdk="Microsoft.NET.Sdk"&gt;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&lt;PropertyGroup&gt;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&lt;TargetFramework&gt;net8.0&lt;/TargetFramework&gt;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Coverlet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&lt;CollectCoverage&gt;true&lt;/CollectCoverage&gt;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&lt;CoverletOutputFormat&gt;cobertura&lt;/CoverletOutputFormat&gt;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&lt;CoverletOutput&gt;./TestResults/coverage/&lt;/CoverletOutput&gt;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&lt;Threshold&gt;80&lt;/Threshold&gt;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&lt;ThresholdType&gt;line&lt;/ThresholdType&gt;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&lt;Exclude&gt;[*]*.Migrations.*,[*]*.Models.*&lt;/Exclude&gt;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&lt;/PropertyGroup&gt;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&lt;ItemGroup&gt;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&lt;PackageReference Include="coverlet.msbuild"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Version="6.0.0"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&lt;PackageReference Include="Microsoft.NET.Test.Sdk"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Version="17.8.0"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&lt;PackageReference Include="NUnit"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Version="3.14.0"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&lt;PackageReference Include="NUnit3TestAdapter"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Version="4.5.0"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&lt;/ItemGroup&gt;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&lt;/Project&gt;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csproj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설정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명령줄 옵션 매번 입력 불필요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전체가 동일한 설정 사용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관리에 포함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주요 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CollectCoverage: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 활성화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CoverletOutputFormat: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형식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CoverletOutput: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경로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Threshold: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임계값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Exclude: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제외할 네임스페이스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dotnet test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 없이도 설정 적용됨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**Coverlet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설치**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`dotnet add package coverlet.collector`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`dotnet test --collect:"XPlat Code Coverage"`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파일**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`./TestResults/`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Cobertura XML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Coverlet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**무료**이고 **설치가 간단**하며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파이프라인과 쉽게 연동**할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다음에는 생성된 커버리지 파일로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리포트를 생성**하는 방법을 알아보겠습니다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ReportGenerator </a:t>
            </a:r>
            <a:r>
              <a:rPr lang="ko-KR" altLang="en-US" b="1"/>
              <a:t>사용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앞에서 </a:t>
            </a:r>
            <a:r>
              <a:rPr lang="en-US" altLang="ko-KR"/>
              <a:t>Coverlet</a:t>
            </a:r>
            <a:r>
              <a:rPr lang="ko-KR" altLang="en-US"/>
              <a:t>으로 커버리지 </a:t>
            </a:r>
            <a:r>
              <a:rPr lang="en-US" altLang="ko-KR"/>
              <a:t>XML </a:t>
            </a:r>
            <a:r>
              <a:rPr lang="ko-KR" altLang="en-US"/>
              <a:t>파일을 생성했죠</a:t>
            </a:r>
            <a:r>
              <a:rPr lang="en-US" altLang="ko-KR"/>
              <a:t>? </a:t>
            </a:r>
            <a:r>
              <a:rPr lang="ko-KR" altLang="en-US"/>
              <a:t>그런데 </a:t>
            </a:r>
            <a:r>
              <a:rPr lang="en-US" altLang="ko-KR"/>
              <a:t>XML </a:t>
            </a:r>
            <a:r>
              <a:rPr lang="ko-KR" altLang="en-US"/>
              <a:t>파일은 사람이 보기 어렵습니다</a:t>
            </a:r>
            <a:r>
              <a:rPr lang="en-US" altLang="ko-KR"/>
              <a:t>.</a:t>
            </a:r>
          </a:p>
          <a:p>
            <a:r>
              <a:rPr lang="en-US" altLang="ko-KR" b="1"/>
              <a:t>ReportGenerator</a:t>
            </a:r>
            <a:r>
              <a:rPr lang="ko-KR" altLang="en-US"/>
              <a:t>를 사용하면 </a:t>
            </a:r>
            <a:r>
              <a:rPr lang="ko-KR" altLang="en-US" b="1"/>
              <a:t>시각적인 </a:t>
            </a:r>
            <a:r>
              <a:rPr lang="en-US" altLang="ko-KR" b="1"/>
              <a:t>HTML </a:t>
            </a:r>
            <a:r>
              <a:rPr lang="ko-KR" altLang="en-US" b="1"/>
              <a:t>보고서</a:t>
            </a:r>
            <a:r>
              <a:rPr lang="ko-KR" altLang="en-US"/>
              <a:t>로 변환할 수 있습니다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ReportGenerator</a:t>
            </a:r>
            <a:r>
              <a:rPr lang="ko-KR" altLang="en-US" b="1"/>
              <a:t>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</a:t>
            </a:r>
            <a:r>
              <a:rPr lang="ko-KR" altLang="en-US" i="1"/>
              <a:t>코드 커버리지 결과를 시각적인 </a:t>
            </a:r>
            <a:r>
              <a:rPr lang="en-US" altLang="ko-KR" i="1"/>
              <a:t>HTML </a:t>
            </a:r>
            <a:r>
              <a:rPr lang="ko-KR" altLang="en-US" i="1"/>
              <a:t>보고서로 변환하는 도구입니다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변환 도구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다양한 입력 형식 지원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(Cobertura, OpenCover, lcov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출력 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(HTML, Badges, Cobertura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.NET Global Tool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쉽게 설치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통합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입력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coverage.cobertura.xml  →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📈 차트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🎯 파일별 상세 커버리지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</a:t>
            </a:r>
            <a:r>
              <a:rPr lang="en-US" altLang="ko-KR" b="1"/>
              <a:t>ReportGenerator </a:t>
            </a:r>
            <a:r>
              <a:rPr lang="ko-KR" altLang="en-US" b="1"/>
              <a:t>설치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설치 명령어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 도구로 설치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글로벌 도구 설치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tool install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 dotnet-reportgenerator-globaltool│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reportgenerator --version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           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list -g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tool update -g dotnet-reportgenerator-globaltool│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한 번 설치하면 어디서든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 사용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리포트 생성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리포트 생성 명령어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-reports:**/coverage.cobertura.xml -targetdir:coveragereport -reporttypes:Html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📊 리포트 생성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명령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reportgenerator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-reports:**/coverage.cobertura.xml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-targetdir:coveragereport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-reporttypes:Html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-reports:**/coverage.cobertura.xml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↳ 입력 파일 경로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와일드카드 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하위 디렉토리 검색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-targetdir:coveragereport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↳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출력 디렉토리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↳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생성할 보고서 형식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ℹ️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매개변수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**주요 매개변수** 설명입니다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-reports: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결과 파일 경로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와일드카드 지원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-targetdir: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보고서를 생성할 대상 디렉토리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생성할 보고서 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(Html, Cobertura, Badges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매개변수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필수 매개변수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-reports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파일 경로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**/coverage.cobertura.xml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TestResults/coverage.xml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-targetdir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 디렉토리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coveragereport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./reports/coverage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매개변수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복수 지정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HtmlSummary, Cobertura,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Badges, TextSummary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-title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제목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"My Project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-historydir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히스토리 저장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추적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coveragehistory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형식 옵션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(-reporttypes)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Html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상세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HtmlSummary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HtmlInline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인라인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HtmlChart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차트만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데이터 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Cobertura     → Cobertura XML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JsonSummary   → JSON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TextSummary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 요약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Badges        → SVG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이미지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MarkdownSummary → Markdown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복수 형식 지정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-reporttypes:"Html;Badges;TextSummary"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</a:t>
            </a:r>
            <a:r>
              <a:rPr lang="en-US" altLang="ko-KR" b="1"/>
              <a:t>: </a:t>
            </a:r>
            <a:r>
              <a:rPr lang="ko-KR" altLang="en-US" b="1"/>
              <a:t>전체 워크플로우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Coverlet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커버리지 수집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ReportGenerator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-reports:"TestResults/**/coverage.cobertura.xml"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-targetdir:"coveragereport"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-reporttypes:Html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열기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Windows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coveragereport/index.html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macOS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coveragereport/index.html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Linux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xdg-open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coveragereport/index.html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실습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워크플로우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--collect:"XPlat Code Coverage"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생성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-reports:"TestResults/**/coverage.cobertura.xml"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-targetdir:"coveragereport"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브라우저에서 확인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coveragereport/index.html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열기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시각적으로 어떤 코드가 테스트되지 않았는지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HTML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미리보기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구성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📊 요약 페이지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(index.html):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┌──────────────────────────────────────────────────┐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Line Coverage: 82.5%   ████████████░░░░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Branch Coverage: 76.3% █████████░░░░░░ 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└──────────────────────────────────────────────────┘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Assembly/Namespace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목록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MyApp.Core          85.2%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MyApp.Services      78.4%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MyApp.Data          72.1%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파일별 상세 페이지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OrderService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Order Create()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(condition)  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null;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7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Order();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8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색상 의미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녹색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실행됨  🟡 노랑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부분 실행  🔴 빨강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미실행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배지 생성 </a:t>
            </a:r>
            <a:r>
              <a:rPr lang="en-US" altLang="ko-KR" b="1"/>
              <a:t>(Badges)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-reports:"**/coverage.cobertura.xml"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-targetdir:"coveragereport"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-reporttypes:"Html;Badges"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배지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(Badges)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생성되는 배지 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badge_combined.svg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커버리지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badge_linecoverage.svg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badge_branchcoverage.svg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![Coverage](./coveragereport/badge_combined.svg)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┌────────────────────┐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| 82.5%  │  ← SVG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└────────────────────┘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README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커버리지 배지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`dotnet tool install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 dotnet-reportgenerator-globaltool`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`reportgenerator -reports: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-targetdir: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출력폴더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확인**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브라우저에서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`index.html`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사용하면 **커버리지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시각적인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보고서**로 변환할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코드가 테스트되지 않았는지 한눈에 파악**할 수 있죠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리포트 해석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HTML </a:t>
            </a:r>
            <a:r>
              <a:rPr lang="ko-KR" altLang="en-US"/>
              <a:t>보고서를 생성했으면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어떻게 읽고 활용</a:t>
            </a:r>
            <a:r>
              <a:rPr lang="ko-KR" altLang="en-US"/>
              <a:t>해야 할까요</a:t>
            </a:r>
            <a:r>
              <a:rPr lang="en-US" altLang="ko-KR"/>
              <a:t>? </a:t>
            </a:r>
            <a:r>
              <a:rPr lang="ko-KR" altLang="en-US"/>
              <a:t>숫자만 보고 끝내면 안 됩니다</a:t>
            </a:r>
            <a:r>
              <a:rPr lang="en-US" altLang="ko-KR"/>
              <a:t>.</a:t>
            </a:r>
          </a:p>
          <a:p>
            <a:r>
              <a:rPr lang="ko-KR" altLang="en-US"/>
              <a:t>커버리지 리포트를 </a:t>
            </a:r>
            <a:r>
              <a:rPr lang="ko-KR" altLang="en-US" b="1"/>
              <a:t>효과적으로 분석하는 방법</a:t>
            </a:r>
            <a:r>
              <a:rPr lang="ko-KR" altLang="en-US"/>
              <a:t>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🔍 미커버 라인 식별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미커버 라인 식별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리포트의 빨간색</a:t>
            </a:r>
            <a:r>
              <a:rPr lang="en-US" altLang="ko-KR" i="1"/>
              <a:t>/</a:t>
            </a:r>
            <a:r>
              <a:rPr lang="ko-KR" altLang="en-US" i="1"/>
              <a:t>노란색 강조 부분 확인</a:t>
            </a:r>
            <a:r>
              <a:rPr lang="en-US" altLang="ko-KR" i="1"/>
              <a:t>. </a:t>
            </a:r>
            <a:r>
              <a:rPr lang="ko-KR" altLang="en-US" i="1"/>
              <a:t>라인 단위 커버리지와 코드 컨텍스트 연결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🔍 미커버 라인 식별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색상으로 빠르게 파악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녹색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OK!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🟡 노란색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부분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 분기 미테스트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🔴 빨간색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⚪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불가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빨간색 라인 먼저 확인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테스트 안 된 코드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노란색 라인 확인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 분기만 테스트된 조건문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코드의 컨텍스트 파악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미커버인지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컨텍스트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코드는 어떤 기능인가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테스트하기 어려운 이유가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테스트할 가치가 있는 코드인가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미커버 라인 예시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decimal CalculateDiscount(Order order)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{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(order == null)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 new ArgumentNullException();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미테스트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│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🟢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(order.Total &gt;= 100000)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order.Total * 0.1m;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🟡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 if (order.Total &gt;= 50000) 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부분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🔴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order.Total * 0.05m;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미테스트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│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🟢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0;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}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케이스 미테스트 → 예외 테스트 추가 필요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만원 이상 케이스 미테스트 → 경계값 테스트 추가 필요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⭐ 중요 분기 우선 보강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중요 분기 우선 보강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예외 처리 분기가 미커버된 경우 우선 보강</a:t>
            </a:r>
            <a:r>
              <a:rPr lang="en-US" altLang="ko-KR" i="1"/>
              <a:t>. </a:t>
            </a:r>
            <a:r>
              <a:rPr lang="ko-KR" altLang="en-US" i="1"/>
              <a:t>핵심 비즈니스 로직의 조건부 분기 집중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⭐ 중요 분기 우선 보강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우선순위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분기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(input == null)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throw new ArgumentNullException();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테스트│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(!user.HasPermission)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throw new UnauthorizedException();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테스트│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예외 처리가 제대로 동작하는지 확인 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(order.Status == "Paid")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 로직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(stock &lt; quantity) 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 로직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(balance &gt;= amount) 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잔액 로직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비즈니스에 직접 영향을 주는 조건문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분기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(age &gt;= 18)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17, 18, 19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(score &gt; 90)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90, 91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📈 추세 분석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추세 분석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단일 수치보다 시간에 따른 커버리지 변화 확인</a:t>
            </a:r>
            <a:r>
              <a:rPr lang="en-US" altLang="ko-KR" i="1"/>
              <a:t>. </a:t>
            </a:r>
            <a:r>
              <a:rPr lang="ko-KR" altLang="en-US" i="1"/>
              <a:t>코드 추가</a:t>
            </a:r>
            <a:r>
              <a:rPr lang="en-US" altLang="ko-KR" i="1"/>
              <a:t>/</a:t>
            </a:r>
            <a:r>
              <a:rPr lang="ko-KR" altLang="en-US" i="1"/>
              <a:t>수정에 따른 커버리지 영향 모니터링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📈 추세 분석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 추세가 중요한가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수치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좋은지 나쁜지 판단 어려움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"80% → 75% → 70%"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악화 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조치 필요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추세 시각화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90 ┤                              ╭──╮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85 ┤              ╭───────────────╯  ╰──╮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80 ┤         ╭────╯                     ╰──────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75 ┤    ╭────╯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70 ┼────╯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└────┬────┬────┬────┬────┬────┬────┬────────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v1   v2   v3   v4   v5   v6   v7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모니터링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코드 추가 시 → 커버리지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 확인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대규모 리팩토링 후 → 커버리지 급락 주의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전 → 목표 커버리지 충족 확인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bash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ReportGenerator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히스토리 추적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-reports:"**/coverage.cobertura.xml"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-targetdir:"coveragereport"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-historydir:"coveragehistory"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-reporttypes:Html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historydir: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커버리지 데이터 저장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→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리포트에 추세 차트 자동 생성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⚖️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기반 개선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기반 개선**입니다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수치 채우기보다 비즈니스 가치 고려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오류 발생 위험이 높은 영역에 테스트 집중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⚖️ 가치 기반 개선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잘못된 접근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 채우기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없는 테스트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void User_Name_HasValue()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user = new User {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 =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Assert.That(user.Name, Is.Not.Null);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당연함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커버리지는 올라가지만 가치 없음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올바른 접근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기반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우선순위 결정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비즈니스 영향도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 → 최우선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버그 발생 이력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과거에 문제 있던 영역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복잡도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조건문 많은 복잡한 로직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변경 빈도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수정되는 코드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제외 고려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DTO/POCO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생성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(Migrations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Getter/Setter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있는 속성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리포트 해석 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보고서의 드릴다운 기능을 활용하여 클래스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단위로 상세 분석하고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커버리지가 낮은 모듈의 빈발 패턴을 식별해 공통 해결책을 마련하세요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수치보다는 품질에 집중하여 의미 있는 테스트를 작성하는 것이 중요합니다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💡 리포트 해석 팁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드릴다운 분석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 → Namespace → Class → Method → Line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┌─────────────────────────────────────────────────────┐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MyApp.Core          82.5%                          │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├── Services        75.0%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              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   68.0%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            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│  │   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50.0%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확인   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└─────────────────────────────────────────────────────┘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패턴 식별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처리가 전반적으로 미테스트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Assert.Throws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분기가 자주 미커버 → 경계값 테스트 추가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모듈 전체가 낮음 → 테스트 계획 수립 필요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⃣ 품질 우선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있는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100%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형식적 테스트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 달성보다 버그 예방 효과에 집중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영역의 안정성 확보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목표가 아닌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영역의 안정성 확보가 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핵심 영역 우선 전략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커버리지의 함정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코드를 테스트하려다 의미 없는 테스트 양산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유지보수 비용 증가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버그 예방 효과와 무관할 수 있음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핵심 영역 집중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████████████████████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██████████████░░░░░░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 검증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유틸리티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██████████░░░░░░░░░░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헬퍼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포맷터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░░░░░░░░░░░░░░░░░░░░  테스트 불필요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자동생성 코드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것을 잘 테스트하라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것을 테스트하지 마라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해석**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**미커버 라인 식별**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노란색 라인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컨텍스트 파악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⭐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 분기 우선 보강**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집중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**추세 분석**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시간에 따른 변화 모니터링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⚖️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기반 개선**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수치보다 비즈니스 가치 우선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목표가 아니라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영역의 안정성 확보가 중요합니다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커버리지 목표</a:t>
            </a:r>
            <a:r>
              <a:rPr lang="en-US" altLang="ko-KR" b="1"/>
              <a:t>/KPI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"</a:t>
            </a:r>
            <a:r>
              <a:rPr lang="ko-KR" altLang="en-US"/>
              <a:t>커버리지 몇 퍼센트를 목표로 해야 하나요</a:t>
            </a:r>
            <a:r>
              <a:rPr lang="en-US" altLang="ko-KR"/>
              <a:t>?" </a:t>
            </a:r>
            <a:r>
              <a:rPr lang="ko-KR" altLang="en-US"/>
              <a:t>많이 받는 질문입니다</a:t>
            </a:r>
            <a:r>
              <a:rPr lang="en-US" altLang="ko-KR"/>
              <a:t>.</a:t>
            </a:r>
          </a:p>
          <a:p>
            <a:r>
              <a:rPr lang="ko-KR" altLang="en-US"/>
              <a:t>정답은 **</a:t>
            </a:r>
            <a:r>
              <a:rPr lang="en-US" altLang="ko-KR"/>
              <a:t>"</a:t>
            </a:r>
            <a:r>
              <a:rPr lang="ko-KR" altLang="en-US"/>
              <a:t>코드 유형에 따라 다르게 설정</a:t>
            </a:r>
            <a:r>
              <a:rPr lang="en-US" altLang="ko-KR"/>
              <a:t>"**</a:t>
            </a:r>
            <a:r>
              <a:rPr lang="ko-KR" altLang="en-US"/>
              <a:t>하는 것입니다</a:t>
            </a:r>
            <a:r>
              <a:rPr lang="en-US" altLang="ko-KR"/>
              <a:t>. </a:t>
            </a:r>
            <a:r>
              <a:rPr lang="ko-KR" altLang="en-US"/>
              <a:t>모듈별 차등 목표 설정 방법을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모듈별 커버리지 목표</a:t>
            </a:r>
          </a:p>
          <a:p>
            <a:r>
              <a:rPr lang="ko-KR" altLang="en-US"/>
              <a:t>슬라이드의 표를 살펴보겠습니다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모듈별 커버리지 목표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├─────────────────┬─────────────────┬─────────────────┬───────────┤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 🔴 핵심 모듈   │  🟡 비즈니스 로직 │ 🟢 인프라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/UI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├─────────────────┼─────────────────┼─────────────────┼───────────┤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85-95%          │ 70-80%          │ 50-70%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 품질 요구  │ 주요 경로 우선  │ 중요 기능 중심│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├─────────────────┼─────────────────┼─────────────────┼───────────┤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브랜치 커버리지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90%+            │ 75%+            │ 40-60%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분기 검증  │ 주요 결정 경로  │ 핵심 경로만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├─────────────────┼─────────────────┼─────────────────┼───────────┤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변화 기반 목표  │ 커버리지 감소 방지│ 점진적 개선    │ 점진적 개선│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변경에 테스트 추가│ 변경사항 중심  │ 핵심 기능 위주│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├─────────────────┼─────────────────┼─────────────────┼───────────┤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       │ 절대 수치 모니터링│ 변화율 모니터링│ 트렌드 모니터링│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게이트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조건│ 주간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월간 리포팅│ 분기별 리뷰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├─────────────────┼─────────────────┼─────────────────┼───────────┤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리스크 관리     │ 고위험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미달성 시│ 중위험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감소 추세 시│ 저위험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테크 부채│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│ 빌드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경고  │ 코드 리뷰 강화  │ 개선 계획 수립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└─────────────────┴─────────────────┴─────────────────┴───────────┘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🔴 핵심 모듈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핵심 모듈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결제</a:t>
            </a:r>
            <a:r>
              <a:rPr lang="en-US" altLang="ko-KR"/>
              <a:t>, </a:t>
            </a:r>
            <a:r>
              <a:rPr lang="ko-KR" altLang="en-US"/>
              <a:t>주문</a:t>
            </a:r>
            <a:r>
              <a:rPr lang="en-US" altLang="ko-KR"/>
              <a:t>, </a:t>
            </a:r>
            <a:r>
              <a:rPr lang="ko-KR" altLang="en-US"/>
              <a:t>인증</a:t>
            </a:r>
            <a:r>
              <a:rPr lang="en-US" altLang="ko-KR"/>
              <a:t>, </a:t>
            </a:r>
            <a:r>
              <a:rPr lang="ko-KR" altLang="en-US"/>
              <a:t>계산 로직 등 </a:t>
            </a:r>
            <a:r>
              <a:rPr lang="ko-KR" altLang="en-US" b="1"/>
              <a:t>비즈니스 핵심</a:t>
            </a:r>
            <a:r>
              <a:rPr lang="ko-KR" altLang="en-US"/>
              <a:t>이 여기에 해당합니다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🔴 핵심 모듈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(Critical)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정산 로직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처리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인증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권한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계산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관련 코드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85-95%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 품질 요구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90%+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분기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 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감소 방지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시 테스트 추가 필수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KPI: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수치 모니터링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게이트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조건으로 강제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 미달성 시 빌드 실패 또는 경고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버그 발생 시 비용이 가장 큰 영역 → 최고 수준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🟡 비즈니스 로직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비즈니스 로직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일반적인 </a:t>
            </a:r>
            <a:r>
              <a:rPr lang="en-US" altLang="ko-KR"/>
              <a:t>CRUD, </a:t>
            </a:r>
            <a:r>
              <a:rPr lang="ko-KR" altLang="en-US"/>
              <a:t>유효성 검증</a:t>
            </a:r>
            <a:r>
              <a:rPr lang="en-US" altLang="ko-KR"/>
              <a:t>, </a:t>
            </a:r>
            <a:r>
              <a:rPr lang="ko-KR" altLang="en-US"/>
              <a:t>서비스 레이어가 여기에 해당합니다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🟡 비즈니스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(Important)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CRUD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 검증 로직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변환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매핑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비즈니스 규칙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70-80%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경로 우선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75%+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결정 경로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 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변경사항 중심으로 테스트 추가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KPI: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변화율 모니터링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월간 리포팅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감소 추세 시 코드 리뷰 강화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안정적인 수준 유지하며 점진적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🟢 인프라</a:t>
            </a:r>
            <a:r>
              <a:rPr lang="en-US" altLang="ko-KR" b="1"/>
              <a:t>/UI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인프라</a:t>
            </a:r>
            <a:r>
              <a:rPr lang="en-US" altLang="ko-KR" b="1"/>
              <a:t>/UI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ko-KR" altLang="en-US"/>
              <a:t>설정</a:t>
            </a:r>
            <a:r>
              <a:rPr lang="en-US" altLang="ko-KR"/>
              <a:t>, </a:t>
            </a:r>
            <a:r>
              <a:rPr lang="ko-KR" altLang="en-US"/>
              <a:t>로깅</a:t>
            </a:r>
            <a:r>
              <a:rPr lang="en-US" altLang="ko-KR"/>
              <a:t>, UI </a:t>
            </a:r>
            <a:r>
              <a:rPr lang="ko-KR" altLang="en-US"/>
              <a:t>컴포넌트 등 상대적으로 낮은 우선순위입니다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🟢 인프라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/UI (Lower Priority)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/Configuration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모니터링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UI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컴포넌트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시스템 연동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유틸리티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헬퍼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50-70%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 기능 중심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40-60%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경로만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 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 위주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KPI: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모니터링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분기별 리뷰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저위험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테크 부채로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계획 수립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낮은 우선순위지만 완전히 무시하지는 않음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KPI </a:t>
            </a:r>
            <a:r>
              <a:rPr lang="ko-KR" altLang="en-US" b="1"/>
              <a:t>관리 전략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전략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수치 모니터링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모듈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게이트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미만이면 빌드 실패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감소 시 머지 차단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대시보드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수치 표시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변화율 모니터링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주간 리포트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전주 대비 변화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월간 리포트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월별 추세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감소 시 경고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모니터링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/UI)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분기별 리뷰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 추세 확인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부채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계획 수립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로드맵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 개선 목표 설정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CI/CD </a:t>
            </a:r>
            <a:r>
              <a:rPr lang="ko-KR" altLang="en-US" b="1"/>
              <a:t>통합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GitHub Actions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 Gate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coverage: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Tests with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Check Coverage Threshold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모듈 커버리지 체크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CORE_COVERAGE=$(get-coverage MyApp.Core)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if [ "$CORE_COVERAGE" -lt 85 ]; then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echo "❌ Core module coverage $CORE_COVERAGE% &lt; 85%"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exit 1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 커버리지 체크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BIZ_COVERAGE=$(get-coverage MyApp.Services)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if [ "$BIZ_COVERAGE" -lt 70 ]; then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echo "⚠️ Warning: Services coverage $BIZ_COVERAGE% &lt; 70%"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fi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Core.Tests: 87% (threshold: 85%)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Services.Tests: 75% (threshold: 70%)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UI.Tests: 55% (threshold: 50%) - passing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Delta: +2.3%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lines covered: 45/52 (86.5%)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게이트 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모듈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 미달 → 빌드 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 미달 → 경고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/UI: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추세 감소 → 정보 제공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커버리지 품질 관리 원칙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수치가 아닌 품질 지표로 활용하세요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중요도와 위험도에 따라 차등화된 목표를 설정하고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추세를 관리하는 것이 효과적입니다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감소 영역을 집중 모니터링하고 지속적 개선을 위한 피드백 루프를 구축하세요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커버리지 품질 관리 원칙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차등화된 목표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코드에 같은 기준을 적용하지 마라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중요도에 따라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85%, 75%, 50%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차등 설정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추세 관리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수치보다 방향이 중요하다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70%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상승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80%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하락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 루프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→ 분석 → 개선 → 측정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지속적 개선 문화 구축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감소 영역 집중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커버리지가 떨어지는 영역을 집중 모니터링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문제의 조기 발견 및 대응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**커버리지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/KPI**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|------|--------------|----------------|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핵심 모듈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85-95% | 90%+ 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🟡 비즈니스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70-80% | 75%+ 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인프라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/UI | 50-70% | 40-60% 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**모듈 중요도에 따라 차등화된 목표**를 설정하고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**개선 추세를 관리**하는 것이 효과적입니다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PR </a:t>
            </a:r>
            <a:r>
              <a:rPr lang="ko-KR" altLang="en-US" b="1"/>
              <a:t>품질 게이트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CI</a:t>
            </a:r>
            <a:r>
              <a:rPr lang="ko-KR" altLang="en-US"/>
              <a:t>에서 </a:t>
            </a:r>
            <a:r>
              <a:rPr lang="ko-KR" altLang="en-US" b="1"/>
              <a:t>커버리지 체크를 통한 코드 품질 관리 프로세스</a:t>
            </a:r>
            <a:r>
              <a:rPr lang="ko-KR" altLang="en-US"/>
              <a:t>입니다</a:t>
            </a:r>
            <a:r>
              <a:rPr lang="en-US" altLang="ko-KR"/>
              <a:t>. PR</a:t>
            </a:r>
            <a:r>
              <a:rPr lang="ko-KR" altLang="en-US"/>
              <a:t>이 머지되기 전에 품질 기준을 충족하는지 자동으로 검증하는 것이죠</a:t>
            </a:r>
            <a:r>
              <a:rPr lang="en-US" altLang="ko-KR"/>
              <a:t>.</a:t>
            </a:r>
          </a:p>
          <a:p>
            <a:r>
              <a:rPr lang="ko-KR" altLang="en-US"/>
              <a:t>전체 프로세스를 단계별로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PR </a:t>
            </a:r>
            <a:r>
              <a:rPr lang="ko-KR" altLang="en-US" b="1"/>
              <a:t>품질 게이트 프로세스 개요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게이트 프로세스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         Step 2          Step 3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→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  →   테스트 실행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          Step 5          Step 6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계산 → 베이스라인 비교 → 품질 판단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↓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커버리지 감소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미달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→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커버리지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충족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→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1-3: PR </a:t>
            </a:r>
            <a:r>
              <a:rPr lang="ko-KR" altLang="en-US" b="1"/>
              <a:t>생성부터 테스트 실행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1-3: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단계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📝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및 푸시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feature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머지 요청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⚡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빌드 및 테스트 실행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GitHub Actions, Azure DevOps, 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🧪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및 커버리지 측정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dotnet test --collect:"XPlat Code Coverage"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Step 4-6: </a:t>
            </a:r>
            <a:r>
              <a:rPr lang="ko-KR" altLang="en-US" b="1"/>
              <a:t>커버리지 분석 및 판단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4-6: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및 판단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계산 📊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및 분석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수치 추출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상세 리포트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베이스라인 비교 📈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대비 커버리지 변화 확인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비교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Delta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+2.3%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-1.5%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↓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Step 6: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판단 ⚖️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 기준 품질 평가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수치 체크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변화량 체크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감소율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이내인가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결과에 따른 조치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결과에 따른 조치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┌───────────────────────────────────────────────────────┐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⬇️ 커버리지 감소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미달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│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└───────────────────────────────────────────────────────┘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↓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🔴 품질 게이트 실패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실패 상태 표시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영역 자동 코멘트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리뷰어 알림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머지 차단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설정에 따라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┌───────────────────────────────────────────────────────┐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⬆️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충족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     │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└───────────────────────────────────────────────────────┘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↓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품질 게이트 통과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성공 상태 표시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링크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프로세스 진행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개선 조치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추가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품질 개선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 승인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GitHub Actions </a:t>
            </a:r>
            <a:r>
              <a:rPr lang="ko-KR" altLang="en-US" b="1"/>
              <a:t>구현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.github/workflows/coverage-gate.yml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Quality Gate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pull_request: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[main,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develop]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coverage-check: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1-2: PR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및 체크아웃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fetch-depth: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베이스라인 비교를 위해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'8.0.x'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3: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및 커버리지 측정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Tests with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--collect:"XPlat Code Coverage"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--results-directory ./TestResults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4: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생성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 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-reports:"TestResults/**/coverage.cobertura.xml"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-targetdir:"coveragereport"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-reporttypes:"Html;JsonSummary"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Step 5-6: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베이스라인 비교 및 품질 판단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Coverage Threshold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COVERAGE=$(jq '.summary.linecoverage' coveragereport/Summary.json)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echo "Current coverage: $COVERAGE%"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if (( $(echo "$COVERAGE &lt; 80" |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 -l) )); then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echo "❌ Coverage $COVERAGE% is below threshold 80%"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exit 1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fi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echo "✅ Coverage $COVERAGE% meets threshold"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코멘트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 on PR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actions/github-script@v6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github.rest.issues.createComment({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issue_number: context.issue.number,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owner: context.repo.owner,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repo: context.repo.repo,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body: 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Report: [View](./coveragereport/index.html)'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Azure DevOps </a:t>
            </a:r>
            <a:r>
              <a:rPr lang="ko-KR" altLang="en-US" b="1"/>
              <a:t>구현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azure-pipelines.yml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main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main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stage: QualityGate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job: CoverageCheck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pool: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vmImage: 'ubuntu-latest'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- task: DotNetCoreCLI@2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displayName: 'Run Tests with Coverage'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command: 'test'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arguments: '--collect:"XPlat Code Coverage"'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publishTestResults: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task: PublishCodeCoverageResults@1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displayName: 'Publish Coverage'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codeCoverageTool: 'Cobertura'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summaryFileLocation: '**/coverage.cobertura.xml'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task: BuildQualityChecks@8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displayName: 'Quality Gate'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checkCoverage: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coverageFailOption: 'fixed'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coverageType: 'lines'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coverageThreshold: '80'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효과적인 품질 게이트 설정 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중요도별 차등 커버리지 임계값 설정 및 감소량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(-1%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기준으로 품질 게이트를 설정하는 것이 효과적입니다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효과적인 품질 게이트 설정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차등 임계값 설정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핵심 모듈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(Core):        85%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 → 실패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비즈니스 로직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(Services): 70%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 → 경고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인프라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(Infrastructure): 50%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 → 정보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감소량 기준 설정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커버리지 감소율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1%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커버리지 감소율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0.5%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경고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커버리지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    → 통과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코드 커버리지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추가된 새 코드의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요구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새 코드는 반드시 테스트와 함께 제출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긴급 핫픽스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 승인으로 우회 가능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생성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제외 목록에 추가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감소 허용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사유 명시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PR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예시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품질 게이트 통과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Report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Module      | Coverage | Delta  | Status |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|-------------|----------|--------|--------|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Core        | 87.5%    | +2.3%  | ✅     |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Services    | 75.2%    | +1.1%  | ✅     |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UI          | 55.0%    | -0.2%  | ⚠️     |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code coverage: 92.3% (45/49 lines)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[View Full Report](./coveragereport/index.html)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품질 게이트 실패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Coverage Gate Failed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Core module coverage dropped from 85% to 82%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code coverage: 45% (9/20 lines) - below 80%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Uncovered lines: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OrderService.cs:45-52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PaymentHandler.cs:78-85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Please add tests for the above lines.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품질 게이트**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프로세스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및 푸시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트리거**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빌드 및 테스트 실행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**테스트 실행**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및 커버리지 측정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**커버리지 계산**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및 분석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5.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**베이스라인 비교**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대비 변화 확인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6.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**품질 판단**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임계값 기준 평가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**차등 임계값**과 **감소량 기준**을 조합하여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효과적인 품질 게이트를 구축하세요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커버리지 요약</a:t>
            </a:r>
            <a:r>
              <a:rPr lang="en-US" altLang="ko-KR" b="1"/>
              <a:t>/</a:t>
            </a:r>
            <a:r>
              <a:rPr lang="ko-KR" altLang="en-US" b="1"/>
              <a:t>실습</a:t>
            </a:r>
            <a:r>
              <a:rPr lang="ko-KR" altLang="en-US"/>
              <a:t>으로 마무리하겠습니다</a:t>
            </a:r>
            <a:r>
              <a:rPr lang="en-US" altLang="ko-KR"/>
              <a:t>.</a:t>
            </a:r>
          </a:p>
          <a:p>
            <a:r>
              <a:rPr lang="ko-KR" altLang="en-US"/>
              <a:t>코드 커버리지 분석과 개선을 위한 </a:t>
            </a:r>
            <a:r>
              <a:rPr lang="ko-KR" altLang="en-US" b="1"/>
              <a:t>핵심 원칙과 실습 가이드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지금까지 배운 내용을 정리하고</a:t>
            </a:r>
            <a:r>
              <a:rPr lang="en-US" altLang="ko-KR"/>
              <a:t>, </a:t>
            </a:r>
            <a:r>
              <a:rPr lang="ko-KR" altLang="en-US"/>
              <a:t>직접 실습해볼 수 있도록 안내해드리겠습니다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4</a:t>
            </a:r>
            <a:r>
              <a:rPr lang="ko-KR" altLang="en-US" b="1"/>
              <a:t>가지 핵심 원칙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핵심 원칙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측정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사이클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단순 수치보다 중요 기능의 테스트 품질을 분석하고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점진적 개선에 집중하세요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모듈 우선 전략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비즈니스 로직은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인프라는 낮은 목표로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차등화 전략을 적용하세요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리포트 활용 기법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분기 커버리지가 낮거나 복잡도 높은 미테스트 코드를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식별하고 개선하세요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방법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자동 리포트 생성 및 커버리지 하락 시 빌드 실패 전략을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도입하세요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측정</a:t>
            </a:r>
            <a:r>
              <a:rPr lang="en-US" altLang="ko-KR" b="1"/>
              <a:t>-</a:t>
            </a:r>
            <a:r>
              <a:rPr lang="ko-KR" altLang="en-US" b="1"/>
              <a:t>분석</a:t>
            </a:r>
            <a:r>
              <a:rPr lang="en-US" altLang="ko-KR" b="1"/>
              <a:t>-</a:t>
            </a:r>
            <a:r>
              <a:rPr lang="ko-KR" altLang="en-US" b="1"/>
              <a:t>개선 사이클</a:t>
            </a:r>
          </a:p>
          <a:p>
            <a:r>
              <a:rPr lang="ko-KR" altLang="en-US"/>
              <a:t>첫 번째</a:t>
            </a:r>
            <a:r>
              <a:rPr lang="en-US" altLang="ko-KR"/>
              <a:t>, </a:t>
            </a:r>
            <a:r>
              <a:rPr lang="ko-KR" altLang="en-US" b="1"/>
              <a:t>측정</a:t>
            </a:r>
            <a:r>
              <a:rPr lang="en-US" altLang="ko-KR" b="1"/>
              <a:t>-</a:t>
            </a:r>
            <a:r>
              <a:rPr lang="ko-KR" altLang="en-US" b="1"/>
              <a:t>분석</a:t>
            </a:r>
            <a:r>
              <a:rPr lang="en-US" altLang="ko-KR" b="1"/>
              <a:t>-</a:t>
            </a:r>
            <a:r>
              <a:rPr lang="ko-KR" altLang="en-US" b="1"/>
              <a:t>개선 사이클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단순 수치보다 중요 기능의 테스트 품질을 분석하고 점진적 개선에 집중하세요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측정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사이클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│  측정    │  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커버리지 수집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└────┬─────┘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▼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│  분석    │  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리포트 분석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└────┬─────┘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▼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┌──────────┐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│  개선    │  ← 미커버 영역에 테스트 추가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└────┬─────┘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│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└──────────────→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 자체가 아닌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집중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80% → 82%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달성보다 의미 있을 수 있음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점진적이고 지속적인 개선 문화 구축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⭐ 핵심 모듈 우선 전략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ko-KR" altLang="en-US" b="1"/>
              <a:t>핵심 모듈 우선 전략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비즈니스 로직은 </a:t>
            </a:r>
            <a:r>
              <a:rPr lang="en-US" altLang="ko-KR" i="1"/>
              <a:t>80% </a:t>
            </a:r>
            <a:r>
              <a:rPr lang="ko-KR" altLang="en-US" i="1"/>
              <a:t>이상</a:t>
            </a:r>
            <a:r>
              <a:rPr lang="en-US" altLang="ko-KR" i="1"/>
              <a:t>, UI/</a:t>
            </a:r>
            <a:r>
              <a:rPr lang="ko-KR" altLang="en-US" i="1"/>
              <a:t>인프라는 낮은 목표로 차등화 전략을 적용하세요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⭐ 핵심 모듈 우선 전략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차등화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핵심 비즈니스    ████████████████████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85-95%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🟡 일반 비즈니스    ██████████████░░░░░░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70-80%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CRUD,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 검증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       ██████████░░░░░░░░░░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50-70%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UI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차등화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코드가 같은 중요도가 아님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비용 대비 효과 최적화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기능의 안정성 우선 확보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리포트 활용 기법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리포트 활용 기법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분기 커버리지가 낮거나 복잡도 높은 미테스트 코드를 식별하고 개선하세요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📊 리포트 활용 기법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식별 대상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낮은 코드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조건문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분기가 많지만 일부만 테스트된 영역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예외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누락 확인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복잡도 높은 미테스트 코드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중첩 조건문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비즈니스 규칙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버그 발생 가능성 높음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빈도 높은 미테스트 코드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자주 수정되지만 테스트 없는 영역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회귀 버그 위험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활용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드릴다운으로 낮은 커버리지 모듈 식별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노란색 라인 확인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중요도 평가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우선순위에 따라 테스트 추가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🚀 </a:t>
            </a:r>
            <a:r>
              <a:rPr lang="en-US" altLang="ko-KR" b="1"/>
              <a:t>CI/CD </a:t>
            </a:r>
            <a:r>
              <a:rPr lang="ko-KR" altLang="en-US" b="1"/>
              <a:t>통합 방법</a:t>
            </a:r>
          </a:p>
          <a:p>
            <a:r>
              <a:rPr lang="ko-KR" altLang="en-US"/>
              <a:t>네 번째</a:t>
            </a:r>
            <a:r>
              <a:rPr lang="en-US" altLang="ko-KR"/>
              <a:t>, </a:t>
            </a:r>
            <a:r>
              <a:rPr lang="en-US" altLang="ko-KR" b="1"/>
              <a:t>CI/CD </a:t>
            </a:r>
            <a:r>
              <a:rPr lang="ko-KR" altLang="en-US" b="1"/>
              <a:t>통합 방법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자동 리포트 생성 및 커버리지 하락 시 빌드 실패 전략을 도입하세요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방법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자동화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리포트 생성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커밋마다 커버리지 측정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아티팩트로 저장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게이트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임계값 미달 시 빌드 실패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커버리지 감소 시 경고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커버리지 변화 자동 표시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미커버 라인 하이라이트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→ 테스트 → 커버리지 측정 → 게이트 체크 → 리뷰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↓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리포트 생성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🎯 실습 가이드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실습 가이드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단계입니다</a:t>
            </a:r>
            <a:r>
              <a:rPr lang="en-US" altLang="ko-KR"/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저커버리지 모듈 선택 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미커버 라인 분석 및 테스트 케이스 추가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GitHub Actions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커버리지 변화 표시 스크립트 추가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🎯 실습 가이드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저커버리지 모듈 분석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측정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--collect:"XPlat Code Coverage"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-reports:"**/coverage.cobertura.xml" \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-targetdir:"coveragereport" \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-reporttypes:Html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브라우저에서 확인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가장 낮은 커버리지 모듈 찾기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미커버 라인 분석 및 테스트 추가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빨간색 라인 식별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코드 기능 파악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케이스 작성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재측정 및 확인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🎯 실습 가이드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.github/workflows/coverage.yml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on: [push, pull_request]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jobs: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test: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runs-on: ubuntu-latest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steps: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- uses: actions/checkout@v3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- name: Test with Coverage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run: dotnet test --collect:"XPlat Code Coverage"│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코멘트 추가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GitHub Action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코멘트 스크립트 추가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Comment Coverage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uses: actions/github-script@v6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with: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script: |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const coverage = '82.5%';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github.rest.issues.createComment({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body: 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Coverage: ${coverage}`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})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실습 체크리스트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✅ 실습 체크리스트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.NET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확인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coverlet.collector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추가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dotnet-reportgenerator-globaltool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--collect:"XPlat Code Coverage"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브라우저에서 리포트 확인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추가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가장 낮은 커버리지 클래스 식별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빨간색 라인 분석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 케이스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추가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커버리지 재측정 및 개선 확인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.github/workflows/coverage.yml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생성하여 자동 실행 확인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커버리지 게이트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커버리지 변화 표시 스크립트 추가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코멘트 확인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커버리지 요약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 핵심</a:t>
            </a:r>
            <a:r>
              <a:rPr lang="en-US" altLang="ko-KR"/>
              <a:t>:</a:t>
            </a:r>
          </a:p>
          <a:p>
            <a:r>
              <a:rPr lang="ko-KR" altLang="en-US"/>
              <a:t>🔄 </a:t>
            </a:r>
            <a:r>
              <a:rPr lang="ko-KR" altLang="en-US" b="1"/>
              <a:t>측정</a:t>
            </a:r>
            <a:r>
              <a:rPr lang="en-US" altLang="ko-KR" b="1"/>
              <a:t>-</a:t>
            </a:r>
            <a:r>
              <a:rPr lang="ko-KR" altLang="en-US" b="1"/>
              <a:t>분석</a:t>
            </a:r>
            <a:r>
              <a:rPr lang="en-US" altLang="ko-KR" b="1"/>
              <a:t>-</a:t>
            </a:r>
            <a:r>
              <a:rPr lang="ko-KR" altLang="en-US" b="1"/>
              <a:t>개선 사이클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수치보다 점진적 개선에 집중</a:t>
            </a:r>
          </a:p>
          <a:p>
            <a:r>
              <a:rPr lang="ko-KR" altLang="en-US"/>
              <a:t>⭐ </a:t>
            </a:r>
            <a:r>
              <a:rPr lang="ko-KR" altLang="en-US" b="1"/>
              <a:t>핵심 모듈 우선 전략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비즈니스 </a:t>
            </a:r>
            <a:r>
              <a:rPr lang="en-US" altLang="ko-KR"/>
              <a:t>80%+, UI/</a:t>
            </a:r>
            <a:r>
              <a:rPr lang="ko-KR" altLang="en-US"/>
              <a:t>인프라 낮은 목표</a:t>
            </a:r>
          </a:p>
          <a:p>
            <a:r>
              <a:rPr lang="ko-KR" altLang="en-US"/>
              <a:t>📊 </a:t>
            </a:r>
            <a:r>
              <a:rPr lang="ko-KR" altLang="en-US" b="1"/>
              <a:t>리포트 활용 기법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복잡도 높은 미테스트 코드 식별</a:t>
            </a:r>
          </a:p>
          <a:p>
            <a:r>
              <a:rPr lang="ko-KR" altLang="en-US"/>
              <a:t>🚀 </a:t>
            </a:r>
            <a:r>
              <a:rPr lang="en-US" altLang="ko-KR" b="1"/>
              <a:t>CI/CD </a:t>
            </a:r>
            <a:r>
              <a:rPr lang="ko-KR" altLang="en-US" b="1"/>
              <a:t>통합 방법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자동 리포트</a:t>
            </a:r>
            <a:r>
              <a:rPr lang="en-US" altLang="ko-KR"/>
              <a:t>, </a:t>
            </a:r>
            <a:r>
              <a:rPr lang="ko-KR" altLang="en-US"/>
              <a:t>빌드 실패 전략</a:t>
            </a:r>
          </a:p>
          <a:p>
            <a:r>
              <a:rPr lang="ko-KR" altLang="en-US" b="1"/>
              <a:t>실습 </a:t>
            </a:r>
            <a:r>
              <a:rPr lang="en-US" altLang="ko-KR" b="1"/>
              <a:t>4</a:t>
            </a:r>
            <a:r>
              <a:rPr lang="ko-KR" altLang="en-US" b="1"/>
              <a:t>단계</a:t>
            </a:r>
            <a:r>
              <a:rPr lang="ko-KR" altLang="en-US"/>
              <a:t>를 통해 직접 커버리지 분석과 개선을 경험해보세요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CI/CD </a:t>
            </a:r>
            <a:r>
              <a:rPr lang="ko-KR" altLang="en-US" b="1"/>
              <a:t>개요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단위테스트를 작성했으면</a:t>
            </a:r>
            <a:r>
              <a:rPr lang="en-US" altLang="ko-KR"/>
              <a:t>, </a:t>
            </a:r>
            <a:r>
              <a:rPr lang="ko-KR" altLang="en-US"/>
              <a:t>이를 </a:t>
            </a:r>
            <a:r>
              <a:rPr lang="ko-KR" altLang="en-US" b="1"/>
              <a:t>자동으로 실행</a:t>
            </a:r>
            <a:r>
              <a:rPr lang="ko-KR" altLang="en-US"/>
              <a:t>하고 </a:t>
            </a:r>
            <a:r>
              <a:rPr lang="ko-KR" altLang="en-US" b="1"/>
              <a:t>지속적으로 품질을 관리</a:t>
            </a:r>
            <a:r>
              <a:rPr lang="ko-KR" altLang="en-US"/>
              <a:t>해야겠죠</a:t>
            </a:r>
            <a:r>
              <a:rPr lang="en-US" altLang="ko-KR"/>
              <a:t>?</a:t>
            </a:r>
          </a:p>
          <a:p>
            <a:r>
              <a:rPr lang="en-US" altLang="ko-KR"/>
              <a:t>CI/CD</a:t>
            </a:r>
            <a:r>
              <a:rPr lang="ko-KR" altLang="en-US"/>
              <a:t>가 바로 그 역할을 합니다</a:t>
            </a:r>
            <a:r>
              <a:rPr lang="en-US" altLang="ko-KR"/>
              <a:t>. </a:t>
            </a:r>
            <a:r>
              <a:rPr lang="ko-KR" altLang="en-US"/>
              <a:t>함께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CI/CD</a:t>
            </a:r>
            <a:r>
              <a:rPr lang="ko-KR" altLang="en-US" b="1"/>
              <a:t>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"CI/CD(</a:t>
            </a:r>
            <a:r>
              <a:rPr lang="ko-KR" altLang="en-US" i="1"/>
              <a:t>지속적 통합</a:t>
            </a:r>
            <a:r>
              <a:rPr lang="en-US" altLang="ko-KR" i="1"/>
              <a:t>/</a:t>
            </a:r>
            <a:r>
              <a:rPr lang="ko-KR" altLang="en-US" i="1"/>
              <a:t>지속적 배포</a:t>
            </a:r>
            <a:r>
              <a:rPr lang="en-US" altLang="ko-KR" i="1"/>
              <a:t>)</a:t>
            </a:r>
            <a:r>
              <a:rPr lang="ko-KR" altLang="en-US" i="1"/>
              <a:t>는 코드 변경을 더 자주</a:t>
            </a:r>
            <a:r>
              <a:rPr lang="en-US" altLang="ko-KR" i="1"/>
              <a:t>, </a:t>
            </a:r>
            <a:r>
              <a:rPr lang="ko-KR" altLang="en-US" i="1"/>
              <a:t>안정적으로 제공하는 자동화된 소프트웨어 릴리스 프로세스입니다</a:t>
            </a:r>
            <a:r>
              <a:rPr lang="en-US" altLang="ko-KR" i="1"/>
              <a:t>. CI</a:t>
            </a:r>
            <a:r>
              <a:rPr lang="ko-KR" altLang="en-US" i="1"/>
              <a:t>는 코드를 자동으로 빌드</a:t>
            </a:r>
            <a:r>
              <a:rPr lang="en-US" altLang="ko-KR" i="1"/>
              <a:t>/</a:t>
            </a:r>
            <a:r>
              <a:rPr lang="ko-KR" altLang="en-US" i="1"/>
              <a:t>테스트하며</a:t>
            </a:r>
            <a:r>
              <a:rPr lang="en-US" altLang="ko-KR" i="1"/>
              <a:t>, CD</a:t>
            </a:r>
            <a:r>
              <a:rPr lang="ko-KR" altLang="en-US" i="1"/>
              <a:t>는 검증된 코드를 배포하여 개발</a:t>
            </a:r>
            <a:r>
              <a:rPr lang="en-US" altLang="ko-KR" i="1"/>
              <a:t>-</a:t>
            </a:r>
            <a:r>
              <a:rPr lang="ko-KR" altLang="en-US" i="1"/>
              <a:t>배포 사이클을 가속화합니다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CI/CD = Continuous Integration / Continuous Deployment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배포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변경을 더 자주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안정적으로 제공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자동화된 소프트웨어 릴리스 프로세스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사이클 가속화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역할 분담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CI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CD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          ────────────────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통합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검증된 코드 배포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빌드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스테이징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테스트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자동화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 → 자동 검증 → 자동 배포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파이프라인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지속적 통합 </a:t>
            </a:r>
            <a:r>
              <a:rPr lang="en-US" altLang="ko-KR" b="1"/>
              <a:t>(CI)</a:t>
            </a:r>
          </a:p>
          <a:p>
            <a:r>
              <a:rPr lang="ko-KR" altLang="en-US"/>
              <a:t>첫 번째</a:t>
            </a:r>
            <a:r>
              <a:rPr lang="en-US" altLang="ko-KR"/>
              <a:t>, **</a:t>
            </a:r>
            <a:r>
              <a:rPr lang="ko-KR" altLang="en-US"/>
              <a:t>지속적 통합 </a:t>
            </a:r>
            <a:r>
              <a:rPr lang="en-US" altLang="ko-KR"/>
              <a:t>(CI)**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코드 변경사항을 공유 저장소에 자주 통합하고</a:t>
            </a:r>
            <a:r>
              <a:rPr lang="en-US" altLang="ko-KR" i="1"/>
              <a:t>, </a:t>
            </a:r>
            <a:r>
              <a:rPr lang="ko-KR" altLang="en-US" i="1"/>
              <a:t>자동화된 빌드와 테스트로 버그를 조기 발견하여 품질을 보장합니다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지속적 통합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(CI)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개념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변경사항을 공유 저장소에 자주 통합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자동화된 빌드와 테스트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버그를 조기 발견하여 품질 보장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──┐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──┼──→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달 후 통합 → 💥 충돌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──┘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지옥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(Integration Hell)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──→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푸시 → 자동 빌드 → 자동 테스트 → ✅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──→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푸시 → 자동 빌드 → 자동 테스트 → ✅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개발자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──→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푸시 → 자동 빌드 → 자동 테스트 → ✅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매일 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즉시 발견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🚀 지속적 배포 </a:t>
            </a:r>
            <a:r>
              <a:rPr lang="en-US" altLang="ko-KR" b="1"/>
              <a:t>(CD)</a:t>
            </a:r>
          </a:p>
          <a:p>
            <a:r>
              <a:rPr lang="ko-KR" altLang="en-US"/>
              <a:t>두 번째</a:t>
            </a:r>
            <a:r>
              <a:rPr lang="en-US" altLang="ko-KR"/>
              <a:t>, **</a:t>
            </a:r>
            <a:r>
              <a:rPr lang="ko-KR" altLang="en-US"/>
              <a:t>지속적 배포 </a:t>
            </a:r>
            <a:r>
              <a:rPr lang="en-US" altLang="ko-KR"/>
              <a:t>(CD)**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통과 코드를 자동으로 스테이징</a:t>
            </a:r>
            <a:r>
              <a:rPr lang="en-US" altLang="ko-KR" i="1"/>
              <a:t>/</a:t>
            </a:r>
            <a:r>
              <a:rPr lang="ko-KR" altLang="en-US" i="1"/>
              <a:t>프로덕션 환경에 배포하여 릴리스 프로세스를 간소화하고 출시 시간을 단축합니다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🚀 지속적 배포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(CD)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두 가지 의미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Continuous Delivery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전달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배포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상태까지 자동화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실제 배포는 수동 승인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Continuous Deployment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배포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프로덕션까지 완전 자동 배포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모든 변경이 자동으로 프로덕션에 반영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프로세스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 →  스테이징 배포  →  검증  →  프로덕션 배포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✅           자동          자동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      자동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효과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프로세스 간소화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출시 시간 단축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주 → 몇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단위로 자주 배포 → 위험 감소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🤖 자동화 이점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ko-KR" altLang="en-US" b="1"/>
              <a:t>자동화 이점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수동 작업 감소</a:t>
            </a:r>
            <a:r>
              <a:rPr lang="en-US" altLang="ko-KR" i="1"/>
              <a:t>, </a:t>
            </a:r>
            <a:r>
              <a:rPr lang="ko-KR" altLang="en-US" i="1"/>
              <a:t>휴먼 에러 방지</a:t>
            </a:r>
            <a:r>
              <a:rPr lang="en-US" altLang="ko-KR" i="1"/>
              <a:t>, </a:t>
            </a:r>
            <a:r>
              <a:rPr lang="ko-KR" altLang="en-US" i="1"/>
              <a:t>피드백 주기 단축으로 개발 생산성과 소프트웨어 품질을 향상시킵니다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🤖 자동화 이점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 작업 감소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→ 테스트 → 배포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각각 수동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After: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푸시 한 번 → 자동 완료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휴먼 에러 방지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스크립트 오타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누락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환경에 배포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자동화로 실수 원천 차단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 주기 단축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작성 → 며칠 후 버그 발견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After: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작성 → 몇 분 후 테스트 결과 확인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문제를 빨리 발견할수록 수정 비용 감소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생산성 향상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소프트웨어 품질 향상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팀의 자신감 증가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⚙️ </a:t>
            </a:r>
            <a:r>
              <a:rPr lang="en-US" altLang="ko-KR" b="1"/>
              <a:t>CI/CD </a:t>
            </a:r>
            <a:r>
              <a:rPr lang="ko-KR" altLang="en-US" b="1"/>
              <a:t>파이프라인 예시</a:t>
            </a:r>
          </a:p>
          <a:p>
            <a:r>
              <a:rPr lang="ko-KR" altLang="en-US"/>
              <a:t>슬라이드의 </a:t>
            </a:r>
            <a:r>
              <a:rPr lang="en-US" altLang="ko-KR" b="1"/>
              <a:t>CI/CD </a:t>
            </a:r>
            <a:r>
              <a:rPr lang="ko-KR" altLang="en-US" b="1"/>
              <a:t>파이프라인 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 → 빌드 → 테스트 → 리포트 → 배포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⚙️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예시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┌────────┐   ┌────────┐   ┌────────┐   ┌────────┐   ┌──────┐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&lt;/&gt;   │ →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  │ → │   ✓    │ → │   📊   │ → │  🚀  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│코드 변경│   │  빌드  │   │ 테스트 │   │ 리포트 │   │ 배포 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└────────┘   └────────┘   └────────┘   └────────┘   └──────┘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각 단계 설명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개발자가 코드 커밋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푸시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소스 코드 컴파일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복원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(NuGet, npm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아티팩트 생성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실행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실행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측정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리포트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품질 리포트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스테이징 환경 배포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환경 배포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롤백 준비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주요 </a:t>
            </a:r>
            <a:r>
              <a:rPr lang="en-US" altLang="ko-KR" b="1"/>
              <a:t>CI/CD </a:t>
            </a:r>
            <a:r>
              <a:rPr lang="ko-KR" altLang="en-US" b="1"/>
              <a:t>도구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주요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클라우드 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GitHub Actions  → 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티어 제공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Azure DevOps    → 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생태계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GitLab CI/CD    → GitLab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호스팅 가능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CircleCI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Docker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Travis CI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오픈소스 프로젝트 인기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자체 호스팅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Jenkins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널리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확장성 높음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TeamCity        → JetBrains,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친화적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DevOps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CI/CD</a:t>
            </a:r>
            <a:r>
              <a:rPr lang="ko-KR" altLang="en-US" b="1"/>
              <a:t>와 단위테스트의 관계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단위테스트의 관계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단위테스트가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변경  ───→  빌드  ───→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───→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─────────────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여기서 품질 보장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 없는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빌드만 확인 → 런타임 버그 발견 못함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빌드는 성공했는데 왜 안 돌아가지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 있는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검증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 조기 발견 및 차단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자신감 있는 배포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없는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절반의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CI!"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CI/CD </a:t>
            </a:r>
            <a:r>
              <a:rPr lang="ko-KR" altLang="en-US" b="1"/>
              <a:t>개요</a:t>
            </a:r>
            <a:r>
              <a:rPr lang="en-US" altLang="ko-KR"/>
              <a:t>:</a:t>
            </a:r>
          </a:p>
          <a:p>
            <a:r>
              <a:rPr lang="ko-KR" altLang="en-US"/>
              <a:t>🔄 </a:t>
            </a:r>
            <a:r>
              <a:rPr lang="ko-KR" altLang="en-US" b="1"/>
              <a:t>지속적 통합 </a:t>
            </a:r>
            <a:r>
              <a:rPr lang="en-US" altLang="ko-KR" b="1"/>
              <a:t>(CI)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자주 통합</a:t>
            </a:r>
            <a:r>
              <a:rPr lang="en-US" altLang="ko-KR"/>
              <a:t>, </a:t>
            </a:r>
            <a:r>
              <a:rPr lang="ko-KR" altLang="en-US"/>
              <a:t>자동 빌드</a:t>
            </a:r>
            <a:r>
              <a:rPr lang="en-US" altLang="ko-KR"/>
              <a:t>/</a:t>
            </a:r>
            <a:r>
              <a:rPr lang="ko-KR" altLang="en-US"/>
              <a:t>테스트</a:t>
            </a:r>
            <a:r>
              <a:rPr lang="en-US" altLang="ko-KR"/>
              <a:t>, </a:t>
            </a:r>
            <a:r>
              <a:rPr lang="ko-KR" altLang="en-US"/>
              <a:t>버그 조기 발견</a:t>
            </a:r>
          </a:p>
          <a:p>
            <a:r>
              <a:rPr lang="ko-KR" altLang="en-US"/>
              <a:t>🚀 </a:t>
            </a:r>
            <a:r>
              <a:rPr lang="ko-KR" altLang="en-US" b="1"/>
              <a:t>지속적 배포 </a:t>
            </a:r>
            <a:r>
              <a:rPr lang="en-US" altLang="ko-KR" b="1"/>
              <a:t>(CD)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자동 배포</a:t>
            </a:r>
            <a:r>
              <a:rPr lang="en-US" altLang="ko-KR"/>
              <a:t>, </a:t>
            </a:r>
            <a:r>
              <a:rPr lang="ko-KR" altLang="en-US"/>
              <a:t>릴리스 간소화</a:t>
            </a:r>
            <a:r>
              <a:rPr lang="en-US" altLang="ko-KR"/>
              <a:t>, </a:t>
            </a:r>
            <a:r>
              <a:rPr lang="ko-KR" altLang="en-US"/>
              <a:t>출시 시간 단축</a:t>
            </a:r>
          </a:p>
          <a:p>
            <a:r>
              <a:rPr lang="ko-KR" altLang="en-US"/>
              <a:t>🤖 </a:t>
            </a:r>
            <a:r>
              <a:rPr lang="ko-KR" altLang="en-US" b="1"/>
              <a:t>자동화 이점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수동 작업 감소</a:t>
            </a:r>
            <a:r>
              <a:rPr lang="en-US" altLang="ko-KR"/>
              <a:t>, </a:t>
            </a:r>
            <a:r>
              <a:rPr lang="ko-KR" altLang="en-US"/>
              <a:t>휴먼 에러 방지</a:t>
            </a:r>
            <a:r>
              <a:rPr lang="en-US" altLang="ko-KR"/>
              <a:t>, </a:t>
            </a:r>
            <a:r>
              <a:rPr lang="ko-KR" altLang="en-US"/>
              <a:t>피드백 주기 단축</a:t>
            </a:r>
          </a:p>
          <a:p>
            <a:r>
              <a:rPr lang="en-US" altLang="ko-KR"/>
              <a:t>CI/CD </a:t>
            </a:r>
            <a:r>
              <a:rPr lang="ko-KR" altLang="en-US"/>
              <a:t>파이프라인</a:t>
            </a:r>
            <a:r>
              <a:rPr lang="en-US" altLang="ko-KR"/>
              <a:t>: </a:t>
            </a:r>
            <a:r>
              <a:rPr lang="ko-KR" altLang="en-US" b="1"/>
              <a:t>코드 변경 → 빌드 → 테스트 → 리포트 → 배포</a:t>
            </a:r>
            <a:endParaRPr lang="ko-KR" altLang="en-US"/>
          </a:p>
          <a:p>
            <a:r>
              <a:rPr lang="ko-KR" altLang="en-US"/>
              <a:t>단위테스트는 </a:t>
            </a:r>
            <a:r>
              <a:rPr lang="en-US" altLang="ko-KR"/>
              <a:t>CI/CD</a:t>
            </a:r>
            <a:r>
              <a:rPr lang="ko-KR" altLang="en-US"/>
              <a:t>의 </a:t>
            </a:r>
            <a:r>
              <a:rPr lang="ko-KR" altLang="en-US" b="1"/>
              <a:t>핵심 품질 게이트</a:t>
            </a:r>
            <a:r>
              <a:rPr lang="ko-KR" altLang="en-US"/>
              <a:t>입니다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GitHub Actions </a:t>
            </a:r>
            <a:r>
              <a:rPr lang="ko-KR" altLang="en-US" b="1"/>
              <a:t>기본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GitHub Actions</a:t>
            </a:r>
            <a:r>
              <a:rPr lang="ko-KR" altLang="en-US"/>
              <a:t>는 </a:t>
            </a:r>
            <a:r>
              <a:rPr lang="en-US" altLang="ko-KR"/>
              <a:t>GitHub</a:t>
            </a:r>
            <a:r>
              <a:rPr lang="ko-KR" altLang="en-US"/>
              <a:t>에 내장된 </a:t>
            </a:r>
            <a:r>
              <a:rPr lang="en-US" altLang="ko-KR"/>
              <a:t>CI/CD </a:t>
            </a:r>
            <a:r>
              <a:rPr lang="ko-KR" altLang="en-US"/>
              <a:t>플랫폼입니다</a:t>
            </a:r>
            <a:r>
              <a:rPr lang="en-US" altLang="ko-KR"/>
              <a:t>. </a:t>
            </a:r>
            <a:r>
              <a:rPr lang="en-US" altLang="ko-KR" b="1"/>
              <a:t>YAML </a:t>
            </a:r>
            <a:r>
              <a:rPr lang="ko-KR" altLang="en-US" b="1"/>
              <a:t>파일로 정의하고</a:t>
            </a:r>
            <a:r>
              <a:rPr lang="en-US" altLang="ko-KR" b="1"/>
              <a:t>, </a:t>
            </a:r>
            <a:r>
              <a:rPr lang="ko-KR" altLang="en-US" b="1"/>
              <a:t>이벤트 기반 트리거 방식</a:t>
            </a:r>
            <a:r>
              <a:rPr lang="ko-KR" altLang="en-US"/>
              <a:t>으로 동작합니다</a:t>
            </a:r>
            <a:r>
              <a:rPr lang="en-US" altLang="ko-KR"/>
              <a:t>.</a:t>
            </a:r>
          </a:p>
          <a:p>
            <a:r>
              <a:rPr lang="ko-KR" altLang="en-US"/>
              <a:t>핵심 개념 </a:t>
            </a:r>
            <a:r>
              <a:rPr lang="en-US" altLang="ko-KR"/>
              <a:t>4</a:t>
            </a:r>
            <a:r>
              <a:rPr lang="ko-KR" altLang="en-US"/>
              <a:t>가지를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GitHub Actions </a:t>
            </a:r>
            <a:r>
              <a:rPr lang="ko-KR" altLang="en-US" b="1"/>
              <a:t>구조 개요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.github/workflows/ci.yml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┌─────────────────────────────────────────────┐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Job 1 (build)          Job 2 (test)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└── Runner             └── Runner 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└── Step 1             └── Step 1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└── Step 2             └── Step 2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│      └── Step 3             └── Step 3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└─────────────────────────────────────────────┘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Workflow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Jobs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Steps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Actions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워크플로우 </a:t>
            </a:r>
            <a:r>
              <a:rPr lang="en-US" altLang="ko-KR" b="1"/>
              <a:t>(Workflow)</a:t>
            </a:r>
          </a:p>
          <a:p>
            <a:r>
              <a:rPr lang="ko-KR" altLang="en-US"/>
              <a:t>첫 번째</a:t>
            </a:r>
            <a:r>
              <a:rPr lang="en-US" altLang="ko-KR"/>
              <a:t>, **</a:t>
            </a:r>
            <a:r>
              <a:rPr lang="ko-KR" altLang="en-US"/>
              <a:t>워크플로우 </a:t>
            </a:r>
            <a:r>
              <a:rPr lang="en-US" altLang="ko-KR"/>
              <a:t>(Workflow)**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"YAML </a:t>
            </a:r>
            <a:r>
              <a:rPr lang="ko-KR" altLang="en-US" i="1"/>
              <a:t>형식의 자동화 프로세스</a:t>
            </a:r>
            <a:r>
              <a:rPr lang="en-US" altLang="ko-KR" i="1"/>
              <a:t>. on: </a:t>
            </a:r>
            <a:r>
              <a:rPr lang="ko-KR" altLang="en-US" i="1"/>
              <a:t>이벤트 트리거</a:t>
            </a:r>
            <a:r>
              <a:rPr lang="en-US" altLang="ko-KR" i="1"/>
              <a:t>(push, pull_request)"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.github/workflows/ci.yml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CI Pipeline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   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이벤트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push: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push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[main, develop]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pull_request: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PR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  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정의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...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워크플로우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(Workflow)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YAML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형식의 자동화 프로세스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.github/workflows/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디렉토리에 저장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워크플로우 파일 가능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(ci.yml, deploy.yml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트리거 이벤트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(on:):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push 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푸시 시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pull_request   →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 시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크론 스케줄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 자정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workflow_dispatch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 실행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생성 시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브랜치 필터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push: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[main, develop]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브랜치만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paths: ['src/**', 'tests/**']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경로 변경 시만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</a:t>
            </a:r>
            <a:r>
              <a:rPr lang="en-US" altLang="ko-KR" b="1"/>
              <a:t>Jobs</a:t>
            </a:r>
          </a:p>
          <a:p>
            <a:r>
              <a:rPr lang="ko-KR" altLang="en-US"/>
              <a:t>두 번째</a:t>
            </a:r>
            <a:r>
              <a:rPr lang="en-US" altLang="ko-KR"/>
              <a:t>, </a:t>
            </a:r>
            <a:r>
              <a:rPr lang="en-US" altLang="ko-KR" b="1"/>
              <a:t>Jobs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</a:t>
            </a:r>
            <a:r>
              <a:rPr lang="ko-KR" altLang="en-US" i="1"/>
              <a:t>워크플로우의 실행 단위</a:t>
            </a:r>
            <a:r>
              <a:rPr lang="en-US" altLang="ko-KR" i="1"/>
              <a:t>. </a:t>
            </a:r>
            <a:r>
              <a:rPr lang="ko-KR" altLang="en-US" i="1"/>
              <a:t>독립 환경에서 병렬</a:t>
            </a:r>
            <a:r>
              <a:rPr lang="en-US" altLang="ko-KR" i="1"/>
              <a:t>/</a:t>
            </a:r>
            <a:r>
              <a:rPr lang="ko-KR" altLang="en-US" i="1"/>
              <a:t>순차 실행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build: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Job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runs-on: ubuntu-latest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러너 지정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Checkout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test:         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needs: build 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build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후 실행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Run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deploy: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needs: [build, test]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후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Deploy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echo "Deploying..."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📋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워크플로우의 실행 단위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독립적인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러너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실행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기본적으로 병렬 실행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실행 순서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병렬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A ──────────────────→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B ──────────────────→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실행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C ──────────────────→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순차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(needs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A ───→ Job B ───→ Job C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순서대로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needs: A    needs: B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의존성 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needs: build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의존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needs: [build, test]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복수 의존                      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📝 </a:t>
            </a:r>
            <a:r>
              <a:rPr lang="en-US" altLang="ko-KR" b="1"/>
              <a:t>Steps</a:t>
            </a:r>
          </a:p>
          <a:p>
            <a:r>
              <a:rPr lang="ko-KR" altLang="en-US"/>
              <a:t>세 번째</a:t>
            </a:r>
            <a:r>
              <a:rPr lang="en-US" altLang="ko-KR"/>
              <a:t>, </a:t>
            </a:r>
            <a:r>
              <a:rPr lang="en-US" altLang="ko-KR" b="1"/>
              <a:t>Steps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"uses: </a:t>
            </a:r>
            <a:r>
              <a:rPr lang="ko-KR" altLang="en-US" i="1"/>
              <a:t>미리 정의된 액션 사용</a:t>
            </a:r>
            <a:r>
              <a:rPr lang="en-US" altLang="ko-KR" i="1"/>
              <a:t>. run: </a:t>
            </a:r>
            <a:r>
              <a:rPr lang="ko-KR" altLang="en-US" i="1"/>
              <a:t>쉘 명령어 실행</a:t>
            </a:r>
            <a:r>
              <a:rPr lang="en-US" altLang="ko-KR" i="1"/>
              <a:t>(dotnet test)"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uses: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정의된 액션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Checkout code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run: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쉘 명령어 직접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Restore dependencies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run: dotnet 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name: Build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run: 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name: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run: dotnet test --no-build --verbosity normal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두 가지 실행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uses: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액션 사용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actions/checkout@v3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actions/setup-dotnet@v3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'8.0.x'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만들어진 재사용 가능한 액션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Marketplace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검색 가능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run: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쉘 명령어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restore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build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|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echo "Multi-line"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dotnet test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명령어 실행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여러 줄 명령어 가능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🖥️ 러너 </a:t>
            </a:r>
            <a:r>
              <a:rPr lang="en-US" altLang="ko-KR" b="1"/>
              <a:t>(Runner)</a:t>
            </a:r>
          </a:p>
          <a:p>
            <a:r>
              <a:rPr lang="ko-KR" altLang="en-US"/>
              <a:t>네 번째</a:t>
            </a:r>
            <a:r>
              <a:rPr lang="en-US" altLang="ko-KR"/>
              <a:t>, **</a:t>
            </a:r>
            <a:r>
              <a:rPr lang="ko-KR" altLang="en-US"/>
              <a:t>러너 </a:t>
            </a:r>
            <a:r>
              <a:rPr lang="en-US" altLang="ko-KR"/>
              <a:t>(Runner)**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 i="1"/>
              <a:t>"runs-on: </a:t>
            </a:r>
            <a:r>
              <a:rPr lang="ko-KR" altLang="en-US" i="1"/>
              <a:t>실행환경 지정</a:t>
            </a:r>
            <a:r>
              <a:rPr lang="en-US" altLang="ko-KR" i="1"/>
              <a:t>. </a:t>
            </a:r>
            <a:r>
              <a:rPr lang="ko-KR" altLang="en-US" i="1"/>
              <a:t>호스팅</a:t>
            </a:r>
            <a:r>
              <a:rPr lang="en-US" altLang="ko-KR" i="1"/>
              <a:t>/</a:t>
            </a:r>
            <a:r>
              <a:rPr lang="ko-KR" altLang="en-US" i="1"/>
              <a:t>셀프호스팅 러너 선택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build-linux: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Linux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build-windows: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windows-latest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Windows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build-macos: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macos-latest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macOS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build-self-hosted: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self-hosted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호스팅 러너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🖥️ 러너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(Runner)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호스팅 러너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티어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ubuntu-latest    → Ubuntu 22.04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ubuntu-22.04     → Ubuntu 22.04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 버전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windows-latest   → Windows Server 2022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macos-latest     → macOS 12 Monterey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셀프 호스팅 러너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서버에서 실행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특수 하드웨어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소프트웨어 필요 시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프라이빗 네트워크 접근 필요 시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절감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대용량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ubuntu-latest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빠르고 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ℹ️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액션 예시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**주요 액션 예시**입니다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actions/checkout, setup-dotnet, upload-artifact, cache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액션 예시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actions/checkout@v3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저장소 코드를 러너에 체크아웃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거의 모든 워크플로우에서 첫 번째 단계로 사용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actions/setup-dotnet@v3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.NET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버전 지정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actions/upload-artifact@v3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결과물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등을 저장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다운로드하거나 다른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사용 가능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actions/cache@v3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캐싱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시간 단축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사용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actions/checkout@v3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actions/setup-dotnet@v3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'8.0.x'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actions/cache@v3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~/.nuget/packages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key: nuget-${{ hashFiles('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/*.csproj')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</a:t>
            </a:r>
            <a:r>
              <a:rPr lang="en-US" altLang="ko-KR" b="1"/>
              <a:t>.NET </a:t>
            </a:r>
            <a:r>
              <a:rPr lang="ko-KR" altLang="en-US" b="1"/>
              <a:t>워크플로우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.github/workflows/dotnet.yml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CI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push: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pull_request: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build-and-test: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체크아웃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Checkout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.NET SDK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NuGet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Cache NuGet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actions/cache@v3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path: ~/.nuget/packages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key: nuget-${{ hashFiles('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/*.csproj')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복원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5.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Build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6.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--no-build --verbosity normal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**워크플로우**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YAML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이벤트 트리거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📋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단위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 실행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📝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run: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쉘 명령어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🖥️ **러너**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runs-on: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환경 지정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YAML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파일로 정의하고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이벤트 기반 트리거 방식**으로 동작합니다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액션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checkout, setup-dotnet, upload-artifact, cache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.NET </a:t>
            </a:r>
            <a:r>
              <a:rPr lang="ko-KR" altLang="en-US" b="1"/>
              <a:t>매트릭스 빌드</a:t>
            </a:r>
            <a:r>
              <a:rPr lang="en-US" altLang="ko-KR" b="1"/>
              <a:t>/</a:t>
            </a:r>
            <a:r>
              <a:rPr lang="ko-KR" altLang="en-US" b="1"/>
              <a:t>테스트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여러분의 코드가 </a:t>
            </a:r>
            <a:r>
              <a:rPr lang="ko-KR" altLang="en-US" b="1"/>
              <a:t>다양한 </a:t>
            </a:r>
            <a:r>
              <a:rPr lang="en-US" altLang="ko-KR" b="1"/>
              <a:t>OS</a:t>
            </a:r>
            <a:r>
              <a:rPr lang="ko-KR" altLang="en-US" b="1"/>
              <a:t>와 </a:t>
            </a:r>
            <a:r>
              <a:rPr lang="en-US" altLang="ko-KR" b="1"/>
              <a:t>.NET </a:t>
            </a:r>
            <a:r>
              <a:rPr lang="ko-KR" altLang="en-US" b="1"/>
              <a:t>버전</a:t>
            </a:r>
            <a:r>
              <a:rPr lang="ko-KR" altLang="en-US"/>
              <a:t>에서 잘 동작하는지 어떻게 확인할 수 있을까요</a:t>
            </a:r>
            <a:r>
              <a:rPr lang="en-US" altLang="ko-KR"/>
              <a:t>?</a:t>
            </a:r>
          </a:p>
          <a:p>
            <a:r>
              <a:rPr lang="ko-KR" altLang="en-US" b="1"/>
              <a:t>매트릭스 빌드</a:t>
            </a:r>
            <a:r>
              <a:rPr lang="ko-KR" altLang="en-US"/>
              <a:t>를 사용하면 </a:t>
            </a:r>
            <a:r>
              <a:rPr lang="ko-KR" altLang="en-US" b="1"/>
              <a:t>여러 조합을 병렬로 테스트</a:t>
            </a:r>
            <a:r>
              <a:rPr lang="ko-KR" altLang="en-US"/>
              <a:t>할 수 있습니다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매트릭스 빌드란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"OS</a:t>
            </a:r>
            <a:r>
              <a:rPr lang="ko-KR" altLang="en-US" i="1"/>
              <a:t>와 </a:t>
            </a:r>
            <a:r>
              <a:rPr lang="en-US" altLang="ko-KR" i="1"/>
              <a:t>SDK </a:t>
            </a:r>
            <a:r>
              <a:rPr lang="ko-KR" altLang="en-US" i="1"/>
              <a:t>버전 조합에서 병렬 테스트 실행으로 크로스 플랫폼 호환성 검증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매트릭스 빌드란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환경 조합을 자동으로 생성하여 병렬 테스트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OS,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런타임 등 다양한 변수 조합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크로스 플랫폼 호환성 검증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OS: [ubuntu, windows]  ×  .NET: [6.0, 8.0]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=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조합 자동 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Ubuntu + .NET 6.0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Ubuntu + .NET 8.0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Windows + .NET 6.0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Windows + .NET 8.0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🔲 매트릭스 정의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매트릭스 정의</a:t>
            </a:r>
            <a:r>
              <a:rPr lang="ko-KR" altLang="en-US"/>
              <a:t> 코드입니다</a:t>
            </a:r>
            <a:r>
              <a:rPr lang="en-US" altLang="ko-KR"/>
              <a:t>.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os: [ubuntu-latest, windows-latest]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dotnet: ['6.0', '8.0']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🔲 매트릭스 정의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os: [ubuntu-latest, windows-latest]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dotnet: ['6.0', '8.0']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매트릭스 변수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build: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runs-on: ${{ matrix.os }}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변수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actions/setup-dotnet@v3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${{ matrix.dotnet }}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${{ matrix.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각 조합 값 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매트릭스 실행 결과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**매트릭스 실행 결과** 표입니다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매트릭스 실행 결과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┌─────────────────────────┬─────────────────────────┐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 + .NET 6.0    │   Ubuntu + .NET 8.0    │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           │       ✅ 성공           │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├─────────────────────────┼─────────────────────────┤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 + .NET 6.0   │   Windows + .NET 8.0   │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           │       ❌ 실패           │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└─────────────────────────┴─────────────────────────┘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결과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Ubuntu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정상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Windows + .NET 8.0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조합에서만 문제 발생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특정 환경에서만 나타나는 버그 조기 발견 가능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UI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 (ubuntu-latest, 6.0)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 (ubuntu-latest, 8.0)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 (windows-latest, 6.0)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build (windows-latest, 8.0)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클릭하여 상세 확인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⚡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이점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시간 단축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호환성 문제 조기 발견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크로스 플랫폼 이슈 식별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이점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시간 단축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순차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1 ───→ Job 2 ───→ Job 3 ───→ Job 4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[5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[5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[5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= 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병렬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1 ───→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2 ───→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3 ───→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4 ───→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호환성 문제 조기 발견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 발생하는 버그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버전에서만 발생하는 문제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크로스 플랫폼 이슈 식별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경로 구분자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(/ vs \)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줄바꿈 문자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(LF vs CRLF)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대소문자 구분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(Linux vs Windows)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매트릭스 워크플로우 프로세스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슬라이드의 **매트릭스 워크플로우 프로세스**입니다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정의 → 작업 생성 → 병렬 실행 → 결과 취합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(OS+SDK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 작업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종합 결과 보고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매트릭스 워크플로우 프로세스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┌──────────┐   ┌──────────┐   ┌──────────┐   ┌──────────┐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매트릭스 │ → │ 작업     │ → │ 병렬     │ → │ 결과  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정의     │   │ 생성     │   │ 실행     │   │ 취합  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└──────────┘   └──────────┘   └──────────┘   └──────────┘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OS+SDK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조합    독립 작업 생성   동시 독립 실행  종합 결과 보고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상세 프로세스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정의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os: [ubuntu, windows] × dotnet: [6.0, 8.0]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= 2 × 2 = 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조합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생성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1: ubuntu + 6.0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2: ubuntu + 8.0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3: windows + 6.0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4: windows + 8.0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취합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매트릭스 워크플로우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.github/workflows/matrix-build.yml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Matrix Build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push: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pull_request: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${{ matrix.os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os: [ubuntu-latest, windows-latest]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dotnet: ['6.0', '8.0']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fail-fast: 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 실패해도 나머지 계속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Checkout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Setup .NET ${{ matrix.dotnet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${{ matrix.dotnet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Display .NET version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--version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Build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--no-build --verbosity normal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실전 팁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fail-fast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"fail-fast: false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 추가 시 일부 작업 실패에도 모든 매트릭스 조합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실전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fail-fast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fail-fast: true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1 ───→ ✅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2 ───→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3 ───→ 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중단됨   ← 나머지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4 ───→ 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중단됨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빠른 피드백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리소스 절약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fail-fast: false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1 ───→ ✅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Job 2 ───→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3 ───→ ✅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4 ───→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모든 환경의 결과 확인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호환성 파악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설정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fail-fast: false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os: [ubuntu-latest, windows-latest]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고급 매트릭스 설정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fail-fast: 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os: [ubuntu-latest, windows-latest, macos-latest]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dotnet: ['6.0', '7.0', '8.0']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조합 제외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os: macos-latest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dotnet: '6.0'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조합 추가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os: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dotnet: '8.0'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experimental: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변수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고급 매트릭스 설정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조합 제외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exclude: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os: macos-latest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dotnet: '6.0'     ← macOS + .NET 6.0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제외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조합 추가 또는 변수 추가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os: ubuntu-latest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dotnet: '8.0'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coverage: true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조합에만 커버리지 측정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max-parallel: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실행 수 제한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max-parallel: 2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동시 실행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매트릭스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**매트릭스 정의**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OS +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조합 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**병렬 실행**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조합 동시 테스트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**결과 취합**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환경별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확인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**병렬 실행 이점**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시간 단축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호환성 문제 조기 발견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크로스 플랫폼 이슈 식별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fail-fast: false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설정으로 모든 매트릭스 조합 결과를 확인하세요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오프닝</a:t>
            </a:r>
          </a:p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커버리지 아티팩트 업로드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CI</a:t>
            </a:r>
            <a:r>
              <a:rPr lang="ko-KR" altLang="en-US"/>
              <a:t>에서 생성한 커버리지 리포트를 </a:t>
            </a:r>
            <a:r>
              <a:rPr lang="ko-KR" altLang="en-US" b="1"/>
              <a:t>어떻게 저장하고 공유</a:t>
            </a:r>
            <a:r>
              <a:rPr lang="ko-KR" altLang="en-US"/>
              <a:t>할 수 있을까요</a:t>
            </a:r>
            <a:r>
              <a:rPr lang="en-US" altLang="ko-KR"/>
              <a:t>? </a:t>
            </a:r>
            <a:r>
              <a:rPr lang="en-US" altLang="ko-KR" b="1"/>
              <a:t>GitHub Actions</a:t>
            </a:r>
            <a:r>
              <a:rPr lang="ko-KR" altLang="en-US" b="1"/>
              <a:t>의 아티팩트 기능</a:t>
            </a:r>
            <a:r>
              <a:rPr lang="ko-KR" altLang="en-US"/>
              <a:t>을 사용하면 됩니다</a:t>
            </a:r>
            <a:r>
              <a:rPr lang="en-US" altLang="ko-KR"/>
              <a:t>.</a:t>
            </a:r>
          </a:p>
          <a:p>
            <a:r>
              <a:rPr lang="en-US" altLang="ko-KR"/>
              <a:t>4</a:t>
            </a:r>
            <a:r>
              <a:rPr lang="ko-KR" altLang="en-US"/>
              <a:t>단계 프로세스를 따라가 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아티팩트 업로드란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"GitHub Actions</a:t>
            </a:r>
            <a:r>
              <a:rPr lang="ko-KR" altLang="en-US" i="1"/>
              <a:t>에서 커버리지 리포트를 아티팩트로 저장하고 공유하는 방법입니다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아티팩트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(Artifact)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실행 중 생성된 파일을 저장하는 기능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결과물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등 보관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다운로드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Job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공유 가능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용도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저장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빌드된 바이너리 저장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배포용 패키지 저장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워크플로우 실행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GitHub → Actions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섹션에서 다운로드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</a:t>
            </a:r>
            <a:r>
              <a:rPr lang="ko-KR" altLang="en-US" b="1"/>
              <a:t>단계 프로세스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프로세스 개요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① 커버리지 리포트 생성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actions/upload-artifact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↓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④ 아티팩트 활용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① 커버리지 리포트 생성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실행 단계에서 </a:t>
            </a:r>
            <a:r>
              <a:rPr lang="en-US" altLang="ko-KR" sz="1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dotnet test --collect:"XPlat Code Coverage"</a:t>
            </a:r>
            <a:r>
              <a:rPr lang="ko-KR" altLang="en-US" i="1"/>
              <a:t> 명령어 사용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 with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run: dotnet test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①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생성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명령어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 --collect:"XPlat Code Coverage"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생성되는 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TestResults/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{guid}/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└── coverage.cobertura.xml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데이터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워크플로우에서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Checkout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actions/checkout@v3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actions/setup-dotnet@v3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'8.0.x'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 with Coverage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dotnet test --collect:"XPlat Code Coverage"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② </a:t>
            </a:r>
            <a:r>
              <a:rPr lang="en-US" altLang="ko-KR" b="1"/>
              <a:t>ReportGenerator </a:t>
            </a:r>
            <a:r>
              <a:rPr lang="ko-KR" altLang="en-US" b="1"/>
              <a:t>실행</a:t>
            </a:r>
          </a:p>
          <a:p>
            <a:r>
              <a:rPr lang="en-US" altLang="ko-KR" i="1"/>
              <a:t>"</a:t>
            </a:r>
            <a:r>
              <a:rPr lang="ko-KR" altLang="en-US" i="1"/>
              <a:t>생성된 커버리지 파일을 </a:t>
            </a:r>
            <a:r>
              <a:rPr lang="en-US" altLang="ko-KR" i="1"/>
              <a:t>HTML </a:t>
            </a:r>
            <a:r>
              <a:rPr lang="ko-KR" altLang="en-US" i="1"/>
              <a:t>리포트로 변환</a:t>
            </a:r>
            <a:r>
              <a:rPr lang="en-US" altLang="ko-KR" i="1"/>
              <a:t>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Install ReportGenerator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run: dotnet tool install -g dotnet-reportgenerator-globaltool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Generate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-reports:"**/coverage.cobertura.xml"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-targetdir:"coveragereport"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② 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 설치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Install ReportGenerator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dotnet tool install -g dotnet-reportgenerator-globaltool│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Generate Coverage Report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|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reportgenerator \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-reports:"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/coverage.cobertura.xml"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-targetdir:"coveragereport" \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-reporttypes:Html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생성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coveragereport/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index.html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리포트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.html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← 클래스별 상세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.css,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.js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← 스타일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스크립트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③ </a:t>
            </a:r>
            <a:r>
              <a:rPr lang="en-US" altLang="ko-KR" b="1"/>
              <a:t>actions/upload-artifact </a:t>
            </a:r>
            <a:r>
              <a:rPr lang="ko-KR" altLang="en-US" b="1"/>
              <a:t>설정</a:t>
            </a:r>
          </a:p>
          <a:p>
            <a:r>
              <a:rPr lang="en-US" altLang="ko-KR" i="1"/>
              <a:t>"</a:t>
            </a:r>
            <a:r>
              <a:rPr lang="ko-KR" altLang="en-US" i="1"/>
              <a:t>워크플로우에 아티팩트 업로드 단계 추가</a:t>
            </a:r>
            <a:r>
              <a:rPr lang="en-US" altLang="ko-KR" i="1"/>
              <a:t>:"</a:t>
            </a:r>
            <a:endParaRPr lang="ko-KR" altLang="en-US"/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uses: actions/upload-artifact@v3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with: { name: code-coverage-report, path: coveragereport/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③ actions/upload-artifact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사용법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coverage report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actions/upload-artifact@v3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code-coverage-report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이름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coveragereport/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업로드할 경로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주요 옵션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coverage-report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이름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coveragereport/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업로드 경로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retention-days: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보관 기간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90)│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if-no-files-found: error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없으면 에러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여러 경로 업로드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|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coveragereport/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TestResults/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④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활용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"GitHub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 'Artifacts'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섹션에서 리포트 다운로드 및 공유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활용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다운로드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GitHub → Repository → Actions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실행 선택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┌─────────────────────────────────────────────────┐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                              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                                    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Artifacts                                     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┌───────────────────────────────────────────┐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│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code-coverage-report         [Download]│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└───────────────────────────────────────────┘ │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└─────────────────────────────────────────────────┘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활용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다운로드 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index.html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열어서 리포트 확인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팀원과 공유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다운로드하여 사용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파이프라인에서 활용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실전 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리포트는 압축하여 업로드하면 시간과 용량을 절약할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if-no-files-found: error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옵션으로 리포트 생성 실패 시 워크플로우를 중단할 수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실전 팁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if-no-files-found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옵션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coverage-report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coveragereport/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if-no-files-found: error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없으면 실패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warn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경고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ignore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무시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error 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에러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리포트 생성 실패를 조기에 발견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retention-days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보관 기간 설정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retention-days: 30    ←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보관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 비용 절감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압축하여 업로드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Compress report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zip -r coverage.zip coveragereport/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actions/upload-artifact@v3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coverage-report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path: coverage.zip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업로드 시간 및 용량 절약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워크플로우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.github/workflows/coverage.yml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Coverage Report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push: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pull_request: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coverage: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체크아웃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Checkout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.NET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측정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 with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4. ReportGenerator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및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Install ReportGenerator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tool install 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Generate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-reports:"**/coverage.cobertura.xml"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-targetdir:"coveragereport"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5.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업로드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actions/upload-artifact@v3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name: code-coverage-report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path: coveragereport/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retention-days: 30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if-no-files-found: error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**커버리지 아티팩트 업로드**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**커버리지 리포트 생성**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`dotnet test --collect:"XPlat Code Coverage"`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리포트로 변환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upload-artifact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설정**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아티팩트로 업로드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**아티팩트 활용**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Actions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다운로드 및 공유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**실전 팁**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`if-no-files-found: error`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실패 감지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`retention-days`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보관 기간 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PR </a:t>
            </a:r>
            <a:r>
              <a:rPr lang="ko-KR" altLang="en-US" b="1"/>
              <a:t>상태 배지</a:t>
            </a:r>
            <a:r>
              <a:rPr lang="en-US" altLang="ko-KR" b="1"/>
              <a:t>/</a:t>
            </a:r>
            <a:r>
              <a:rPr lang="ko-KR" altLang="en-US" b="1"/>
              <a:t>코멘트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커버리지 결과를 </a:t>
            </a:r>
            <a:r>
              <a:rPr lang="ko-KR" altLang="en-US" b="1"/>
              <a:t>한눈에 보이게</a:t>
            </a:r>
            <a:r>
              <a:rPr lang="ko-KR" altLang="en-US"/>
              <a:t> 만들면 어떨까요</a:t>
            </a:r>
            <a:r>
              <a:rPr lang="en-US" altLang="ko-KR"/>
              <a:t>? </a:t>
            </a:r>
            <a:r>
              <a:rPr lang="ko-KR" altLang="en-US" b="1"/>
              <a:t>배지</a:t>
            </a:r>
            <a:r>
              <a:rPr lang="ko-KR" altLang="en-US"/>
              <a:t>와 </a:t>
            </a:r>
            <a:r>
              <a:rPr lang="ko-KR" altLang="en-US" b="1"/>
              <a:t>자동 코멘트</a:t>
            </a:r>
            <a:r>
              <a:rPr lang="ko-KR" altLang="en-US"/>
              <a:t>로 팀 전체가 코드 품질을 쉽게 파악할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4</a:t>
            </a:r>
            <a:r>
              <a:rPr lang="ko-KR" altLang="en-US"/>
              <a:t>가지 방법을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🏷️ 상태 배지 추가</a:t>
            </a:r>
          </a:p>
          <a:p>
            <a:r>
              <a:rPr lang="en-US" altLang="ko-KR" i="1"/>
              <a:t>"README.md</a:t>
            </a:r>
            <a:r>
              <a:rPr lang="ko-KR" altLang="en-US" i="1"/>
              <a:t>에 코드 품질 배지 추가</a:t>
            </a:r>
            <a:r>
              <a:rPr lang="en-US" altLang="ko-KR" i="1"/>
              <a:t>. shields.io </a:t>
            </a:r>
            <a:r>
              <a:rPr lang="ko-KR" altLang="en-US" i="1"/>
              <a:t>또는 </a:t>
            </a:r>
            <a:r>
              <a:rPr lang="en-US" altLang="ko-KR" i="1"/>
              <a:t>codecov </a:t>
            </a:r>
            <a:r>
              <a:rPr lang="ko-KR" altLang="en-US" i="1"/>
              <a:t>배지로 가시성 향상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🏷️ 상태 배지 추가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배지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[coverage: 85%]  [tests: passing]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녹색 배지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녹색 배지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README.md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My Project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![Coverage](https://img.shields.io/badge/coverage-85%25-green)│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![Tests](https://img.shields.io/badge/tests-passing-green)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## Description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...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서비스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shields.io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스타일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커스터마이징 가능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Codecov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전문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Coveralls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트래킹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en-US" altLang="ko-KR"/>
              <a:t>markdown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shields.io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동적 배지 예시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![Coverage](https://img.shields.io/badge/coverage-85%25-brightgreen)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![Build](https://img.shields.io/github/actions/workflow/status/owner/repo/ci.yml)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![Tests](https://img.shields.io/badge/tests-42%20passed-success)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Codecov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[![codecov](https://codecov.io/gh/owner/repo/branch/main/graph/badge.svg)](https://codecov.io/gh/owner/repo)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🔗 리포트 링크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*"GitHub Pages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리포트 게시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코멘트에 리포트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github.io/&lt;repo&gt;/coverage/"*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🔗 리포트 링크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Pages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리포트 게시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gh-pages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 푸시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GitHub Pages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URL: https://username.github.io/repo/coverage/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name: Deploy to GitHub Pages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uses: peaceiris/actions-gh-pages@v3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with: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github_token: ${{ secrets.GITHUB_TOKEN }}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publish_dir: ./coveragereport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destination_dir: coverage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코멘트에 링크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Report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[View Full Report](https://user.github.io/repo/coverage/)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요약 코멘트 자동화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자동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(GitHub Actions).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변화 정보 포함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리뷰 효율화 및 코드 품질 가시성 제공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요약 코멘트 자동화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자동 코멘트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테스트 결과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**통과**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85% (+2.3%)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|------|-----|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42 |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42 |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0 |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85% |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+2.3% ⬆️ |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리포트 보기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](https://...)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효과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리뷰어가 바로 품질 상태 확인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효율화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개선 동기 부여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커버리지 추이 시각화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*"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변화량 표시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(+2.5%).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코드의 커버리지 별도 강조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임계치 미달 시 시각적 경고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커버리지 추이 시각화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변화량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Coverage: 85% (+2.5%)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↑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대비 변화량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변경 코드 커버리지 강조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85%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변경된 파일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92%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코드는 더 높은 커버리지│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src/OrderService.cs   95% (+10%)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src/PaymentService.cs 88% (new)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임계치 미달 경고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경고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전체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72%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80%)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코드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45%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80%) ❌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추가가 필요합니다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구성 예시</a:t>
            </a:r>
            <a:r>
              <a:rPr lang="en-US" altLang="ko-KR" b="1"/>
              <a:t>: GitHub Actions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구성 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marocchino/sticky-pull-request-comment@v2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message: "##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85% (+2.3%)"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완전한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워크플로우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Get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id: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COVERAGE=$(jq '.summary.linecoverage' coveragereport/Summary.json)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"coverage=$COVERAGE" &gt;&gt; $GITHUB_OUTPUT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Comment on PR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uses: marocchino/sticky-pull-request-comment@v2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header: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message: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테스트 결과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✅ **통과**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${{ steps.coverage.outputs.coverage }}%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|------|-----|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${{ steps.coverage.outputs.coverage }}% |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78%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상세 리포트 보기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](https://...)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구성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GitHub Actions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marocchino/sticky-pull-request-comment: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코멘트 자동 추가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sticky: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업데이트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방지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Markdown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주요 옵션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header: coverage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식별자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업데이트용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message: |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Markdown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                 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✅ 통과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recreate: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새로 생성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append: true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 추가 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대안 액션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actions/github-script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유연한 스크립트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peter-evans/create-or-update-comment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코멘트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워크플로우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.github/workflows/pr-comment.yml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PR Coverage Comment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pull_request: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coverage: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dotnet test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Generate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 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-reports:"**/coverage.cobertura.xml"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-targetdir:"coveragereport"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-reporttypes:"Html;JsonSummary"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Get Coverage Value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id: coverage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COVERAGE=$(jq '.summary.linecoverage' coveragereport/Summary.json)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"value=$COVERAGE" &gt;&gt; $GITHUB_OUTPUT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Comment on PR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marocchino/sticky-pull-request-comment@v2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header: coverage-report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message: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테스트 결과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✅ **통과**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${{ steps.coverage.outputs.value }}%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리포트 보기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](./coveragereport/index.html)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 자동화의 효과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하단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통계 자동화는 개발 생산성과 코드 품질을 향상시킵니다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 자동화의 효과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개발 생산성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수동으로 커버리지 확인할 필요 없음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리뷰어가 바로 품질 상태 파악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시간 단축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코드 품질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감소 시 즉시 인지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추가 동기 부여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전체 품질 의식 향상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가시성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README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배지로 프로젝트 상태 한눈에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코멘트로 변경 영향 즉시 확인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추이 그래프로 장기 트렌드 파악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 배지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🏷️ **상태 배지 추가**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README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shields.io/codecov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🔗 **리포트 링크**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GitHub Pages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게시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**요약 코멘트 자동화**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변화 표시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**커버리지 추이 시각화**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임계치 경고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통계 자동화는 개발 생산성과 코드 품질을 향상시킵니다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Jenkins </a:t>
            </a:r>
            <a:r>
              <a:rPr lang="ko-KR" altLang="en-US" b="1"/>
              <a:t>파이프라인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GitHub Actions </a:t>
            </a:r>
            <a:r>
              <a:rPr lang="ko-KR" altLang="en-US"/>
              <a:t>외에도 많은 기업에서 </a:t>
            </a:r>
            <a:r>
              <a:rPr lang="en-US" altLang="ko-KR" b="1"/>
              <a:t>Jenkins</a:t>
            </a:r>
            <a:r>
              <a:rPr lang="ko-KR" altLang="en-US"/>
              <a:t>를 사용하고 있습니다</a:t>
            </a:r>
            <a:r>
              <a:rPr lang="en-US" altLang="ko-KR"/>
              <a:t>. </a:t>
            </a:r>
            <a:r>
              <a:rPr lang="ko-KR" altLang="en-US"/>
              <a:t>이 내용은 </a:t>
            </a:r>
            <a:r>
              <a:rPr lang="ko-KR" altLang="en-US" b="1"/>
              <a:t>선택 사항</a:t>
            </a:r>
            <a:r>
              <a:rPr lang="ko-KR" altLang="en-US"/>
              <a:t>이지만</a:t>
            </a:r>
            <a:r>
              <a:rPr lang="en-US" altLang="ko-KR"/>
              <a:t>, Jenkins </a:t>
            </a:r>
            <a:r>
              <a:rPr lang="ko-KR" altLang="en-US"/>
              <a:t>환경에서 일하시는 분들을 위해 준비했습니다</a:t>
            </a:r>
            <a:r>
              <a:rPr lang="en-US" altLang="ko-KR"/>
              <a:t>.</a:t>
            </a:r>
          </a:p>
          <a:p>
            <a:r>
              <a:rPr lang="en-US" altLang="ko-KR"/>
              <a:t>Jenkins Pipeline</a:t>
            </a:r>
            <a:r>
              <a:rPr lang="ko-KR" altLang="en-US"/>
              <a:t>의 기본 개념을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Jenkins </a:t>
            </a:r>
            <a:r>
              <a:rPr lang="ko-KR" altLang="en-US" b="1"/>
              <a:t>파이프라인이란</a:t>
            </a:r>
            <a:r>
              <a:rPr lang="en-US" altLang="ko-KR" b="1"/>
              <a:t>?</a:t>
            </a:r>
          </a:p>
          <a:p>
            <a:r>
              <a:rPr lang="en-US" altLang="ko-KR" i="1"/>
              <a:t>"Jenkins Pipeline</a:t>
            </a:r>
            <a:r>
              <a:rPr lang="ko-KR" altLang="en-US" i="1"/>
              <a:t>은 </a:t>
            </a:r>
            <a:r>
              <a:rPr lang="en-US" altLang="ko-KR" i="1"/>
              <a:t>CI/CD </a:t>
            </a:r>
            <a:r>
              <a:rPr lang="ko-KR" altLang="en-US" i="1"/>
              <a:t>파이프라인을 코드로 정의하는 방식으로</a:t>
            </a:r>
            <a:r>
              <a:rPr lang="en-US" altLang="ko-KR" i="1"/>
              <a:t>, </a:t>
            </a:r>
            <a:r>
              <a:rPr lang="ko-KR" altLang="en-US" i="1"/>
              <a:t>빌드</a:t>
            </a:r>
            <a:r>
              <a:rPr lang="en-US" altLang="ko-KR" i="1"/>
              <a:t>, </a:t>
            </a:r>
            <a:r>
              <a:rPr lang="ko-KR" altLang="en-US" i="1"/>
              <a:t>테스트</a:t>
            </a:r>
            <a:r>
              <a:rPr lang="en-US" altLang="ko-KR" i="1"/>
              <a:t>, </a:t>
            </a:r>
            <a:r>
              <a:rPr lang="ko-KR" altLang="en-US" i="1"/>
              <a:t>배포 과정을 자동화합니다</a:t>
            </a:r>
            <a:r>
              <a:rPr lang="en-US" altLang="ko-KR" i="1"/>
              <a:t>. Jenkinsfile</a:t>
            </a:r>
            <a:r>
              <a:rPr lang="ko-KR" altLang="en-US" i="1"/>
              <a:t>을 통해 파이프라인을 정의하고 버전 관리 시스템과 함께 관리할 수 있습니다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파이프라인을 코드로 정의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(Pipeline as Code)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과정 자동화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Jenkinsfile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버전 관리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버전 관리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가능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재사용 및 공유 용이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이력 추적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vs Jenkins: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GitHub Actions      │  Jenkins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│  ─────────────────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YAML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    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Groovy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클라우드 호스팅     │  자체 호스팅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     │  다양한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간단한 설정         │  풍부한 플러그인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📝 </a:t>
            </a:r>
            <a:r>
              <a:rPr lang="en-US" altLang="ko-KR" b="1"/>
              <a:t>Declarative Pipeline</a:t>
            </a:r>
          </a:p>
          <a:p>
            <a:r>
              <a:rPr lang="en-US" altLang="ko-KR" i="1"/>
              <a:t>"Groovy </a:t>
            </a:r>
            <a:r>
              <a:rPr lang="ko-KR" altLang="en-US" i="1"/>
              <a:t>기반 선언적 문법으로</a:t>
            </a:r>
            <a:r>
              <a:rPr lang="en-US" altLang="ko-KR" i="1"/>
              <a:t>, 'pipeline' </a:t>
            </a:r>
            <a:r>
              <a:rPr lang="ko-KR" altLang="en-US" i="1"/>
              <a:t>블록을 사용해 구조화된 형태로 파이프라인을 정의합니다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 Pipeline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Groovy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선언적 문법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'pipeline'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블록으로 시작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구조화되고 읽기 쉬운 형태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초보자 친화적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pipeline {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agent any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환경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 { 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단계들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stage('Build') {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steps {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실행할 명령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}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vs Scripted Pipeline: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Scripted: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유연하지만 복잡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(node { ... })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Declarative: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구조적이고 단순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(pipeline { ... })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🎭 </a:t>
            </a:r>
            <a:r>
              <a:rPr lang="en-US" altLang="ko-KR" b="1"/>
              <a:t>Stages &amp; Steps</a:t>
            </a:r>
          </a:p>
          <a:p>
            <a:r>
              <a:rPr lang="en-US" altLang="ko-KR" i="1"/>
              <a:t>"Stages</a:t>
            </a:r>
            <a:r>
              <a:rPr lang="ko-KR" altLang="en-US" i="1"/>
              <a:t>는 파이프라인의 주요 단계를</a:t>
            </a:r>
            <a:r>
              <a:rPr lang="en-US" altLang="ko-KR" i="1"/>
              <a:t>, Steps</a:t>
            </a:r>
            <a:r>
              <a:rPr lang="ko-KR" altLang="en-US" i="1"/>
              <a:t>는 각 단계의 실행 작업을 정의합니다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 &amp; Steps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Stages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파이프라인의 주요 단계 정의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Build, Test, Deploy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Jenkins UI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시각적으로 표시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작업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내에서 실행할 작업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sh: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쉘 명령 실행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bat: Windows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배치 명령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script: Groovy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스크립트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시각화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Jenkins UI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[Build] ──→ [Test] ──→ [Report] ──→ [Deploy]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✅         ✅          ✅           ⏳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     진행중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독립적으로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표시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🌍 환경 </a:t>
            </a:r>
            <a:r>
              <a:rPr lang="en-US" altLang="ko-KR" b="1"/>
              <a:t>&amp; </a:t>
            </a:r>
            <a:r>
              <a:rPr lang="ko-KR" altLang="en-US" b="1"/>
              <a:t>에이전트</a:t>
            </a:r>
          </a:p>
          <a:p>
            <a:r>
              <a:rPr lang="en-US" altLang="ko-KR" i="1"/>
              <a:t>"</a:t>
            </a:r>
            <a:r>
              <a:rPr lang="ko-KR" altLang="en-US" i="1"/>
              <a:t>환경변수 설정 및 실행 환경을 지정하여 다양한 환경에서 동일한 파이프라인을 실행합니다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🌍 환경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에이전트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agent any 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아무 에이전트에서 실행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none     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지정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{ label 'linux' }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라벨의 노드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{ docker 'dotnet:8.0' }  // Docker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컨테이너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pipeline {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environment {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DOTNET_VERSION = '8.0'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COVERAGE_THRESHOLD = '80'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...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스테이징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환경 분리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민감 정보는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Credentials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Docker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일관된 빌드 환경 보장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</a:t>
            </a:r>
            <a:r>
              <a:rPr lang="en-US" altLang="ko-KR" b="1"/>
              <a:t>Declarative Pipeline </a:t>
            </a:r>
            <a:r>
              <a:rPr lang="ko-KR" altLang="en-US" b="1"/>
              <a:t>예시</a:t>
            </a:r>
          </a:p>
          <a:p>
            <a:r>
              <a:rPr lang="ko-KR" altLang="en-US"/>
              <a:t>슬라이드의 </a:t>
            </a:r>
            <a:r>
              <a:rPr lang="en-US" altLang="ko-KR" b="1"/>
              <a:t>Declarative Pipeline </a:t>
            </a:r>
            <a:r>
              <a:rPr lang="ko-KR" altLang="en-US" b="1"/>
              <a:t>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groovy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agent any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stages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stage('Build') { steps { sh 'dotnet build'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stage('Test') { steps { sh 'dotnet test --collect:"XPlat Code Coverage"'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stage('Report') { steps { sh 'reportgenerator -reports:**/coverage.cobertura.xml -targetdir:report'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 Pipeline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기본 예시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pipeline {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agent any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stages {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stage('Build') {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steps { sh 'dotnet build'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}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stage('Test') {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steps {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sh 'dotnet test --collect:"XPlat Code Coverage"'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}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stage('Report') {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steps {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sh 'reportgenerator -reports:**/coverage.cobertura.xml -targetdir:report'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}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흐름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Build → Test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→ Report (HTML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</a:t>
            </a:r>
            <a:r>
              <a:rPr lang="en-US" altLang="ko-KR" b="1"/>
              <a:t>.NET </a:t>
            </a:r>
            <a:r>
              <a:rPr lang="ko-KR" altLang="en-US" b="1"/>
              <a:t>파이프라인 예시</a:t>
            </a:r>
          </a:p>
          <a:p>
            <a:r>
              <a:rPr lang="en-US" altLang="ko-KR"/>
              <a:t>groovy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Jenkinsfile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agent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docker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image 'mcr.microsoft.com/dotnet/sdk:8.0'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environment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DOTNET_CLI_TELEMETRY_OPTOUT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'1'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COVERAGE_THRESHOLD =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'80'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stages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stage('Restore')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steps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sh 'dotnet restore'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stage('Build')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steps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sh 'dotnet build --no-restore'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stage('Test')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steps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sh 'dotnet test --no-build --collect:"XPlat Code Coverage"'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stage('Coverage Report')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steps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sh '''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 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export PATH="$PATH:$HOME/.dotnet/tools"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-reports:**/coverage.cobertura.xml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-targetdir:coveragereport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-reporttypes:Html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'''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stage('Publish Report')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steps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publishHTML(target: [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reportName: 'Coverage Report',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reportDir: 'coveragereport',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reportFiles: 'index.html'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post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always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수집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 '**/TestResults/*.xml'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success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echo '✅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failure {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echo '❌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GitHub Actions vs 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GitHub Actions vs 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├─────────────────┬───────────────────┬───────────────────────────┤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항목    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  │  Jenkins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├─────────────────┼───────────────────┼───────────────────────────┤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파일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.yml (YAML)      │  Jenkinsfile (Groovy)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호스팅         │  클라우드         │  자체 호스팅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설정 난이도    │  쉬움             │  중간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플러그인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Marketplace   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매우 풍부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비용           │  무료 티어        │  서버 비용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   │  네이티브         │  플러그인 필요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유연성         │  중간             │  높음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학습 곡선      │  낮음             │  중간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높음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└─────────────────┴───────────────────┴───────────────────────────┘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가이드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간단한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→ GitHub Actions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유지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복잡한 요구사항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커스터마이징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빠른 시작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관리 최소화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📝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 Pipeline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Groovy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구조화된 문법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🎭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 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단계와 실행 작업 정의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🌍 **환경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에이전트**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 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환경변수 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**자체 호스팅**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**풍부한 플러그인**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**높은 유연성**이 특징입니다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환경이 있다면 활용하시고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새로 시작한다면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**가 더 간단합니다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시크릿</a:t>
            </a:r>
            <a:r>
              <a:rPr lang="en-US" altLang="ko-KR" b="1"/>
              <a:t>/</a:t>
            </a:r>
            <a:r>
              <a:rPr lang="ko-KR" altLang="en-US" b="1"/>
              <a:t>보안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CI/CD </a:t>
            </a:r>
            <a:r>
              <a:rPr lang="ko-KR" altLang="en-US"/>
              <a:t>파이프라인에서 </a:t>
            </a:r>
            <a:r>
              <a:rPr lang="en-US" altLang="ko-KR" b="1"/>
              <a:t>API </a:t>
            </a:r>
            <a:r>
              <a:rPr lang="ko-KR" altLang="en-US" b="1"/>
              <a:t>키</a:t>
            </a:r>
            <a:r>
              <a:rPr lang="en-US" altLang="ko-KR"/>
              <a:t>, </a:t>
            </a:r>
            <a:r>
              <a:rPr lang="ko-KR" altLang="en-US" b="1"/>
              <a:t>비밀번호</a:t>
            </a:r>
            <a:r>
              <a:rPr lang="en-US" altLang="ko-KR"/>
              <a:t>, </a:t>
            </a:r>
            <a:r>
              <a:rPr lang="ko-KR" altLang="en-US" b="1"/>
              <a:t>토큰</a:t>
            </a:r>
            <a:r>
              <a:rPr lang="ko-KR" altLang="en-US"/>
              <a:t> 같은 민감한 정보를 어떻게 안전하게 관리할까요</a:t>
            </a:r>
            <a:r>
              <a:rPr lang="en-US" altLang="ko-KR"/>
              <a:t>?</a:t>
            </a:r>
          </a:p>
          <a:p>
            <a:r>
              <a:rPr lang="ko-KR" altLang="en-US" b="1"/>
              <a:t>보안 체크리스트</a:t>
            </a:r>
            <a:r>
              <a:rPr lang="ko-KR" altLang="en-US"/>
              <a:t>를 함께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시크릿</a:t>
            </a:r>
            <a:r>
              <a:rPr lang="en-US" altLang="ko-KR" b="1"/>
              <a:t>/</a:t>
            </a:r>
            <a:r>
              <a:rPr lang="ko-KR" altLang="en-US" b="1"/>
              <a:t>보안 개요</a:t>
            </a:r>
          </a:p>
          <a:p>
            <a:r>
              <a:rPr lang="en-US" altLang="ko-KR" i="1"/>
              <a:t>"CI/CD </a:t>
            </a:r>
            <a:r>
              <a:rPr lang="ko-KR" altLang="en-US" i="1"/>
              <a:t>파이프라인에서 자격 증명과 토큰을 안전하게 관리하기 위한 보안 체크리스트입니다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시크릿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개요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다루는 민감 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(AWS, Azure, GCP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비밀번호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토큰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계정 자격 증명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NuGet/npm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레지스트리 토큰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잘못된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API_KEY: "sk-1234567890abcdef"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코드에 직접 입력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PASSWORD: "mypassword123"      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하드코딩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올바른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API_KEY: ${{ secrets.API_KEY }}   ← Secrets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참조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🔐 </a:t>
            </a:r>
            <a:r>
              <a:rPr lang="en-US" altLang="ko-KR" b="1"/>
              <a:t>GitHub Secrets </a:t>
            </a:r>
            <a:r>
              <a:rPr lang="ko-KR" altLang="en-US" b="1"/>
              <a:t>관리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리포지토리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 &gt; Secrets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시크릿을 설정하여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워크플로우에서 안전하게 참조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설정 경로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Repository → Settings → Secrets and variables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Actions → New repository secret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개발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환경별 시크릿 분리 및 환경별 승인 설정│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Environment: development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DB_PASSWORD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API_KEY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Environment: production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DB_PASSWORD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API_KEY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Required reviewers: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← 승인 필요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시크릿 순환 정책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정기적 토큰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교체 및 노출 시 즉시 갱신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90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일마다 정기 교체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노출 감지 시 즉시 교체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교체 이력 문서화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🛡️ 토큰 최소 권한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🛡️ 토큰 최소 권한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최소 권한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(Principle of Least Privilege)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필요한 최소 권한만 부여한 토큰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전용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다운로드만 → 읽기 권한만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필요 → 쓰기 권한 추가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리소스만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관리자 권한 → ❌ 피하기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서드파티 액션 검증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신뢰할 수 있는 소스의 액션만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토큰 접근 액션 철저 검토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안전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uses: actions/checkout@v3      (GitHub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uses: actions/setup-dotnet@v3  (GitHub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uses: unknown-user/some-action@v1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필요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검증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소스 코드 검토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다운로드 수 확인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고정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해시 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보안 처리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::add-mask::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민감 정보 로그 노출 방지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디버그 출력 제한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Mask sensitive data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run: echo "::add-mask::${{ secrets.API_KEY }}"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Secrets </a:t>
            </a:r>
            <a:r>
              <a:rPr lang="ko-KR" altLang="en-US" b="1"/>
              <a:t>사용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✅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시크릿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Deploy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push: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branches: [main]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deploy: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참조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Configure NuGet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nuget add source https://nuget.pkg.github.com/owner/index.json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--name github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--username ${{ github.actor }}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--password ${{ secrets.NUGET_TOKEN }}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--store-password-in-clear-text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변수로 전달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Deploy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env: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API_KEY: ${{ secrets.API_KEY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DB_CONNECTION: ${{ secrets.DB_CONNECTION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시크릿이 마스킹되어 로그에 표시되지 않음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./deploy.sh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패턴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--password ${{ secrets.NUGET_TOKEN }}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 변수로 전달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env: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API_KEY: ${{ secrets.API_KEY }}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./script.sh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$API_KEY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접근                  │  │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파일로 저장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인증서 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Create certificate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echo "${{ secrets.CERT_BASE64 }}" | base64 -d &gt; cert.pfx│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ℹ️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모범 사례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"GitHub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${{ secrets.SECRET_NAME }}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문법으로 시크릿 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시크릿을 직접 하드코딩하거나 커밋하지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모범 사례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 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${{ secrets.SECRET_NAME }}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참조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환경별 시크릿 분리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(dev/staging/prod)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정기적인 시크릿 로테이션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권한 원칙 적용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액션 버전 고정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.gitignore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민감 파일 추가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 말아야 할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하드코딩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커밋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echo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시크릿 출력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권한 부여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안 된 서드파티 액션 사용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시크릿을 로그에 노출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🔍 시크릿 노출 감지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GitHub Secret Scanning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git-secrets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 사용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pre-commit hook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검사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환경별 시크릿 설정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환경별 배포 워크플로우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Deploy to Environment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workflow_dispatch: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inputs: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environment: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description: 'Target environment'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required: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type: choice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options: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- development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- staging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- production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deploy: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environment: ${{ github.event.inputs.environment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Deploy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env: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 따라 다른 시크릿 사용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API_KEY: ${{ secrets.API_KEY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DB_HOST: ${{ secrets.DB_HOST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"Deploying to ${{ github.event.inputs.environment }}"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./deploy.sh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환경별 시크릿 구성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Secrets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공유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COMMON_API_KEY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Environment: development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DB_HOST: dev-db.example.com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API_KEY: dev-key-xxx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Environment: staging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DB_HOST: staging-db.example.com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API_KEY: staging-key-xxx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Environment: production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DB_HOST: prod-db.example.com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API_KEY: prod-key-xxx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Protection rules: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Required reviewers: 2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Wait timer: 30 minutes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체크리스트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체크리스트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리포지토리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완료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환경별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시크릿 순환 정책 수립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토큰 최소 권한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권한 원칙 적용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서드파티 액션 검증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로그 보안 처리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(::add-mask::)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추가 보안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Secret Scanning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활성화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Dependabot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업데이트 활성화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Protection Rules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CODEOWNERS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설정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**시크릿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보안** 체크리스트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리포지토리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순환 정책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**🛡️ 토큰 최소 권한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권한 원칙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서드파티 액션 검증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보안 처리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`${{ secrets.SECRET_NAME }}`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 시크릿을 직접 하드코딩하거나 커밋하지 마세요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병렬 테스트</a:t>
            </a:r>
            <a:r>
              <a:rPr lang="en-US" altLang="ko-KR" b="1"/>
              <a:t>/</a:t>
            </a:r>
            <a:r>
              <a:rPr lang="ko-KR" altLang="en-US" b="1"/>
              <a:t>샤딩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테스트가 많아지면 </a:t>
            </a:r>
            <a:r>
              <a:rPr lang="ko-KR" altLang="en-US" b="1"/>
              <a:t>실행 시간이 길어집니다</a:t>
            </a:r>
            <a:r>
              <a:rPr lang="en-US" altLang="ko-KR"/>
              <a:t>. </a:t>
            </a:r>
            <a:r>
              <a:rPr lang="ko-KR" altLang="en-US"/>
              <a:t>어떻게 하면 테스트를 </a:t>
            </a:r>
            <a:r>
              <a:rPr lang="ko-KR" altLang="en-US" b="1"/>
              <a:t>더 빠르게</a:t>
            </a:r>
            <a:r>
              <a:rPr lang="ko-KR" altLang="en-US"/>
              <a:t> 실행할 수 있을까요</a:t>
            </a:r>
            <a:r>
              <a:rPr lang="en-US" altLang="ko-KR"/>
              <a:t>?</a:t>
            </a:r>
          </a:p>
          <a:p>
            <a:r>
              <a:rPr lang="ko-KR" altLang="en-US" b="1"/>
              <a:t>병렬화</a:t>
            </a:r>
            <a:r>
              <a:rPr lang="ko-KR" altLang="en-US"/>
              <a:t>와 </a:t>
            </a:r>
            <a:r>
              <a:rPr lang="ko-KR" altLang="en-US" b="1"/>
              <a:t>샤딩</a:t>
            </a:r>
            <a:r>
              <a:rPr lang="ko-KR" altLang="en-US"/>
              <a:t>으로 </a:t>
            </a:r>
            <a:r>
              <a:rPr lang="en-US" altLang="ko-KR"/>
              <a:t>CI </a:t>
            </a:r>
            <a:r>
              <a:rPr lang="ko-KR" altLang="en-US"/>
              <a:t>파이프라인 시간을 단축하는 방법을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📦 테스트 샤딩 </a:t>
            </a:r>
            <a:r>
              <a:rPr lang="en-US" altLang="ko-KR" b="1"/>
              <a:t>(Sharding)</a:t>
            </a:r>
          </a:p>
          <a:p>
            <a:r>
              <a:rPr lang="en-US" altLang="ko-KR" i="1"/>
              <a:t>"</a:t>
            </a:r>
            <a:r>
              <a:rPr lang="ko-KR" altLang="en-US" i="1"/>
              <a:t>큰 테스트 묶음을 여러 샤드로 분할</a:t>
            </a:r>
            <a:r>
              <a:rPr lang="en-US" altLang="ko-KR" i="1"/>
              <a:t>. </a:t>
            </a:r>
            <a:r>
              <a:rPr lang="ko-KR" altLang="en-US" i="1"/>
              <a:t>각 샤드를 별도 머신</a:t>
            </a:r>
            <a:r>
              <a:rPr lang="en-US" altLang="ko-KR" i="1"/>
              <a:t>/</a:t>
            </a:r>
            <a:r>
              <a:rPr lang="ko-KR" altLang="en-US" i="1"/>
              <a:t>프로세스에서 실행</a:t>
            </a:r>
            <a:r>
              <a:rPr lang="en-US" altLang="ko-KR" i="1"/>
              <a:t>. </a:t>
            </a:r>
            <a:r>
              <a:rPr lang="ko-KR" altLang="en-US" i="1"/>
              <a:t>전체 </a:t>
            </a:r>
            <a:r>
              <a:rPr lang="en-US" altLang="ko-KR" i="1"/>
              <a:t>CI </a:t>
            </a:r>
            <a:r>
              <a:rPr lang="ko-KR" altLang="en-US" i="1"/>
              <a:t>파이프라인 시간 단축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📦 테스트 샤딩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(Sharding)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샤딩이란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큰 테스트 묶음을 여러 조각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분할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샤드를 별도 머신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프로세스에서 동시 실행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시간 단축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샤딩 없이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순차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1-100] ──────────────────────────────→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샤딩 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샤드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Shard 1: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1-33]   ────────→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Shard 2: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34-66]  ────────→  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Shard 3: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67-100] ────────→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30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분으로 단축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피드백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개발자 생산성 향상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🔀 분산 전략</a:t>
            </a:r>
          </a:p>
          <a:p>
            <a:r>
              <a:rPr lang="en-US" altLang="ko-KR" i="1"/>
              <a:t>"</a:t>
            </a:r>
            <a:r>
              <a:rPr lang="ko-KR" altLang="en-US" i="1"/>
              <a:t>실행 시간 기반 균등 분배</a:t>
            </a:r>
            <a:r>
              <a:rPr lang="en-US" altLang="ko-KR" i="1"/>
              <a:t>. xUnit: %assemblyName%.dll --list-tests NUnit: TestContext.Parameters["shard"]"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🔀 분산 전략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분배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수 기반 균등 분배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테스트 개수로 나눔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테스트마다 실행 시간이 다름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시간 기반 균등 분배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샤드의 총 실행 시간이 비슷하도록 분배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 실행 데이터 기반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목록 가져오기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%assemblyName%.dll --list-tests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테스트만 실행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 "FullyQualifiedName~Shard1"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코드에서 샤드 확인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 shard = TestContext.Parameters["shard"];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 NUnit.TestParameters="shard=1"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⚠️ </a:t>
            </a:r>
            <a:r>
              <a:rPr lang="en-US" altLang="ko-KR" b="1"/>
              <a:t>Flaky </a:t>
            </a:r>
            <a:r>
              <a:rPr lang="ko-KR" altLang="en-US" b="1"/>
              <a:t>테스트 관리</a:t>
            </a:r>
          </a:p>
          <a:p>
            <a:r>
              <a:rPr lang="en-US" altLang="ko-KR" i="1"/>
              <a:t>"</a:t>
            </a:r>
            <a:r>
              <a:rPr lang="ko-KR" altLang="en-US" i="1"/>
              <a:t>비결정적 테스트 식별 및 라벨링</a:t>
            </a:r>
            <a:r>
              <a:rPr lang="en-US" altLang="ko-KR" i="1"/>
              <a:t>. </a:t>
            </a:r>
            <a:r>
              <a:rPr lang="ko-KR" altLang="en-US" i="1"/>
              <a:t>재시도 전략</a:t>
            </a:r>
            <a:r>
              <a:rPr lang="en-US" altLang="ko-KR" i="1"/>
              <a:t>: [Retry(3)] </a:t>
            </a:r>
            <a:r>
              <a:rPr lang="ko-KR" altLang="en-US" i="1"/>
              <a:t>격리된 별도 실행 파이프라인 구성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⚠️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관리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코드에서 때로는 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때로는 실패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비결정적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(Non-deterministic)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시 더 자주 발생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리소스 의존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타이밍 이슈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(race condition)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서비스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순서 의존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관리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식별 및 라벨링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[Category("Flaky")]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SometimesFailingTest() { }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전략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(NUnit):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[Retry(3)]   //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번까지 재시도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FlakyNetworkTest() { }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격리된 파이프라인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안정적인 테스트만 메인 파이프라인에서 실행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 "Category!=Flaky"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#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테스트는 별도 파이프라인에서 실행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--filter "Category=Flaky"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⚡ 병렬 실행 최적화</a:t>
            </a:r>
          </a:p>
          <a:p>
            <a:r>
              <a:rPr lang="en-US" altLang="ko-KR" i="1"/>
              <a:t>"xUnit: [Collection("</a:t>
            </a:r>
            <a:r>
              <a:rPr lang="ko-KR" altLang="en-US" i="1"/>
              <a:t>이름</a:t>
            </a:r>
            <a:r>
              <a:rPr lang="en-US" altLang="ko-KR" i="1"/>
              <a:t>")] </a:t>
            </a:r>
            <a:r>
              <a:rPr lang="ko-KR" altLang="en-US" i="1"/>
              <a:t>격리 </a:t>
            </a:r>
            <a:r>
              <a:rPr lang="en-US" altLang="ko-KR" i="1"/>
              <a:t>NUnit: [Parallelizable], MaxCpuCount </a:t>
            </a:r>
            <a:r>
              <a:rPr lang="ko-KR" altLang="en-US" i="1"/>
              <a:t>공유 자원 충돌 회피 설계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⚡ 병렬 실행 최적화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클래스 단위 병렬 실행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Collection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순차 실행 그룹 지정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[Collection("Database")]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UserRepositoryTests { }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[Collection("Database")]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컬렉션 → 순차 실행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class OrderRepositoryTests { }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xunit.runner.json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"parallelizeTestCollections": true,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"maxParallelThreads": 4 }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NUnit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단위 병렬화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[Parallelizable(ParallelScope.Fixtures)]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MyTests { }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단위 병렬화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[Parallelizable(ParallelScope.All)]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IndependentTests { }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코어 수 지정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 NUnit.NumberOfTestWorkers=4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MaxCpuCount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dotnet test -maxcpucount:4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자원 충돌 회피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테스트에 고유한 데이터 사용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인메모리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경로에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포함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(Lock)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최소화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GitHub Actions</a:t>
            </a:r>
            <a:r>
              <a:rPr lang="ko-KR" altLang="en-US" b="1"/>
              <a:t>에서 샤딩 구현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.github/workflows/sharded-tests.yml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Sharded Tests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fail-fast: false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shard: [1, 2, 3, 4]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샤드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total-shards: [4]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 (Shard ${{ matrix.shard }})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테스트를 샤드 수로 나누어 실행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--filter "TestCategory!=Flaky"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NUnit.TestParameters="shard=${{ matrix.shard }};totalShards=${{ matrix.total-shards }}"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Results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actions/upload-artifact@v3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name: test-results-shard-${{ matrix.shard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path: TestResults/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취합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merge-results: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needs: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Download all results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actions/download-artifact@v3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Merge and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echo "Merging test results from all shards..."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병렬 실행 모범 사례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상태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리소스 접근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의존성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서비스 목킹을 통해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환경에서도 안정적인 병렬 테스트 실행을 확보합니다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병렬 실행 모범 사례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상태 격리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테스트는 독립적으로 실행 가능해야 함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SetUp/TearDown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상태 초기화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static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 사용 피하기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리소스 접근 관리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DB: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테스트별 고유 스키마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고유 경로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(Guid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동적 할당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의존성 제거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먼저 실행되어야 한다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❌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테스트가 필요한 데이터 직접 생성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서비스 목킹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지연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제거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일관된 응답 보장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**병렬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샤딩**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**테스트 샤딩**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분할하여 병렬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단축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**분산 전략**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시간 기반 균등 분배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관리**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[Retry(3)],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격리된 파이프라인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**병렬 실행 최적화**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Collection, Parallelizable, MaxCpuCount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병렬화는 머신 스펙과 테스트 특성에 따라 최적화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리소스 관리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의존성 제거가 필수입니다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실패 진단</a:t>
            </a:r>
            <a:r>
              <a:rPr lang="en-US" altLang="ko-KR" b="1"/>
              <a:t>/</a:t>
            </a:r>
            <a:r>
              <a:rPr lang="ko-KR" altLang="en-US" b="1"/>
              <a:t>로그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CI</a:t>
            </a:r>
            <a:r>
              <a:rPr lang="ko-KR" altLang="en-US"/>
              <a:t>에서 테스트가 실패했을 때</a:t>
            </a:r>
            <a:r>
              <a:rPr lang="en-US" altLang="ko-KR"/>
              <a:t>, </a:t>
            </a:r>
            <a:r>
              <a:rPr lang="ko-KR" altLang="en-US" b="1"/>
              <a:t>왜 실패했는지</a:t>
            </a:r>
            <a:r>
              <a:rPr lang="ko-KR" altLang="en-US"/>
              <a:t> 어떻게 파악할까요</a:t>
            </a:r>
            <a:r>
              <a:rPr lang="en-US" altLang="ko-KR"/>
              <a:t>? </a:t>
            </a:r>
            <a:r>
              <a:rPr lang="ko-KR" altLang="en-US"/>
              <a:t>특히 </a:t>
            </a:r>
            <a:r>
              <a:rPr lang="en-US" altLang="ko-KR" b="1"/>
              <a:t>Flaky </a:t>
            </a:r>
            <a:r>
              <a:rPr lang="ko-KR" altLang="en-US" b="1"/>
              <a:t>테스트</a:t>
            </a:r>
            <a:r>
              <a:rPr lang="ko-KR" altLang="en-US"/>
              <a:t>는 때로는 성공</a:t>
            </a:r>
            <a:r>
              <a:rPr lang="en-US" altLang="ko-KR"/>
              <a:t>, </a:t>
            </a:r>
            <a:r>
              <a:rPr lang="ko-KR" altLang="en-US"/>
              <a:t>때로는 실패해서 디버깅이 어렵습니다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로그 수집부터 </a:t>
            </a:r>
            <a:r>
              <a:rPr lang="en-US" altLang="ko-KR"/>
              <a:t>Flaky </a:t>
            </a:r>
            <a:r>
              <a:rPr lang="ko-KR" altLang="en-US"/>
              <a:t>테스트 관리까지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실패 진단 프로세스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로그 수집 및 실패 진단</a:t>
            </a:r>
            <a:r>
              <a:rPr lang="en-US" altLang="ko-KR" i="1"/>
              <a:t>, </a:t>
            </a:r>
            <a:r>
              <a:rPr lang="ko-KR" altLang="en-US" i="1"/>
              <a:t>플레이키</a:t>
            </a:r>
            <a:r>
              <a:rPr lang="en-US" altLang="ko-KR" i="1"/>
              <a:t>(Flaky) </a:t>
            </a:r>
            <a:r>
              <a:rPr lang="ko-KR" altLang="en-US" i="1"/>
              <a:t>테스트 관리 프로세스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실패 진단 프로세스 개요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  →   로그 수집   →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→   처리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감지              및 첨부          테스트 분석         테스트 처리│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┌─────────┐     ┌─────────┐     ┌─────────┐     ┌─────────┐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 │     │ 상세    │     │ 비결정적│     │ 체계적인│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테스트  │ →   │ 진단    │ →   │ 실패    │ →   │ 관리 및 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실패    │     │ 정보    │     │ 패턴    │     │ 개선    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발생    │     │ 수집    │     │ 식별    │     │         │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└─────────┘     └─────────┘     └─────────┘     └─────────┘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🔴 단계 </a:t>
            </a:r>
            <a:r>
              <a:rPr lang="en-US" altLang="ko-KR" b="1"/>
              <a:t>1: </a:t>
            </a:r>
            <a:r>
              <a:rPr lang="ko-KR" altLang="en-US" b="1"/>
              <a:t>테스트 실패 감지</a:t>
            </a:r>
          </a:p>
          <a:p>
            <a:r>
              <a:rPr lang="en-US" altLang="ko-KR" i="1"/>
              <a:t>"CI </a:t>
            </a:r>
            <a:r>
              <a:rPr lang="ko-KR" altLang="en-US" i="1"/>
              <a:t>파이프라인에서 테스트 실패 발생</a:t>
            </a:r>
            <a:r>
              <a:rPr lang="en-US" altLang="ko-KR" i="1"/>
              <a:t>. </a:t>
            </a:r>
            <a:r>
              <a:rPr lang="ko-KR" altLang="en-US" i="1"/>
              <a:t>타임스탬프</a:t>
            </a:r>
            <a:r>
              <a:rPr lang="en-US" altLang="ko-KR" i="1"/>
              <a:t>, </a:t>
            </a:r>
            <a:r>
              <a:rPr lang="ko-KR" altLang="en-US" i="1"/>
              <a:t>실행 환경</a:t>
            </a:r>
            <a:r>
              <a:rPr lang="en-US" altLang="ko-KR" i="1"/>
              <a:t>, </a:t>
            </a:r>
            <a:r>
              <a:rPr lang="ko-KR" altLang="en-US" i="1"/>
              <a:t>테스트 이름</a:t>
            </a:r>
            <a:r>
              <a:rPr lang="en-US" altLang="ko-KR" i="1"/>
              <a:t>, </a:t>
            </a:r>
            <a:r>
              <a:rPr lang="ko-KR" altLang="en-US" i="1"/>
              <a:t>예상</a:t>
            </a:r>
            <a:r>
              <a:rPr lang="en-US" altLang="ko-KR" i="1"/>
              <a:t>/</a:t>
            </a:r>
            <a:r>
              <a:rPr lang="ko-KR" altLang="en-US" i="1"/>
              <a:t>실제 결과 정보 캡처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🔴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감지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파이프라인에서 테스트 실패 발생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캡처해야 할 정보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📅 타임스탬프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2024-01-15 14:32:45 UTC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🖥️ 실행 환경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ubuntu-latest, .NET 8.0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📝 테스트 이름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OrderServiceTests.CreateOrder_...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예상 결과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100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결과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95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🔢 빌드 번호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#1234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🌿 브랜치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feature/new-order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GitHub Actions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 캡처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name: Run Tests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run: dotnet test --logger "trx;LogFileName=results.trx"│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continue-on-error: true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name: Check Test Results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if: always()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run: |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echo "Test failed at $(date)"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echo "Environment: ${{ runner.os }}"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단계 </a:t>
            </a:r>
            <a:r>
              <a:rPr lang="en-US" altLang="ko-KR" b="1"/>
              <a:t>2: </a:t>
            </a:r>
            <a:r>
              <a:rPr lang="ko-KR" altLang="en-US" b="1"/>
              <a:t>로그 수집 및 첨부</a:t>
            </a:r>
          </a:p>
          <a:p>
            <a:r>
              <a:rPr lang="en-US" altLang="ko-KR" i="1"/>
              <a:t>"</a:t>
            </a:r>
            <a:r>
              <a:rPr lang="ko-KR" altLang="en-US" i="1"/>
              <a:t>상세 진단 정보 수집</a:t>
            </a:r>
            <a:r>
              <a:rPr lang="en-US" altLang="ko-KR" i="1"/>
              <a:t>. </a:t>
            </a:r>
            <a:r>
              <a:rPr lang="ko-KR" altLang="en-US" i="1"/>
              <a:t>스택 트레이스 수집</a:t>
            </a:r>
            <a:r>
              <a:rPr lang="en-US" altLang="ko-KR" i="1"/>
              <a:t>, </a:t>
            </a:r>
            <a:r>
              <a:rPr lang="ko-KR" altLang="en-US" i="1"/>
              <a:t>테스트 타이밍 기록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수집 및 첨부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스택 트레이스 수집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System.InvalidOperationException: Order not found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at OrderService.GetOrder(Int32 id) in OrderService.cs:42│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at OrderServiceTests.GetOrder_WithInvalidId_Throws()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in OrderServiceTests.cs:128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⏱️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타이밍 기록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이름                              실행 시간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─────────────────────────────────────   ──────────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CreateOrder_ValidInput_ReturnsOrder     125ms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CreateOrder_InvalidInput_Throws         45ms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GetOrder_ExistingId_ReturnsOrder        5,234ms ⚠️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DeleteOrder_ValidId_Succeeds            89ms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- name: Upload Test Logs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if: always()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uses: actions/upload-artifact@v3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with: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name: test-logs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path: |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**/TestResults/*.trx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**/TestResults/*.html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🔍 단계 </a:t>
            </a:r>
            <a:r>
              <a:rPr lang="en-US" altLang="ko-KR" b="1"/>
              <a:t>3: Flaky </a:t>
            </a:r>
            <a:r>
              <a:rPr lang="ko-KR" altLang="en-US" b="1"/>
              <a:t>테스트 분석</a:t>
            </a:r>
          </a:p>
          <a:p>
            <a:r>
              <a:rPr lang="en-US" altLang="ko-KR" i="1"/>
              <a:t>"</a:t>
            </a:r>
            <a:r>
              <a:rPr lang="ko-KR" altLang="en-US" i="1"/>
              <a:t>비결정적 실패 패턴 식별</a:t>
            </a:r>
            <a:r>
              <a:rPr lang="en-US" altLang="ko-KR" i="1"/>
              <a:t>. </a:t>
            </a:r>
            <a:r>
              <a:rPr lang="ko-KR" altLang="en-US" i="1"/>
              <a:t>재실행 → 패턴 확인 → 플레이키 라벨링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🔍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분석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비결정적 실패 패턴 식별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재실행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테스트를 여러 번 실행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패턴 확인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❓ 패턴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Run 1: ✅ Pass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Run 2: ❌ Fail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코드인데 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Run 3: ✅ Pass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Run 4: ❌ Fail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Run 5: ✅ Pass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50%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🏷️ 플레이키 라벨링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[Category("Flaky")]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[Property("FlakyReason", "Race condition in DB access")]│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TestWithIntermittentFailure() { }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판단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코드에서 다른 결과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시간대에만 실패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환경에서만 실패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시에만 실패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⚡ 단계 </a:t>
            </a:r>
            <a:r>
              <a:rPr lang="en-US" altLang="ko-KR" b="1"/>
              <a:t>4: Flaky </a:t>
            </a:r>
            <a:r>
              <a:rPr lang="ko-KR" altLang="en-US" b="1"/>
              <a:t>테스트 처리</a:t>
            </a:r>
          </a:p>
          <a:p>
            <a:r>
              <a:rPr lang="en-US" altLang="ko-KR" i="1"/>
              <a:t>"</a:t>
            </a:r>
            <a:r>
              <a:rPr lang="ko-KR" altLang="en-US" i="1"/>
              <a:t>체계적인 관리 및 개선</a:t>
            </a:r>
            <a:r>
              <a:rPr lang="en-US" altLang="ko-KR" i="1"/>
              <a:t>. </a:t>
            </a:r>
            <a:r>
              <a:rPr lang="ko-KR" altLang="en-US" i="1"/>
              <a:t>우선순위 결정 → 재시도 전략 → 지속적 추적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⚡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4: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처리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우선순위 결정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(&gt;30%)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가끔 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(10-30%)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엣지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드물게 실패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(&lt;10%)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재시도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NUnit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[Retry(3)]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FlakyTest() { }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xUnit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[Theory]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[RetryFact(MaxRetries = 3)]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FlakyTest() { }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📈 지속적 추적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실패율 대시보드 구축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모니터링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정기적인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리뷰 회의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근본 원인 해결 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라벨 제거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🎯 </a:t>
            </a:r>
            <a:r>
              <a:rPr lang="en-US" altLang="ko-KR" b="1"/>
              <a:t>Flaky </a:t>
            </a:r>
            <a:r>
              <a:rPr lang="ko-KR" altLang="en-US" b="1"/>
              <a:t>테스트 진단 프로세스</a:t>
            </a:r>
          </a:p>
          <a:p>
            <a:r>
              <a:rPr lang="ko-KR" altLang="en-US"/>
              <a:t>슬라이드의 </a:t>
            </a:r>
            <a:r>
              <a:rPr lang="en-US" altLang="ko-KR" b="1"/>
              <a:t>Flaky </a:t>
            </a:r>
            <a:r>
              <a:rPr lang="ko-KR" altLang="en-US" b="1"/>
              <a:t>테스트 진단 프로세스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🎯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진단 프로세스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┌──────────┐   ┌──────────┐   ┌──────────┐   ┌──────────┐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❗실패   │ → │ 🔄 기록  │ → │ 🏷️ 라벨링│ → │ ❌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│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감지   │   │   분석   │   │          │   │   수정   │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└──────────┘   └──────────┘   └──────────┘   └──────────┘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이상       추적 시스템     전담팀 배정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재시도         등록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상세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감지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 실패 발생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및 환경 정보 수집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기록 분석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이상 재시도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동일 테스트 여러 번 실행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패턴 분석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여부 판단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라벨링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추적 시스템 등록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[Category("Flaky")]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 추가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이슈 트래커에 등록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원인 가설 기록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전담팀 배정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파이프라인에서 격리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근본 원인 분석 및 수정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 후 안정성 검증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워크플로우 예시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.github/workflows/test-with-diagnostics.yml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Tests with Diagnostics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ubuntu-latest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'8.0.x'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로깅과 함께 테스트 실행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Run Tests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id: test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--logger "trx;LogFileName=results.trx"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--logger "html;LogFileName=results.html"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--results-directory ./TestResults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--verbosity detailed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continue-on-error: true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파싱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Parse Test Results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if: always()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"### Test Results" &gt;&gt; $GITHUB_STEP_SUMMARY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if [ -f "./TestResults/results.trx" ]; then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실패한 테스트 추출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grep -i "failed" ./TestResults/results.trx &gt;&gt; $GITHUB_STEP_SUMMARY || true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아티팩트 업로드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Test Logs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if: always()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actions/upload-artifact@v3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name: test-diagnostics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path: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./TestResults/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/*.log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retention-days: 14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시 알림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Notify on Failure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if: steps.test.outcome == 'failure'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"::error::Tests failed! Check artifacts for details."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핵심 팁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"Flaky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테스트는 비결정적 특성으로 디버깅이 어렵습니다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자동화된 로깅과 패턴 분석으로 원인을 신속하게 파악하고 해결하세요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해결 팁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일반적인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원인과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타이밍 이슈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Thread.Sleep,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대기 부족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await,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명시적 대기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증가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상태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static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싱글톤 오염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테스트별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초기화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인메모리 대체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 의존성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먼저 실행되어야 함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테스트가 독립적으로 실행 가능하게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리소스 경쟁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원인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레코드 충돌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해결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고유 리소스 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동적 할당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**실패 진단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**테스트 실패 감지**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타임스탬프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캡처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📋 **로그 수집 및 첨부**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스택 트레이스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타이밍 기록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분석**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라벨링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4. 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테스트 처리**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지속적 추적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자동화된 로깅과 패턴 분석으로 원인을 신속하게 파악하세요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**워크플로우 예시</a:t>
            </a:r>
            <a:r>
              <a:rPr lang="en-US" altLang="ko-KR"/>
              <a:t>(yaml)**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배운 내용을 모두 종합한 </a:t>
            </a:r>
            <a:r>
              <a:rPr lang="ko-KR" altLang="en-US" b="1"/>
              <a:t>실전 워크플로우 파일</a:t>
            </a:r>
            <a:r>
              <a:rPr lang="ko-KR" altLang="en-US"/>
              <a:t>입니다</a:t>
            </a:r>
            <a:r>
              <a:rPr lang="en-US" altLang="ko-KR"/>
              <a:t>. GitHub Actions </a:t>
            </a:r>
            <a:r>
              <a:rPr lang="ko-KR" altLang="en-US"/>
              <a:t>워크플로우 파일의 </a:t>
            </a:r>
            <a:r>
              <a:rPr lang="ko-KR" altLang="en-US" b="1"/>
              <a:t>핵심 구성</a:t>
            </a:r>
            <a:r>
              <a:rPr lang="ko-KR" altLang="en-US"/>
              <a:t>을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워크플로우 개요</a:t>
            </a:r>
          </a:p>
          <a:p>
            <a:r>
              <a:rPr lang="en-US" altLang="ko-KR" i="1"/>
              <a:t>"GitHub Actions </a:t>
            </a:r>
            <a:r>
              <a:rPr lang="ko-KR" altLang="en-US" i="1"/>
              <a:t>워크플로우 파일의 핵심 구성 예시입니다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워크플로우 개요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파일 위치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.github/workflows/dotnet-tests.yml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환경에서 테스트 자동 실행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코드 커버리지 리포트 생성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아티팩트로 저장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커밋 발생 시 자동 실행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구성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(on)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전략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(strategy)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 및 테스트 단계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(steps)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📄 </a:t>
            </a:r>
            <a:r>
              <a:rPr lang="en-US" altLang="ko-KR" b="1"/>
              <a:t>dotnet-tests.yml </a:t>
            </a:r>
            <a:r>
              <a:rPr lang="ko-KR" altLang="en-US" b="1"/>
              <a:t>전체 코드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워크플로우 파일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.github/workflows/dotnet-tests.yml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CI/CD Pipeline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build-and-test: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${{ matrix.os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os: [ ubuntu-latest, windows-latest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dotnet-version: [ 8.0.x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체크아웃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.NET SDK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${{ matrix.dotnet-version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복원 및 빌드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restore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및 커버리지 수집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test --no-build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분석</a:t>
            </a:r>
            <a:r>
              <a:rPr lang="en-US" altLang="ko-KR" b="1"/>
              <a:t>: </a:t>
            </a:r>
            <a:r>
              <a:rPr lang="ko-KR" altLang="en-US" b="1"/>
              <a:t>기본 설정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CI/CD Pipeline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 이벤트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설정 분석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CI/CD Pipeline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탭에 표시되는 이름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식별용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push: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코드가 푸시될 때 실행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pull_request: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 시 실행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이벤트 모두에서 자동 실행됨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간단 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on: [push, pull_request]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상세 문법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push: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[main, develop]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pull_request: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[main]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분석</a:t>
            </a:r>
            <a:r>
              <a:rPr lang="en-US" altLang="ko-KR" b="1"/>
              <a:t>: Jobs</a:t>
            </a:r>
            <a:r>
              <a:rPr lang="ko-KR" altLang="en-US" b="1"/>
              <a:t>와 매트릭스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build-and-test: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${{ matrix.os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os: [ ubuntu-latest, windows-latest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dotnet-version: [ 8.0.x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Jobs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매트릭스 분석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build-and-test:        ← Job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runs-on: ${{ matrix.os }}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변수 참조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 matrix: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os: [ ubuntu-latest, windows-latest ]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[ 8.0.x ]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생성되는 조합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┌───────────────────┬─────────────────┐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ubuntu-latest     │ .NET 8.0        │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├───────────────────┼─────────────────┤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windows-latest    │ .NET 8.0        │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└───────────────────┴─────────────────┘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=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더 많은 버전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[ 6.0.x, 7.0.x, 8.0.x ]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→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조합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 OS × 3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분석</a:t>
            </a:r>
            <a:r>
              <a:rPr lang="en-US" altLang="ko-KR" b="1"/>
              <a:t>: Steps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체크아웃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.NET SDK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dotnet-version: ${{ matrix.dotnet-version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복원 및 빌드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restore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실행 및 커버리지 수집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test --no-build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Steps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체크아웃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uses: actions/checkout@v3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저장소 코드를 러너에 다운로드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거의 모든 워크플로우의 첫 단계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.NET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Setup .NET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actions/setup-dotnet@v3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dotnet-version: ${{ matrix.dotnet-version }}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지정된 버전의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SDK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매트릭스 변수로 버전 지정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복원 및 빌드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restore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build --no-restore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패키지 복원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프로젝트 빌드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복원 스킵으로 속도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및 커버리지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run: dotnet test --no-build --collect:"XPlat Code Coverage"│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빌드된 프로젝트로 테스트 실행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크로스 플랫폼 커버리지 수집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ℹ️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워크플로우는 멀티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환경에서 테스트를 자동 실행하고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리포트를 생성하여 아티팩트로 저장합니다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커밋 발생 시 자동으로 실행됩니다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."*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 요약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멀티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Ubuntu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동시 테스트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크로스 플랫폼 호환성 검증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자동 실행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Push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자동 실행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 시 자동 실행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커버리지 수집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XPlat Code Coverage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커버리지 데이터 수집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리포트 생성 가능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병렬 실행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환경 동시 실행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실행 시간 단축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확장</a:t>
            </a:r>
            <a:r>
              <a:rPr lang="en-US" altLang="ko-KR" b="1"/>
              <a:t>: </a:t>
            </a:r>
            <a:r>
              <a:rPr lang="ko-KR" altLang="en-US" b="1"/>
              <a:t>커버리지 리포트 추가</a:t>
            </a:r>
          </a:p>
          <a:p>
            <a:r>
              <a:rPr lang="en-US" altLang="ko-KR"/>
              <a:t>yaml</a:t>
            </a: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완전한 버전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포함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.NET CI/CD Pipeline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[push, pull_request]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build-and-test: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runs-on: ${{ matrix.os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os: [ ubuntu-latest, windows-latest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dotnet-version: [ 8.0.x 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name: Setup .NET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dotnet-version: ${{ matrix.dotnet-version }}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run: dotnet restore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build --no-restore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- run: dotnet test --no-build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생성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(Ubuntu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Generate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if: matrix.os == 'ubuntu-latest'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run: |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 -g dotnet-reportgenerator-globaltool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reportgenerator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-reports:"**/coverage.cobertura.xml" \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-targetdir:"coveragereport" \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-reporttypes:Html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업로드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Upload Coverage 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if: matrix.os == 'ubuntu-latest'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uses: actions/upload-artifact@v3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with: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name: coverage-report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path: coveragereport/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실행 결과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실행 결과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탭에서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.NET CI/CD Pipeline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─────────────────────────────────────────────────────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build-and-test (ubuntu-latest, 8.0.x)    2m 34s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build-and-test (windows-latest, 8.0.x)   3m 12s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Artifacts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📦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coverage-report                         [Download]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All checks have passed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build-and-test (ubuntu-latest, 8.0.x)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build-and-test (windows-latest, 8.0.x)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```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pPr rtl="0" latinLnBrk="0"/>
            <a:endParaRPr lang="en-US" altLang="ko-K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클로징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**워크플로우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(yaml)**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```yaml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name: .NET CI/CD Pipeline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이름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on: [push, pull_request]     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트리거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jobs: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build-and-test: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runs-on: ${{ matrix.os }}   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</a:t>
            </a:r>
            <a:r>
              <a:rPr lang="en-US" altLang="ko-K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strategy: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matrix: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  os: [ubuntu-latest, windows-latest]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  dotnet-version: [8.0.x]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steps: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- uses: actions/checkout@v3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- uses: actions/setup-dotnet@v3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- run: dotnet restore &amp;&amp;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build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   - run: dotnet test --collect:"XPlat Code Coverage"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```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**멀티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테스트 자동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수집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시 자동 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!**</a:t>
            </a: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자동화 요약</a:t>
            </a:r>
            <a:r>
              <a:rPr lang="en-US" altLang="ko-KR" b="1"/>
              <a:t>/</a:t>
            </a:r>
            <a:r>
              <a:rPr lang="ko-KR" altLang="en-US" b="1"/>
              <a:t>체크리스트</a:t>
            </a:r>
            <a:r>
              <a:rPr lang="ko-KR" altLang="en-US"/>
              <a:t>로 마무리하겠습니다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자동화 및 </a:t>
            </a:r>
            <a:r>
              <a:rPr lang="en-US" altLang="ko-KR"/>
              <a:t>CI/CD </a:t>
            </a:r>
            <a:r>
              <a:rPr lang="ko-KR" altLang="en-US"/>
              <a:t>파이프라인 구현을 위한 </a:t>
            </a:r>
            <a:r>
              <a:rPr lang="ko-KR" altLang="en-US" b="1"/>
              <a:t>필수 체크리스트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여러분의 프로젝트에 적용할 때 이 체크리스트를 활용하세요</a:t>
            </a:r>
            <a:r>
              <a:rPr lang="en-US" altLang="ko-KR"/>
              <a:t>!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체크리스트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자동화 및 </a:t>
            </a:r>
            <a:r>
              <a:rPr lang="en-US" altLang="ko-KR" i="1"/>
              <a:t>CI/CD </a:t>
            </a:r>
            <a:r>
              <a:rPr lang="ko-KR" altLang="en-US" i="1"/>
              <a:t>파이프라인 구현을 위한 필수 체크리스트입니다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자동화 체크리스트 개요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🔵 필수 구현 항목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(Must Have)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테스트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코드 커버리지 보고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품질 게이트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시크릿 보안 관리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🟢 권장 구현 항목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(Nice to Have)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 구성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아티팩트 업로드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상태 배지와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🔵 필수 구현 항목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🔵 필수 구현 항목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테스트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Request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 테스트 실행 및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머지 전 테스트 통과 확인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on: pull_request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 시 자동 실행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테스트 실패 시 머지 차단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코드 커버리지 보고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실행 후 커버리지 수집 및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보고서 생성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test --collect:"XPlat Code Coverage"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품질 게이트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커버리지 최소 기준 설정 및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미달 시 워크플로우 실패 구성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핵심 모듈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미달 시 빌드 실패 또는 경고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시크릿 보안 관리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토큰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 등을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Secrets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안전하게 관리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${{ secrets.SECRET_NAME }}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참조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절대 하드코딩 금지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🟢 권장 구현 항목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🟢 권장 구현 항목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매트릭스 빌드 구성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다양한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 조합에서의 매트릭스 테스트 실행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matrix: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os: [ubuntu-latest, windows-latest]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dotnet: [6.0.x, 8.0.x]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업로드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결과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보고서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파일 등의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아티팩트 저장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actions/upload-artifact@v3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with: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name: coverage-report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path: coveragereport/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☑️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배지와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파일에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상태 배지 및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자동 코멘트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shields.io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marocchino/sticky-pull-request-comment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자동화 구현 팁</a:t>
            </a:r>
          </a:p>
          <a:p>
            <a:r>
              <a:rPr lang="en-US" altLang="ko-KR" i="1"/>
              <a:t>"NuGet </a:t>
            </a:r>
            <a:r>
              <a:rPr lang="ko-KR" altLang="en-US" i="1"/>
              <a:t>패키지와 도구를 캐싱하여 파이프라인 실행 시간을 최대 </a:t>
            </a:r>
            <a:r>
              <a:rPr lang="en-US" altLang="ko-KR" i="1"/>
              <a:t>50% </a:t>
            </a:r>
            <a:r>
              <a:rPr lang="ko-KR" altLang="en-US" i="1"/>
              <a:t>단축하세요</a:t>
            </a:r>
            <a:r>
              <a:rPr lang="en-US" altLang="ko-KR" i="1"/>
              <a:t>. </a:t>
            </a:r>
            <a:r>
              <a:rPr lang="ko-KR" altLang="en-US" i="1"/>
              <a:t>가독성을 위해 워크플로우를 작업별로 분리하세요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💡 자동화 구현 팁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캐싱으로 속도 향상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Cache NuGet packages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uses: actions/cache@v3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with: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path: ~/.nuget/packages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key: nuget-${{ hashFiles('**/*.csproj') }}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restore-keys: nuget-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시간 단축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분리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.github/workflows/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ci.yml          #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coverage.yml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deploy.yml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배포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nightly.yml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야간 테스트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가독성 향상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 용이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조건부 실행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name: Deploy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if: github.ref == 'refs/heads/main'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run: ./deploy.sh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→ main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브랜치에서만 배포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완전한 체크리스트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완전 체크리스트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🔵 필수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(Must Have)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자동 테스트 실행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 실패 시 머지 차단 설정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커버리지 수집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(dotnet test --collect)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(ReportGenerator)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게이트 설정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커버리지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관리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(GitHub Secrets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권장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(Nice to Have)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업로드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README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추가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코멘트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NuGet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캐싱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워크플로우 분리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🔶 고급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(Advanced)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샤딩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병렬화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관리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커버리지 추이 추적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환경별 배포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(dev/staging/prod)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롤백 전략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Part 8: CI/CD </a:t>
            </a:r>
            <a:r>
              <a:rPr lang="ko-KR" altLang="en-US" b="1"/>
              <a:t>자동화 </a:t>
            </a:r>
            <a:r>
              <a:rPr lang="en-US" altLang="ko-KR" b="1"/>
              <a:t>- </a:t>
            </a:r>
            <a:r>
              <a:rPr lang="ko-KR" altLang="en-US" b="1"/>
              <a:t>강의 완료</a:t>
            </a:r>
            <a:r>
              <a:rPr lang="en-US" altLang="ko-KR" b="1"/>
              <a:t>!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8: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강의 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배운 내용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개요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아티팩트 업로드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배지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Jenkins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7.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샤딩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진단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로그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예시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요약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체크리스트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핵심 키워드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GitHub Actions,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게이트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🚀 다음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체크리스트를 참고하여 프로젝트에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구축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수고하셨습니다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👏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자동화 요약</a:t>
            </a:r>
            <a:r>
              <a:rPr lang="en-US" altLang="ko-KR" b="1"/>
              <a:t>/</a:t>
            </a:r>
            <a:r>
              <a:rPr lang="ko-KR" altLang="en-US" b="1"/>
              <a:t>체크리스트</a:t>
            </a:r>
            <a:r>
              <a:rPr lang="en-US" altLang="ko-KR"/>
              <a:t>:</a:t>
            </a:r>
          </a:p>
          <a:p>
            <a:r>
              <a:rPr lang="ko-KR" altLang="en-US" b="1"/>
              <a:t>🔵 필수 구현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모든 </a:t>
            </a:r>
            <a:r>
              <a:rPr lang="en-US" altLang="ko-KR"/>
              <a:t>PR </a:t>
            </a:r>
            <a:r>
              <a:rPr lang="ko-KR" altLang="en-US"/>
              <a:t>자동 테스트</a:t>
            </a:r>
          </a:p>
          <a:p>
            <a:r>
              <a:rPr lang="ko-KR" altLang="en-US"/>
              <a:t>코드 커버리지 보고</a:t>
            </a:r>
          </a:p>
          <a:p>
            <a:r>
              <a:rPr lang="ko-KR" altLang="en-US"/>
              <a:t>품질 게이트</a:t>
            </a:r>
          </a:p>
          <a:p>
            <a:r>
              <a:rPr lang="ko-KR" altLang="en-US"/>
              <a:t>시크릿 보안 관리</a:t>
            </a:r>
          </a:p>
          <a:p>
            <a:r>
              <a:rPr lang="ko-KR" altLang="en-US" b="1"/>
              <a:t>🟢 권장 구현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매트릭스 빌드 구성</a:t>
            </a:r>
          </a:p>
          <a:p>
            <a:r>
              <a:rPr lang="ko-KR" altLang="en-US"/>
              <a:t>아티팩트 업로드</a:t>
            </a:r>
          </a:p>
          <a:p>
            <a:r>
              <a:rPr lang="ko-KR" altLang="en-US"/>
              <a:t>상태 배지와 </a:t>
            </a:r>
            <a:r>
              <a:rPr lang="en-US" altLang="ko-KR"/>
              <a:t>PR </a:t>
            </a:r>
            <a:r>
              <a:rPr lang="ko-KR" altLang="en-US"/>
              <a:t>코멘트</a:t>
            </a:r>
          </a:p>
          <a:p>
            <a:r>
              <a:rPr lang="en-US" altLang="ko-KR" b="1"/>
              <a:t>NuGet </a:t>
            </a:r>
            <a:r>
              <a:rPr lang="ko-KR" altLang="en-US" b="1"/>
              <a:t>캐싱으로 최대 </a:t>
            </a:r>
            <a:r>
              <a:rPr lang="en-US" altLang="ko-KR" b="1"/>
              <a:t>50% </a:t>
            </a:r>
            <a:r>
              <a:rPr lang="ko-KR" altLang="en-US" b="1"/>
              <a:t>시간 단축</a:t>
            </a:r>
            <a:r>
              <a:rPr lang="en-US" altLang="ko-KR"/>
              <a:t>, </a:t>
            </a:r>
            <a:r>
              <a:rPr lang="ko-KR" altLang="en-US" b="1"/>
              <a:t>워크플로우 분리로 가독성 향상</a:t>
            </a:r>
            <a:r>
              <a:rPr lang="en-US" altLang="ko-KR"/>
              <a:t>!</a:t>
            </a:r>
          </a:p>
          <a:p>
            <a:r>
              <a:rPr lang="ko-KR" altLang="en-US"/>
              <a:t>이제 여러분의 프로젝트에 </a:t>
            </a:r>
            <a:r>
              <a:rPr lang="en-US" altLang="ko-KR" b="1"/>
              <a:t>CI/CD </a:t>
            </a:r>
            <a:r>
              <a:rPr lang="ko-KR" altLang="en-US" b="1"/>
              <a:t>자동화</a:t>
            </a:r>
            <a:r>
              <a:rPr lang="ko-KR" altLang="en-US"/>
              <a:t>를 적용해보세요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이제 </a:t>
            </a:r>
            <a:r>
              <a:rPr lang="ko-KR" altLang="en-US" b="1"/>
              <a:t>팀별 종합 프로젝트</a:t>
            </a:r>
            <a:r>
              <a:rPr lang="ko-KR" altLang="en-US"/>
              <a:t>를 소개합니다</a:t>
            </a:r>
            <a:r>
              <a:rPr lang="en-US" altLang="ko-KR"/>
              <a:t>.</a:t>
            </a:r>
          </a:p>
          <a:p>
            <a:r>
              <a:rPr lang="ko-KR" altLang="en-US"/>
              <a:t>지금까지 배운 </a:t>
            </a:r>
            <a:r>
              <a:rPr lang="ko-KR" altLang="en-US" b="1"/>
              <a:t>단위테스트</a:t>
            </a:r>
            <a:r>
              <a:rPr lang="en-US" altLang="ko-KR" b="1"/>
              <a:t>, TDD, Moq, </a:t>
            </a:r>
            <a:r>
              <a:rPr lang="ko-KR" altLang="en-US" b="1"/>
              <a:t>자동화 기술</a:t>
            </a:r>
            <a:r>
              <a:rPr lang="ko-KR" altLang="en-US"/>
              <a:t>을 활용하여 </a:t>
            </a:r>
            <a:r>
              <a:rPr lang="ko-KR" altLang="en-US" b="1"/>
              <a:t>실무 환경에서 프로젝트</a:t>
            </a:r>
            <a:r>
              <a:rPr lang="ko-KR" altLang="en-US"/>
              <a:t>를 수행합니다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요구사항과 제출물을 함께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🎯 팀별 종합 프로젝트</a:t>
            </a:r>
          </a:p>
          <a:p>
            <a:r>
              <a:rPr lang="en-US" altLang="ko-KR" i="1"/>
              <a:t>"</a:t>
            </a:r>
            <a:r>
              <a:rPr lang="ko-KR" altLang="en-US" i="1"/>
              <a:t>단위테스트</a:t>
            </a:r>
            <a:r>
              <a:rPr lang="en-US" altLang="ko-KR" i="1"/>
              <a:t>, TDD, Moq, </a:t>
            </a:r>
            <a:r>
              <a:rPr lang="ko-KR" altLang="en-US" i="1"/>
              <a:t>자동화 기술을 활용하여 실무 환경에서 프로젝트를 수행합니다</a:t>
            </a:r>
            <a:r>
              <a:rPr lang="en-US" altLang="ko-KR" i="1"/>
              <a:t>. </a:t>
            </a:r>
            <a:r>
              <a:rPr lang="ko-KR" altLang="en-US" i="1"/>
              <a:t>팀별로 도메인을 선택하고 품질 높은 테스트 코드와 함께 개발합니다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🎯 팀별 종합 프로젝트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교육 내용의 실무 적용 경험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협업을 통한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실천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높은 테스트 코드 작성 역량 강화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진행 방식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구성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(3-4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선택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구축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발표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비기능 요구사항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제외하고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 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적용에 집중합니다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프로젝트 요구사항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프로젝트 요구사항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═══════════════════════════════════════════════════════════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기능적 요구사항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═══════════════════════════════════════════════════════════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선택한 도메인의 핵심 비즈니스 로직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핵심 로직의 단위테스트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기능은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커밋으로 증명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═══════════════════════════════════════════════════════════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기술적 요구사항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═══════════════════════════════════════════════════════════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활용한 외부 의존성 격리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GitHub Actions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구축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생성 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기능적 요구사항 상세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기능적 요구사항 상세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쇼핑몰 도메인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장바구니에 상품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쿠폰 적용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금액 계산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 확인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생성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핵심 로직에 테스트 작성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케이스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모두 커버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Arrange-Act-Assert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커밋으로 증명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메시지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"Red: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적용 테스트 추가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"Green: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적용 로직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)"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"Refactor: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쿠폰 적용 로직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기술적 요구사항 상세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기술적 요구사항 상세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Moq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활용한 외부 의존성 격리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IProductRepository Mock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IPaymentGateway Mock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IEmailService Mock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mockRepo = new Mock&lt;IProductRepository&gt;();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mockRepo.Setup(r =&gt; r.GetById(1))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.Returns(new Product { Id = 1, Price = 1000 });│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GitHub Actions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자동 테스트 실행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측정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(--collect:"XPlat Code Coverage")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실패 시 머지 차단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HTML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리포트 생성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아티팩트로 업로드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커버리지 수치 코멘트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📦 제출물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📦 제출물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리포지토리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소스코드 및 테스트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MyProject/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src/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└── MyProject/  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코드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tests/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└── MyProject.Tests/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.github/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└── workflows/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│       └── ci.yml          #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└──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       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설명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문서 및 팀 회고 문서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기능을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개발할지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회고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잘된 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개선할 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배운 점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데모 발표 자료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내외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소개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사례 시연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시연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확인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회고 공유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도메인 예시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도메인 선택 예시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💼 비즈니스 도메인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쇼핑몰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 관리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도서관 시스템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연체료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은행 시스템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입출금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이자 계산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호텔 예약 시스템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객실 예약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요금 계산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영화 예매 시스템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좌석 선택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주차장 관리 시스템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요금 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할인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팀에서 자유롭게 도메인 선택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평가 기준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평가 기준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항목                              배점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기능 구현 완성도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품질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히스토리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20%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15%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 및 문서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             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보너스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 구성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+5%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자동화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+5%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90%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+5%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팀별 종합 프로젝트</a:t>
            </a:r>
            <a:r>
              <a:rPr lang="ko-KR" altLang="en-US"/>
              <a:t> 요구사항</a:t>
            </a:r>
            <a:r>
              <a:rPr lang="en-US" altLang="ko-KR"/>
              <a:t>:</a:t>
            </a:r>
          </a:p>
          <a:p>
            <a:r>
              <a:rPr lang="ko-KR" altLang="en-US" b="1"/>
              <a:t>기능적 요구사항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핵심 비즈니스 로직 </a:t>
            </a:r>
            <a:r>
              <a:rPr lang="en-US" altLang="ko-KR"/>
              <a:t>5</a:t>
            </a:r>
            <a:r>
              <a:rPr lang="ko-KR" altLang="en-US"/>
              <a:t>개 이상 구현</a:t>
            </a:r>
          </a:p>
          <a:p>
            <a:r>
              <a:rPr lang="ko-KR" altLang="en-US"/>
              <a:t>코드 커버리지 </a:t>
            </a:r>
            <a:r>
              <a:rPr lang="en-US" altLang="ko-KR"/>
              <a:t>80% </a:t>
            </a:r>
            <a:r>
              <a:rPr lang="ko-KR" altLang="en-US"/>
              <a:t>이상</a:t>
            </a:r>
          </a:p>
          <a:p>
            <a:r>
              <a:rPr lang="en-US" altLang="ko-KR"/>
              <a:t>TDD</a:t>
            </a:r>
            <a:r>
              <a:rPr lang="ko-KR" altLang="en-US"/>
              <a:t>로 </a:t>
            </a:r>
            <a:r>
              <a:rPr lang="en-US" altLang="ko-KR"/>
              <a:t>2</a:t>
            </a:r>
            <a:r>
              <a:rPr lang="ko-KR" altLang="en-US"/>
              <a:t>개 이상 기능 개발 </a:t>
            </a:r>
            <a:r>
              <a:rPr lang="en-US" altLang="ko-KR"/>
              <a:t>(</a:t>
            </a:r>
            <a:r>
              <a:rPr lang="ko-KR" altLang="en-US"/>
              <a:t>커밋으로 증명</a:t>
            </a:r>
            <a:r>
              <a:rPr lang="en-US" altLang="ko-KR"/>
              <a:t>)</a:t>
            </a:r>
          </a:p>
          <a:p>
            <a:r>
              <a:rPr lang="ko-KR" altLang="en-US" b="1"/>
              <a:t>기술적 요구사항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Moq </a:t>
            </a:r>
            <a:r>
              <a:rPr lang="ko-KR" altLang="en-US"/>
              <a:t>활용한 외부 의존성 격리</a:t>
            </a:r>
          </a:p>
          <a:p>
            <a:r>
              <a:rPr lang="en-US" altLang="ko-KR"/>
              <a:t>GitHub Actions CI </a:t>
            </a:r>
            <a:r>
              <a:rPr lang="ko-KR" altLang="en-US"/>
              <a:t>파이프라인</a:t>
            </a:r>
          </a:p>
          <a:p>
            <a:r>
              <a:rPr lang="en-US" altLang="ko-KR"/>
              <a:t>ReportGenerator </a:t>
            </a:r>
            <a:r>
              <a:rPr lang="ko-KR" altLang="en-US"/>
              <a:t>커버리지 리포트</a:t>
            </a:r>
          </a:p>
          <a:p>
            <a:r>
              <a:rPr lang="ko-KR" altLang="en-US" b="1"/>
              <a:t>제출물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GitHub </a:t>
            </a:r>
            <a:r>
              <a:rPr lang="ko-KR" altLang="en-US"/>
              <a:t>리포지토리</a:t>
            </a:r>
            <a:r>
              <a:rPr lang="en-US" altLang="ko-KR"/>
              <a:t>, TDD </a:t>
            </a:r>
            <a:r>
              <a:rPr lang="ko-KR" altLang="en-US"/>
              <a:t>계획서</a:t>
            </a:r>
            <a:r>
              <a:rPr lang="en-US" altLang="ko-KR"/>
              <a:t>/</a:t>
            </a:r>
            <a:r>
              <a:rPr lang="ko-KR" altLang="en-US"/>
              <a:t>회고 문서</a:t>
            </a:r>
            <a:r>
              <a:rPr lang="en-US" altLang="ko-KR"/>
              <a:t>, 5</a:t>
            </a:r>
            <a:r>
              <a:rPr lang="ko-KR" altLang="en-US"/>
              <a:t>분 발표</a:t>
            </a:r>
          </a:p>
          <a:p>
            <a:r>
              <a:rPr lang="ko-KR" altLang="en-US"/>
              <a:t>팀별로 도메인을 선택하고</a:t>
            </a:r>
            <a:r>
              <a:rPr lang="en-US" altLang="ko-KR"/>
              <a:t>, </a:t>
            </a:r>
            <a:r>
              <a:rPr lang="ko-KR" altLang="en-US" b="1"/>
              <a:t>품질 높은 테스트 코드</a:t>
            </a:r>
            <a:r>
              <a:rPr lang="ko-KR" altLang="en-US"/>
              <a:t>와 함께 개발해보세요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아키텍처</a:t>
            </a:r>
            <a:r>
              <a:rPr lang="en-US" altLang="ko-KR" b="1"/>
              <a:t>/</a:t>
            </a:r>
            <a:r>
              <a:rPr lang="ko-KR" altLang="en-US" b="1"/>
              <a:t>폴더 구조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테스트하기 좋은 코드를 만들려면 </a:t>
            </a:r>
            <a:r>
              <a:rPr lang="ko-KR" altLang="en-US" b="1"/>
              <a:t>프로젝트 구조</a:t>
            </a:r>
            <a:r>
              <a:rPr lang="ko-KR" altLang="en-US"/>
              <a:t>가 중요합니다</a:t>
            </a:r>
            <a:r>
              <a:rPr lang="en-US" altLang="ko-KR"/>
              <a:t>. </a:t>
            </a:r>
            <a:r>
              <a:rPr lang="ko-KR" altLang="en-US" b="1"/>
              <a:t>관심사 분리</a:t>
            </a:r>
            <a:r>
              <a:rPr lang="ko-KR" altLang="en-US"/>
              <a:t>와 </a:t>
            </a:r>
            <a:r>
              <a:rPr lang="ko-KR" altLang="en-US" b="1"/>
              <a:t>의존성 역전 원칙</a:t>
            </a:r>
            <a:r>
              <a:rPr lang="ko-KR" altLang="en-US"/>
              <a:t>을 적용한 구조를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프로젝트 구조 설계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효율성을 위해 관심사 분리와 의존성 역전 원칙을 적용한 구조가 필요합니다</a:t>
            </a:r>
            <a:r>
              <a:rPr lang="en-US" altLang="ko-KR" i="1"/>
              <a:t>. </a:t>
            </a:r>
            <a:r>
              <a:rPr lang="ko-KR" altLang="en-US" i="1"/>
              <a:t>도메인 중심 설계로 비즈니스 로직과 인프라 코드를 분리하여 테스트 용이성을 높입니다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프로젝트 구조 설계 원칙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효율성 향상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관심사 분리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(Separation of Concerns)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역전 원칙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(DIP)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중심 설계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효과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 단독 테스트 가능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활용한 의존성 격리 용이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코드 변경 영향 범위 최소화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계층별 독립적 테스트 가능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</a:t>
            </a:r>
            <a:r>
              <a:rPr lang="ko-KR" altLang="en-US" b="1"/>
              <a:t>가지 핵심 원칙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 원칙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📦 소스와 테스트 분리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폴더와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폴더로 분리하고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].Tests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명명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🏛️ 도메인 중심 설계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Domain, Application, Infrastructure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계층으로 구분하여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책임을 명확히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🔌 인터페이스 기반 설계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의존성 주입을 위한 인터페이스를 활용해 테스트 용이성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과 컴포넌트 교체를 용이하게 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📦 소스와 테스트 분리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📦 소스와 테스트 분리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명명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프로젝트          테스트 프로젝트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  ─────────────────────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MyProject.Domain   →  MyProject.Domain.Tests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MyProject.Application → MyProject.Application.Tests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구분으로 관리 용이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코드가 배포에 포함되지 않음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팀원 간 일관된 구조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csproj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&lt;!-- MyProject.Domain.Tests.csproj --&gt;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&lt;ItemGroup&gt;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&lt;ProjectReference Include="..\..\src\MyProject.Domain\│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MyProject.Domain.csproj" /&gt;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&lt;/ItemGroup&gt;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🏛️ 도메인 중심 설계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🏛️ 도메인 중심 설계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(Clean Architecture)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┌─────────────────────────────┐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      Domain               │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(Entities, ValueObjects)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 없음│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└─────────────────────────────┘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▲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┌─────────────────────────────┐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           │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유스케이스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(Services, Interfaces)  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로직│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└─────────────────────────────┘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▲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┌─────────────────────────────┐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         │   ← DB, API,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(Repositories, External)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시스템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└─────────────────────────────┘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의존성 방향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Infrastructure → Application → Domain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바깥에서 안쪽으로만 의존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🔌 인터페이스 기반 설계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🔌 인터페이스 기반 설계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의존성 주입을 위한 인터페이스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Application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계층에 인터페이스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MyProject.Application/Interfaces/IOrderRepository.cs│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interface IOrderRepository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Order GetById(int id);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void Save(Order order);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Infrastructure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계층에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// MyProject.Infrastructure/Repositories/OrderRepository.cs│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OrderRepository : IOrderRepository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Order GetById(int id) { /*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조회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}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void Save(Order order) { /*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*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}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mockRepo = new Mock&lt;IOrderRepository&gt;();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mockRepo.Setup(r =&gt; r.GetById(1))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.Returns(new Order { Id = 1 });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인터페이스 덕분에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없이도 테스트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📁 프로젝트 폴더 구조 예시</a:t>
            </a:r>
          </a:p>
          <a:p>
            <a:r>
              <a:rPr lang="ko-KR" altLang="en-US"/>
              <a:t>슬라이드의 </a:t>
            </a:r>
            <a:r>
              <a:rPr lang="ko-KR" altLang="en-US" b="1"/>
              <a:t>프로젝트 폴더 구조 예시</a:t>
            </a:r>
            <a:r>
              <a:rPr lang="ko-KR" altLang="en-US"/>
              <a:t>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📁 프로젝트 폴더 구조 예시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Solution/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 src/                   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소스 코드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ProjectName.Domain/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계층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Entities/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├── ValueObjects/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└── Exceptions/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├── ProjectName.Application/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애플리케이션 계층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Interfaces/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├── Services/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└── DTOs/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│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└── ProjectName.Infrastructure/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계층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Repositories/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├── External/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└── Persistence/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 tests/                         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ProjectName.Domain.Tests/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├── ProjectName.Application.Tests/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└── ProjectName.Infrastructure.Tests/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계층별 테스트 전략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계층별 테스트 전략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단위 테스트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 없음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엔티티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밸류 오브젝트 로직 테스트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테스트하기 쉬움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활용한 단위 테스트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Repository,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서비스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로직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유스케이스 테스트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필수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계층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위주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인메모리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테스트 컨테이너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외부 시스템 연동 검증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테스트보다 느림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아키텍처</a:t>
            </a:r>
            <a:r>
              <a:rPr lang="en-US" altLang="ko-KR" b="1"/>
              <a:t>/</a:t>
            </a:r>
            <a:r>
              <a:rPr lang="ko-KR" altLang="en-US" b="1"/>
              <a:t>폴더 구조</a:t>
            </a:r>
            <a:r>
              <a:rPr lang="ko-KR" altLang="en-US"/>
              <a:t> </a:t>
            </a:r>
            <a:r>
              <a:rPr lang="en-US" altLang="ko-KR"/>
              <a:t>3</a:t>
            </a:r>
            <a:r>
              <a:rPr lang="ko-KR" altLang="en-US"/>
              <a:t>가지 핵심</a:t>
            </a:r>
            <a:r>
              <a:rPr lang="en-US" altLang="ko-KR"/>
              <a:t>:</a:t>
            </a:r>
          </a:p>
          <a:p>
            <a:r>
              <a:rPr lang="ko-KR" altLang="en-US"/>
              <a:t>📦 </a:t>
            </a:r>
            <a:r>
              <a:rPr lang="ko-KR" altLang="en-US" b="1"/>
              <a:t>소스와 테스트 분리</a:t>
            </a:r>
            <a:r>
              <a:rPr lang="ko-KR" altLang="en-US"/>
              <a:t> </a:t>
            </a:r>
            <a:r>
              <a:rPr lang="en-US" altLang="ko-KR"/>
              <a:t>- src/</a:t>
            </a:r>
            <a:r>
              <a:rPr lang="ko-KR" altLang="en-US"/>
              <a:t>와 </a:t>
            </a:r>
            <a:r>
              <a:rPr lang="en-US" altLang="ko-KR"/>
              <a:t>tests/, [</a:t>
            </a:r>
            <a:r>
              <a:rPr lang="ko-KR" altLang="en-US"/>
              <a:t>프로젝트</a:t>
            </a:r>
            <a:r>
              <a:rPr lang="en-US" altLang="ko-KR"/>
              <a:t>].Tests </a:t>
            </a:r>
            <a:r>
              <a:rPr lang="ko-KR" altLang="en-US"/>
              <a:t>명명</a:t>
            </a:r>
          </a:p>
          <a:p>
            <a:r>
              <a:rPr lang="ko-KR" altLang="en-US"/>
              <a:t>🏛️ </a:t>
            </a:r>
            <a:r>
              <a:rPr lang="ko-KR" altLang="en-US" b="1"/>
              <a:t>도메인 중심 설계</a:t>
            </a:r>
            <a:r>
              <a:rPr lang="ko-KR" altLang="en-US"/>
              <a:t> </a:t>
            </a:r>
            <a:r>
              <a:rPr lang="en-US" altLang="ko-KR"/>
              <a:t>- Domain, Application, Infrastructure </a:t>
            </a:r>
            <a:r>
              <a:rPr lang="ko-KR" altLang="en-US"/>
              <a:t>계층</a:t>
            </a:r>
          </a:p>
          <a:p>
            <a:r>
              <a:rPr lang="ko-KR" altLang="en-US"/>
              <a:t>🔌 </a:t>
            </a:r>
            <a:r>
              <a:rPr lang="ko-KR" altLang="en-US" b="1"/>
              <a:t>인터페이스 기반 설계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의존성 주입</a:t>
            </a:r>
            <a:r>
              <a:rPr lang="en-US" altLang="ko-KR"/>
              <a:t>, Mock </a:t>
            </a:r>
            <a:r>
              <a:rPr lang="ko-KR" altLang="en-US"/>
              <a:t>활용 용이</a:t>
            </a:r>
          </a:p>
          <a:p>
            <a:r>
              <a:rPr lang="ko-KR" altLang="en-US" b="1"/>
              <a:t>관심사 분리</a:t>
            </a:r>
            <a:r>
              <a:rPr lang="ko-KR" altLang="en-US"/>
              <a:t>와 </a:t>
            </a:r>
            <a:r>
              <a:rPr lang="ko-KR" altLang="en-US" b="1"/>
              <a:t>의존성 역전</a:t>
            </a:r>
            <a:r>
              <a:rPr lang="ko-KR" altLang="en-US"/>
              <a:t>으로 </a:t>
            </a:r>
            <a:r>
              <a:rPr lang="ko-KR" altLang="en-US" b="1"/>
              <a:t>테스트 용이성</a:t>
            </a:r>
            <a:r>
              <a:rPr lang="ko-KR" altLang="en-US"/>
              <a:t>을 높이세요</a:t>
            </a:r>
            <a:r>
              <a:rPr lang="en-US" altLang="ko-KR"/>
              <a:t>!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스프린트</a:t>
            </a:r>
            <a:r>
              <a:rPr lang="en-US" altLang="ko-KR" b="1"/>
              <a:t>/</a:t>
            </a:r>
            <a:r>
              <a:rPr lang="ko-KR" altLang="en-US" b="1"/>
              <a:t>역할 분담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팀별 종합 프로젝트를 효과적으로 진행하기 위한 </a:t>
            </a:r>
            <a:r>
              <a:rPr lang="ko-KR" altLang="en-US" b="1"/>
              <a:t>협업 프로세스</a:t>
            </a:r>
            <a:r>
              <a:rPr lang="ko-KR" altLang="en-US"/>
              <a:t>와 </a:t>
            </a:r>
            <a:r>
              <a:rPr lang="ko-KR" altLang="en-US" b="1"/>
              <a:t>역할 분담</a:t>
            </a:r>
            <a:r>
              <a:rPr lang="ko-KR" altLang="en-US"/>
              <a:t> 방법을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스프린트</a:t>
            </a:r>
            <a:r>
              <a:rPr lang="en-US" altLang="ko-KR" b="1"/>
              <a:t>/</a:t>
            </a:r>
            <a:r>
              <a:rPr lang="ko-KR" altLang="en-US" b="1"/>
              <a:t>역할 분담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팀별 종합 프로젝트를 위한 협업 프로세스와 역할 분담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스프린트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분담 개요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목표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일간의 효율적인 프로젝트 진행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역할 분담으로 협업 효율화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개발 프로세스 실천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전체 일정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Day 1          Day 1-2          Day 3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스프린트 계획 → 구현 단계    → 리뷰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회고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📅 </a:t>
            </a:r>
            <a:r>
              <a:rPr lang="en-US" altLang="ko-KR" b="1"/>
              <a:t>3</a:t>
            </a:r>
            <a:r>
              <a:rPr lang="ko-KR" altLang="en-US" b="1"/>
              <a:t>일 스프린트 일정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스프린트 일정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스프린트 계획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분석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분할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 Story → Task)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결정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배정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🟣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1-2: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단계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(Red)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몹 프로그래밍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(Refactor)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회고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커버리지 확인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회고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잘된 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 준비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일간 싱크업 </a:t>
            </a:r>
            <a:r>
              <a:rPr lang="en-US" altLang="ko-KR" b="1"/>
              <a:t>(15</a:t>
            </a:r>
            <a:r>
              <a:rPr lang="ko-KR" altLang="en-US" b="1"/>
              <a:t>분</a:t>
            </a:r>
            <a:r>
              <a:rPr lang="en-US" altLang="ko-KR" b="1"/>
              <a:t>)</a:t>
            </a:r>
          </a:p>
          <a:p>
            <a:r>
              <a:rPr lang="en-US" altLang="ko-KR" i="1"/>
              <a:t>"</a:t>
            </a:r>
            <a:r>
              <a:rPr lang="ko-KR" altLang="en-US" i="1"/>
              <a:t>진행 상황</a:t>
            </a:r>
            <a:r>
              <a:rPr lang="en-US" altLang="ko-KR" i="1"/>
              <a:t>, </a:t>
            </a:r>
            <a:r>
              <a:rPr lang="ko-KR" altLang="en-US" i="1"/>
              <a:t>차단 요소</a:t>
            </a:r>
            <a:r>
              <a:rPr lang="en-US" altLang="ko-KR" i="1"/>
              <a:t>, </a:t>
            </a:r>
            <a:r>
              <a:rPr lang="ko-KR" altLang="en-US" i="1"/>
              <a:t>계획 공유 </a:t>
            </a:r>
            <a:r>
              <a:rPr lang="en-US" altLang="ko-KR" i="1"/>
              <a:t>- </a:t>
            </a:r>
            <a:r>
              <a:rPr lang="ko-KR" altLang="en-US" i="1"/>
              <a:t>매일 오전 </a:t>
            </a:r>
            <a:r>
              <a:rPr lang="en-US" altLang="ko-KR" i="1"/>
              <a:t>10</a:t>
            </a:r>
            <a:r>
              <a:rPr lang="ko-KR" altLang="en-US" i="1"/>
              <a:t>시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일간 싱크업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매일 오전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어제 무엇을 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완료한 작업 공유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코드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무엇을 할 예정인가요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오늘의 목표 작업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개발할 기능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차단 요소가 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진행을 막는 문제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도움이 필요한 부분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이내로 간결하게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논의는 싱크업 후 별도 진행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👥 역할 분담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👥 역할 분담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👤 제품 책임자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 Owner)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요구사항 명확화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결정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여부 확인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인수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이해관계자 소통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💻 개발자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(Developer)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작성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(TDD)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참여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 담당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(QA/Test Lead)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전략 수립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검증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관리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품질 리뷰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한 사람이 여러 역할 겸임 가능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소규모 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역할별 주요 활동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역할별 주요 활동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1: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스프린트 계획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┌──────────────┬──────────────┬──────────────┐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제품 책임자  │ 개발자       │ 테스트 담당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├──────────────┼──────────────┼──────────────┤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요구사항 설명│ 기술 검토    │ 테스트 범위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우선순위 결정│ 작업 추정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셋업    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└──────────────┴──────────────┴──────────────┘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1-2: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단계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┌──────────────┬──────────────┬──────────────┐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제품 책임자  │ 개발자       │ 테스트 담당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├──────────────┼──────────────┼──────────────┤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질문 답변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    │ 커버리지 모니터링│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인수 테스트  │ 코드 리뷰    │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해결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└──────────────┴──────────────┴──────────────┘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 3: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회고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┌──────────────┬──────────────┬──────────────┐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제품 책임자  │ 개발자       │ 테스트 담당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├──────────────┼──────────────┼──────────────┤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완료 확인    │ 리팩토링     │ 최종 커버리지│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발표 리드    │ 문서화       │ 리포트 생성  │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└──────────────┴──────────────┴──────────────┘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협업 도구</a:t>
            </a:r>
          </a:p>
          <a:p>
            <a:r>
              <a:rPr lang="en-US" altLang="ko-KR" i="1"/>
              <a:t>"GitHub Issues - </a:t>
            </a:r>
            <a:r>
              <a:rPr lang="ko-KR" altLang="en-US" i="1"/>
              <a:t>작업 관리 </a:t>
            </a:r>
            <a:r>
              <a:rPr lang="en-US" altLang="ko-KR" i="1"/>
              <a:t>| PR - </a:t>
            </a:r>
            <a:r>
              <a:rPr lang="ko-KR" altLang="en-US" i="1"/>
              <a:t>코드 리뷰 </a:t>
            </a:r>
            <a:r>
              <a:rPr lang="en-US" altLang="ko-KR" i="1"/>
              <a:t>| Teams/Slack - </a:t>
            </a:r>
            <a:r>
              <a:rPr lang="ko-KR" altLang="en-US" i="1"/>
              <a:t>소통 </a:t>
            </a:r>
            <a:r>
              <a:rPr lang="en-US" altLang="ko-KR" i="1"/>
              <a:t>| </a:t>
            </a:r>
            <a:r>
              <a:rPr lang="ko-KR" altLang="en-US" i="1"/>
              <a:t>팀 빌드 서버 </a:t>
            </a:r>
            <a:r>
              <a:rPr lang="en-US" altLang="ko-KR" i="1"/>
              <a:t>- CI/CD"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🔧 협업 도구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📋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Issues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관리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User Story / Task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등록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담당자 배정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 상태 추적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 Do → In Progress → Done)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Labels: feature, bug, test, refactor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(Pull Request)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기능별 브랜치 생성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후 리뷰 요청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이상 승인 후 머지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통과 필수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Teams/Slack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소통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 소통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답변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 공유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🏗️ 팀 빌드 서버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CI/CD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GitHub Actions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테스트 실행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리포트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GitHub </a:t>
            </a:r>
            <a:r>
              <a:rPr lang="ko-KR" altLang="en-US" b="1"/>
              <a:t>워크플로우 예시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예시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브랜치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main ─────●─────●─────●─────●─────●─────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\     ↑     \     ↑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feature/   ─●───●       ─●───●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cart-add    PR#1        discount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1. Issue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 생성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(feature/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3.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 → Green → Refactor)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4.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실행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6.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머지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커밋 메시지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Red: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상품 추가 테스트 작성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상품 추가 기능 구현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서비스 리팩토링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스프린트</a:t>
            </a:r>
            <a:r>
              <a:rPr lang="en-US" altLang="ko-KR" b="1"/>
              <a:t>/</a:t>
            </a:r>
            <a:r>
              <a:rPr lang="ko-KR" altLang="en-US" b="1"/>
              <a:t>역할 분담</a:t>
            </a:r>
            <a:r>
              <a:rPr lang="en-US" altLang="ko-KR"/>
              <a:t>:</a:t>
            </a:r>
          </a:p>
          <a:p>
            <a:r>
              <a:rPr lang="ko-KR" altLang="en-US" b="1"/>
              <a:t>📅 </a:t>
            </a:r>
            <a:r>
              <a:rPr lang="en-US" altLang="ko-KR" b="1"/>
              <a:t>3</a:t>
            </a:r>
            <a:r>
              <a:rPr lang="ko-KR" altLang="en-US" b="1"/>
              <a:t>일 스프린트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Day 1: </a:t>
            </a:r>
            <a:r>
              <a:rPr lang="ko-KR" altLang="en-US"/>
              <a:t>스프린트 계획 </a:t>
            </a:r>
            <a:r>
              <a:rPr lang="en-US" altLang="ko-KR"/>
              <a:t>(</a:t>
            </a:r>
            <a:r>
              <a:rPr lang="ko-KR" altLang="en-US"/>
              <a:t>요구사항 분석</a:t>
            </a:r>
            <a:r>
              <a:rPr lang="en-US" altLang="ko-KR"/>
              <a:t>, </a:t>
            </a:r>
            <a:r>
              <a:rPr lang="ko-KR" altLang="en-US"/>
              <a:t>작업 분할</a:t>
            </a:r>
            <a:r>
              <a:rPr lang="en-US" altLang="ko-KR"/>
              <a:t>)</a:t>
            </a:r>
          </a:p>
          <a:p>
            <a:r>
              <a:rPr lang="en-US" altLang="ko-KR"/>
              <a:t>Day 1-2: </a:t>
            </a:r>
            <a:r>
              <a:rPr lang="ko-KR" altLang="en-US"/>
              <a:t>구현 단계 </a:t>
            </a:r>
            <a:r>
              <a:rPr lang="en-US" altLang="ko-KR"/>
              <a:t>(</a:t>
            </a:r>
            <a:r>
              <a:rPr lang="ko-KR" altLang="en-US"/>
              <a:t>테스트 작성</a:t>
            </a:r>
            <a:r>
              <a:rPr lang="en-US" altLang="ko-KR"/>
              <a:t>, </a:t>
            </a:r>
            <a:r>
              <a:rPr lang="ko-KR" altLang="en-US"/>
              <a:t>구현</a:t>
            </a:r>
            <a:r>
              <a:rPr lang="en-US" altLang="ko-KR"/>
              <a:t>, </a:t>
            </a:r>
            <a:r>
              <a:rPr lang="ko-KR" altLang="en-US"/>
              <a:t>페어링</a:t>
            </a:r>
            <a:r>
              <a:rPr lang="en-US" altLang="ko-KR"/>
              <a:t>)</a:t>
            </a:r>
          </a:p>
          <a:p>
            <a:r>
              <a:rPr lang="en-US" altLang="ko-KR"/>
              <a:t>Day 3: </a:t>
            </a:r>
            <a:r>
              <a:rPr lang="ko-KR" altLang="en-US"/>
              <a:t>리뷰</a:t>
            </a:r>
            <a:r>
              <a:rPr lang="en-US" altLang="ko-KR"/>
              <a:t>/</a:t>
            </a:r>
            <a:r>
              <a:rPr lang="ko-KR" altLang="en-US"/>
              <a:t>회고 </a:t>
            </a:r>
            <a:r>
              <a:rPr lang="en-US" altLang="ko-KR"/>
              <a:t>(</a:t>
            </a:r>
            <a:r>
              <a:rPr lang="ko-KR" altLang="en-US"/>
              <a:t>코드 리뷰</a:t>
            </a:r>
            <a:r>
              <a:rPr lang="en-US" altLang="ko-KR"/>
              <a:t>, </a:t>
            </a:r>
            <a:r>
              <a:rPr lang="ko-KR" altLang="en-US"/>
              <a:t>커버리지 확인</a:t>
            </a:r>
            <a:r>
              <a:rPr lang="en-US" altLang="ko-KR"/>
              <a:t>)</a:t>
            </a:r>
          </a:p>
          <a:p>
            <a:r>
              <a:rPr lang="ko-KR" altLang="en-US" b="1"/>
              <a:t>👥 역할 분담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제품 책임자</a:t>
            </a:r>
            <a:r>
              <a:rPr lang="en-US" altLang="ko-KR"/>
              <a:t>: </a:t>
            </a:r>
            <a:r>
              <a:rPr lang="ko-KR" altLang="en-US"/>
              <a:t>요구사항</a:t>
            </a:r>
            <a:r>
              <a:rPr lang="en-US" altLang="ko-KR"/>
              <a:t>, </a:t>
            </a:r>
            <a:r>
              <a:rPr lang="ko-KR" altLang="en-US"/>
              <a:t>우선순위</a:t>
            </a:r>
          </a:p>
          <a:p>
            <a:r>
              <a:rPr lang="ko-KR" altLang="en-US"/>
              <a:t>개발자</a:t>
            </a:r>
            <a:r>
              <a:rPr lang="en-US" altLang="ko-KR"/>
              <a:t>: TDD </a:t>
            </a:r>
            <a:r>
              <a:rPr lang="ko-KR" altLang="en-US"/>
              <a:t>개발</a:t>
            </a:r>
            <a:r>
              <a:rPr lang="en-US" altLang="ko-KR"/>
              <a:t>, </a:t>
            </a:r>
            <a:r>
              <a:rPr lang="ko-KR" altLang="en-US"/>
              <a:t>리팩토링</a:t>
            </a:r>
          </a:p>
          <a:p>
            <a:r>
              <a:rPr lang="ko-KR" altLang="en-US"/>
              <a:t>테스트 담당</a:t>
            </a:r>
            <a:r>
              <a:rPr lang="en-US" altLang="ko-KR"/>
              <a:t>: </a:t>
            </a:r>
            <a:r>
              <a:rPr lang="ko-KR" altLang="en-US"/>
              <a:t>커버리지</a:t>
            </a:r>
            <a:r>
              <a:rPr lang="en-US" altLang="ko-KR"/>
              <a:t>, CI </a:t>
            </a:r>
            <a:r>
              <a:rPr lang="ko-KR" altLang="en-US"/>
              <a:t>파이프라인</a:t>
            </a:r>
          </a:p>
          <a:p>
            <a:r>
              <a:rPr lang="ko-KR" altLang="en-US" b="1"/>
              <a:t>🔄 매일 오전 </a:t>
            </a:r>
            <a:r>
              <a:rPr lang="en-US" altLang="ko-KR" b="1"/>
              <a:t>10</a:t>
            </a:r>
            <a:r>
              <a:rPr lang="ko-KR" altLang="en-US" b="1"/>
              <a:t>시</a:t>
            </a:r>
            <a:r>
              <a:rPr lang="en-US" altLang="ko-KR" b="1"/>
              <a:t>, 15</a:t>
            </a:r>
            <a:r>
              <a:rPr lang="ko-KR" altLang="en-US" b="1"/>
              <a:t>분 싱크업으로 진행 상황 공유</a:t>
            </a:r>
            <a:r>
              <a:rPr lang="en-US" altLang="ko-KR" b="1"/>
              <a:t>!</a:t>
            </a:r>
            <a:endParaRPr lang="ko-KR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en-US" altLang="ko-KR" b="1"/>
              <a:t>TDD </a:t>
            </a:r>
            <a:r>
              <a:rPr lang="ko-KR" altLang="en-US" b="1"/>
              <a:t>계획서 템플릿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en-US" altLang="ko-KR"/>
              <a:t>TDD</a:t>
            </a:r>
            <a:r>
              <a:rPr lang="ko-KR" altLang="en-US"/>
              <a:t>를 효과적으로 수행하려면 </a:t>
            </a:r>
            <a:r>
              <a:rPr lang="ko-KR" altLang="en-US" b="1"/>
              <a:t>계획이 필요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어떤 테스트를 먼저 작성할지</a:t>
            </a:r>
            <a:r>
              <a:rPr lang="en-US" altLang="ko-KR"/>
              <a:t>, </a:t>
            </a:r>
            <a:r>
              <a:rPr lang="ko-KR" altLang="en-US"/>
              <a:t>완료 기준은 무엇인지 미리 정해두면 개발이 훨씬 수월해집니다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TDD </a:t>
            </a:r>
            <a:r>
              <a:rPr lang="ko-KR" altLang="en-US" b="1"/>
              <a:t>계획서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효과적인 </a:t>
            </a:r>
            <a:r>
              <a:rPr lang="en-US" altLang="ko-KR" i="1"/>
              <a:t>TDD </a:t>
            </a:r>
            <a:r>
              <a:rPr lang="ko-KR" altLang="en-US" i="1"/>
              <a:t>프로젝트 수행을 위한 계획서 템플릿입니다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개요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개발하기 전에 작성하는 테스트 계획 문서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테스트를 어떤 순서로 작성할지 미리 정의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방향을 명확히 하고 팀원 간 공유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리스트 작성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지정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가정 문서화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(DoD)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1️⃣ </a:t>
            </a:r>
            <a:r>
              <a:rPr lang="ko-KR" altLang="en-US" b="1"/>
              <a:t>테스트 리스트 작성</a:t>
            </a:r>
          </a:p>
          <a:p>
            <a:r>
              <a:rPr lang="en-US" altLang="ko-KR" i="1"/>
              <a:t>"</a:t>
            </a:r>
            <a:r>
              <a:rPr lang="ko-KR" altLang="en-US" i="1"/>
              <a:t>구현할 기능을 작은 단위로 분해하고</a:t>
            </a:r>
            <a:r>
              <a:rPr lang="en-US" altLang="ko-KR" i="1"/>
              <a:t>, </a:t>
            </a:r>
            <a:r>
              <a:rPr lang="ko-KR" altLang="en-US" i="1"/>
              <a:t>각 단위의 테스트 목록을 작성합니다</a:t>
            </a:r>
            <a:r>
              <a:rPr lang="en-US" altLang="ko-KR" i="1"/>
              <a:t>. </a:t>
            </a:r>
            <a:r>
              <a:rPr lang="ko-KR" altLang="en-US" i="1"/>
              <a:t>예</a:t>
            </a:r>
            <a:r>
              <a:rPr lang="en-US" altLang="ko-KR" i="1"/>
              <a:t>: '</a:t>
            </a:r>
            <a:r>
              <a:rPr lang="ko-KR" altLang="en-US" i="1"/>
              <a:t>빈 문자열 입력 시 </a:t>
            </a:r>
            <a:r>
              <a:rPr lang="en-US" altLang="ko-KR" i="1"/>
              <a:t>0 </a:t>
            </a:r>
            <a:r>
              <a:rPr lang="ko-KR" altLang="en-US" i="1"/>
              <a:t>반환</a:t>
            </a:r>
            <a:r>
              <a:rPr lang="en-US" altLang="ko-KR" i="1"/>
              <a:t>', '</a:t>
            </a:r>
            <a:r>
              <a:rPr lang="ko-KR" altLang="en-US" i="1"/>
              <a:t>단일 숫자 시 해당 값 반환</a:t>
            </a:r>
            <a:r>
              <a:rPr lang="en-US" altLang="ko-KR" i="1"/>
              <a:t>'"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리스트 작성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기능을 작은 단위로 분해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단위별 테스트 케이스 나열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구체적이고 명확한 시나리오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 계산기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 숫자 합계 계산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리스트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입력 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단일 숫자 시 해당 값 반환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쉼표로 구분된 두 숫자 합계 반환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줄바꿈으로 구분된 숫자도 처리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음수 입력 시 예외 발생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숫자는 무시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상품 관리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리스트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장바구니 생성 시 총액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상품 추가 시 총액에 반영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동일 상품 추가 시 수량 증가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상품 삭제 시 총액에서 차감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재고 초과 시 예외 발생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작성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Given-When-Then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구체화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케이스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모두 포함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테스트 포함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2️⃣ </a:t>
            </a:r>
            <a:r>
              <a:rPr lang="ko-KR" altLang="en-US" b="1"/>
              <a:t>우선순위 지정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케이스에 우선순위를 부여하고 단순한 케이스부터 시작합니다</a:t>
            </a:r>
            <a:r>
              <a:rPr lang="en-US" altLang="ko-KR" i="1"/>
              <a:t>. </a:t>
            </a:r>
            <a:r>
              <a:rPr lang="ko-KR" altLang="en-US" i="1"/>
              <a:t>우선순위</a:t>
            </a:r>
            <a:r>
              <a:rPr lang="en-US" altLang="ko-KR" i="1"/>
              <a:t>: High(</a:t>
            </a:r>
            <a:r>
              <a:rPr lang="ko-KR" altLang="en-US" i="1"/>
              <a:t>필수</a:t>
            </a:r>
            <a:r>
              <a:rPr lang="en-US" altLang="ko-KR" i="1"/>
              <a:t>), Medium(</a:t>
            </a:r>
            <a:r>
              <a:rPr lang="ko-KR" altLang="en-US" i="1"/>
              <a:t>중요</a:t>
            </a:r>
            <a:r>
              <a:rPr lang="en-US" altLang="ko-KR" i="1"/>
              <a:t>), Low(</a:t>
            </a:r>
            <a:r>
              <a:rPr lang="ko-KR" altLang="en-US" i="1"/>
              <a:t>선택</a:t>
            </a:r>
            <a:r>
              <a:rPr lang="en-US" altLang="ko-KR" i="1"/>
              <a:t>)"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지정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우선순위 분류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동작해야 하는 기능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개발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부가 기능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여유 있으면 개발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있으면 좋은 기능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엣지 케이스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남으면 개발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케이스                          우선순위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─────────────────────────────────     ────────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빈 문자열 입력 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     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숫자 시 해당 값 반환           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쉼표로 구분된 두 숫자 합계             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줄바꿈으로 구분된 숫자도 처리          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입력 시 예외 발생                 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1000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초과 숫자는 무시                  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케이스부터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쉬운 테스트 → 점점 복잡한 테스트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3️⃣ </a:t>
            </a:r>
            <a:r>
              <a:rPr lang="ko-KR" altLang="en-US" b="1"/>
              <a:t>리스크</a:t>
            </a:r>
            <a:r>
              <a:rPr lang="en-US" altLang="ko-KR" b="1"/>
              <a:t>/</a:t>
            </a:r>
            <a:r>
              <a:rPr lang="ko-KR" altLang="en-US" b="1"/>
              <a:t>가정 문서화</a:t>
            </a:r>
          </a:p>
          <a:p>
            <a:r>
              <a:rPr lang="en-US" altLang="ko-KR" i="1"/>
              <a:t>"</a:t>
            </a:r>
            <a:r>
              <a:rPr lang="ko-KR" altLang="en-US" i="1"/>
              <a:t>프로젝트 진행 시 예상되는 리스크와 가정 사항을 명시합니다</a:t>
            </a:r>
            <a:r>
              <a:rPr lang="en-US" altLang="ko-KR" i="1"/>
              <a:t>. </a:t>
            </a:r>
            <a:r>
              <a:rPr lang="ko-KR" altLang="en-US" i="1"/>
              <a:t>예</a:t>
            </a:r>
            <a:r>
              <a:rPr lang="en-US" altLang="ko-KR" i="1"/>
              <a:t>: '</a:t>
            </a:r>
            <a:r>
              <a:rPr lang="ko-KR" altLang="en-US" i="1"/>
              <a:t>외부 </a:t>
            </a:r>
            <a:r>
              <a:rPr lang="en-US" altLang="ko-KR" i="1"/>
              <a:t>API</a:t>
            </a:r>
            <a:r>
              <a:rPr lang="ko-KR" altLang="en-US" i="1"/>
              <a:t>는 </a:t>
            </a:r>
            <a:r>
              <a:rPr lang="en-US" altLang="ko-KR" i="1"/>
              <a:t>200ms </a:t>
            </a:r>
            <a:r>
              <a:rPr lang="ko-KR" altLang="en-US" i="1"/>
              <a:t>이내 응답</a:t>
            </a:r>
            <a:r>
              <a:rPr lang="en-US" altLang="ko-KR" i="1"/>
              <a:t>', '</a:t>
            </a:r>
            <a:r>
              <a:rPr lang="ko-KR" altLang="en-US" i="1"/>
              <a:t>유효 입력만 가정</a:t>
            </a:r>
            <a:r>
              <a:rPr lang="en-US" altLang="ko-KR" i="1"/>
              <a:t>'"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가정 문서화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가정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(Assumptions):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이내 응답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 입력만 가정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검증은 상위 계층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사용자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이하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DB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연결은 항상 가능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리스크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(Risks):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                      대응 방안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     ─────────────────────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격리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설정│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복잡한 할인 규칙            단계별 구현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팀원 일정 충돌              페어링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작업 재분배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요구사항 변경               스프린트 백로그 조정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문서화 이유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팀원 간 동일한 이해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나중에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이렇게 했지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방지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 조기 인식 및 대응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4️⃣ </a:t>
            </a:r>
            <a:r>
              <a:rPr lang="ko-KR" altLang="en-US" b="1"/>
              <a:t>완료 정의</a:t>
            </a:r>
            <a:r>
              <a:rPr lang="en-US" altLang="ko-KR" b="1"/>
              <a:t>(DoD) </a:t>
            </a:r>
            <a:r>
              <a:rPr lang="ko-KR" altLang="en-US" b="1"/>
              <a:t>설정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테스트가 </a:t>
            </a:r>
            <a:r>
              <a:rPr lang="en-US" altLang="ko-KR" i="1"/>
              <a:t>'</a:t>
            </a:r>
            <a:r>
              <a:rPr lang="ko-KR" altLang="en-US" i="1"/>
              <a:t>완료</a:t>
            </a:r>
            <a:r>
              <a:rPr lang="en-US" altLang="ko-KR" i="1"/>
              <a:t>'</a:t>
            </a:r>
            <a:r>
              <a:rPr lang="ko-KR" altLang="en-US" i="1"/>
              <a:t>된 기준을 명확히 설정합니다</a:t>
            </a:r>
            <a:r>
              <a:rPr lang="en-US" altLang="ko-KR" i="1"/>
              <a:t>. DoD </a:t>
            </a:r>
            <a:r>
              <a:rPr lang="ko-KR" altLang="en-US" i="1"/>
              <a:t>예시</a:t>
            </a:r>
            <a:r>
              <a:rPr lang="en-US" altLang="ko-KR" i="1"/>
              <a:t>: </a:t>
            </a:r>
            <a:r>
              <a:rPr lang="ko-KR" altLang="en-US" i="1"/>
              <a:t>모든 테스트 통과</a:t>
            </a:r>
            <a:r>
              <a:rPr lang="en-US" altLang="ko-KR" i="1"/>
              <a:t>, </a:t>
            </a:r>
            <a:r>
              <a:rPr lang="ko-KR" altLang="en-US" i="1"/>
              <a:t>코드 커버리지 </a:t>
            </a:r>
            <a:r>
              <a:rPr lang="en-US" altLang="ko-KR" i="1"/>
              <a:t>80%+, </a:t>
            </a:r>
            <a:r>
              <a:rPr lang="ko-KR" altLang="en-US" i="1"/>
              <a:t>리팩토링 완료</a:t>
            </a:r>
            <a:r>
              <a:rPr lang="en-US" altLang="ko-KR" i="1"/>
              <a:t>, </a:t>
            </a:r>
            <a:r>
              <a:rPr lang="ko-KR" altLang="en-US" i="1"/>
              <a:t>코드 리뷰 승인</a:t>
            </a:r>
            <a:r>
              <a:rPr lang="en-US" altLang="ko-KR" i="1"/>
              <a:t>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(DoD)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 (Definition of Done)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명확한 기준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모호함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보장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전체가 동의한 기준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체크리스트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 통과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리팩토링 완료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스멜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승인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통과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문서 업데이트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장바구니 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DoD]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 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 테스트 통과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총액 계산 테스트 통과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예외 케이스 테스트 포함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승인 완료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없으면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거의 다 됐어요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남음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명확히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모두가 같은 기준으로 판단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</a:t>
            </a:r>
            <a:r>
              <a:rPr lang="en-US" altLang="ko-KR" b="1"/>
              <a:t>TDD </a:t>
            </a:r>
            <a:r>
              <a:rPr lang="ko-KR" altLang="en-US" b="1"/>
              <a:t>계획서 팁</a:t>
            </a:r>
          </a:p>
          <a:p>
            <a:r>
              <a:rPr lang="en-US" altLang="ko-KR" i="1"/>
              <a:t>"TDD </a:t>
            </a:r>
            <a:r>
              <a:rPr lang="ko-KR" altLang="en-US" i="1"/>
              <a:t>계획서는 살아있는 문서입니다</a:t>
            </a:r>
            <a:r>
              <a:rPr lang="en-US" altLang="ko-KR" i="1"/>
              <a:t>. </a:t>
            </a:r>
            <a:r>
              <a:rPr lang="ko-KR" altLang="en-US" i="1"/>
              <a:t>개발 중 새로운 테스트 케이스가 발견되면 지속적으로 업데이트하세요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팁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살아있는 문서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중 새 테스트 케이스 발견 → 추가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테스트 발견 → 삭제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변경 → 조정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고정된 계약 ❌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진화하는 가이드 ✅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작성 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스프린트 계획 시 초안 작성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중 지속 업데이트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회고 시 완성본 정리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공유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GitHub Wiki / README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Notion / Confluence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공유 문서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TDD </a:t>
            </a:r>
            <a:r>
              <a:rPr lang="ko-KR" altLang="en-US" b="1"/>
              <a:t>계획서 템플릿 예시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 템플릿 예시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계획서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##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리스트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#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케이스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우선순위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|---|------------------------|---------|-------|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1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입력 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반환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High    | ✅    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2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숫자 반환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High    | ✅    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3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숫자 합계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High  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4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 예외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Medium  | ⬜    |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##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가정 사항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유효한 입력만 처리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 입력 길이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리스크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구분자 규칙 → 단계별 구현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정의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(DoD)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- [ 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테스트 통과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[ 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[ 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완료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상태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진행중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⬜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대기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TDD </a:t>
            </a:r>
            <a:r>
              <a:rPr lang="ko-KR" altLang="en-US" b="1"/>
              <a:t>계획서 템플릿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 요소</a:t>
            </a:r>
            <a:r>
              <a:rPr lang="en-US" altLang="ko-KR"/>
              <a:t>:</a:t>
            </a:r>
          </a:p>
          <a:p>
            <a:r>
              <a:rPr lang="ko-KR" altLang="en-US" b="1"/>
              <a:t>테스트 리스트 작성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기능을 작은 단위로 분해</a:t>
            </a:r>
            <a:r>
              <a:rPr lang="en-US" altLang="ko-KR"/>
              <a:t>, </a:t>
            </a:r>
            <a:r>
              <a:rPr lang="ko-KR" altLang="en-US"/>
              <a:t>테스트 목록 작성</a:t>
            </a:r>
          </a:p>
          <a:p>
            <a:r>
              <a:rPr lang="ko-KR" altLang="en-US" b="1"/>
              <a:t>우선순위 지정</a:t>
            </a:r>
            <a:r>
              <a:rPr lang="ko-KR" altLang="en-US"/>
              <a:t> </a:t>
            </a:r>
            <a:r>
              <a:rPr lang="en-US" altLang="ko-KR"/>
              <a:t>- High/Medium/Low, </a:t>
            </a:r>
            <a:r>
              <a:rPr lang="ko-KR" altLang="en-US"/>
              <a:t>단순한 것부터 시작</a:t>
            </a:r>
          </a:p>
          <a:p>
            <a:r>
              <a:rPr lang="ko-KR" altLang="en-US" b="1"/>
              <a:t>리스크</a:t>
            </a:r>
            <a:r>
              <a:rPr lang="en-US" altLang="ko-KR" b="1"/>
              <a:t>/</a:t>
            </a:r>
            <a:r>
              <a:rPr lang="ko-KR" altLang="en-US" b="1"/>
              <a:t>가정 문서화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예상 리스크와 가정 명시</a:t>
            </a:r>
          </a:p>
          <a:p>
            <a:r>
              <a:rPr lang="ko-KR" altLang="en-US" b="1"/>
              <a:t>완료 정의</a:t>
            </a:r>
            <a:r>
              <a:rPr lang="en-US" altLang="ko-KR" b="1"/>
              <a:t>(DoD) </a:t>
            </a:r>
            <a:r>
              <a:rPr lang="ko-KR" altLang="en-US" b="1"/>
              <a:t>설정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테스트 통과</a:t>
            </a:r>
            <a:r>
              <a:rPr lang="en-US" altLang="ko-KR"/>
              <a:t>, </a:t>
            </a:r>
            <a:r>
              <a:rPr lang="ko-KR" altLang="en-US"/>
              <a:t>커버리지</a:t>
            </a:r>
            <a:r>
              <a:rPr lang="en-US" altLang="ko-KR"/>
              <a:t>, </a:t>
            </a:r>
            <a:r>
              <a:rPr lang="ko-KR" altLang="en-US"/>
              <a:t>리뷰 기준</a:t>
            </a:r>
          </a:p>
          <a:p>
            <a:r>
              <a:rPr lang="ko-KR" altLang="en-US" b="1"/>
              <a:t>💡 </a:t>
            </a:r>
            <a:r>
              <a:rPr lang="en-US" altLang="ko-KR" b="1"/>
              <a:t>TDD </a:t>
            </a:r>
            <a:r>
              <a:rPr lang="ko-KR" altLang="en-US" b="1"/>
              <a:t>계획서는 살아있는 문서입니다</a:t>
            </a:r>
            <a:r>
              <a:rPr lang="en-US" altLang="ko-KR" b="1"/>
              <a:t>!</a:t>
            </a:r>
            <a:r>
              <a:rPr lang="ko-KR" altLang="en-US"/>
              <a:t> 개발 중 새로운 테스트 케이스가 발견되면 지속적으로 업데이트하세요</a:t>
            </a:r>
            <a:r>
              <a:rPr lang="en-US" altLang="ko-KR"/>
              <a:t>.</a:t>
            </a:r>
          </a:p>
          <a:p>
            <a:r>
              <a:rPr lang="ko-KR" altLang="en-US" i="1"/>
              <a:t>테스트 우선순위는 프로젝트 특성에 맞게 조정하세요</a:t>
            </a:r>
            <a:r>
              <a:rPr lang="en-US" altLang="ko-KR" i="1"/>
              <a:t>.</a:t>
            </a:r>
            <a:endParaRPr lang="ko-KR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코드 리뷰 체크리스트</a:t>
            </a:r>
            <a:r>
              <a:rPr lang="ko-KR" altLang="en-US"/>
              <a:t>를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테스트 코드도 </a:t>
            </a:r>
            <a:r>
              <a:rPr lang="ko-KR" altLang="en-US" b="1"/>
              <a:t>품질 검증이 필요</a:t>
            </a:r>
            <a:r>
              <a:rPr lang="ko-KR" altLang="en-US"/>
              <a:t>합니다</a:t>
            </a:r>
            <a:r>
              <a:rPr lang="en-US" altLang="ko-KR"/>
              <a:t>. </a:t>
            </a:r>
            <a:r>
              <a:rPr lang="ko-KR" altLang="en-US"/>
              <a:t>테스트 코드를 리뷰할 때 확인해야 할 </a:t>
            </a:r>
            <a:r>
              <a:rPr lang="ko-KR" altLang="en-US" b="1"/>
              <a:t>핵심 항목</a:t>
            </a:r>
            <a:r>
              <a:rPr lang="ko-KR" altLang="en-US"/>
              <a:t>들을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코드 리뷰 체크리스트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코드를 리뷰할 때 확인해야 할 핵심 품질 검증 항목입니다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코드 리뷰 체크리스트 개요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 테스트 코드 리뷰가 필요한가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유지보수 대상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테스트는 잘못된 자신감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전체의 테스트 품질 향상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두 가지 관점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👁️ 테스트 가독성 및 구조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읽기 쉽고 이해하기 쉬운가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일관된 패턴을 따르는가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테스트 품질 및 커버리지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의미 있는 검증을 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충분한 케이스를 커버하는가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👁️ 테스트 가독성 및 구조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👁️ 테스트 가독성 및 구조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테스트 명명 규칙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Method_Scenario_Expected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일관되게 작성되었는가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Test1(), TestAdd(), MyTest()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Add_TwoPositiveNumbers_ReturnsSum()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CreateOrder_EmptyCart_ThrowsException()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ApplyDiscount_ValidCoupon_ReducesTotalPrice()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Arrange-Act-Assert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구조가 명확히 분리되어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Add_TwoNumbers_ReturnsSum()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calculator = new Calculator();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result = calculator.Add(2, 3);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Assert.Equal(5, result);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 제거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설정 코드가 헬퍼 메서드나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Fixture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적절히 추출되었는가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 테스트마다 동일한 초기화 코드 반복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[SetUp]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헬퍼 메서드로 공통 로직 추출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테스트 픽스처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빌더 패턴 활용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🎯 테스트 품질 및 커버리지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🎯 테스트 품질 및 커버리지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경계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널값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최소값에 대한 테스트가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처리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컬렉션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문자열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-1, MAX_VALUE)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상황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존재하지 않는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의존성이 올바르게 격리되고 행위 검증이 적절한가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확인 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(DB, API)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설정이 테스트 의도를 반영하는가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Verify()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호출 여부를 적절히 검증하는가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사용은 아닌가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세부사항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?)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책임 테스트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하나의 테스트가 하나의 시나리오만 검증하는가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나쁜 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TestCart()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테스트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cart.Add(item);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Assert.Equal(1, cart.Count);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메서드에서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cart.Remove(item);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Assert.Equal(0, cart.Count);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하나의 시나리오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AddItem_ValidItem_IncreasesCount()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RemoveItem_ExistingItem_DecreasesCount()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전체 체크리스트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테스트 코드 리뷰 전체 체크리스트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👁️ 테스트 가독성 및 구조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테스트 명명 규칙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Method_Scenario_Expected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일관되게 작성되었는가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적용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Arrange-Act-Assert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구조가 명확히 분리되어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코드 제거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설정 코드가 헬퍼 메서드나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Fixture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적절히 추출되었는가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🎯 테스트 품질 및 커버리지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경계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널값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최소값에 대한 테스트가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의존성이 올바르게 격리되고 행위 검증이 적절한가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□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책임 테스트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하나의 테스트가 하나의 시나리오만 검증하는가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ℹ️ </a:t>
            </a:r>
            <a:r>
              <a:rPr lang="ko-KR" altLang="en-US" b="1"/>
              <a:t>리뷰 프로세스</a:t>
            </a:r>
          </a:p>
          <a:p>
            <a:r>
              <a:rPr lang="en-US" altLang="ko-KR" i="1"/>
              <a:t>"</a:t>
            </a:r>
            <a:r>
              <a:rPr lang="ko-KR" altLang="en-US" i="1"/>
              <a:t>검증 로직이 의도를 정확히 반영하는지</a:t>
            </a:r>
            <a:r>
              <a:rPr lang="en-US" altLang="ko-KR" i="1"/>
              <a:t>, </a:t>
            </a:r>
            <a:r>
              <a:rPr lang="ko-KR" altLang="en-US" i="1"/>
              <a:t>깨지기 쉬운 테스트가 아닌지 확인하세요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프로세스 팁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검증 로직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테스트 의도를 정확히 반영하는가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있는 검증인가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아닌지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메시지가 있는가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깨지기 쉬운 테스트 감지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주의해야 할 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세부사항에 의존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(private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순서에 의존하는 테스트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날짜에 의존하는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(DateTime.Now)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리소스에 의존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리뷰 시 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테스트가 실패하면 무엇이 잘못된 건지 알 수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시 이 테스트가 깨질 가능성은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이름만 보고 무엇을 검증하는지 알 수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팀원이 이 테스트를 이해할 수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리뷰 코멘트 예시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💬 리뷰 코멘트 예시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명명 규칙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"Test1() → CreateOrder_ValidInput_ReturnsOrderId()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변경하면 테스트 의도가 더 명확해질 것 같아요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"// Arrange, // Act, //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주석을 추가하면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구조가 더 명확해질 것 같습니다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"null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입력과 빈 문자열에 대한 테스트도 추가하면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좋을 것 같아요 👍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책임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테스트에서 추가와 삭제를 함께 검증하고 있네요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개의 테스트로 분리하면 실패 원인 파악이 쉬워요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코드 리뷰 체크리스트</a:t>
            </a:r>
            <a:r>
              <a:rPr lang="en-US" altLang="ko-KR"/>
              <a:t>:</a:t>
            </a:r>
          </a:p>
          <a:p>
            <a:r>
              <a:rPr lang="ko-KR" altLang="en-US" b="1"/>
              <a:t>👁️ 테스트 가독성 및 구조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테스트 명명 규칙 </a:t>
            </a:r>
            <a:r>
              <a:rPr lang="en-US" altLang="ko-KR"/>
              <a:t>(Method_Scenario_Expected)</a:t>
            </a:r>
          </a:p>
          <a:p>
            <a:r>
              <a:rPr lang="en-US" altLang="ko-KR"/>
              <a:t>AAA </a:t>
            </a:r>
            <a:r>
              <a:rPr lang="ko-KR" altLang="en-US"/>
              <a:t>패턴 적용 </a:t>
            </a:r>
            <a:r>
              <a:rPr lang="en-US" altLang="ko-KR"/>
              <a:t>(Arrange-Act-Assert)</a:t>
            </a:r>
          </a:p>
          <a:p>
            <a:r>
              <a:rPr lang="ko-KR" altLang="en-US"/>
              <a:t>중복 코드 제거 </a:t>
            </a:r>
            <a:r>
              <a:rPr lang="en-US" altLang="ko-KR"/>
              <a:t>(</a:t>
            </a:r>
            <a:r>
              <a:rPr lang="ko-KR" altLang="en-US"/>
              <a:t>헬퍼</a:t>
            </a:r>
            <a:r>
              <a:rPr lang="en-US" altLang="ko-KR"/>
              <a:t>, Fixture)</a:t>
            </a:r>
          </a:p>
          <a:p>
            <a:r>
              <a:rPr lang="ko-KR" altLang="en-US" b="1"/>
              <a:t>🎯 테스트 품질 및 커버리지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경계값</a:t>
            </a:r>
            <a:r>
              <a:rPr lang="en-US" altLang="ko-KR"/>
              <a:t>/</a:t>
            </a:r>
            <a:r>
              <a:rPr lang="ko-KR" altLang="en-US"/>
              <a:t>예외 케이스 </a:t>
            </a:r>
            <a:r>
              <a:rPr lang="en-US" altLang="ko-KR"/>
              <a:t>(null, </a:t>
            </a:r>
            <a:r>
              <a:rPr lang="ko-KR" altLang="en-US"/>
              <a:t>빈값</a:t>
            </a:r>
            <a:r>
              <a:rPr lang="en-US" altLang="ko-KR"/>
              <a:t>, </a:t>
            </a:r>
            <a:r>
              <a:rPr lang="ko-KR" altLang="en-US"/>
              <a:t>최대</a:t>
            </a:r>
            <a:r>
              <a:rPr lang="en-US" altLang="ko-KR"/>
              <a:t>/</a:t>
            </a:r>
            <a:r>
              <a:rPr lang="ko-KR" altLang="en-US"/>
              <a:t>최소</a:t>
            </a:r>
            <a:r>
              <a:rPr lang="en-US" altLang="ko-KR"/>
              <a:t>)</a:t>
            </a:r>
          </a:p>
          <a:p>
            <a:r>
              <a:rPr lang="ko-KR" altLang="en-US"/>
              <a:t>적절한 </a:t>
            </a:r>
            <a:r>
              <a:rPr lang="en-US" altLang="ko-KR"/>
              <a:t>Mock </a:t>
            </a:r>
            <a:r>
              <a:rPr lang="ko-KR" altLang="en-US"/>
              <a:t>사용 </a:t>
            </a:r>
            <a:r>
              <a:rPr lang="en-US" altLang="ko-KR"/>
              <a:t>(</a:t>
            </a:r>
            <a:r>
              <a:rPr lang="ko-KR" altLang="en-US"/>
              <a:t>의존성 격리</a:t>
            </a:r>
            <a:r>
              <a:rPr lang="en-US" altLang="ko-KR"/>
              <a:t>, </a:t>
            </a:r>
            <a:r>
              <a:rPr lang="ko-KR" altLang="en-US"/>
              <a:t>행위 검증</a:t>
            </a:r>
            <a:r>
              <a:rPr lang="en-US" altLang="ko-KR"/>
              <a:t>)</a:t>
            </a:r>
          </a:p>
          <a:p>
            <a:r>
              <a:rPr lang="ko-KR" altLang="en-US"/>
              <a:t>단일 책임 테스트 </a:t>
            </a:r>
            <a:r>
              <a:rPr lang="en-US" altLang="ko-KR"/>
              <a:t>(</a:t>
            </a:r>
            <a:r>
              <a:rPr lang="ko-KR" altLang="en-US"/>
              <a:t>하나의 시나리오만</a:t>
            </a:r>
            <a:r>
              <a:rPr lang="en-US" altLang="ko-KR"/>
              <a:t>)</a:t>
            </a:r>
          </a:p>
          <a:p>
            <a:r>
              <a:rPr lang="ko-KR" altLang="en-US" b="1"/>
              <a:t>💡 검증 로직이 의도를 정확히 반영하는지</a:t>
            </a:r>
            <a:r>
              <a:rPr lang="en-US" altLang="ko-KR" b="1"/>
              <a:t>, </a:t>
            </a:r>
            <a:r>
              <a:rPr lang="ko-KR" altLang="en-US" b="1"/>
              <a:t>깨지기 쉬운 테스트가 아닌지 확인하세요</a:t>
            </a:r>
            <a:r>
              <a:rPr lang="en-US" altLang="ko-KR" b="1"/>
              <a:t>!</a:t>
            </a:r>
            <a:endParaRPr lang="ko-KR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데모</a:t>
            </a:r>
            <a:r>
              <a:rPr lang="en-US" altLang="ko-KR" b="1"/>
              <a:t>/</a:t>
            </a:r>
            <a:r>
              <a:rPr lang="ko-KR" altLang="en-US" b="1"/>
              <a:t>평가 루브릭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팀별 프로젝트 발표와 평가 기준을 명확히 해두면 여러분이 </a:t>
            </a:r>
            <a:r>
              <a:rPr lang="ko-KR" altLang="en-US" b="1"/>
              <a:t>무엇에 집중해야 하는지</a:t>
            </a:r>
            <a:r>
              <a:rPr lang="ko-KR" altLang="en-US"/>
              <a:t> 알 수 있습니다</a:t>
            </a:r>
            <a:r>
              <a:rPr lang="en-US" altLang="ko-KR"/>
              <a:t>.</a:t>
            </a:r>
          </a:p>
          <a:p>
            <a:r>
              <a:rPr lang="en-US" altLang="ko-KR"/>
              <a:t>4</a:t>
            </a:r>
            <a:r>
              <a:rPr lang="ko-KR" altLang="en-US"/>
              <a:t>가지 평가 항목과 등급별 기준을 살펴보겠습니다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평가 루브릭 개요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평가 루브릭 개요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평가 항목 및 배점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기능 적합성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 품질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  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👥 협업 및 발표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합계 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🥇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 이상의 품질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🥈 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요구사항 충족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🔧 개선 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보완이 필요한 수준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📊 기능 적합성 </a:t>
            </a:r>
            <a:r>
              <a:rPr lang="en-US" altLang="ko-KR" b="1"/>
              <a:t>(30%)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📊 기능 적합성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(30%)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🥇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요구사항을 완벽히 구현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엣지 케이스까지 고려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핵심 기능 모두 동작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상황 처리 완벽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기능까지 구현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🥈 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요구사항 대부분 구현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일부 엣지케이스 누락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동작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 예외 처리 미흡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개선 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기능만 구현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중요 요구사항 일부 미구현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동작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시나리오 실패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✅ 테스트 코드 품질 </a:t>
            </a:r>
            <a:r>
              <a:rPr lang="en-US" altLang="ko-KR" b="1"/>
              <a:t>(40%)</a:t>
            </a:r>
          </a:p>
          <a:p>
            <a:r>
              <a:rPr lang="ko-KR" altLang="en-US"/>
              <a:t>가장 높은 배점</a:t>
            </a:r>
            <a:r>
              <a:rPr lang="en-US" altLang="ko-KR"/>
              <a:t>! </a:t>
            </a:r>
            <a:r>
              <a:rPr lang="ko-KR" altLang="en-US"/>
              <a:t>이 과정의 핵심입니다</a:t>
            </a:r>
            <a:r>
              <a:rPr lang="en-US" altLang="ko-KR"/>
              <a:t>.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✅ 테스트 코드 품질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(40%)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🥇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높은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(80%+)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경로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정상 케이스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모두 커버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경계값 테스트 포함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명명 규칙 일관적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적절히 활용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🥈 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(60-80%)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경로 테스트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60-80%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정상 케이스 커버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일부 예외 케이스 누락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개선 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낮은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 테스트 부재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문제점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미만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핵심 비즈니스 로직 테스트 없음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형식적인 테스트만 존재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</a:t>
            </a:r>
            <a:r>
              <a:rPr lang="en-US" altLang="ko-KR" b="1"/>
              <a:t>CI/CD </a:t>
            </a:r>
            <a:r>
              <a:rPr lang="ko-KR" altLang="en-US" b="1"/>
              <a:t>자동화 </a:t>
            </a:r>
            <a:r>
              <a:rPr lang="en-US" altLang="ko-KR" b="1"/>
              <a:t>(20%)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🔧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(20%)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🥇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완전한 자동화 구축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게이트 포함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완성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자동 테스트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커버리지 리포트 생성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품질 게이트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임계값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코멘트 자동화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🥈 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기본 자동 테스트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구성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Push/PR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테스트 실행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커버리지 리포트 없음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개선 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불완전한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수동 테스트 의존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문제점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미완성 또는 오류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자동 테스트 실행 안 됨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수동으로 테스트해야 함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👥 협업 및 발표 </a:t>
            </a:r>
            <a:r>
              <a:rPr lang="en-US" altLang="ko-KR" b="1"/>
              <a:t>(10%)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👥 협업 및 발표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(10%)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🥇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체계적 역할분담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코드리뷰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전문적 발표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데모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명확한 역할 분담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히스토리로 확인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코드 리뷰 흔적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발표 자료 품질 우수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과정 명확히 설명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질의응답 원활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🥈 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역할분담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이해가능한 발표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체크포인트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역할 분담 확인 가능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기본적인 발표 진행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코드 리뷰 흔적 부족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개선 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불명확한 역할분담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미흡한 발표준비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문제점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팀원만 작업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편중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 준비 부족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과정 설명 못함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ℹ️ </a:t>
            </a:r>
            <a:r>
              <a:rPr lang="ko-KR" altLang="en-US" b="1"/>
              <a:t>종합 평가</a:t>
            </a:r>
          </a:p>
          <a:p>
            <a:r>
              <a:rPr lang="en-US" altLang="ko-KR" i="1"/>
              <a:t>"90</a:t>
            </a:r>
            <a:r>
              <a:rPr lang="ko-KR" altLang="en-US" i="1"/>
              <a:t>점↑</a:t>
            </a:r>
            <a:r>
              <a:rPr lang="en-US" altLang="ko-KR" i="1"/>
              <a:t>: A+, 80-89: A, 70-79: B, 60-69: C, 60</a:t>
            </a:r>
            <a:r>
              <a:rPr lang="ko-KR" altLang="en-US" i="1"/>
              <a:t>점↓</a:t>
            </a:r>
            <a:r>
              <a:rPr lang="en-US" altLang="ko-KR" i="1"/>
              <a:t>: D </a:t>
            </a:r>
            <a:r>
              <a:rPr lang="ko-KR" altLang="en-US" i="1"/>
              <a:t>가산점</a:t>
            </a:r>
            <a:r>
              <a:rPr lang="en-US" altLang="ko-KR" i="1"/>
              <a:t>: TDD </a:t>
            </a:r>
            <a:r>
              <a:rPr lang="ko-KR" altLang="en-US" i="1"/>
              <a:t>완벽적용</a:t>
            </a:r>
            <a:r>
              <a:rPr lang="en-US" altLang="ko-KR" i="1"/>
              <a:t>(+5), </a:t>
            </a:r>
            <a:r>
              <a:rPr lang="ko-KR" altLang="en-US" i="1"/>
              <a:t>혁신도구</a:t>
            </a:r>
            <a:r>
              <a:rPr lang="en-US" altLang="ko-KR" i="1"/>
              <a:t>(+3), </a:t>
            </a:r>
            <a:r>
              <a:rPr lang="ko-KR" altLang="en-US" i="1"/>
              <a:t>코드품질</a:t>
            </a:r>
            <a:r>
              <a:rPr lang="en-US" altLang="ko-KR" i="1"/>
              <a:t>(+2)"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종합 평가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등급 기준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90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이상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A+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최우수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80-89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70-79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60-69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60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미만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미흡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가산점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🌟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완벽적용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(+5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Red-Green-Refactor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히스토리 명확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 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증명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🔧 혁신도구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(+3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코멘트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배지 추가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💎 코드품질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(+2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뛰어난 코드 품질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점수 계산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적합성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30% = 15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품질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40% = 20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20% =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협업 및 발표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10% =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─────────────────────────────────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소계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= 46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가산점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(TDD +5):           = 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─────────────────────────────────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총점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= 51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등급 환산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전체 루브릭 요약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전체 루브릭 요약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평가 항목      우수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개선필요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  ─────────────   ─────────────  ───────────────│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 적합성   모든 요구사항    핵심 요구사항   기본 기능만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(30%)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완벽히 구현      대부분 구현     중요 요구사항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엣지케이스 고려   일부 누락       일부 미구현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테스트 품질  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80%+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60-80%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60%↓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(40%)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경로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  주요 경로       핵심 테스트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테스트           테스트          부재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 완전한 자동화    기본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불완전한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(20%)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 게이트      파이프라인      수동 테스트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포함             기본 자동테스트  의존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협업 및 발표  체계적 역할분담   적절한 역할분담 불명확한 분담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(10%)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전문적 발표      이해가능한 발표 미흡한 준비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데모</a:t>
            </a:r>
            <a:r>
              <a:rPr lang="en-US" altLang="ko-KR" b="1"/>
              <a:t>/</a:t>
            </a:r>
            <a:r>
              <a:rPr lang="ko-KR" altLang="en-US" b="1"/>
              <a:t>평가 루브릭</a:t>
            </a:r>
            <a:r>
              <a:rPr lang="en-US" altLang="ko-KR"/>
              <a:t>:</a:t>
            </a:r>
          </a:p>
          <a:p>
            <a:r>
              <a:rPr lang="en-US" altLang="ko-KR" b="1"/>
              <a:t>4</a:t>
            </a:r>
            <a:r>
              <a:rPr lang="ko-KR" altLang="en-US" b="1"/>
              <a:t>가지 평가 항목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📊 기능 적합성 </a:t>
            </a:r>
            <a:r>
              <a:rPr lang="en-US" altLang="ko-KR"/>
              <a:t>(30%) - </a:t>
            </a:r>
            <a:r>
              <a:rPr lang="ko-KR" altLang="en-US"/>
              <a:t>요구사항 구현 완성도</a:t>
            </a:r>
          </a:p>
          <a:p>
            <a:r>
              <a:rPr lang="ko-KR" altLang="en-US"/>
              <a:t>✅ 테스트 코드 품질 </a:t>
            </a:r>
            <a:r>
              <a:rPr lang="en-US" altLang="ko-KR"/>
              <a:t>(40%) - </a:t>
            </a:r>
            <a:r>
              <a:rPr lang="ko-KR" altLang="en-US"/>
              <a:t>커버리지</a:t>
            </a:r>
            <a:r>
              <a:rPr lang="en-US" altLang="ko-KR"/>
              <a:t>, </a:t>
            </a:r>
            <a:r>
              <a:rPr lang="ko-KR" altLang="en-US"/>
              <a:t>테스트 품질 </a:t>
            </a:r>
            <a:r>
              <a:rPr lang="ko-KR" altLang="en-US" b="1"/>
              <a:t>← 가장 중요</a:t>
            </a:r>
            <a:r>
              <a:rPr lang="en-US" altLang="ko-KR" b="1"/>
              <a:t>!</a:t>
            </a:r>
            <a:endParaRPr lang="ko-KR" altLang="en-US"/>
          </a:p>
          <a:p>
            <a:r>
              <a:rPr lang="ko-KR" altLang="en-US"/>
              <a:t>🔧 </a:t>
            </a:r>
            <a:r>
              <a:rPr lang="en-US" altLang="ko-KR"/>
              <a:t>CI/CD </a:t>
            </a:r>
            <a:r>
              <a:rPr lang="ko-KR" altLang="en-US"/>
              <a:t>자동화 </a:t>
            </a:r>
            <a:r>
              <a:rPr lang="en-US" altLang="ko-KR"/>
              <a:t>(20%) - </a:t>
            </a:r>
            <a:r>
              <a:rPr lang="ko-KR" altLang="en-US"/>
              <a:t>파이프라인 완성도</a:t>
            </a:r>
          </a:p>
          <a:p>
            <a:r>
              <a:rPr lang="ko-KR" altLang="en-US"/>
              <a:t>👥 협업 및 발표 </a:t>
            </a:r>
            <a:r>
              <a:rPr lang="en-US" altLang="ko-KR"/>
              <a:t>(10%) - </a:t>
            </a:r>
            <a:r>
              <a:rPr lang="ko-KR" altLang="en-US"/>
              <a:t>역할분담</a:t>
            </a:r>
            <a:r>
              <a:rPr lang="en-US" altLang="ko-KR"/>
              <a:t>, </a:t>
            </a:r>
            <a:r>
              <a:rPr lang="ko-KR" altLang="en-US"/>
              <a:t>발표 품질</a:t>
            </a:r>
          </a:p>
          <a:p>
            <a:r>
              <a:rPr lang="ko-KR" altLang="en-US" b="1"/>
              <a:t>등급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90↑: A+, 80-89: A, 70-79: B, 60-69: C</a:t>
            </a:r>
          </a:p>
          <a:p>
            <a:r>
              <a:rPr lang="ko-KR" altLang="en-US" b="1"/>
              <a:t>가산점</a:t>
            </a:r>
            <a:r>
              <a:rPr lang="en-US" altLang="ko-KR" b="1"/>
              <a:t>:</a:t>
            </a:r>
            <a:r>
              <a:rPr lang="ko-KR" altLang="en-US"/>
              <a:t> </a:t>
            </a:r>
            <a:r>
              <a:rPr lang="en-US" altLang="ko-KR"/>
              <a:t>TDD </a:t>
            </a:r>
            <a:r>
              <a:rPr lang="ko-KR" altLang="en-US"/>
              <a:t>완벽적용</a:t>
            </a:r>
            <a:r>
              <a:rPr lang="en-US" altLang="ko-KR"/>
              <a:t>(+5), </a:t>
            </a:r>
            <a:r>
              <a:rPr lang="ko-KR" altLang="en-US"/>
              <a:t>혁신도구</a:t>
            </a:r>
            <a:r>
              <a:rPr lang="en-US" altLang="ko-KR"/>
              <a:t>(+3), </a:t>
            </a:r>
            <a:r>
              <a:rPr lang="ko-KR" altLang="en-US"/>
              <a:t>코드품질</a:t>
            </a:r>
            <a:r>
              <a:rPr lang="en-US" altLang="ko-KR"/>
              <a:t>(+2)</a:t>
            </a:r>
          </a:p>
          <a:p>
            <a:r>
              <a:rPr lang="ko-KR" altLang="en-US" b="1"/>
              <a:t>테스트 코드 품질에 집중하세요</a:t>
            </a:r>
            <a:r>
              <a:rPr lang="en-US" altLang="ko-KR" b="1"/>
              <a:t>!</a:t>
            </a:r>
            <a:r>
              <a:rPr lang="ko-KR" altLang="en-US"/>
              <a:t> </a:t>
            </a:r>
            <a:r>
              <a:rPr lang="en-US" altLang="ko-KR"/>
              <a:t>40%</a:t>
            </a:r>
            <a:r>
              <a:rPr lang="ko-KR" altLang="en-US"/>
              <a:t>로 가장 높은 배점입니다</a:t>
            </a:r>
            <a:r>
              <a:rPr lang="en-US" altLang="ko-KR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회고</a:t>
            </a:r>
            <a:r>
              <a:rPr lang="en-US" altLang="ko-KR" b="1"/>
              <a:t>/</a:t>
            </a:r>
            <a:r>
              <a:rPr lang="ko-KR" altLang="en-US" b="1"/>
              <a:t>배운 점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프로젝트가 끝나면 </a:t>
            </a:r>
            <a:r>
              <a:rPr lang="ko-KR" altLang="en-US" b="1"/>
              <a:t>무엇을 잘했고</a:t>
            </a:r>
            <a:r>
              <a:rPr lang="en-US" altLang="ko-KR" b="1"/>
              <a:t>, </a:t>
            </a:r>
            <a:r>
              <a:rPr lang="ko-KR" altLang="en-US" b="1"/>
              <a:t>무엇을 개선해야 하는지</a:t>
            </a:r>
            <a:r>
              <a:rPr lang="ko-KR" altLang="en-US"/>
              <a:t> 돌아보는 것이 중요합니다</a:t>
            </a:r>
            <a:r>
              <a:rPr lang="en-US" altLang="ko-KR"/>
              <a:t>. </a:t>
            </a:r>
            <a:r>
              <a:rPr lang="ko-KR" altLang="en-US"/>
              <a:t>효과적인 </a:t>
            </a:r>
            <a:r>
              <a:rPr lang="ko-KR" altLang="en-US" b="1"/>
              <a:t>피드백 사이클</a:t>
            </a:r>
            <a:r>
              <a:rPr lang="ko-KR" altLang="en-US"/>
              <a:t>을 구축하는 방법을 알아보겠습니다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회고 개요</a:t>
            </a:r>
          </a:p>
          <a:p>
            <a:r>
              <a:rPr lang="en-US" altLang="ko-KR" i="1"/>
              <a:t>"</a:t>
            </a:r>
            <a:r>
              <a:rPr lang="ko-KR" altLang="en-US" i="1"/>
              <a:t>프로젝트 회고와 지속적 개선을 위한 핵심 방법론입니다</a:t>
            </a:r>
            <a:r>
              <a:rPr lang="en-US" altLang="ko-KR" i="1"/>
              <a:t>. </a:t>
            </a:r>
            <a:r>
              <a:rPr lang="ko-KR" altLang="en-US" i="1"/>
              <a:t>효과적인 피드백 사이클을 구축하세요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회고 개요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회고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(Retrospective)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스프린트 종료 후 돌아보는 시간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잘한 점과 개선점을 팀이 함께 논의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프로젝트에 적용할 액션 아이템 도출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왜 회고가 중요한가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회고 없이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실수 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방법 잊어버림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회고 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사항 적용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역량 지속 성장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 요소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 잘된 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(What went well)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✖️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 improve)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📋 액션 아이템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 items)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지속 가능한 테스트 전략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👍 잘된 점 </a:t>
            </a:r>
            <a:r>
              <a:rPr lang="en-US" altLang="ko-KR" b="1"/>
              <a:t>(What went well)</a:t>
            </a:r>
          </a:p>
          <a:p>
            <a:r>
              <a:rPr lang="en-US" altLang="ko-KR" i="1"/>
              <a:t>"</a:t>
            </a:r>
            <a:r>
              <a:rPr lang="ko-KR" altLang="en-US" i="1"/>
              <a:t>성공적인 테스트 자동화</a:t>
            </a:r>
            <a:r>
              <a:rPr lang="en-US" altLang="ko-KR" i="1"/>
              <a:t>, </a:t>
            </a:r>
            <a:r>
              <a:rPr lang="ko-KR" altLang="en-US" i="1"/>
              <a:t>품질 향상 등 긍정적 측면을 식별하고 성공 요인을 분석하세요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👍 잘된 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(What went well)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프로젝트에서 잘 된 것은 무엇인가요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 요인은 무엇이었나요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유지하고 싶은 것은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개발하니 버그가 확실히 줄었어요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덕분에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리뷰가 편해졌어요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 프로그래밍으로 지식 공유가 잘 됐어요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자신감이 생겼어요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활용으로 테스트 속도가 빨라졌어요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일간 싱크업으로 진행 상황 공유가 원활했어요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성공 요인 분석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잘된 점              성공 요인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─────────────────────────────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성공        단순한 기능부터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규칙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높은 커버리지        테스트 리스트 사전 작성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원활한 협업          명확한 역할 분담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일간 싱크업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성공 요인을 문서화하면 다음 프로젝트에서 재현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✖️ 개선점 </a:t>
            </a:r>
            <a:r>
              <a:rPr lang="en-US" altLang="ko-KR" b="1"/>
              <a:t>(To improve)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구현 속도</a:t>
            </a:r>
            <a:r>
              <a:rPr lang="en-US" altLang="ko-KR" i="1"/>
              <a:t>, </a:t>
            </a:r>
            <a:r>
              <a:rPr lang="ko-KR" altLang="en-US" i="1"/>
              <a:t>커버리지 부족 등 개선이 필요한 영역을 성장 기회로 접근하세요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✖️ 개선점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 improve)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다음에 다르게 하고 싶은 것은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어려웠던 점은 무엇인가요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아쉬웠던 부분은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작성에 예상보다 시간이 오래 걸렸어요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 기능의 커버리지가 낮아요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설정이 복잡해서 헷갈렸어요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디버깅에 시간 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테스트가 부족해요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⚠️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시간이 부족했어요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성장 기회로 전환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개선점                  성장 기회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  ─────────────────────────────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작성 느림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패턴 학습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       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심화 학습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디버깅 어려움       →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 학습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❗ 비난이 아닌 개선 관점으로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잘못했나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❌ →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개선할 수 있나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✅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액션 아이템 </a:t>
            </a:r>
            <a:r>
              <a:rPr lang="en-US" altLang="ko-KR" b="1"/>
              <a:t>(Action items)</a:t>
            </a:r>
          </a:p>
          <a:p>
            <a:r>
              <a:rPr lang="en-US" altLang="ko-KR" i="1"/>
              <a:t>"</a:t>
            </a:r>
            <a:r>
              <a:rPr lang="ko-KR" altLang="en-US" i="1"/>
              <a:t>구체적이고 실행 가능한 개선 계획을 수립하고 담당자와 기한을 명확히 지정하세요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액션 아이템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 items)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액션 아이템의 조건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(Specific)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무엇을 할지 명확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실행 가능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(Actionable)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할 수 있는 것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담당자 지정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할지 명확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기한 설정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언제까지 할지 명확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❌ 나쁜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더 잘 작성하자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모호함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커버리지를 올리자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구체적이지 않음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다음엔 더 열심히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 →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불가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✅ 좋은 예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액션 아이템           담당    기한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 ─────  ──────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OrderService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  김철수  다음주 금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75%→80%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 가이드      이영희  다음주 수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문서 작성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파이프라인에       박민수  다음 스프린트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캐싱 추가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액션 아이템은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제한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너무 많으면 실행되지 않음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지속 가능한 테스트 전략</a:t>
            </a:r>
          </a:p>
          <a:p>
            <a:r>
              <a:rPr lang="en-US" altLang="ko-KR" i="1"/>
              <a:t>"</a:t>
            </a:r>
            <a:r>
              <a:rPr lang="ko-KR" altLang="en-US" i="1"/>
              <a:t>테스트 자산의 지속적 개선</a:t>
            </a:r>
            <a:r>
              <a:rPr lang="en-US" altLang="ko-KR" i="1"/>
              <a:t>, </a:t>
            </a:r>
            <a:r>
              <a:rPr lang="ko-KR" altLang="en-US" i="1"/>
              <a:t>지식 공유</a:t>
            </a:r>
            <a:r>
              <a:rPr lang="en-US" altLang="ko-KR" i="1"/>
              <a:t>, </a:t>
            </a:r>
            <a:r>
              <a:rPr lang="ko-KR" altLang="en-US" i="1"/>
              <a:t>코드 리뷰 강화</a:t>
            </a:r>
            <a:r>
              <a:rPr lang="en-US" altLang="ko-KR" i="1"/>
              <a:t>, </a:t>
            </a:r>
            <a:r>
              <a:rPr lang="ko-KR" altLang="en-US" i="1"/>
              <a:t>테스트 문화 정착을 추진하세요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지속 가능한 테스트 전략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자산의 지속적 개선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리팩토링 대상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가독성 향상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느린 테스트 최적화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Flaky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수정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지식 공유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가이드 문서화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테스트 예시 공유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 프로그래밍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몹 프로그래밍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스터디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세미나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강화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리뷰 대상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체크리스트 활용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건설적인 피드백 문화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문화 정착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없으면 머지 안 됨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대시보드 공유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성공 축하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🎉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💡 효과적인 회고 진행법</a:t>
            </a:r>
          </a:p>
          <a:p>
            <a:r>
              <a:rPr lang="en-US" altLang="ko-KR" i="1"/>
              <a:t>"</a:t>
            </a:r>
            <a:r>
              <a:rPr lang="ko-KR" altLang="en-US" i="1"/>
              <a:t>정기적인</a:t>
            </a:r>
            <a:r>
              <a:rPr lang="en-US" altLang="ko-KR" i="1"/>
              <a:t>(2-4</a:t>
            </a:r>
            <a:r>
              <a:rPr lang="ko-KR" altLang="en-US" i="1"/>
              <a:t>주</a:t>
            </a:r>
            <a:r>
              <a:rPr lang="en-US" altLang="ko-KR" i="1"/>
              <a:t>) </a:t>
            </a:r>
            <a:r>
              <a:rPr lang="ko-KR" altLang="en-US" i="1"/>
              <a:t>회고</a:t>
            </a:r>
            <a:r>
              <a:rPr lang="en-US" altLang="ko-KR" i="1"/>
              <a:t>, </a:t>
            </a:r>
            <a:r>
              <a:rPr lang="ko-KR" altLang="en-US" i="1"/>
              <a:t>심리적 안전감이 보장된 환경</a:t>
            </a:r>
            <a:r>
              <a:rPr lang="en-US" altLang="ko-KR" i="1"/>
              <a:t>, '4Ls' </a:t>
            </a:r>
            <a:r>
              <a:rPr lang="ko-KR" altLang="en-US" i="1"/>
              <a:t>방법 또는 </a:t>
            </a:r>
            <a:r>
              <a:rPr lang="en-US" altLang="ko-KR" i="1"/>
              <a:t>'</a:t>
            </a:r>
            <a:r>
              <a:rPr lang="ko-KR" altLang="en-US" i="1"/>
              <a:t>스타</a:t>
            </a:r>
            <a:r>
              <a:rPr lang="en-US" altLang="ko-KR" i="1"/>
              <a:t>-</a:t>
            </a:r>
            <a:r>
              <a:rPr lang="ko-KR" altLang="en-US" i="1"/>
              <a:t>스톱</a:t>
            </a:r>
            <a:r>
              <a:rPr lang="en-US" altLang="ko-KR" i="1"/>
              <a:t>-</a:t>
            </a:r>
            <a:r>
              <a:rPr lang="ko-KR" altLang="en-US" i="1"/>
              <a:t>계속</a:t>
            </a:r>
            <a:r>
              <a:rPr lang="en-US" altLang="ko-KR" i="1"/>
              <a:t>' </a:t>
            </a:r>
            <a:r>
              <a:rPr lang="ko-KR" altLang="en-US" i="1"/>
              <a:t>등 다양한 기법을 활용하세요</a:t>
            </a:r>
            <a:r>
              <a:rPr lang="en-US" altLang="ko-KR" i="1"/>
              <a:t>. </a:t>
            </a:r>
            <a:r>
              <a:rPr lang="ko-KR" altLang="en-US" i="1"/>
              <a:t>식별된 문제점이 실질적인 개선으로 이어지는 액션 아이템을 도출하는 것이 핵심입니다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💡 효과적인 회고 진행법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회고 원칙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📅 정기적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(2-4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🛡️ 심리적 안전감 보장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📋 액션 아이템 도출 필수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🔄 다음 회고에서 액션 아이템 점검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회고 기법들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4Ls: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Liked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좋았던 것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Learned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배운 것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Lacked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부족했던 것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Longed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바라는 것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Start-Stop-Continue: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Start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 시작할 것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 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그만할 것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Continue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계속할 것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Mad-Sad-Glad: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Mad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화났던 것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 필요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Sad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아쉬웠던 것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Glad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기뻤던 것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❗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문제점 → 실질적 개선 → 액션 아이템 도출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회고 템플릿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📄 회고 템플릿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회고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YYYY-MM-DD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참석자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팀원 전원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 잘된 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(What went well)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-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장바구니 기능 개발 성공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달성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안정적 동작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✖️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(To improve)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테스트 부족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 코드 중복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시간 부족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📋 액션 아이템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항목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|------|------|------|------|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테스트 추가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김철수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⬜ |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Test Fixture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이영희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1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⬜ |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시간 확보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⬜ |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##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다음 스프린트 적용 사항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리스트 먼저 작성 후 개발 시작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당 최대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제한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회고</a:t>
            </a:r>
            <a:r>
              <a:rPr lang="en-US" altLang="ko-KR" b="1"/>
              <a:t>/</a:t>
            </a:r>
            <a:r>
              <a:rPr lang="ko-KR" altLang="en-US" b="1"/>
              <a:t>배운 점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가지 핵심</a:t>
            </a:r>
            <a:r>
              <a:rPr lang="en-US" altLang="ko-KR"/>
              <a:t>:</a:t>
            </a:r>
          </a:p>
          <a:p>
            <a:r>
              <a:rPr lang="ko-KR" altLang="en-US"/>
              <a:t>👍 </a:t>
            </a:r>
            <a:r>
              <a:rPr lang="ko-KR" altLang="en-US" b="1"/>
              <a:t>잘된 점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성공 요인 분석</a:t>
            </a:r>
            <a:r>
              <a:rPr lang="en-US" altLang="ko-KR"/>
              <a:t>, </a:t>
            </a:r>
            <a:r>
              <a:rPr lang="ko-KR" altLang="en-US"/>
              <a:t>계속 유지할 것</a:t>
            </a:r>
          </a:p>
          <a:p>
            <a:r>
              <a:rPr lang="ko-KR" altLang="en-US"/>
              <a:t>✖️ </a:t>
            </a:r>
            <a:r>
              <a:rPr lang="ko-KR" altLang="en-US" b="1"/>
              <a:t>개선점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성장 기회로 접근</a:t>
            </a:r>
            <a:r>
              <a:rPr lang="en-US" altLang="ko-KR"/>
              <a:t>, </a:t>
            </a:r>
            <a:r>
              <a:rPr lang="ko-KR" altLang="en-US"/>
              <a:t>비난 아닌 개선</a:t>
            </a:r>
          </a:p>
          <a:p>
            <a:r>
              <a:rPr lang="ko-KR" altLang="en-US"/>
              <a:t>📋 </a:t>
            </a:r>
            <a:r>
              <a:rPr lang="ko-KR" altLang="en-US" b="1"/>
              <a:t>액션 아이템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구체적</a:t>
            </a:r>
            <a:r>
              <a:rPr lang="en-US" altLang="ko-KR"/>
              <a:t>, </a:t>
            </a:r>
            <a:r>
              <a:rPr lang="ko-KR" altLang="en-US"/>
              <a:t>담당자</a:t>
            </a:r>
            <a:r>
              <a:rPr lang="en-US" altLang="ko-KR"/>
              <a:t>/</a:t>
            </a:r>
            <a:r>
              <a:rPr lang="ko-KR" altLang="en-US"/>
              <a:t>기한 명확</a:t>
            </a:r>
          </a:p>
          <a:p>
            <a:r>
              <a:rPr lang="ko-KR" altLang="en-US"/>
              <a:t>🔄 </a:t>
            </a:r>
            <a:r>
              <a:rPr lang="ko-KR" altLang="en-US" b="1"/>
              <a:t>지속 가능한 전략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테스트 문화 정착</a:t>
            </a:r>
          </a:p>
          <a:p>
            <a:r>
              <a:rPr lang="ko-KR" altLang="en-US" b="1"/>
              <a:t>💡 효과적인 회고</a:t>
            </a:r>
            <a:r>
              <a:rPr lang="en-US" altLang="ko-KR" b="1"/>
              <a:t>:</a:t>
            </a:r>
            <a:r>
              <a:rPr lang="ko-KR" altLang="en-US"/>
              <a:t> 정기적으로</a:t>
            </a:r>
            <a:r>
              <a:rPr lang="en-US" altLang="ko-KR"/>
              <a:t>, </a:t>
            </a:r>
            <a:r>
              <a:rPr lang="ko-KR" altLang="en-US"/>
              <a:t>심리적 안전감 속에서</a:t>
            </a:r>
            <a:r>
              <a:rPr lang="en-US" altLang="ko-KR"/>
              <a:t>, </a:t>
            </a:r>
            <a:r>
              <a:rPr lang="ko-KR" altLang="en-US"/>
              <a:t>액션 아이템 도출</a:t>
            </a:r>
            <a:r>
              <a:rPr lang="en-US" altLang="ko-KR"/>
              <a:t>!</a:t>
            </a:r>
          </a:p>
          <a:p>
            <a:r>
              <a:rPr lang="ko-KR" altLang="en-US" i="1"/>
              <a:t>식별된 문제점이 실질적인 개선으로 이어지는 것이 핵심입니다</a:t>
            </a:r>
            <a:r>
              <a:rPr lang="en-US" altLang="ko-KR" i="1"/>
              <a:t>.</a:t>
            </a:r>
            <a:endParaRPr lang="ko-KR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**자주 묻는 질문</a:t>
            </a:r>
            <a:r>
              <a:rPr lang="en-US" altLang="ko-KR"/>
              <a:t>(FAQ)**</a:t>
            </a:r>
            <a:r>
              <a:rPr lang="ko-KR" altLang="en-US"/>
              <a:t>을 다루겠습니다</a:t>
            </a:r>
            <a:r>
              <a:rPr lang="en-US" altLang="ko-KR"/>
              <a:t>.</a:t>
            </a:r>
          </a:p>
          <a:p>
            <a:r>
              <a:rPr lang="ko-KR" altLang="en-US"/>
              <a:t>단위테스트와 관련하여 자주 질문되는 내용들을 정리했습니다</a:t>
            </a:r>
            <a:r>
              <a:rPr lang="en-US" altLang="ko-KR"/>
              <a:t>. </a:t>
            </a:r>
            <a:r>
              <a:rPr lang="ko-KR" altLang="en-US"/>
              <a:t>더 많은 질문은 과정 </a:t>
            </a:r>
            <a:r>
              <a:rPr lang="en-US" altLang="ko-KR"/>
              <a:t>Q&amp;A </a:t>
            </a:r>
            <a:r>
              <a:rPr lang="ko-KR" altLang="en-US"/>
              <a:t>시간에 문의하세요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en-US" altLang="ko-KR" b="1"/>
              <a:t>FAQ </a:t>
            </a:r>
            <a:r>
              <a:rPr lang="ko-KR" altLang="en-US" b="1"/>
              <a:t>개요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개요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묻는 질문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단위테스트와 관련하여 자주 질문되는 내용입니다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많은 질문은 과정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Q&amp;A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시간에 문의하세요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질문과 답변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목표를 어느 수준으로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Q2. Mocking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과도하게 사용하는 것이 좋을까요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코드에 어떻게 테스트를 추가해야 할까요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Q1. </a:t>
            </a:r>
            <a:r>
              <a:rPr lang="ko-KR" altLang="en-US" b="1"/>
              <a:t>코드 커버리지 목표를 어느 수준으로 잡는 것이 좋을까요</a:t>
            </a:r>
            <a:r>
              <a:rPr lang="en-US" altLang="ko-KR" b="1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목표를 어느 수준으로 잡는 것이 좋을까요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답변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80-90%,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코드는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50-70%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정도가 적절합니다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수치보다 핵심 시나리오 검증이 중요합니다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상세 가이드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유형            권장 커버리지   이유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─────────────────   ───────────   ─────────────────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핵심 비즈니스 로직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80-90%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 영향 큼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 검증 필요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일반 비즈니스 로직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60-80%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중요도 중간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(CRUD,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유효성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코드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50-70%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비용 높음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ROI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낮을 수 있음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⚠️ 주의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목표가 아님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없는 테스트로 수치만 올리는 것은 ❌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시나리오가 검증되는지가 더 중요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"80%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의미 있는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100%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형식적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Q2. Mocking</a:t>
            </a:r>
            <a:r>
              <a:rPr lang="ko-KR" altLang="en-US" b="1"/>
              <a:t>을 과도하게 사용하는 것이 좋을까요</a:t>
            </a:r>
            <a:r>
              <a:rPr lang="en-US" altLang="ko-KR" b="1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  Mocking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과도하게 사용하는 것이 좋을까요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답변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외부 의존성 분리에 유용하나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과도한 사용은 테스트를 구현에 강결합시킵니다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테스트와 균형을 맞추세요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사용이 적절한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접근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파일 시스템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날짜 의존 코드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✅ 느린 외부 서비스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사용을 피해야 하는 경우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내부 클래스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값 객체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(Value Object)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세부사항 검증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(private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호출 횟수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❌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의존성을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경우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과도한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Mocking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문제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구현에 강결합 → 리팩토링 시 테스트 깨짐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동작과 다를 수 있음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코드가 복잡해짐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거짓 자신감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통과해도 버그 있을 수 있음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균형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빠른 피드백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격리된 검증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동작 검증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균형 잡힌 테스트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Q3. </a:t>
            </a:r>
            <a:r>
              <a:rPr lang="ko-KR" altLang="en-US" b="1"/>
              <a:t>레거시 코드에 어떻게 테스트를 추가해야 할까요</a:t>
            </a:r>
            <a:r>
              <a:rPr lang="en-US" altLang="ko-KR" b="1"/>
              <a:t>?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코드에 어떻게 테스트를 추가해야 할까요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💬 답변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동작을 특성화 테스트로 문서화하고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점진적으로 의존성 주입이 가능한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Seam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찾아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리팩토링하세요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필요 부분부터 우선 적용하세요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코드에 테스트 추가하는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특성화 테스트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(Characterization Test):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동작을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있는 그대로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테스트로 기록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기대값을 모르면 일단 실행 후 결과를 기대값으로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전 안전망 역할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LegacyCalculate_CurrentBehavior()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result = legacy.Calculate(10, 20);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Assert.Equal(???, result);  //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후 채우기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2️⃣ Seam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찾기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주입 가능한 지점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 의존성이 있는 곳 식별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추출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주입 가능하게 변경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 리팩토링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번에 다 바꾸려 하지 말 것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필요한 부분부터 우선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단위로 테스트 추가 → 리팩토링 → 반복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우선순위 결정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높음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변경되는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버그 많은 코드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중간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낮음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안정적이고 변경 없는 코드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 활용 전략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(Michael Feathers)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책 추천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ℹ️ </a:t>
            </a:r>
            <a:r>
              <a:rPr lang="ko-KR" altLang="en-US" b="1"/>
              <a:t>추가 질문</a:t>
            </a:r>
          </a:p>
          <a:p>
            <a:r>
              <a:rPr lang="en-US" altLang="ko-KR" i="1"/>
              <a:t>"</a:t>
            </a:r>
            <a:r>
              <a:rPr lang="ko-KR" altLang="en-US" i="1"/>
              <a:t>추가 질문이 있으신가요</a:t>
            </a:r>
            <a:r>
              <a:rPr lang="en-US" altLang="ko-KR" i="1"/>
              <a:t>? </a:t>
            </a:r>
            <a:r>
              <a:rPr lang="ko-KR" altLang="en-US" i="1"/>
              <a:t>실습 시간이나 팀별 과제 진행 시 코치에게 문의하세요</a:t>
            </a:r>
            <a:r>
              <a:rPr lang="en-US" altLang="ko-KR" i="1"/>
              <a:t>. </a:t>
            </a:r>
            <a:r>
              <a:rPr lang="ko-KR" altLang="en-US" i="1"/>
              <a:t>단위 테스트는 지속적인 연습으로 습득하는 기술입니다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질문 안내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질문 채널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시간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질문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팀별 과제 진행 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코치에게 문의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Slack/Teams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활용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자주 나오는 추가 질문들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먼저 작성하면 시간이 더 걸리지 않나요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초기에는 그렇지만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디버깅 시간이 크게 줄어듭니다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테스트 프레임워크를 써야 하나요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A. xUnit, NUnit, MSTest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 좋습니다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 표준 따르세요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Q.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너무 많아지면 관리가 어렵지 않나요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적절한 폴더 구조와 명명 규칙으로 관리 가능합니다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기억하세요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테스트는 지속적인 연습으로 습득하는 기술입니다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처음엔 어색하지만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꾸준히 연습하면 자연스러워집니다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en-US" altLang="ko-KR" b="1"/>
              <a:t>FAQ </a:t>
            </a:r>
            <a:r>
              <a:rPr lang="ko-KR" altLang="en-US" b="1"/>
              <a:t>핵심 답변</a:t>
            </a:r>
            <a:r>
              <a:rPr lang="en-US" altLang="ko-KR"/>
              <a:t>:</a:t>
            </a:r>
          </a:p>
          <a:p>
            <a:r>
              <a:rPr lang="en-US" altLang="ko-KR" b="1"/>
              <a:t>Q1. </a:t>
            </a:r>
            <a:r>
              <a:rPr lang="ko-KR" altLang="en-US" b="1"/>
              <a:t>커버리지 목표</a:t>
            </a:r>
            <a:r>
              <a:rPr lang="en-US" altLang="ko-KR" b="1"/>
              <a:t>?</a:t>
            </a:r>
            <a:r>
              <a:rPr lang="ko-KR" altLang="en-US"/>
              <a:t> → 핵심 로직 </a:t>
            </a:r>
            <a:r>
              <a:rPr lang="en-US" altLang="ko-KR"/>
              <a:t>80-90%, UI/</a:t>
            </a:r>
            <a:r>
              <a:rPr lang="ko-KR" altLang="en-US"/>
              <a:t>인프라 </a:t>
            </a:r>
            <a:r>
              <a:rPr lang="en-US" altLang="ko-KR"/>
              <a:t>50-70%. </a:t>
            </a:r>
            <a:r>
              <a:rPr lang="ko-KR" altLang="en-US"/>
              <a:t>수치보다 핵심 시나리오 검증이 중요</a:t>
            </a:r>
            <a:r>
              <a:rPr lang="en-US" altLang="ko-KR"/>
              <a:t>!</a:t>
            </a:r>
          </a:p>
          <a:p>
            <a:r>
              <a:rPr lang="en-US" altLang="ko-KR" b="1"/>
              <a:t>Q2. </a:t>
            </a:r>
            <a:r>
              <a:rPr lang="ko-KR" altLang="en-US" b="1"/>
              <a:t>과도한 </a:t>
            </a:r>
            <a:r>
              <a:rPr lang="en-US" altLang="ko-KR" b="1"/>
              <a:t>Mocking?</a:t>
            </a:r>
            <a:r>
              <a:rPr lang="ko-KR" altLang="en-US"/>
              <a:t> → 외부 의존성에만 사용</a:t>
            </a:r>
            <a:r>
              <a:rPr lang="en-US" altLang="ko-KR"/>
              <a:t>, </a:t>
            </a:r>
            <a:r>
              <a:rPr lang="ko-KR" altLang="en-US"/>
              <a:t>구현 강결합 피하기</a:t>
            </a:r>
            <a:r>
              <a:rPr lang="en-US" altLang="ko-KR"/>
              <a:t>. </a:t>
            </a:r>
            <a:r>
              <a:rPr lang="ko-KR" altLang="en-US"/>
              <a:t>통합 테스트와 균형</a:t>
            </a:r>
            <a:r>
              <a:rPr lang="en-US" altLang="ko-KR"/>
              <a:t>!</a:t>
            </a:r>
          </a:p>
          <a:p>
            <a:r>
              <a:rPr lang="en-US" altLang="ko-KR" b="1"/>
              <a:t>Q3. </a:t>
            </a:r>
            <a:r>
              <a:rPr lang="ko-KR" altLang="en-US" b="1"/>
              <a:t>레거시 코드 테스트</a:t>
            </a:r>
            <a:r>
              <a:rPr lang="en-US" altLang="ko-KR" b="1"/>
              <a:t>?</a:t>
            </a:r>
            <a:r>
              <a:rPr lang="ko-KR" altLang="en-US"/>
              <a:t> → 특성화 테스트로 현재 동작 문서화</a:t>
            </a:r>
            <a:r>
              <a:rPr lang="en-US" altLang="ko-KR"/>
              <a:t>, Seam </a:t>
            </a:r>
            <a:r>
              <a:rPr lang="ko-KR" altLang="en-US"/>
              <a:t>찾아 점진적 리팩토링</a:t>
            </a:r>
            <a:r>
              <a:rPr lang="en-US" altLang="ko-KR"/>
              <a:t>!</a:t>
            </a:r>
          </a:p>
          <a:p>
            <a:r>
              <a:rPr lang="ko-KR" altLang="en-US" b="1"/>
              <a:t>단위 테스트는 지속적인 연습으로 습득하는 기술입니다</a:t>
            </a:r>
            <a:r>
              <a:rPr lang="en-US" altLang="ko-KR" b="1"/>
              <a:t>!</a:t>
            </a:r>
            <a:r>
              <a:rPr lang="ko-KR" altLang="en-US"/>
              <a:t> 💪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마지막으로 </a:t>
            </a:r>
            <a:r>
              <a:rPr lang="ko-KR" altLang="en-US" b="1"/>
              <a:t>참고 자료</a:t>
            </a:r>
            <a:r>
              <a:rPr lang="ko-KR" altLang="en-US"/>
              <a:t>를 안내해 드리겠습니다</a:t>
            </a:r>
            <a:r>
              <a:rPr lang="en-US" altLang="ko-KR"/>
              <a:t>.</a:t>
            </a:r>
          </a:p>
          <a:p>
            <a:r>
              <a:rPr lang="ko-KR" altLang="en-US"/>
              <a:t>이 과정에서 배운 내용을 더 깊이 학습하고 싶으시다면 다음 자료들을 활용해 보세요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참고 자료 개요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참고 자료 개요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📚 공식 문서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Microsoft, NUnit, 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 가이드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🔧 테스트 도구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Moq, ReportGenerator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핵심 도구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Actions, Azure DevOps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⭐ 학습 자료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추천 도서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교육 과정 예제 코드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📚 공식 문서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📚 공식 문서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🔷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모범 사례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learn.microsoft.com/ko-kr/dotnet/core/testing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Microsoft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 단위 테스트 가이드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작성 모범 사례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프로젝트 구성 방법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xUnit, NUnit, MSTest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비교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🔷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NUnit/xUnit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 문서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docs.nunit.org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xunit.net/docs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프레임워크 레퍼런스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Attribute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사용법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Assert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가이드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병렬 실행 설정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테스트 도구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🔧 테스트 도구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🎭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라이브러리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github.com/moq/moq4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목킹 프레임워크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Setup, Verify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사용법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 설정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고급 기능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(Linq to Mocks)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NuGet: Install-Package Moq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reportgenerator.io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시각화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출력 형식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(HTML, Badges, etc.)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가이드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히스토리 추적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 tool install -g dotnet-reportgenerator-globaltool│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🔄 </a:t>
            </a:r>
            <a:r>
              <a:rPr lang="en-US" altLang="ko-KR" b="1"/>
              <a:t>CI/CD </a:t>
            </a:r>
            <a:r>
              <a:rPr lang="ko-KR" altLang="en-US" b="1"/>
              <a:t>자동화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🐙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- .NET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docs.github.com/ko/actions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GitHub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설정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워크플로우 문법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빌드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예제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매트릭스 빌드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아티팩트 관리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시크릿 관리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☁️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DevOps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azure.microsoft.com/ko-kr/products/devops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MS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Azure Pipelines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 최적화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결과 대시보드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릴리스 관리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⭐ 학습 자료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⭐ 학습 자료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📖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Art of Unit Testing (Roy Osherove)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 원칙과 패턴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코드 작성법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Mock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전략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 테스트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 내 테스트 문화 구축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💡 단위 테스트의 바이블로 불리는 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한글판도 있습니다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💻 교육 과정 예제 코드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📎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github.com/SDC-SW/unit-test-examples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예제 리포지토리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단계별 예제 코드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실습 프로젝트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 예제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clone https://github.com/SDC-SW/unit-test-examples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전체 참고 자료 목록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전체 참고 자료 목록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📚 공식 문서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learn.microsoft.com/ko-kr/dotnet/core/testing│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NUnit: docs.nunit.org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xUnit: xunit.net/docs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테스트 도구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Moq: github.com/moq/moq4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ReportGenerator: reportgenerator.io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GitHub Actions: docs.github.com/ko/actions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Azure DevOps: azure.microsoft.com/ko-kr/products/devops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⭐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자료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────────────────────────────────────────────────────────────│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책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Art of Unit Testing (Roy Osherove)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github.com/SDC-SW/unit-test-examples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추가 추천 자료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📚 추가 추천 자료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📖 추천 도서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Clean Code (Robert C. Martin)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가능한 깨끗한 코드 작성법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Working Effectively with Legacy Code (Michael Feathers)│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-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레거시 코드에 테스트 추가하는 방법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Test Driven Development (Kent Beck)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- 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창시자가 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바이블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🎥 온라인 자료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Pluralsight: .NET Testing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코스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YouTube: Nick Chapsas (.NET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튜토리얼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Microsoft Learn: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경로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ℹ️ </a:t>
            </a:r>
            <a:r>
              <a:rPr lang="ko-KR" altLang="en-US" b="1"/>
              <a:t>추가 학습 팁</a:t>
            </a:r>
          </a:p>
          <a:p>
            <a:r>
              <a:rPr lang="en-US" altLang="ko-KR" i="1"/>
              <a:t>"</a:t>
            </a:r>
            <a:r>
              <a:rPr lang="ko-KR" altLang="en-US" i="1"/>
              <a:t>실제 프로젝트에 적용하며 점진적으로 학습하세요</a:t>
            </a:r>
            <a:r>
              <a:rPr lang="en-US" altLang="ko-KR" i="1"/>
              <a:t>. </a:t>
            </a:r>
            <a:r>
              <a:rPr lang="ko-KR" altLang="en-US" i="1"/>
              <a:t>코드 리뷰와 페어 프로그래밍으로 테스트 기법을 공유하는 것이 효과적입니다</a:t>
            </a:r>
            <a:r>
              <a:rPr lang="en-US" altLang="ko-KR" i="1"/>
              <a:t>."</a:t>
            </a:r>
            <a:endParaRPr lang="ko-KR" altLang="en-US"/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ℹ️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 학습 팁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효과적인 학습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프로젝트 적용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배운 내용을 실제 코드에 바로 적용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기능부터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점진적으로 범위 확대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리뷰 활용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코드도 리뷰 대상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사람의 테스트 코드 읽기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 주고받기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페어 프로그래밍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함께 테스트 작성하며 기법 공유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명은 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명은 구현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(Ping-Pong TDD)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서로의 노하우 학습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핵심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이론보다 실천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꾸준한 연습이 실력을 만듭니다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참고 자료</a:t>
            </a:r>
            <a:r>
              <a:rPr lang="en-US" altLang="ko-KR"/>
              <a:t>:</a:t>
            </a:r>
          </a:p>
          <a:p>
            <a:r>
              <a:rPr lang="ko-KR" altLang="en-US" b="1"/>
              <a:t>📚 공식 문서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Microsoft .NET </a:t>
            </a:r>
            <a:r>
              <a:rPr lang="ko-KR" altLang="en-US"/>
              <a:t>테스트 가이드</a:t>
            </a:r>
          </a:p>
          <a:p>
            <a:r>
              <a:rPr lang="en-US" altLang="ko-KR"/>
              <a:t>NUnit/xUnit </a:t>
            </a:r>
            <a:r>
              <a:rPr lang="ko-KR" altLang="en-US"/>
              <a:t>공식 문서</a:t>
            </a:r>
          </a:p>
          <a:p>
            <a:r>
              <a:rPr lang="ko-KR" altLang="en-US" b="1"/>
              <a:t>🔧 테스트 도구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Moq (github.com/moq/moq4)</a:t>
            </a:r>
          </a:p>
          <a:p>
            <a:r>
              <a:rPr lang="en-US" altLang="ko-KR"/>
              <a:t>ReportGenerator (reportgenerator.io)</a:t>
            </a:r>
          </a:p>
          <a:p>
            <a:r>
              <a:rPr lang="ko-KR" altLang="en-US" b="1"/>
              <a:t>🔄 </a:t>
            </a:r>
            <a:r>
              <a:rPr lang="en-US" altLang="ko-KR" b="1"/>
              <a:t>CI/CD </a:t>
            </a:r>
            <a:r>
              <a:rPr lang="ko-KR" altLang="en-US" b="1"/>
              <a:t>자동화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GitHub Actions, Azure DevOps</a:t>
            </a:r>
          </a:p>
          <a:p>
            <a:r>
              <a:rPr lang="ko-KR" altLang="en-US" b="1"/>
              <a:t>⭐ 학습 자료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"The Art of Unit Testing" (Roy Osherove)</a:t>
            </a:r>
          </a:p>
          <a:p>
            <a:r>
              <a:rPr lang="ko-KR" altLang="en-US"/>
              <a:t>교육 과정 예제 코드</a:t>
            </a:r>
          </a:p>
          <a:p>
            <a:r>
              <a:rPr lang="ko-KR" altLang="en-US" b="1"/>
              <a:t>💡 실제 프로젝트에 적용하며 점진적으로 학습하세요</a:t>
            </a:r>
            <a:r>
              <a:rPr lang="en-US" altLang="ko-KR" b="1"/>
              <a:t>!</a:t>
            </a:r>
            <a:r>
              <a:rPr lang="ko-KR" altLang="en-US"/>
              <a:t> 코드 리뷰와 페어 프로그래밍으로 테스트 기법을 공유하는 것이 효과적입니다</a:t>
            </a:r>
            <a:r>
              <a:rPr lang="en-US" altLang="ko-KR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</a:t>
            </a:r>
            <a:r>
              <a:rPr lang="en-US" altLang="ko-KR"/>
              <a:t>, </a:t>
            </a:r>
            <a:r>
              <a:rPr lang="ko-KR" altLang="en-US"/>
              <a:t>이번에는 </a:t>
            </a:r>
            <a:r>
              <a:rPr lang="ko-KR" altLang="en-US" b="1"/>
              <a:t>용어집 및 추가 연습</a:t>
            </a:r>
            <a:r>
              <a:rPr lang="ko-KR" altLang="en-US"/>
              <a:t> 과제를 안내해 드리겠습니다</a:t>
            </a:r>
            <a:r>
              <a:rPr lang="en-US" altLang="ko-KR"/>
              <a:t>.</a:t>
            </a:r>
          </a:p>
          <a:p>
            <a:r>
              <a:rPr lang="ko-KR" altLang="en-US"/>
              <a:t>이 과정에서 다룬 </a:t>
            </a:r>
            <a:r>
              <a:rPr lang="ko-KR" altLang="en-US" b="1"/>
              <a:t>핵심 용어</a:t>
            </a:r>
            <a:r>
              <a:rPr lang="ko-KR" altLang="en-US"/>
              <a:t>들을 정리하고</a:t>
            </a:r>
            <a:r>
              <a:rPr lang="en-US" altLang="ko-KR"/>
              <a:t>, </a:t>
            </a:r>
            <a:r>
              <a:rPr lang="ko-KR" altLang="en-US"/>
              <a:t>스스로 실력을 키울 수 있는 </a:t>
            </a:r>
            <a:r>
              <a:rPr lang="ko-KR" altLang="en-US" b="1"/>
              <a:t>추가 연습 과제</a:t>
            </a:r>
            <a:r>
              <a:rPr lang="ko-KR" altLang="en-US"/>
              <a:t>를 제공합니다</a:t>
            </a:r>
            <a:r>
              <a:rPr lang="en-US" altLang="ko-KR"/>
              <a:t>.</a:t>
            </a:r>
          </a:p>
          <a:p>
            <a:br>
              <a:rPr lang="en-US" altLang="ko-KR"/>
            </a:br>
            <a:endParaRPr lang="en-US" altLang="ko-KR"/>
          </a:p>
          <a:p>
            <a:r>
              <a:rPr lang="ko-KR" altLang="en-US" b="1"/>
              <a:t>📖 주요 용어 정리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📖 주요 용어 정리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이 과정에서 다룬 핵심 용어들을 정리합니다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면접이나 실무에서 자주 사용되는 용어들이니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확실히 이해해 두세요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6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핵심 용어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TDD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Fixture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Test Double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AAA </a:t>
            </a:r>
            <a:r>
              <a:rPr lang="ko-KR" altLang="en-US" b="1"/>
              <a:t>패턴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Arrange(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Act(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Assert(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테스트를 구조화하는 패턴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구조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[Test]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void Method_Scenario_Expected()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Arrange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준비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calculator = new Calculator();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Act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var result = calculator.Add(2, 3);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// Assert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Assert.Equal(5, result);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모든 테스트는 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구성하면 가독성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UP!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TDD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Test-Driven Development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테스트를 먼저 작성한 후 코드를 구현하는 방법론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Red-Green-Refactor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🔴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 작성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↓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통과하는 최소 코드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↓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개선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유지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↓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Fixture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Fixture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테스트에 필요한 객체나 상태의 고정된 기준점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테스트 간 공유되는 설정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public class CartFixture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{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Cart Cart { get; }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Product SampleProduct { get; }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public CartFixture()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{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Cart = new Cart();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SampleProduct = new Product("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1000);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}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}              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테스트 간 공통 설정을 재사용하여 중복 코드 제거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Test Double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Double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 대신 사용하는 테스트용 객체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Mock, Stub, Fake, Spy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종류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종류      목적                  예시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───────  ─────────────────    ─────────────────────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 검증             호출 여부 확인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Stub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정의된 응답 반환 고정 값 반환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Fake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간단한 구현           인메모리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Spy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호출 기록             호출 횟수 추적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var mockRepo = new Mock&lt;IRepository&gt;();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mockRepo.Setup(r =&gt; r.GetById(1))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.Returns(new Product { Id = 1 });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코드 커버리지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코드 커버리지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프로덕션 코드를 실행하는 비율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라인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 커버리지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종류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라인 커버리지     실행된 코드 라인 비율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브랜치 커버리지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if/else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분기 실행 비율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함수 커버리지     호출된 함수 비율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권장 수준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비즈니스 로직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80-90%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로직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60-80%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UI/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50-70%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수치보다 핵심 시나리오 검증이 더 중요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en-US" altLang="ko-KR" b="1"/>
              <a:t>FIRST </a:t>
            </a:r>
            <a:r>
              <a:rPr lang="ko-KR" altLang="en-US" b="1"/>
              <a:t>원칙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정의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Fast, Independent, Repeatable, Self-validating, Timely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단위 테스트 특성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상세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F - Fast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빠름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테스트는 빠르게 실행되어야 함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- Independent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의존성 없이 독립 실행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- Repeatable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가능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환경에서도 동일한 결과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- Self-validating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검증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성공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실패를 자동으로 판단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- Timely 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프로덕션 코드 작성 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직후에 작성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좋은 단위 테스트인지 확인하는 체크리스트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📝 추가 연습 과제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📝 추가 연습 과제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스스로 실력을 키울 수 있는 연습 과제입니다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가지 유형의 과제를 제공합니다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🔧 레거시 코드에 테스트 추가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기존 코드에 테스트를 추가하는 연습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새 기능 개발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처음부터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기능을 구현하는 연습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🔧 레거시 코드에 테스트 추가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🔧 레거시 코드에 테스트 추가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과제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테스트가 없는 모듈을 찾아 단위 테스트를 작성하세요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단계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1️⃣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분리로 테스트 가능하게 리팩토링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 추출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메서드 주입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기능 테스트 케이스 작성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정상 케이스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케이스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경계 조건과 예외 처리 테스트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null,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값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최대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최소값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 커버리지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 달성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ReportGenerator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확인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💡 팁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변경되거나 버그가 많은 코드부터 시작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🆕 </a:t>
            </a:r>
            <a:r>
              <a:rPr lang="en-US" altLang="ko-KR" b="1"/>
              <a:t>TDD</a:t>
            </a:r>
            <a:r>
              <a:rPr lang="ko-KR" altLang="en-US" b="1"/>
              <a:t>로 새 기능 개발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🆕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새 기능 개발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과제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요구사항을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구현하세요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요구사항 예시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📄 문자열 파서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(CSV, JSON)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CSV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문자열을 객체 리스트로 변환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 처리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타입 변환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형식 예외 처리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🔍 검색 알고리즘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이진 검색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정렬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정렬된 배열에서 이진 검색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정렬 알고리즘 구현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빈 배열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요소 처리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🌐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요청 처리기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• HTTP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클라이언트 래퍼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재시도 로직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타임아웃 처리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진행 방법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                                                  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┌─────────────────────────────────────────────────────────┐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단계에서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Red-Green-Refactor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적용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       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실패하는 테스트 작성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(Red)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2.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통과하는 최소 코드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(Green)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3.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리팩토링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(Refactor)                       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4.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커밋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(Red: ..., Green: ..., Refactor: ...)          │  │</a:t>
            </a:r>
          </a:p>
          <a:p>
            <a:pPr rtl="0" latinLnBrk="0"/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│  5.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                                                │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└─────────────────────────────────────────────────────────┘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📋 용어 정리 요약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📋 용어 정리 요약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├─────────────────────────────────────────────────────────────────┤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용어            정의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─────────────  ─────────────────────────────────────────────│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     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Arrange-Act-Assert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테스트 구조화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TDD    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먼저 작성 후 코드 구현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Fixture    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간 공유되는 고정 설정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Double    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객체 대신 사용하는 테스트용 객체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코드 커버리지   테스트가 실행하는 코드 비율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원칙      좋은 단위 테스트의 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특성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                                                         │</a:t>
            </a:r>
          </a:p>
          <a:p>
            <a:pPr rtl="0" latinLnBrk="0"/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ko-KR" altLang="en-US"/>
            </a:br>
            <a:endParaRPr lang="ko-KR" altLang="en-US"/>
          </a:p>
          <a:p>
            <a:r>
              <a:rPr lang="ko-KR" altLang="en-US" b="1"/>
              <a:t>클로징</a:t>
            </a:r>
          </a:p>
          <a:p>
            <a:r>
              <a:rPr lang="ko-KR" altLang="en-US"/>
              <a:t>정리하면</a:t>
            </a:r>
            <a:r>
              <a:rPr lang="en-US" altLang="ko-KR"/>
              <a:t>, </a:t>
            </a:r>
            <a:r>
              <a:rPr lang="ko-KR" altLang="en-US" b="1"/>
              <a:t>용어집 및 추가 연습</a:t>
            </a:r>
            <a:r>
              <a:rPr lang="en-US" altLang="ko-KR"/>
              <a:t>:</a:t>
            </a:r>
          </a:p>
          <a:p>
            <a:r>
              <a:rPr lang="ko-KR" altLang="en-US" b="1"/>
              <a:t>📖 주요 용어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en-US" altLang="ko-KR"/>
              <a:t>AAA </a:t>
            </a:r>
            <a:r>
              <a:rPr lang="ko-KR" altLang="en-US"/>
              <a:t>패턴</a:t>
            </a:r>
            <a:r>
              <a:rPr lang="en-US" altLang="ko-KR"/>
              <a:t>: Arrange-Act-Assert</a:t>
            </a:r>
          </a:p>
          <a:p>
            <a:r>
              <a:rPr lang="en-US" altLang="ko-KR"/>
              <a:t>TDD: Test-Driven Development</a:t>
            </a:r>
          </a:p>
          <a:p>
            <a:r>
              <a:rPr lang="en-US" altLang="ko-KR"/>
              <a:t>Fixture: </a:t>
            </a:r>
            <a:r>
              <a:rPr lang="ko-KR" altLang="en-US"/>
              <a:t>테스트 간 공유 설정</a:t>
            </a:r>
          </a:p>
          <a:p>
            <a:r>
              <a:rPr lang="en-US" altLang="ko-KR"/>
              <a:t>Test Double: Mock, Stub, Fake, Spy</a:t>
            </a:r>
          </a:p>
          <a:p>
            <a:r>
              <a:rPr lang="ko-KR" altLang="en-US"/>
              <a:t>코드 커버리지</a:t>
            </a:r>
            <a:r>
              <a:rPr lang="en-US" altLang="ko-KR"/>
              <a:t>: </a:t>
            </a:r>
            <a:r>
              <a:rPr lang="ko-KR" altLang="en-US"/>
              <a:t>라인</a:t>
            </a:r>
            <a:r>
              <a:rPr lang="en-US" altLang="ko-KR"/>
              <a:t>, </a:t>
            </a:r>
            <a:r>
              <a:rPr lang="ko-KR" altLang="en-US"/>
              <a:t>브랜치</a:t>
            </a:r>
            <a:r>
              <a:rPr lang="en-US" altLang="ko-KR"/>
              <a:t>, </a:t>
            </a:r>
            <a:r>
              <a:rPr lang="ko-KR" altLang="en-US"/>
              <a:t>함수</a:t>
            </a:r>
          </a:p>
          <a:p>
            <a:r>
              <a:rPr lang="en-US" altLang="ko-KR"/>
              <a:t>FIRST </a:t>
            </a:r>
            <a:r>
              <a:rPr lang="ko-KR" altLang="en-US"/>
              <a:t>원칙</a:t>
            </a:r>
            <a:r>
              <a:rPr lang="en-US" altLang="ko-KR"/>
              <a:t>: Fast, Independent, Repeatable, Self-validating, Timely</a:t>
            </a:r>
          </a:p>
          <a:p>
            <a:r>
              <a:rPr lang="ko-KR" altLang="en-US" b="1"/>
              <a:t>📝 추가 연습</a:t>
            </a:r>
            <a:r>
              <a:rPr lang="en-US" altLang="ko-KR" b="1"/>
              <a:t>:</a:t>
            </a:r>
            <a:endParaRPr lang="ko-KR" altLang="en-US"/>
          </a:p>
          <a:p>
            <a:r>
              <a:rPr lang="ko-KR" altLang="en-US"/>
              <a:t>레거시 코드에 테스트 추가 </a:t>
            </a:r>
            <a:r>
              <a:rPr lang="en-US" altLang="ko-KR"/>
              <a:t>(</a:t>
            </a:r>
            <a:r>
              <a:rPr lang="ko-KR" altLang="en-US"/>
              <a:t>의존성 분리 → 테스트 작성 → 커버리지 </a:t>
            </a:r>
            <a:r>
              <a:rPr lang="en-US" altLang="ko-KR"/>
              <a:t>80%)</a:t>
            </a:r>
          </a:p>
          <a:p>
            <a:r>
              <a:rPr lang="en-US" altLang="ko-KR"/>
              <a:t>TDD</a:t>
            </a:r>
            <a:r>
              <a:rPr lang="ko-KR" altLang="en-US"/>
              <a:t>로 새 기능 개발 </a:t>
            </a:r>
            <a:r>
              <a:rPr lang="en-US" altLang="ko-KR"/>
              <a:t>(</a:t>
            </a:r>
            <a:r>
              <a:rPr lang="ko-KR" altLang="en-US"/>
              <a:t>문자열 파서</a:t>
            </a:r>
            <a:r>
              <a:rPr lang="en-US" altLang="ko-KR"/>
              <a:t>, </a:t>
            </a:r>
            <a:r>
              <a:rPr lang="ko-KR" altLang="en-US"/>
              <a:t>검색 알고리즘</a:t>
            </a:r>
            <a:r>
              <a:rPr lang="en-US" altLang="ko-KR"/>
              <a:t>, API </a:t>
            </a:r>
            <a:r>
              <a:rPr lang="ko-KR" altLang="en-US"/>
              <a:t>처리기</a:t>
            </a:r>
            <a:r>
              <a:rPr lang="en-US" altLang="ko-KR"/>
              <a:t>)</a:t>
            </a:r>
          </a:p>
          <a:p>
            <a:r>
              <a:rPr lang="ko-KR" altLang="en-US" b="1"/>
              <a:t>모든 단계에서 </a:t>
            </a:r>
            <a:r>
              <a:rPr lang="en-US" altLang="ko-KR" b="1"/>
              <a:t>Red-Green-Refactor </a:t>
            </a:r>
            <a:r>
              <a:rPr lang="ko-KR" altLang="en-US" b="1"/>
              <a:t>사이클을 적용하세요</a:t>
            </a:r>
            <a:r>
              <a:rPr lang="en-US" altLang="ko-KR" b="1"/>
              <a:t>!</a:t>
            </a:r>
            <a:endParaRPr lang="ko-KR" alt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93.png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37.png"/><Relationship Id="rId4" Type="http://schemas.openxmlformats.org/officeDocument/2006/relationships/image" Target="../media/image1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14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73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64.png"/><Relationship Id="rId4" Type="http://schemas.openxmlformats.org/officeDocument/2006/relationships/image" Target="../media/image12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5" Type="http://schemas.openxmlformats.org/officeDocument/2006/relationships/image" Target="../media/image46.png"/><Relationship Id="rId4" Type="http://schemas.openxmlformats.org/officeDocument/2006/relationships/image" Target="../media/image16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5" Type="http://schemas.openxmlformats.org/officeDocument/2006/relationships/image" Target="../media/image40.png"/><Relationship Id="rId4" Type="http://schemas.openxmlformats.org/officeDocument/2006/relationships/image" Target="../media/image1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5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31.png"/><Relationship Id="rId4" Type="http://schemas.openxmlformats.org/officeDocument/2006/relationships/image" Target="../media/image2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0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10.png"/><Relationship Id="rId4" Type="http://schemas.openxmlformats.org/officeDocument/2006/relationships/image" Target="../media/image10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216.png"/><Relationship Id="rId15" Type="http://schemas.openxmlformats.org/officeDocument/2006/relationships/image" Target="../media/image226.png"/><Relationship Id="rId10" Type="http://schemas.openxmlformats.org/officeDocument/2006/relationships/image" Target="../media/image221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Relationship Id="rId14" Type="http://schemas.openxmlformats.org/officeDocument/2006/relationships/image" Target="../media/image22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7" Type="http://schemas.openxmlformats.org/officeDocument/2006/relationships/image" Target="../media/image22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8.png"/><Relationship Id="rId5" Type="http://schemas.openxmlformats.org/officeDocument/2006/relationships/image" Target="../media/image203.png"/><Relationship Id="rId4" Type="http://schemas.openxmlformats.org/officeDocument/2006/relationships/image" Target="../media/image14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5" Type="http://schemas.openxmlformats.org/officeDocument/2006/relationships/image" Target="../media/image233.png"/><Relationship Id="rId10" Type="http://schemas.openxmlformats.org/officeDocument/2006/relationships/image" Target="../media/image238.png"/><Relationship Id="rId4" Type="http://schemas.openxmlformats.org/officeDocument/2006/relationships/image" Target="../media/image232.png"/><Relationship Id="rId9" Type="http://schemas.openxmlformats.org/officeDocument/2006/relationships/image" Target="../media/image23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262.png"/><Relationship Id="rId4" Type="http://schemas.openxmlformats.org/officeDocument/2006/relationships/image" Target="../media/image5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5" Type="http://schemas.openxmlformats.org/officeDocument/2006/relationships/image" Target="../media/image87.png"/><Relationship Id="rId4" Type="http://schemas.openxmlformats.org/officeDocument/2006/relationships/image" Target="../media/image3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13" Type="http://schemas.openxmlformats.org/officeDocument/2006/relationships/image" Target="../media/image273.png"/><Relationship Id="rId18" Type="http://schemas.openxmlformats.org/officeDocument/2006/relationships/image" Target="../media/image278.png"/><Relationship Id="rId3" Type="http://schemas.openxmlformats.org/officeDocument/2006/relationships/image" Target="../media/image263.png"/><Relationship Id="rId21" Type="http://schemas.openxmlformats.org/officeDocument/2006/relationships/image" Target="../media/image19.png"/><Relationship Id="rId7" Type="http://schemas.openxmlformats.org/officeDocument/2006/relationships/image" Target="../media/image267.png"/><Relationship Id="rId12" Type="http://schemas.openxmlformats.org/officeDocument/2006/relationships/image" Target="../media/image272.png"/><Relationship Id="rId17" Type="http://schemas.openxmlformats.org/officeDocument/2006/relationships/image" Target="../media/image277.png"/><Relationship Id="rId2" Type="http://schemas.openxmlformats.org/officeDocument/2006/relationships/notesSlide" Target="../notesSlides/notesSlide88.xml"/><Relationship Id="rId16" Type="http://schemas.openxmlformats.org/officeDocument/2006/relationships/image" Target="../media/image276.png"/><Relationship Id="rId20" Type="http://schemas.openxmlformats.org/officeDocument/2006/relationships/image" Target="../media/image2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6.png"/><Relationship Id="rId11" Type="http://schemas.openxmlformats.org/officeDocument/2006/relationships/image" Target="../media/image271.png"/><Relationship Id="rId5" Type="http://schemas.openxmlformats.org/officeDocument/2006/relationships/image" Target="../media/image265.png"/><Relationship Id="rId15" Type="http://schemas.openxmlformats.org/officeDocument/2006/relationships/image" Target="../media/image275.png"/><Relationship Id="rId10" Type="http://schemas.openxmlformats.org/officeDocument/2006/relationships/image" Target="../media/image270.png"/><Relationship Id="rId19" Type="http://schemas.openxmlformats.org/officeDocument/2006/relationships/image" Target="../media/image279.png"/><Relationship Id="rId4" Type="http://schemas.openxmlformats.org/officeDocument/2006/relationships/image" Target="../media/image264.png"/><Relationship Id="rId9" Type="http://schemas.openxmlformats.org/officeDocument/2006/relationships/image" Target="../media/image269.png"/><Relationship Id="rId14" Type="http://schemas.openxmlformats.org/officeDocument/2006/relationships/image" Target="../media/image27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7" Type="http://schemas.openxmlformats.org/officeDocument/2006/relationships/image" Target="../media/image28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283.png"/><Relationship Id="rId4" Type="http://schemas.openxmlformats.org/officeDocument/2006/relationships/image" Target="../media/image5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3" Type="http://schemas.openxmlformats.org/officeDocument/2006/relationships/image" Target="../media/image289.png"/><Relationship Id="rId7" Type="http://schemas.openxmlformats.org/officeDocument/2006/relationships/image" Target="../media/image29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image" Target="../media/image290.png"/><Relationship Id="rId9" Type="http://schemas.openxmlformats.org/officeDocument/2006/relationships/image" Target="../media/image29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296.png"/><Relationship Id="rId4" Type="http://schemas.openxmlformats.org/officeDocument/2006/relationships/image" Target="../media/image5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29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30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5.png"/><Relationship Id="rId5" Type="http://schemas.openxmlformats.org/officeDocument/2006/relationships/image" Target="../media/image304.png"/><Relationship Id="rId4" Type="http://schemas.openxmlformats.org/officeDocument/2006/relationships/image" Target="../media/image30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8598" y="749808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10098" y="749808"/>
            <a:ext cx="5715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5898" y="749808"/>
            <a:ext cx="457200" cy="457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47949" y="1368857"/>
            <a:ext cx="6106363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</a:t>
            </a:r>
            <a:endParaRPr lang="en-US" sz="4200"/>
          </a:p>
        </p:txBody>
      </p:sp>
      <p:sp>
        <p:nvSpPr>
          <p:cNvPr id="8" name="Text 3"/>
          <p:cNvSpPr txBox="1"/>
          <p:nvPr/>
        </p:nvSpPr>
        <p:spPr>
          <a:xfrm>
            <a:off x="3564331" y="2160727"/>
            <a:ext cx="52678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기반 테스트 자동화 및 TDD 실무 역량 강화</a:t>
            </a:r>
            <a:endParaRPr lang="en-US" sz="2100"/>
          </a:p>
        </p:txBody>
      </p:sp>
      <p:sp>
        <p:nvSpPr>
          <p:cNvPr id="9" name="Shape 4"/>
          <p:cNvSpPr/>
          <p:nvPr/>
        </p:nvSpPr>
        <p:spPr>
          <a:xfrm>
            <a:off x="5639105" y="2780690"/>
            <a:ext cx="914400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533095" y="3682289"/>
            <a:ext cx="11125505" cy="2219249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761695" y="3910889"/>
            <a:ext cx="47549" cy="4572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6210605" y="3910889"/>
            <a:ext cx="47549" cy="4572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761695" y="4596689"/>
            <a:ext cx="47549" cy="4572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923544" y="3910889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교육명</a:t>
            </a:r>
            <a:endParaRPr lang="en-US" sz="1200"/>
          </a:p>
        </p:txBody>
      </p:sp>
      <p:sp>
        <p:nvSpPr>
          <p:cNvPr id="16" name="Text 11"/>
          <p:cNvSpPr txBox="1"/>
          <p:nvPr/>
        </p:nvSpPr>
        <p:spPr>
          <a:xfrm>
            <a:off x="6372454" y="391088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대상</a:t>
            </a:r>
            <a:endParaRPr lang="en-US" sz="1200"/>
          </a:p>
        </p:txBody>
      </p:sp>
      <p:sp>
        <p:nvSpPr>
          <p:cNvPr id="17" name="Text 12"/>
          <p:cNvSpPr txBox="1"/>
          <p:nvPr/>
        </p:nvSpPr>
        <p:spPr>
          <a:xfrm>
            <a:off x="923544" y="4596689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기간 및 내용</a:t>
            </a:r>
            <a:endParaRPr lang="en-US" sz="1200"/>
          </a:p>
        </p:txBody>
      </p:sp>
      <p:sp>
        <p:nvSpPr>
          <p:cNvPr id="19" name="Text 14"/>
          <p:cNvSpPr txBox="1"/>
          <p:nvPr/>
        </p:nvSpPr>
        <p:spPr>
          <a:xfrm>
            <a:off x="923544" y="4139489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SDC SW 직군 대상(코딩단위테스트) 교육</a:t>
            </a:r>
            <a:endParaRPr lang="en-US" sz="1200"/>
          </a:p>
        </p:txBody>
      </p:sp>
      <p:sp>
        <p:nvSpPr>
          <p:cNvPr id="20" name="Text 15"/>
          <p:cNvSpPr txBox="1"/>
          <p:nvPr/>
        </p:nvSpPr>
        <p:spPr>
          <a:xfrm>
            <a:off x="6372454" y="4139489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SDC SW 직군</a:t>
            </a:r>
            <a:endParaRPr lang="en-US" sz="1200"/>
          </a:p>
        </p:txBody>
      </p:sp>
      <p:sp>
        <p:nvSpPr>
          <p:cNvPr id="21" name="Text 16"/>
          <p:cNvSpPr txBox="1"/>
          <p:nvPr/>
        </p:nvSpPr>
        <p:spPr>
          <a:xfrm>
            <a:off x="923544" y="4825289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3일(24H), C# 기반 단위테스트/TDD/Moq/CI-CD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761695" y="5244084"/>
            <a:ext cx="1066830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61695" y="5405933"/>
            <a:ext cx="76169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875995" y="544433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목표</a:t>
            </a:r>
            <a:endParaRPr lang="en-US" sz="1000"/>
          </a:p>
        </p:txBody>
      </p:sp>
      <p:sp>
        <p:nvSpPr>
          <p:cNvPr id="26" name="Text 21"/>
          <p:cNvSpPr txBox="1"/>
          <p:nvPr/>
        </p:nvSpPr>
        <p:spPr>
          <a:xfrm>
            <a:off x="1633118" y="5425135"/>
            <a:ext cx="5458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테스트의 이해와 TDD 기반 개발, 테스트 자동화를 통한 실무형 테스트 역량 강화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9720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152998" y="125730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996135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152998" y="1996135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2735885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152998" y="2735885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9905" y="347472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52998" y="347472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905" y="421447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52998" y="4214470"/>
            <a:ext cx="5429707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64438" y="1333195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/>
          </a:p>
        </p:txBody>
      </p:sp>
      <p:sp>
        <p:nvSpPr>
          <p:cNvPr id="17" name="Text 15"/>
          <p:cNvSpPr txBox="1"/>
          <p:nvPr/>
        </p:nvSpPr>
        <p:spPr>
          <a:xfrm>
            <a:off x="6307531" y="1333195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764438" y="2072945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6307531" y="2072945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500"/>
          </a:p>
        </p:txBody>
      </p:sp>
      <p:sp>
        <p:nvSpPr>
          <p:cNvPr id="20" name="Text 18"/>
          <p:cNvSpPr txBox="1"/>
          <p:nvPr/>
        </p:nvSpPr>
        <p:spPr>
          <a:xfrm>
            <a:off x="764438" y="2811780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6307531" y="2811780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764438" y="3551530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500"/>
          </a:p>
        </p:txBody>
      </p:sp>
      <p:sp>
        <p:nvSpPr>
          <p:cNvPr id="23" name="Text 21"/>
          <p:cNvSpPr txBox="1"/>
          <p:nvPr/>
        </p:nvSpPr>
        <p:spPr>
          <a:xfrm>
            <a:off x="6307531" y="3551530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500"/>
          </a:p>
        </p:txBody>
      </p:sp>
      <p:sp>
        <p:nvSpPr>
          <p:cNvPr id="24" name="Text 22"/>
          <p:cNvSpPr txBox="1"/>
          <p:nvPr/>
        </p:nvSpPr>
        <p:spPr>
          <a:xfrm>
            <a:off x="764438" y="4290365"/>
            <a:ext cx="2724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6249924" y="4290365"/>
            <a:ext cx="3867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1074420" y="1333195"/>
            <a:ext cx="12600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 기초</a:t>
            </a:r>
            <a:endParaRPr lang="en-US" sz="1300"/>
          </a:p>
        </p:txBody>
      </p:sp>
      <p:sp>
        <p:nvSpPr>
          <p:cNvPr id="27" name="Text 25"/>
          <p:cNvSpPr txBox="1"/>
          <p:nvPr/>
        </p:nvSpPr>
        <p:spPr>
          <a:xfrm>
            <a:off x="6617513" y="1333195"/>
            <a:ext cx="12024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테스트 환경</a:t>
            </a:r>
            <a:endParaRPr lang="en-US" sz="1300"/>
          </a:p>
        </p:txBody>
      </p:sp>
      <p:sp>
        <p:nvSpPr>
          <p:cNvPr id="28" name="Text 26"/>
          <p:cNvSpPr txBox="1"/>
          <p:nvPr/>
        </p:nvSpPr>
        <p:spPr>
          <a:xfrm>
            <a:off x="1074420" y="2072945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실습</a:t>
            </a:r>
            <a:endParaRPr lang="en-US" sz="1300"/>
          </a:p>
        </p:txBody>
      </p:sp>
      <p:sp>
        <p:nvSpPr>
          <p:cNvPr id="29" name="Text 27"/>
          <p:cNvSpPr txBox="1"/>
          <p:nvPr/>
        </p:nvSpPr>
        <p:spPr>
          <a:xfrm>
            <a:off x="6617513" y="2072945"/>
            <a:ext cx="14218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처리(Moq)</a:t>
            </a:r>
            <a:endParaRPr lang="en-US" sz="1300"/>
          </a:p>
        </p:txBody>
      </p:sp>
      <p:sp>
        <p:nvSpPr>
          <p:cNvPr id="30" name="Text 28"/>
          <p:cNvSpPr txBox="1"/>
          <p:nvPr/>
        </p:nvSpPr>
        <p:spPr>
          <a:xfrm>
            <a:off x="1074420" y="2811780"/>
            <a:ext cx="8311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실전</a:t>
            </a:r>
            <a:endParaRPr lang="en-US" sz="1300"/>
          </a:p>
        </p:txBody>
      </p:sp>
      <p:sp>
        <p:nvSpPr>
          <p:cNvPr id="31" name="Text 29"/>
          <p:cNvSpPr txBox="1"/>
          <p:nvPr/>
        </p:nvSpPr>
        <p:spPr>
          <a:xfrm>
            <a:off x="6617513" y="2811780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기법</a:t>
            </a:r>
            <a:endParaRPr lang="en-US" sz="1300"/>
          </a:p>
        </p:txBody>
      </p:sp>
      <p:sp>
        <p:nvSpPr>
          <p:cNvPr id="32" name="Text 30"/>
          <p:cNvSpPr txBox="1"/>
          <p:nvPr/>
        </p:nvSpPr>
        <p:spPr>
          <a:xfrm>
            <a:off x="1074420" y="3551530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</a:t>
            </a:r>
            <a:endParaRPr lang="en-US" sz="1300"/>
          </a:p>
        </p:txBody>
      </p:sp>
      <p:sp>
        <p:nvSpPr>
          <p:cNvPr id="33" name="Text 31"/>
          <p:cNvSpPr txBox="1"/>
          <p:nvPr/>
        </p:nvSpPr>
        <p:spPr>
          <a:xfrm>
            <a:off x="6617513" y="3551530"/>
            <a:ext cx="16212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자동화/CI-CD</a:t>
            </a:r>
            <a:endParaRPr lang="en-US" sz="1300"/>
          </a:p>
        </p:txBody>
      </p:sp>
      <p:sp>
        <p:nvSpPr>
          <p:cNvPr id="34" name="Text 32"/>
          <p:cNvSpPr txBox="1"/>
          <p:nvPr/>
        </p:nvSpPr>
        <p:spPr>
          <a:xfrm>
            <a:off x="1074420" y="4290365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프로젝트</a:t>
            </a:r>
            <a:endParaRPr lang="en-US" sz="1300"/>
          </a:p>
        </p:txBody>
      </p:sp>
      <p:sp>
        <p:nvSpPr>
          <p:cNvPr id="35" name="Text 33"/>
          <p:cNvSpPr txBox="1"/>
          <p:nvPr/>
        </p:nvSpPr>
        <p:spPr>
          <a:xfrm>
            <a:off x="6617513" y="4290365"/>
            <a:ext cx="4407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</a:t>
            </a:r>
            <a:endParaRPr lang="en-US" sz="1300"/>
          </a:p>
        </p:txBody>
      </p:sp>
      <p:sp>
        <p:nvSpPr>
          <p:cNvPr id="36" name="Text 34"/>
          <p:cNvSpPr txBox="1"/>
          <p:nvPr/>
        </p:nvSpPr>
        <p:spPr>
          <a:xfrm>
            <a:off x="1074420" y="1623060"/>
            <a:ext cx="15398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개념, FIRST 원칙, TDD 개요</a:t>
            </a:r>
            <a:endParaRPr lang="en-US" sz="900"/>
          </a:p>
        </p:txBody>
      </p:sp>
      <p:sp>
        <p:nvSpPr>
          <p:cNvPr id="37" name="Text 35"/>
          <p:cNvSpPr txBox="1"/>
          <p:nvPr/>
        </p:nvSpPr>
        <p:spPr>
          <a:xfrm>
            <a:off x="6617513" y="1623060"/>
            <a:ext cx="1835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설정, NUnit/xUnit 프레임워크</a:t>
            </a:r>
            <a:endParaRPr lang="en-US" sz="900"/>
          </a:p>
        </p:txBody>
      </p:sp>
      <p:sp>
        <p:nvSpPr>
          <p:cNvPr id="38" name="Text 36"/>
          <p:cNvSpPr txBox="1"/>
          <p:nvPr/>
        </p:nvSpPr>
        <p:spPr>
          <a:xfrm>
            <a:off x="1074420" y="2361895"/>
            <a:ext cx="1882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Calculator 클래스, TestCase 활용</a:t>
            </a:r>
            <a:endParaRPr lang="en-US" sz="900"/>
          </a:p>
        </p:txBody>
      </p:sp>
      <p:sp>
        <p:nvSpPr>
          <p:cNvPr id="39" name="Text 37"/>
          <p:cNvSpPr txBox="1"/>
          <p:nvPr/>
        </p:nvSpPr>
        <p:spPr>
          <a:xfrm>
            <a:off x="6617513" y="2361895"/>
            <a:ext cx="16157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더블, 외부 의존성 격리</a:t>
            </a:r>
            <a:endParaRPr lang="en-US" sz="900"/>
          </a:p>
        </p:txBody>
      </p:sp>
      <p:sp>
        <p:nvSpPr>
          <p:cNvPr id="40" name="Text 38"/>
          <p:cNvSpPr txBox="1"/>
          <p:nvPr/>
        </p:nvSpPr>
        <p:spPr>
          <a:xfrm>
            <a:off x="1074420" y="3101645"/>
            <a:ext cx="15873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Red-Green-Refactor 사이클</a:t>
            </a:r>
            <a:endParaRPr lang="en-US" sz="900"/>
          </a:p>
        </p:txBody>
      </p:sp>
      <p:sp>
        <p:nvSpPr>
          <p:cNvPr id="41" name="Text 39"/>
          <p:cNvSpPr txBox="1"/>
          <p:nvPr/>
        </p:nvSpPr>
        <p:spPr>
          <a:xfrm>
            <a:off x="6617513" y="3101645"/>
            <a:ext cx="16440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처리, 비동기, 의존성 제어</a:t>
            </a:r>
            <a:endParaRPr lang="en-US" sz="900"/>
          </a:p>
        </p:txBody>
      </p:sp>
      <p:sp>
        <p:nvSpPr>
          <p:cNvPr id="42" name="Text 40"/>
          <p:cNvSpPr txBox="1"/>
          <p:nvPr/>
        </p:nvSpPr>
        <p:spPr>
          <a:xfrm>
            <a:off x="1074420" y="3840480"/>
            <a:ext cx="16066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ReportGenerator, 품질 분석</a:t>
            </a:r>
            <a:endParaRPr lang="en-US" sz="900"/>
          </a:p>
        </p:txBody>
      </p:sp>
      <p:sp>
        <p:nvSpPr>
          <p:cNvPr id="43" name="Text 41"/>
          <p:cNvSpPr txBox="1"/>
          <p:nvPr/>
        </p:nvSpPr>
        <p:spPr>
          <a:xfrm>
            <a:off x="6617513" y="3840480"/>
            <a:ext cx="15773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Actions, 파이프라인</a:t>
            </a:r>
            <a:endParaRPr lang="en-US" sz="900"/>
          </a:p>
        </p:txBody>
      </p:sp>
      <p:sp>
        <p:nvSpPr>
          <p:cNvPr id="44" name="Text 42"/>
          <p:cNvSpPr txBox="1"/>
          <p:nvPr/>
        </p:nvSpPr>
        <p:spPr>
          <a:xfrm>
            <a:off x="1074420" y="4580230"/>
            <a:ext cx="13395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미니 프로젝트</a:t>
            </a:r>
            <a:endParaRPr lang="en-US" sz="900"/>
          </a:p>
        </p:txBody>
      </p:sp>
      <p:sp>
        <p:nvSpPr>
          <p:cNvPr id="45" name="Text 43"/>
          <p:cNvSpPr txBox="1"/>
          <p:nvPr/>
        </p:nvSpPr>
        <p:spPr>
          <a:xfrm>
            <a:off x="6617513" y="4580230"/>
            <a:ext cx="12444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FAQ, 용어집, 참고자료</a:t>
            </a:r>
            <a:endParaRPr lang="en-US" sz="900"/>
          </a:p>
        </p:txBody>
      </p:sp>
      <p:sp>
        <p:nvSpPr>
          <p:cNvPr id="46" name="Text 44"/>
          <p:cNvSpPr txBox="1"/>
          <p:nvPr/>
        </p:nvSpPr>
        <p:spPr>
          <a:xfrm>
            <a:off x="9816998" y="6511442"/>
            <a:ext cx="1869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목차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991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개요 및 운영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800100" y="1600200"/>
            <a:ext cx="3813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10605" y="25987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333195" y="160020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대상</a:t>
            </a:r>
            <a:endParaRPr lang="en-US" sz="1400"/>
          </a:p>
        </p:txBody>
      </p:sp>
      <p:sp>
        <p:nvSpPr>
          <p:cNvPr id="11" name="Text 8"/>
          <p:cNvSpPr txBox="1"/>
          <p:nvPr/>
        </p:nvSpPr>
        <p:spPr>
          <a:xfrm>
            <a:off x="6858000" y="160020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시간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278892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도구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333195" y="195041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SDC SW 직군</a:t>
            </a:r>
            <a:endParaRPr lang="en-US" sz="1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9905" y="25987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6858000" y="1950415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× 8시간 (총 24시간)</a:t>
            </a:r>
            <a:endParaRPr lang="en-US" sz="12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00100" y="2788920"/>
            <a:ext cx="381305" cy="3044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33195" y="278892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방식</a:t>
            </a:r>
            <a:endParaRPr lang="en-US" sz="1400"/>
          </a:p>
        </p:txBody>
      </p:sp>
      <p:sp>
        <p:nvSpPr>
          <p:cNvPr id="19" name="Text 14"/>
          <p:cNvSpPr txBox="1"/>
          <p:nvPr/>
        </p:nvSpPr>
        <p:spPr>
          <a:xfrm>
            <a:off x="1333195" y="3139135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40% + 실습 60%</a:t>
            </a:r>
            <a:endParaRPr lang="en-US" sz="1200"/>
          </a:p>
        </p:txBody>
      </p:sp>
      <p:sp>
        <p:nvSpPr>
          <p:cNvPr id="20" name="Text 15"/>
          <p:cNvSpPr txBox="1"/>
          <p:nvPr/>
        </p:nvSpPr>
        <p:spPr>
          <a:xfrm>
            <a:off x="1333195" y="336773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중심의 핸즈온 워크샵</a:t>
            </a:r>
            <a:endParaRPr lang="en-US" sz="12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278892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313913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Studio, .NET, NUnit/xUnit</a:t>
            </a:r>
            <a:endParaRPr lang="en-US" sz="1200"/>
          </a:p>
        </p:txBody>
      </p:sp>
      <p:sp>
        <p:nvSpPr>
          <p:cNvPr id="23" name="Text 17"/>
          <p:cNvSpPr txBox="1"/>
          <p:nvPr/>
        </p:nvSpPr>
        <p:spPr>
          <a:xfrm>
            <a:off x="6858000" y="336773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Moq, GitHub Actions, ReportGenerator</a:t>
            </a:r>
            <a:endParaRPr lang="en-US" sz="1200"/>
          </a:p>
        </p:txBody>
      </p:sp>
      <p:sp>
        <p:nvSpPr>
          <p:cNvPr id="24" name="Shape 18"/>
          <p:cNvSpPr/>
          <p:nvPr/>
        </p:nvSpPr>
        <p:spPr>
          <a:xfrm>
            <a:off x="609905" y="4016045"/>
            <a:ext cx="10972800" cy="981151"/>
          </a:xfrm>
          <a:prstGeom prst="roundRect">
            <a:avLst>
              <a:gd name="adj" fmla="val 723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4253789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90549" y="4215384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목표</a:t>
            </a:r>
            <a:endParaRPr lang="en-US" sz="1400"/>
          </a:p>
        </p:txBody>
      </p:sp>
      <p:sp>
        <p:nvSpPr>
          <p:cNvPr id="27" name="Text 20"/>
          <p:cNvSpPr txBox="1"/>
          <p:nvPr/>
        </p:nvSpPr>
        <p:spPr>
          <a:xfrm>
            <a:off x="1190549" y="4566514"/>
            <a:ext cx="981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단위테스트와 TDD 기반 개발 역량 확보를 통해 소프트웨어 품질을 높이고, 지속적 통합 및 배포(CI/CD) 환경에서의 테스트 자동화 구축 능력을 강화합니다.</a:t>
            </a:r>
            <a:endParaRPr lang="en-US" sz="1200"/>
          </a:p>
        </p:txBody>
      </p:sp>
      <p:sp>
        <p:nvSpPr>
          <p:cNvPr id="29" name="Text 22"/>
          <p:cNvSpPr txBox="1"/>
          <p:nvPr/>
        </p:nvSpPr>
        <p:spPr>
          <a:xfrm>
            <a:off x="9816998" y="6511442"/>
            <a:ext cx="1869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개요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27916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커리큘럼 로드맵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18895"/>
            <a:ext cx="3376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 기초부터 CI/CD 자동화까지 체계적인 교육 과정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561795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43400" y="1561795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2962656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24205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819302" y="1849831"/>
            <a:ext cx="114300" cy="1335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76895" y="1561795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43400" y="2962656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076895" y="2962656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43400" y="4363517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76895" y="4363517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457700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24205" y="316473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457700" y="316473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191195" y="316473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457700" y="456559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191195" y="456559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104595" y="167609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300"/>
          </a:p>
        </p:txBody>
      </p:sp>
      <p:sp>
        <p:nvSpPr>
          <p:cNvPr id="24" name="Text 21"/>
          <p:cNvSpPr txBox="1"/>
          <p:nvPr/>
        </p:nvSpPr>
        <p:spPr>
          <a:xfrm>
            <a:off x="4839005" y="167609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300"/>
          </a:p>
        </p:txBody>
      </p:sp>
      <p:sp>
        <p:nvSpPr>
          <p:cNvPr id="25" name="Text 22"/>
          <p:cNvSpPr txBox="1"/>
          <p:nvPr/>
        </p:nvSpPr>
        <p:spPr>
          <a:xfrm>
            <a:off x="1104595" y="3076956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300"/>
          </a:p>
        </p:txBody>
      </p:sp>
      <p:sp>
        <p:nvSpPr>
          <p:cNvPr id="26" name="Text 23"/>
          <p:cNvSpPr txBox="1"/>
          <p:nvPr/>
        </p:nvSpPr>
        <p:spPr>
          <a:xfrm>
            <a:off x="4839005" y="3076956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300"/>
          </a:p>
        </p:txBody>
      </p:sp>
      <p:sp>
        <p:nvSpPr>
          <p:cNvPr id="27" name="Text 24"/>
          <p:cNvSpPr txBox="1"/>
          <p:nvPr/>
        </p:nvSpPr>
        <p:spPr>
          <a:xfrm>
            <a:off x="8572500" y="3076956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300"/>
          </a:p>
        </p:txBody>
      </p:sp>
      <p:sp>
        <p:nvSpPr>
          <p:cNvPr id="28" name="Text 25"/>
          <p:cNvSpPr txBox="1"/>
          <p:nvPr/>
        </p:nvSpPr>
        <p:spPr>
          <a:xfrm>
            <a:off x="1104595" y="4477817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1300"/>
          </a:p>
        </p:txBody>
      </p:sp>
      <p:sp>
        <p:nvSpPr>
          <p:cNvPr id="29" name="Text 26"/>
          <p:cNvSpPr txBox="1"/>
          <p:nvPr/>
        </p:nvSpPr>
        <p:spPr>
          <a:xfrm>
            <a:off x="1104595" y="192755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 기초</a:t>
            </a:r>
            <a:endParaRPr lang="en-US" sz="1200"/>
          </a:p>
        </p:txBody>
      </p:sp>
      <p:sp>
        <p:nvSpPr>
          <p:cNvPr id="30" name="Text 27"/>
          <p:cNvSpPr txBox="1"/>
          <p:nvPr/>
        </p:nvSpPr>
        <p:spPr>
          <a:xfrm>
            <a:off x="4839005" y="1927555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테스트 환경</a:t>
            </a:r>
            <a:endParaRPr lang="en-US" sz="1200"/>
          </a:p>
        </p:txBody>
      </p:sp>
      <p:sp>
        <p:nvSpPr>
          <p:cNvPr id="31" name="Text 28"/>
          <p:cNvSpPr txBox="1"/>
          <p:nvPr/>
        </p:nvSpPr>
        <p:spPr>
          <a:xfrm>
            <a:off x="4839005" y="3328416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처리(Moq)</a:t>
            </a:r>
            <a:endParaRPr lang="en-US" sz="1200"/>
          </a:p>
        </p:txBody>
      </p:sp>
      <p:sp>
        <p:nvSpPr>
          <p:cNvPr id="32" name="Text 29"/>
          <p:cNvSpPr txBox="1"/>
          <p:nvPr/>
        </p:nvSpPr>
        <p:spPr>
          <a:xfrm>
            <a:off x="724205" y="2175358"/>
            <a:ext cx="16440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원칙, TDD 개념, 필요성</a:t>
            </a:r>
            <a:endParaRPr lang="en-US" sz="90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3654" y="1849831"/>
            <a:ext cx="133502" cy="133502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8191195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8572500" y="192755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실습</a:t>
            </a:r>
            <a:endParaRPr lang="en-US" sz="1200"/>
          </a:p>
        </p:txBody>
      </p:sp>
      <p:sp>
        <p:nvSpPr>
          <p:cNvPr id="36" name="Text 32"/>
          <p:cNvSpPr txBox="1"/>
          <p:nvPr/>
        </p:nvSpPr>
        <p:spPr>
          <a:xfrm>
            <a:off x="4457700" y="2175358"/>
            <a:ext cx="16632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NUnit/xUnit, VS 설정, Assert</a:t>
            </a:r>
            <a:endParaRPr lang="en-US" sz="90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8257946" y="1849831"/>
            <a:ext cx="171907" cy="13350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572500" y="167609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300"/>
          </a:p>
        </p:txBody>
      </p:sp>
      <p:sp>
        <p:nvSpPr>
          <p:cNvPr id="39" name="Text 34"/>
          <p:cNvSpPr txBox="1"/>
          <p:nvPr/>
        </p:nvSpPr>
        <p:spPr>
          <a:xfrm>
            <a:off x="8191195" y="2175358"/>
            <a:ext cx="16157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Calculator 테스트, TestCase</a:t>
            </a:r>
            <a:endParaRPr lang="en-US" sz="90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6024982" y="2619756"/>
            <a:ext cx="142646" cy="228600"/>
          </a:xfrm>
          <a:prstGeom prst="rect">
            <a:avLst/>
          </a:prstGeom>
        </p:spPr>
      </p:pic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3250692"/>
            <a:ext cx="133502" cy="13350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104595" y="3328416"/>
            <a:ext cx="752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실전</a:t>
            </a:r>
            <a:endParaRPr lang="en-US" sz="1200"/>
          </a:p>
        </p:txBody>
      </p:sp>
      <p:sp>
        <p:nvSpPr>
          <p:cNvPr id="43" name="Text 36"/>
          <p:cNvSpPr txBox="1"/>
          <p:nvPr/>
        </p:nvSpPr>
        <p:spPr>
          <a:xfrm>
            <a:off x="724205" y="3576218"/>
            <a:ext cx="15014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Red-Green-Refactor, 실습</a:t>
            </a:r>
            <a:endParaRPr lang="en-US" sz="90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43654" y="3250692"/>
            <a:ext cx="133502" cy="133502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4457700" y="3576218"/>
            <a:ext cx="16157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더블, 외부 의존성 격리</a:t>
            </a:r>
            <a:endParaRPr lang="en-US" sz="90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8257946" y="3250692"/>
            <a:ext cx="171907" cy="13350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4839005" y="4477817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8</a:t>
            </a:r>
            <a:endParaRPr lang="en-US" sz="1300"/>
          </a:p>
        </p:txBody>
      </p:sp>
      <p:sp>
        <p:nvSpPr>
          <p:cNvPr id="48" name="Text 39"/>
          <p:cNvSpPr txBox="1"/>
          <p:nvPr/>
        </p:nvSpPr>
        <p:spPr>
          <a:xfrm>
            <a:off x="8572500" y="4477817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9</a:t>
            </a:r>
            <a:endParaRPr lang="en-US" sz="1300"/>
          </a:p>
        </p:txBody>
      </p:sp>
      <p:sp>
        <p:nvSpPr>
          <p:cNvPr id="49" name="Text 40"/>
          <p:cNvSpPr txBox="1"/>
          <p:nvPr/>
        </p:nvSpPr>
        <p:spPr>
          <a:xfrm>
            <a:off x="8572500" y="3328416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기법</a:t>
            </a:r>
            <a:endParaRPr lang="en-US" sz="1200"/>
          </a:p>
        </p:txBody>
      </p:sp>
      <p:sp>
        <p:nvSpPr>
          <p:cNvPr id="50" name="Text 41"/>
          <p:cNvSpPr txBox="1"/>
          <p:nvPr/>
        </p:nvSpPr>
        <p:spPr>
          <a:xfrm>
            <a:off x="4839005" y="472927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자동화</a:t>
            </a:r>
            <a:endParaRPr lang="en-US" sz="1200"/>
          </a:p>
        </p:txBody>
      </p:sp>
      <p:sp>
        <p:nvSpPr>
          <p:cNvPr id="51" name="Text 42"/>
          <p:cNvSpPr txBox="1"/>
          <p:nvPr/>
        </p:nvSpPr>
        <p:spPr>
          <a:xfrm>
            <a:off x="8572500" y="472927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프로젝트</a:t>
            </a:r>
            <a:endParaRPr lang="en-US" sz="1200"/>
          </a:p>
        </p:txBody>
      </p:sp>
      <p:sp>
        <p:nvSpPr>
          <p:cNvPr id="52" name="Text 43"/>
          <p:cNvSpPr txBox="1"/>
          <p:nvPr/>
        </p:nvSpPr>
        <p:spPr>
          <a:xfrm>
            <a:off x="8191195" y="3576218"/>
            <a:ext cx="15014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예외, 비동기, 경계값 테스트</a:t>
            </a:r>
            <a:endParaRPr lang="en-US" sz="90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6024982" y="4020617"/>
            <a:ext cx="142646" cy="228600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09905" y="4363517"/>
            <a:ext cx="35048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5"/>
          <p:cNvSpPr/>
          <p:nvPr/>
        </p:nvSpPr>
        <p:spPr>
          <a:xfrm>
            <a:off x="724205" y="456559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800100" y="4650638"/>
            <a:ext cx="152705" cy="133502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1104595" y="472927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</a:t>
            </a:r>
            <a:endParaRPr lang="en-US" sz="1200"/>
          </a:p>
        </p:txBody>
      </p:sp>
      <p:sp>
        <p:nvSpPr>
          <p:cNvPr id="58" name="Text 47"/>
          <p:cNvSpPr txBox="1"/>
          <p:nvPr/>
        </p:nvSpPr>
        <p:spPr>
          <a:xfrm>
            <a:off x="724205" y="4977079"/>
            <a:ext cx="16066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ReportGenerator, 품질 분석</a:t>
            </a:r>
            <a:endParaRPr lang="en-US" sz="900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43654" y="4650638"/>
            <a:ext cx="133502" cy="133502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4457700" y="4977079"/>
            <a:ext cx="15773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Actions, 파이프라인</a:t>
            </a:r>
            <a:endParaRPr lang="en-US" sz="90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8287207" y="4650638"/>
            <a:ext cx="114300" cy="133502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191195" y="4977079"/>
            <a:ext cx="16258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TDD 프로젝트, 코드 리뷰</a:t>
            </a:r>
            <a:endParaRPr lang="en-US" sz="900"/>
          </a:p>
        </p:txBody>
      </p:sp>
      <p:sp>
        <p:nvSpPr>
          <p:cNvPr id="63" name="Shape 50"/>
          <p:cNvSpPr/>
          <p:nvPr/>
        </p:nvSpPr>
        <p:spPr>
          <a:xfrm>
            <a:off x="609905" y="5421478"/>
            <a:ext cx="10972800" cy="437998"/>
          </a:xfrm>
          <a:prstGeom prst="roundRect">
            <a:avLst>
              <a:gd name="adj" fmla="val 363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3"/>
          <a:srcRect l="-1773" r="-1773"/>
          <a:stretch/>
        </p:blipFill>
        <p:spPr>
          <a:xfrm>
            <a:off x="733349" y="5554066"/>
            <a:ext cx="133502" cy="171907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942746" y="5544922"/>
            <a:ext cx="3386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이관 중심 설계: 기초부터 실전 역량을 단계적으로 강화</a:t>
            </a:r>
            <a:endParaRPr lang="en-US" sz="1000"/>
          </a:p>
        </p:txBody>
      </p:sp>
      <p:sp>
        <p:nvSpPr>
          <p:cNvPr id="66" name="Text 52"/>
          <p:cNvSpPr txBox="1"/>
          <p:nvPr/>
        </p:nvSpPr>
        <p:spPr>
          <a:xfrm>
            <a:off x="9325966" y="6599225"/>
            <a:ext cx="23490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커리큘럼 로드맵</a:t>
            </a:r>
            <a:endParaRPr lang="en-US" sz="900"/>
          </a:p>
        </p:txBody>
      </p:sp>
      <p:sp>
        <p:nvSpPr>
          <p:cNvPr id="67" name="Shape 53"/>
          <p:cNvSpPr/>
          <p:nvPr/>
        </p:nvSpPr>
        <p:spPr>
          <a:xfrm>
            <a:off x="4114800" y="19431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4"/>
          <p:cNvSpPr/>
          <p:nvPr/>
        </p:nvSpPr>
        <p:spPr>
          <a:xfrm>
            <a:off x="7848295" y="19431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5"/>
          <p:cNvSpPr/>
          <p:nvPr/>
        </p:nvSpPr>
        <p:spPr>
          <a:xfrm>
            <a:off x="4114800" y="3343961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6"/>
          <p:cNvSpPr/>
          <p:nvPr/>
        </p:nvSpPr>
        <p:spPr>
          <a:xfrm>
            <a:off x="7848295" y="3343961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7"/>
          <p:cNvSpPr/>
          <p:nvPr/>
        </p:nvSpPr>
        <p:spPr>
          <a:xfrm>
            <a:off x="4114800" y="4744822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58"/>
          <p:cNvSpPr/>
          <p:nvPr/>
        </p:nvSpPr>
        <p:spPr>
          <a:xfrm>
            <a:off x="7848295" y="4744822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5338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단위테스트란?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3048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6007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52748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단위테스트는 소프트웨어의 최소 단위(함수/메서드)를 격리된 환경에서 검증하는 테스트입니다. 코드가 의도대로 작동하는지 확인하는 자동화된 테스트 코드를 작성해 반복 실행합니다.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864815"/>
            <a:ext cx="276149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52144" y="2877617"/>
            <a:ext cx="4407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빠름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61695" y="3207715"/>
            <a:ext cx="331287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없이 빠르게 실행되며, 각 테스트는 독립적으로 작동합니다.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0502" y="286481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60950" y="2877617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안전망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70502" y="3207715"/>
            <a:ext cx="335127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시 회귀 문제를 조기에 발견하고, 코드 변경의 영향을 즉시 확인합니다.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8394" y="2864815"/>
            <a:ext cx="276149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68842" y="2877617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개선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78394" y="3207715"/>
            <a:ext cx="323697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테스트하기 쉬운 코드를 작성하도록 유도해 결합도는 낮추고 응집도는 높입니다.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906317"/>
            <a:ext cx="10972800" cy="1886407"/>
          </a:xfrm>
          <a:prstGeom prst="roundRect">
            <a:avLst>
              <a:gd name="adj" fmla="val 19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106570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4068166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Calculator 클래스 테스트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028700" y="4335170"/>
            <a:ext cx="3276295" cy="1295705"/>
          </a:xfrm>
          <a:prstGeom prst="roundRect">
            <a:avLst>
              <a:gd name="adj" fmla="val 2076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04595" y="4430268"/>
            <a:ext cx="3140834" cy="1064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[Test]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void </a:t>
            </a:r>
            <a:r>
              <a:rPr lang="en-US" sz="1000" err="1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Add_TwoNumbers_ReturnsSum</a:t>
            </a: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()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{   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var calc = new Calculator();    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Assert</a:t>
            </a:r>
            <a:r>
              <a:rPr lang="en-US" sz="1000" err="1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.AreEqual</a:t>
            </a: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(5, </a:t>
            </a:r>
            <a:r>
              <a:rPr lang="en-US" sz="1000" err="1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calc.Add</a:t>
            </a: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(2, 3));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}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9186062" y="6548933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46012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단위테스트의 비즈니스 가치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30" b="-30"/>
          <a:stretch/>
        </p:blipFill>
        <p:spPr>
          <a:xfrm>
            <a:off x="800100" y="1600200"/>
            <a:ext cx="1901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160020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비용 절감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속도 향상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01752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품질 게이트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143000" y="1950415"/>
            <a:ext cx="4629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단계에서 결함 발견 시 수정 비용은 프로덕션 단계의 약 1/100 수준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143000" y="217901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신뢰도 손실과 관련된 간접 비용 방지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변경에 대한 회귀 테스트 자동화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리팩토링으로 기술 부채 감소와 품질 향상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안정성 강화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프로덕션 환경의 예상치 못한 장애 감소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복구 시간(MTTR) 단축 및 가용성 증가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017520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36773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통합 환경의 핵심 품질 지표로 활용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596335"/>
            <a:ext cx="267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릴리스 파이프라인의 기반 구축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981151"/>
          </a:xfrm>
          <a:prstGeom prst="roundRect">
            <a:avLst>
              <a:gd name="adj" fmla="val 723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4482389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90549" y="4443984"/>
            <a:ext cx="14328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ROI(투자수익률)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90549" y="4795114"/>
            <a:ext cx="9173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단위테스트에 투자하는 초기 시간 대비, 디버깅 및 유지보수 시간 감소, 고객 만족도 증가, 신뢰성 있는 릴리스 주기 단축 등 장기적 이득이 큽니다.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526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업계 표준: 단위테스트 투자 시간 대비 최대 4배 비용 절감 효과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699955" y="6511442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1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8867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 개요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3048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30861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단위 테스트의 5가지 원칙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6134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FIRST는 효과적인 단위 테스트를 위한 핵심 원칙으로, Fast(빠르게), Independent(독립적으로), Repeatable(반복 가능하게), Self-Validating(자가 검증), Timely(적시에)의 약자입니다. 이 원칙들은 테스트 코드의 품질을 평가하는 기준이자 가이드라인입니다.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761695" y="2864815"/>
            <a:ext cx="237744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4654" y="2877617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기준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61695" y="3207715"/>
            <a:ext cx="32753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품질의 테스트를 작성하기 위한 명확한 지침을 제공합니다.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0502" y="286481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60950" y="2877617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품질 향상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70502" y="3207715"/>
            <a:ext cx="32753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유지보수가 쉽고 신뢰할 수 있는 고품질 테스트를 작성할 수 있습니다.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8394" y="2864815"/>
            <a:ext cx="276149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68842" y="2877617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지원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78394" y="3207715"/>
            <a:ext cx="32753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빌드 및 배포 프로세스에 적합한 테스트를 작성할 수 있습니다.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906317"/>
            <a:ext cx="10972800" cy="2266798"/>
          </a:xfrm>
          <a:prstGeom prst="roundRect">
            <a:avLst>
              <a:gd name="adj" fmla="val 1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106570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4068166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 적용 예시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028700" y="4335170"/>
            <a:ext cx="4638751" cy="1676095"/>
          </a:xfrm>
          <a:prstGeom prst="roundRect">
            <a:avLst>
              <a:gd name="adj" fmla="val 12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04594" y="4430268"/>
            <a:ext cx="4381805" cy="1488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// FIRST </a:t>
            </a:r>
            <a:r>
              <a:rPr lang="ko-KR" alt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원칙을 따른 테스트</a:t>
            </a:r>
          </a:p>
          <a:p>
            <a:pPr marL="0" indent="0" algn="l">
              <a:buNone/>
            </a:pPr>
            <a:endParaRPr lang="ko-KR" altLang="en-US" sz="1000">
              <a:solidFill>
                <a:srgbClr val="6EE7B7"/>
              </a:solidFill>
              <a:latin typeface="Consolas" panose="020B0609020204030204" pitchFamily="49" charset="0"/>
              <a:ea typeface="Noto Sans KR" panose="020B0200000000000000" pitchFamily="50" charset="-127"/>
              <a:cs typeface="ui-monospace" pitchFamily="34" charset="-120"/>
            </a:endParaRPr>
          </a:p>
          <a:p>
            <a:pPr marL="0" indent="0" algn="l">
              <a:buNone/>
            </a:pPr>
            <a:r>
              <a:rPr lang="en-US" altLang="ko-KR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</a:t>
            </a: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Test]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void IsValidEmail_WithValidFormat_ReturnsTrue()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var validator = new EmailValidator();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var result = validator.IsValidEmail("user@example.com");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Assert.IsTrue(result);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}</a:t>
            </a:r>
          </a:p>
        </p:txBody>
      </p:sp>
      <p:sp>
        <p:nvSpPr>
          <p:cNvPr id="34" name="Text 28"/>
          <p:cNvSpPr txBox="1"/>
          <p:nvPr/>
        </p:nvSpPr>
        <p:spPr>
          <a:xfrm>
            <a:off x="9186062" y="6548933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3911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- Fast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800100" y="1600200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18895" y="1600200"/>
            <a:ext cx="16998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밀리초~초 단위 실행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19595" y="1600200"/>
            <a:ext cx="11850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느린 I/O 제거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246120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테스트의 중요성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18895" y="1950415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가능한 빠르게 실행되어야 합니다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18895" y="2179015"/>
            <a:ext cx="4515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이상적으로 각 테스트는 밀리초 단위로, 전체 테스트 묶음은 수 초 내로 완료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6400800" y="1600200"/>
            <a:ext cx="26700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19595" y="1950415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DB, 파일 시스템, 네트워크 호출 배제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19595" y="2179015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서비스나 API 의존성은 모의 객체(Mock)로 대체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246120"/>
            <a:ext cx="342900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5705" y="3246120"/>
            <a:ext cx="1804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묶음 병렬 실행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95705" y="359633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독립적인 테스트 설계로 병렬 실행 가능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95705" y="3824935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파이프라인에서 빠른 피드백 루프 확보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246120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596335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피드백 루프 단축으로 생산성 향상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824935"/>
            <a:ext cx="345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실행이 느린 테스트는 개발자들이 실행을 회피하게 됨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4732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7109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672584"/>
            <a:ext cx="16715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 원칙 실천 방법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5023714"/>
            <a:ext cx="10191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 시간이 1초 이상 소요된다면, 테스트 코드를 검토하여 외부 의존성 격리, 무거운 로직 분리, 테스트 범위 축소 등을 통해 실행 속도를 개선해야 합니다. 느린 테스트는 지속적 통합(CI) 및 TDD의 효율성을 저해합니다.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2488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빠른 테스트는 개발자 생산성과 직결됩니다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440266" y="6511442"/>
            <a:ext cx="22402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FIRST 원칙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64968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- Independent &amp; Repeatable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1804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간 순서 독립성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독립성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19595" y="301752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입력 사용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95705" y="1950415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다른 테스트와 독립적이어야 합니다.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95705" y="2179015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 순서에 의존하면 안 됩니다.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간 공유 상태를 피해야 합니다.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테스트는 필요한 상태를 스스로 설정합니다.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독립성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환경에서든 동일한 결과를 내야 합니다.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개발, 테스트, CI 환경 등에서 동일하게 동작해야 합니다.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017520"/>
            <a:ext cx="2670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9595" y="3367735"/>
            <a:ext cx="2705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시간, 랜덤 값, 환경변수 등을 고정합니다.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19595" y="3596335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결과의 일관성과 예측 가능성을 확보합니다.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베스트 프랙티스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SetUp/TearDown 메서드를 활용해 테스트마다 깨끗한 상태를 유지하고, 시간/랜덤 의존성은 인터페이스로 추상화하여 테스트에서 제어할 수 있도록 만듭니다. 글로벌 상태를 피하고, 데이터베이스 연결이나 외부 API 호출 같은 외부 의존성은 격리합니다.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5460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테스트 독립성과 반복 가능성은 테스트 안정성의 기반이 됩니다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440266" y="6511442"/>
            <a:ext cx="22402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FIRST 원칙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67821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- Self-Validating &amp; Timely 원칙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6614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성공/실패 이분 결과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933895" y="1600200"/>
            <a:ext cx="21186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사전조건/사후조건 명확화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017520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즉각적인 피드백 제공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스스로 성공 또는 실패를 명확히 판단해야 합니다.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해석이나 로그 확인 과정이 필요하면 안 됩니다.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6400800" y="1600200"/>
            <a:ext cx="38130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33895" y="1950415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테스트에 필요한 모든 데이터와 예상 결과를 명시합니다.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933895" y="2179015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확인 없이도 결과 검증이 완전해야 합니다.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017520"/>
            <a:ext cx="228600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1405" y="3017520"/>
            <a:ext cx="24140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작성 전 또는 직후에 작성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181405" y="3367735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TDD에서는 코드 작성 전에, 테스트 후기 방식에서는 기능 구현 직후에 테스트를 작성합니다.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181405" y="382493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지날수록 테스트 작성의 가치와 정확성이 떨어집니다.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017520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367735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빠르게 실행되어 즉각적인 피드백을 제공해야 합니다.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596335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 후 바로 테스트하여 문제를 조기에 발견합니다.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4732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7109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672584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 적용 팁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5023714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Self-Validating과 Timely 원칙은 서로 연관성이 높습니다. 테스트를 적시에 작성할 때 검증 기준이 명확하며, 자가 검증이 확실한 테스트는 지속적인 통합(CI) 환경에서 더 큰 가치를 발휘합니다.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7170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Assert문을 통한 명확한 검증 기준 설정이 자가 검증의 핵심입니다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440266" y="6511442"/>
            <a:ext cx="22402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FIRST 원칙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18388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개요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257300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2573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주도 개발(Test-Driven Development)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639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코드를 먼저 작성한 후 실제 코드를 구현하는 개발 방법론입니다. Red-Green-Refactor 사이클을 통해 요구사항을 테스트로 구체화하고, 점진적인 개발과 리팩토링을 반복하며 코드 품질을 향상시킵니다.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667305"/>
            <a:ext cx="3610051" cy="1114654"/>
          </a:xfrm>
          <a:prstGeom prst="roundRect">
            <a:avLst>
              <a:gd name="adj" fmla="val 560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149547" y="3212287"/>
            <a:ext cx="95098" cy="9509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349" y="2792578"/>
            <a:ext cx="247802" cy="2478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7046" y="2790749"/>
            <a:ext cx="64099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Red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33349" y="3061411"/>
            <a:ext cx="13222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실패하는 테스트 작성</a:t>
            </a:r>
            <a:endParaRPr lang="en-US" sz="1000"/>
          </a:p>
        </p:txBody>
      </p:sp>
      <p:sp>
        <p:nvSpPr>
          <p:cNvPr id="15" name="Text 12"/>
          <p:cNvSpPr txBox="1"/>
          <p:nvPr/>
        </p:nvSpPr>
        <p:spPr>
          <a:xfrm>
            <a:off x="733349" y="3278124"/>
            <a:ext cx="33988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전에 요구사항을 검증하는 테스트를 먼저 작성합니다.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4292194" y="2667305"/>
            <a:ext cx="3610051" cy="1114654"/>
          </a:xfrm>
          <a:prstGeom prst="roundRect">
            <a:avLst>
              <a:gd name="adj" fmla="val 560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832750" y="3212287"/>
            <a:ext cx="95098" cy="9509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16552" y="2792578"/>
            <a:ext cx="247802" cy="2478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40250" y="2790749"/>
            <a:ext cx="8119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Green</a:t>
            </a:r>
            <a:endParaRPr lang="en-US" sz="1300"/>
          </a:p>
        </p:txBody>
      </p:sp>
      <p:sp>
        <p:nvSpPr>
          <p:cNvPr id="20" name="Text 16"/>
          <p:cNvSpPr txBox="1"/>
          <p:nvPr/>
        </p:nvSpPr>
        <p:spPr>
          <a:xfrm>
            <a:off x="4416552" y="3061411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통과 코드 작성</a:t>
            </a:r>
            <a:endParaRPr lang="en-US" sz="1000"/>
          </a:p>
        </p:txBody>
      </p:sp>
      <p:sp>
        <p:nvSpPr>
          <p:cNvPr id="21" name="Text 17"/>
          <p:cNvSpPr txBox="1"/>
          <p:nvPr/>
        </p:nvSpPr>
        <p:spPr>
          <a:xfrm>
            <a:off x="4416552" y="3278124"/>
            <a:ext cx="29891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통과하는 가장 간단한 코드를 작성합니다.</a:t>
            </a:r>
            <a:endParaRPr lang="en-US" sz="1000"/>
          </a:p>
        </p:txBody>
      </p:sp>
      <p:sp>
        <p:nvSpPr>
          <p:cNvPr id="22" name="Shape 18"/>
          <p:cNvSpPr/>
          <p:nvPr/>
        </p:nvSpPr>
        <p:spPr>
          <a:xfrm>
            <a:off x="7975397" y="2667305"/>
            <a:ext cx="3610051" cy="1114654"/>
          </a:xfrm>
          <a:prstGeom prst="roundRect">
            <a:avLst>
              <a:gd name="adj" fmla="val 560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9755" y="2792578"/>
            <a:ext cx="247802" cy="2478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23453" y="2790749"/>
            <a:ext cx="10122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Refactor</a:t>
            </a:r>
            <a:endParaRPr lang="en-US" sz="1300"/>
          </a:p>
        </p:txBody>
      </p:sp>
      <p:sp>
        <p:nvSpPr>
          <p:cNvPr id="25" name="Text 20"/>
          <p:cNvSpPr txBox="1"/>
          <p:nvPr/>
        </p:nvSpPr>
        <p:spPr>
          <a:xfrm>
            <a:off x="8099755" y="3061411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개선 및 리팩토링</a:t>
            </a:r>
            <a:endParaRPr lang="en-US" sz="1000"/>
          </a:p>
        </p:txBody>
      </p:sp>
      <p:sp>
        <p:nvSpPr>
          <p:cNvPr id="26" name="Text 21"/>
          <p:cNvSpPr txBox="1"/>
          <p:nvPr/>
        </p:nvSpPr>
        <p:spPr>
          <a:xfrm>
            <a:off x="8099755" y="3278124"/>
            <a:ext cx="33613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통과하는 상태를 유지하며 코드 품질을 향상시킵니다.</a:t>
            </a:r>
            <a:endParaRPr lang="en-US" sz="1000"/>
          </a:p>
        </p:txBody>
      </p:sp>
      <p:sp>
        <p:nvSpPr>
          <p:cNvPr id="27" name="Text 22"/>
          <p:cNvSpPr txBox="1"/>
          <p:nvPr/>
        </p:nvSpPr>
        <p:spPr>
          <a:xfrm>
            <a:off x="609905" y="3930091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TDD의 핵심 가치</a:t>
            </a:r>
            <a:endParaRPr lang="en-US" sz="1200"/>
          </a:p>
        </p:txBody>
      </p:sp>
      <p:sp>
        <p:nvSpPr>
          <p:cNvPr id="28" name="Shape 23"/>
          <p:cNvSpPr/>
          <p:nvPr/>
        </p:nvSpPr>
        <p:spPr>
          <a:xfrm>
            <a:off x="609905" y="4234586"/>
            <a:ext cx="54105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4205" y="4350715"/>
            <a:ext cx="247802" cy="24780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09905" y="5007254"/>
            <a:ext cx="54105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1047902" y="4348886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중심 개발</a:t>
            </a:r>
            <a:endParaRPr lang="en-US" sz="1300"/>
          </a:p>
        </p:txBody>
      </p:sp>
      <p:sp>
        <p:nvSpPr>
          <p:cNvPr id="32" name="Text 26"/>
          <p:cNvSpPr txBox="1"/>
          <p:nvPr/>
        </p:nvSpPr>
        <p:spPr>
          <a:xfrm>
            <a:off x="724205" y="4619549"/>
            <a:ext cx="4323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먼저 작성함으로써 더 나은 설계와 API를 자연스럽게 도출합니다.</a:t>
            </a:r>
            <a:endParaRPr lang="en-US" sz="100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4205" y="5123383"/>
            <a:ext cx="247802" cy="2478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47902" y="5121554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방지 안전망</a:t>
            </a:r>
            <a:endParaRPr lang="en-US" sz="1300"/>
          </a:p>
        </p:txBody>
      </p:sp>
      <p:sp>
        <p:nvSpPr>
          <p:cNvPr id="35" name="Text 28"/>
          <p:cNvSpPr txBox="1"/>
          <p:nvPr/>
        </p:nvSpPr>
        <p:spPr>
          <a:xfrm>
            <a:off x="724205" y="5392217"/>
            <a:ext cx="4561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기능에 테스트가 있어 변경 시 기존 기능이 손상되지 않았는지 확인합니다.</a:t>
            </a:r>
            <a:endParaRPr lang="en-US" sz="1000"/>
          </a:p>
        </p:txBody>
      </p:sp>
      <p:sp>
        <p:nvSpPr>
          <p:cNvPr id="36" name="Shape 29"/>
          <p:cNvSpPr/>
          <p:nvPr/>
        </p:nvSpPr>
        <p:spPr>
          <a:xfrm>
            <a:off x="6172200" y="3930091"/>
            <a:ext cx="5410505" cy="2305202"/>
          </a:xfrm>
          <a:prstGeom prst="roundRect">
            <a:avLst>
              <a:gd name="adj" fmla="val 13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 txBox="1"/>
          <p:nvPr/>
        </p:nvSpPr>
        <p:spPr>
          <a:xfrm>
            <a:off x="6295644" y="405353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예시</a:t>
            </a:r>
            <a:endParaRPr lang="en-US" sz="1200"/>
          </a:p>
        </p:txBody>
      </p:sp>
      <p:sp>
        <p:nvSpPr>
          <p:cNvPr id="38" name="Text 31"/>
          <p:cNvSpPr txBox="1"/>
          <p:nvPr/>
        </p:nvSpPr>
        <p:spPr>
          <a:xfrm>
            <a:off x="6295644" y="4320540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계산기 TDD 개발:</a:t>
            </a:r>
            <a:endParaRPr lang="en-US" sz="1000"/>
          </a:p>
        </p:txBody>
      </p:sp>
      <p:sp>
        <p:nvSpPr>
          <p:cNvPr id="39" name="Shape 32"/>
          <p:cNvSpPr/>
          <p:nvPr/>
        </p:nvSpPr>
        <p:spPr>
          <a:xfrm>
            <a:off x="6295644" y="4549140"/>
            <a:ext cx="5162702" cy="1561795"/>
          </a:xfrm>
          <a:prstGeom prst="roundRect">
            <a:avLst>
              <a:gd name="adj" fmla="val 1428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6372454" y="4634178"/>
            <a:ext cx="4847234" cy="143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8717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// 1. Red: </a:t>
            </a:r>
            <a:r>
              <a:rPr lang="ko-KR" altLang="en-US" sz="900">
                <a:solidFill>
                  <a:srgbClr val="F8717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실패하는 테스트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</a:t>
            </a: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Test]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void Add_EmptyString_ReturnsZero()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var calc = new StringCalculator();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Assert.AreEqual(0, calc.Add(""));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00B05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// 2. Green: </a:t>
            </a:r>
            <a:r>
              <a:rPr lang="ko-KR" altLang="en-US" sz="900">
                <a:solidFill>
                  <a:srgbClr val="00B05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최소 구현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int Add(string s) { return 0; }</a:t>
            </a:r>
            <a:endParaRPr lang="en-US" sz="900">
              <a:solidFill>
                <a:schemeClr val="bg1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49" name="Text 42"/>
          <p:cNvSpPr txBox="1"/>
          <p:nvPr/>
        </p:nvSpPr>
        <p:spPr>
          <a:xfrm>
            <a:off x="9186062" y="6587338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5246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안티패턴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없는 대규모 구현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통합테스트 의존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19595" y="3017520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후 리팩토링 없음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많은 코드를 한 번에 작성하고 나중에 테스트를 추가하는 방식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TDD의 짧은 피드백 사이클을 무시하게 됨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단위테스트를 건너뛰고 통합테스트에만 의존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속도 저하 및 테스트 실패 원인 파악 어려움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22046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불안정 테스트(Flaky) 방치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간헐적으로 실패하는 테스트를 무시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신뢰성 저하 및 빌드 실패 증가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017520"/>
            <a:ext cx="2670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9595" y="3367735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Red-Green 단계 후 Refactor 단계 생략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19595" y="3596335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품질 저하 및 중복 발생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4520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성공의 핵심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211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안티패턴을 피하고, 작은 단위로 테스트-구현-리팩토링 사이클을 충실히 반복하는 것이 TDD 성공의 핵심입니다. 테스트는 코드 품질의 안전망이자 설계 개선의 도구입니다.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2478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팀 내 코드 리뷰로 안티패턴 조기 식별 권장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25305" y="6511442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기초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2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435401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25596" y="2095805"/>
            <a:ext cx="381305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25696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435401" y="2800807"/>
            <a:ext cx="572505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단위테스트 환경 구축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435401" y="3958438"/>
            <a:ext cx="54105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 테스트 설정, NUnit/xUnit 프레임워크,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435401" y="4301338"/>
            <a:ext cx="3439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프로젝트 구조 및 기본 설정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3229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 요구사항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18895"/>
            <a:ext cx="3591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C# 단위테스트 실습을 위한 필수 개발 환경 항목입니다.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00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657454" y="1657807"/>
            <a:ext cx="133502" cy="1143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1600200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설치 항목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609905" y="1904695"/>
            <a:ext cx="5372100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057400"/>
            <a:ext cx="200254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7844" y="2018995"/>
            <a:ext cx="11283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.NET 8 SDK</a:t>
            </a:r>
            <a:endParaRPr lang="en-US" sz="1400"/>
          </a:p>
        </p:txBody>
      </p:sp>
      <p:sp>
        <p:nvSpPr>
          <p:cNvPr id="13" name="Text 9"/>
          <p:cNvSpPr txBox="1"/>
          <p:nvPr/>
        </p:nvSpPr>
        <p:spPr>
          <a:xfrm>
            <a:off x="1037844" y="2331720"/>
            <a:ext cx="15800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.NET SDK 설치 필요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609905" y="2766060"/>
            <a:ext cx="5372100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918765"/>
            <a:ext cx="200254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37844" y="2880360"/>
            <a:ext cx="17757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 2022</a:t>
            </a:r>
            <a:endParaRPr lang="en-US" sz="1400"/>
          </a:p>
        </p:txBody>
      </p:sp>
      <p:sp>
        <p:nvSpPr>
          <p:cNvPr id="17" name="Text 12"/>
          <p:cNvSpPr txBox="1"/>
          <p:nvPr/>
        </p:nvSpPr>
        <p:spPr>
          <a:xfrm>
            <a:off x="1037844" y="3193085"/>
            <a:ext cx="29041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 이상, .NET 데스크톱 개발 워크로드</a:t>
            </a:r>
            <a:endParaRPr lang="en-US" sz="1000"/>
          </a:p>
        </p:txBody>
      </p:sp>
      <p:sp>
        <p:nvSpPr>
          <p:cNvPr id="18" name="Shape 13"/>
          <p:cNvSpPr/>
          <p:nvPr/>
        </p:nvSpPr>
        <p:spPr>
          <a:xfrm>
            <a:off x="609905" y="3627425"/>
            <a:ext cx="5372100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779215"/>
            <a:ext cx="200254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37844" y="3741725"/>
            <a:ext cx="18141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NuGet 패키지 관리자</a:t>
            </a:r>
            <a:endParaRPr lang="en-US" sz="1400"/>
          </a:p>
        </p:txBody>
      </p:sp>
      <p:sp>
        <p:nvSpPr>
          <p:cNvPr id="21" name="Text 15"/>
          <p:cNvSpPr txBox="1"/>
          <p:nvPr/>
        </p:nvSpPr>
        <p:spPr>
          <a:xfrm>
            <a:off x="1037844" y="4053535"/>
            <a:ext cx="18754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프레임워크/도구 설치용</a:t>
            </a:r>
            <a:endParaRPr lang="en-US" sz="1000"/>
          </a:p>
        </p:txBody>
      </p:sp>
      <p:sp>
        <p:nvSpPr>
          <p:cNvPr id="22" name="Shape 16"/>
          <p:cNvSpPr/>
          <p:nvPr/>
        </p:nvSpPr>
        <p:spPr>
          <a:xfrm>
            <a:off x="6210605" y="1600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6271870" y="1657807"/>
            <a:ext cx="105156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15100" y="1600200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설치 항목</a:t>
            </a:r>
            <a:endParaRPr lang="en-US" sz="1200"/>
          </a:p>
        </p:txBody>
      </p:sp>
      <p:sp>
        <p:nvSpPr>
          <p:cNvPr id="25" name="Shape 18"/>
          <p:cNvSpPr/>
          <p:nvPr/>
        </p:nvSpPr>
        <p:spPr>
          <a:xfrm>
            <a:off x="6210605" y="1904695"/>
            <a:ext cx="5372100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324905" y="2057400"/>
            <a:ext cx="200254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638544" y="2018995"/>
            <a:ext cx="19001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Fine Code Coverage</a:t>
            </a:r>
            <a:endParaRPr lang="en-US" sz="1400"/>
          </a:p>
        </p:txBody>
      </p:sp>
      <p:sp>
        <p:nvSpPr>
          <p:cNvPr id="28" name="Text 20"/>
          <p:cNvSpPr txBox="1"/>
          <p:nvPr/>
        </p:nvSpPr>
        <p:spPr>
          <a:xfrm>
            <a:off x="6638544" y="2331720"/>
            <a:ext cx="18461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확장, 커버리지 시각화 도구</a:t>
            </a:r>
            <a:endParaRPr lang="en-US" sz="1000"/>
          </a:p>
        </p:txBody>
      </p:sp>
      <p:sp>
        <p:nvSpPr>
          <p:cNvPr id="29" name="Shape 21"/>
          <p:cNvSpPr/>
          <p:nvPr/>
        </p:nvSpPr>
        <p:spPr>
          <a:xfrm>
            <a:off x="6210605" y="2766060"/>
            <a:ext cx="5372100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324905" y="2918765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638544" y="2880360"/>
            <a:ext cx="11759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버전 관리</a:t>
            </a:r>
            <a:endParaRPr lang="en-US" sz="1400"/>
          </a:p>
        </p:txBody>
      </p:sp>
      <p:sp>
        <p:nvSpPr>
          <p:cNvPr id="32" name="Text 23"/>
          <p:cNvSpPr txBox="1"/>
          <p:nvPr/>
        </p:nvSpPr>
        <p:spPr>
          <a:xfrm>
            <a:off x="6638544" y="3193085"/>
            <a:ext cx="14840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연동용</a:t>
            </a:r>
            <a:endParaRPr lang="en-US" sz="1000"/>
          </a:p>
        </p:txBody>
      </p:sp>
      <p:sp>
        <p:nvSpPr>
          <p:cNvPr id="33" name="Shape 24"/>
          <p:cNvSpPr/>
          <p:nvPr/>
        </p:nvSpPr>
        <p:spPr>
          <a:xfrm>
            <a:off x="6210605" y="3627425"/>
            <a:ext cx="5372100" cy="590702"/>
          </a:xfrm>
          <a:prstGeom prst="roundRect">
            <a:avLst>
              <a:gd name="adj" fmla="val 199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34049" y="3836822"/>
            <a:ext cx="152705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01054" y="3750869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방법</a:t>
            </a:r>
            <a:endParaRPr lang="en-US" sz="1000"/>
          </a:p>
        </p:txBody>
      </p:sp>
      <p:sp>
        <p:nvSpPr>
          <p:cNvPr id="36" name="Text 26"/>
          <p:cNvSpPr txBox="1"/>
          <p:nvPr/>
        </p:nvSpPr>
        <p:spPr>
          <a:xfrm>
            <a:off x="6601054" y="3931920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dotnet --version으로 SDK 버전 확인. 교육 당일 노트북 지참 필수</a:t>
            </a:r>
            <a:endParaRPr lang="en-US" sz="900"/>
          </a:p>
        </p:txBody>
      </p:sp>
      <p:sp>
        <p:nvSpPr>
          <p:cNvPr id="37" name="Text 27"/>
          <p:cNvSpPr txBox="1"/>
          <p:nvPr/>
        </p:nvSpPr>
        <p:spPr>
          <a:xfrm>
            <a:off x="9030614" y="6587338"/>
            <a:ext cx="26499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개발 환경 요구사항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562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 테스트 설정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Studio에서 단위 테스트 환경을 구축하는 단계별 가이드입니다.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28346" cy="6574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2446020"/>
            <a:ext cx="28346" cy="8860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482035"/>
            <a:ext cx="28346" cy="790956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4419295"/>
            <a:ext cx="28346" cy="5431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" y="16386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" y="244602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8056" y="348203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" y="441929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9671" y="16843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569671" y="249174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569671" y="352775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69671" y="446501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942746" y="1638605"/>
            <a:ext cx="18516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Explorer 활성화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942746" y="2446020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프로젝트 생성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942746" y="3482035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NuGet 패키지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942746" y="441929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참조 추가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942746" y="1950415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메뉴: [보기] &gt; [테스트 탐색기] 또는 Ctrl+E,T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942746" y="275874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우클릭 &gt; [추가] &gt; [새 프로젝트] &gt; [NUnit/xUnit 테스트 프로젝트]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942746" y="2987345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명명 규칙: 프로젝트명.Tests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942746" y="473202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프로젝트 &gt; [종속성] &gt; [프로젝트 참조 추가]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942746" y="3794760"/>
            <a:ext cx="10639044" cy="362102"/>
          </a:xfrm>
          <a:prstGeom prst="roundRect">
            <a:avLst>
              <a:gd name="adj" fmla="val 39872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19556" y="3899002"/>
            <a:ext cx="58658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Noto Sans KR" panose="020B0200000000000000" pitchFamily="50" charset="-127"/>
                <a:ea typeface="Nanum Gothic Coding"/>
                <a:cs typeface="Nanum Gothic Coding" pitchFamily="34" charset="-120"/>
              </a:rPr>
              <a:t>dotnet add package Microsoft.NET.Test.Sdk NUnit NUnit3TestAdapter Coverlet.collector</a:t>
            </a:r>
            <a:endParaRPr lang="en-US" sz="1000">
              <a:latin typeface="Noto Sans KR" panose="020B0200000000000000" pitchFamily="50" charset="-127"/>
              <a:ea typeface="Nanum Gothic Coding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905" y="5113325"/>
            <a:ext cx="10972800" cy="609905"/>
          </a:xfrm>
          <a:prstGeom prst="roundRect">
            <a:avLst>
              <a:gd name="adj" fmla="val 14055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09905" y="5113325"/>
            <a:ext cx="38405" cy="60990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 t="-57106" b="-57106"/>
          <a:stretch/>
        </p:blipFill>
        <p:spPr>
          <a:xfrm>
            <a:off x="761695" y="5227625"/>
            <a:ext cx="133502" cy="38130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72007" y="5227625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200"/>
          </a:p>
        </p:txBody>
      </p:sp>
      <p:sp>
        <p:nvSpPr>
          <p:cNvPr id="33" name="Text 30"/>
          <p:cNvSpPr txBox="1"/>
          <p:nvPr/>
        </p:nvSpPr>
        <p:spPr>
          <a:xfrm>
            <a:off x="972007" y="5446166"/>
            <a:ext cx="5267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Explorer에서 태그/이름으로 검색하거나 상태(통과/실패)로 필터링하여 특정 테스트를 찾을 수 있습니다.</a:t>
            </a:r>
            <a:endParaRPr lang="en-US" sz="900"/>
          </a:p>
        </p:txBody>
      </p:sp>
      <p:sp>
        <p:nvSpPr>
          <p:cNvPr id="35" name="Text 32"/>
          <p:cNvSpPr txBox="1"/>
          <p:nvPr/>
        </p:nvSpPr>
        <p:spPr>
          <a:xfrm>
            <a:off x="9542678" y="6548933"/>
            <a:ext cx="2145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환경 설정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9913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.NET Test SDK/패키지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5410505" cy="847649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761695" y="1410005"/>
            <a:ext cx="3813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257300"/>
            <a:ext cx="5410505" cy="847649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172200" y="2255825"/>
            <a:ext cx="5410505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257300" y="1410005"/>
            <a:ext cx="22046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Microsoft.NET.Test.Sdk</a:t>
            </a:r>
            <a:endParaRPr lang="en-US" sz="1400"/>
          </a:p>
        </p:txBody>
      </p:sp>
      <p:sp>
        <p:nvSpPr>
          <p:cNvPr id="11" name="Text 8"/>
          <p:cNvSpPr txBox="1"/>
          <p:nvPr/>
        </p:nvSpPr>
        <p:spPr>
          <a:xfrm>
            <a:off x="6743700" y="1410005"/>
            <a:ext cx="13094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 / xUnit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782105" y="2407615"/>
            <a:ext cx="17190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Coverlet.collector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57300" y="1721815"/>
            <a:ext cx="340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.NET 테스트 기본 SDK, VS 및 CLI 테스트 실행 지원</a:t>
            </a:r>
            <a:endParaRPr lang="en-US" sz="1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4905" y="1410005"/>
            <a:ext cx="304495" cy="30449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9905" y="2255825"/>
            <a:ext cx="5410505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6743700" y="1721815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프레임워크, 어트리뷰트, Assertion 제공</a:t>
            </a:r>
            <a:endParaRPr lang="en-US" sz="12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761695" y="2407615"/>
            <a:ext cx="228600" cy="3044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04595" y="2407615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어댑터</a:t>
            </a:r>
            <a:endParaRPr lang="en-US" sz="1400"/>
          </a:p>
        </p:txBody>
      </p:sp>
      <p:sp>
        <p:nvSpPr>
          <p:cNvPr id="19" name="Text 14"/>
          <p:cNvSpPr txBox="1"/>
          <p:nvPr/>
        </p:nvSpPr>
        <p:spPr>
          <a:xfrm>
            <a:off x="1104595" y="2720340"/>
            <a:ext cx="3067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Test Explorer 연동 (NUnit3TestAdapter, xunit.runner.visualstudio)</a:t>
            </a:r>
            <a:endParaRPr lang="en-US" sz="1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6324905" y="2407615"/>
            <a:ext cx="342900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82105" y="272034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 시 코드 커버리지 데이터 자동 수집</a:t>
            </a:r>
            <a:endParaRPr lang="en-US" sz="1200"/>
          </a:p>
        </p:txBody>
      </p:sp>
      <p:sp>
        <p:nvSpPr>
          <p:cNvPr id="22" name="Shape 16"/>
          <p:cNvSpPr/>
          <p:nvPr/>
        </p:nvSpPr>
        <p:spPr>
          <a:xfrm>
            <a:off x="609905" y="3482035"/>
            <a:ext cx="10972800" cy="1133856"/>
          </a:xfrm>
          <a:prstGeom prst="roundRect">
            <a:avLst>
              <a:gd name="adj" fmla="val 54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3682289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14654" y="3643884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관리</a:t>
            </a:r>
            <a:endParaRPr lang="en-US" sz="1400"/>
          </a:p>
        </p:txBody>
      </p:sp>
      <p:sp>
        <p:nvSpPr>
          <p:cNvPr id="25" name="Text 18"/>
          <p:cNvSpPr txBox="1"/>
          <p:nvPr/>
        </p:nvSpPr>
        <p:spPr>
          <a:xfrm>
            <a:off x="1114654" y="3956609"/>
            <a:ext cx="404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템플릿: dotnet new nunit 또는 dotnet new xunit</a:t>
            </a:r>
            <a:endParaRPr lang="en-US" sz="1200"/>
          </a:p>
        </p:txBody>
      </p:sp>
      <p:sp>
        <p:nvSpPr>
          <p:cNvPr id="26" name="Text 19"/>
          <p:cNvSpPr txBox="1"/>
          <p:nvPr/>
        </p:nvSpPr>
        <p:spPr>
          <a:xfrm>
            <a:off x="1114654" y="422361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솔루션 복원: dotnet restore</a:t>
            </a:r>
            <a:endParaRPr lang="en-US" sz="1200"/>
          </a:p>
        </p:txBody>
      </p:sp>
      <p:sp>
        <p:nvSpPr>
          <p:cNvPr id="27" name="Text 20"/>
          <p:cNvSpPr txBox="1"/>
          <p:nvPr/>
        </p:nvSpPr>
        <p:spPr>
          <a:xfrm>
            <a:off x="609905" y="6511442"/>
            <a:ext cx="2631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모든 패키지는 NuGet 저장소에서 관리됩니다</a:t>
            </a:r>
            <a:endParaRPr lang="en-US" sz="1000"/>
          </a:p>
        </p:txBody>
      </p:sp>
      <p:sp>
        <p:nvSpPr>
          <p:cNvPr id="28" name="Text 21"/>
          <p:cNvSpPr txBox="1"/>
          <p:nvPr/>
        </p:nvSpPr>
        <p:spPr>
          <a:xfrm>
            <a:off x="8924544" y="6511442"/>
            <a:ext cx="2764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2: C# 환경 구축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580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 소개와 설치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981151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981151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410005"/>
            <a:ext cx="6007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828800"/>
            <a:ext cx="9460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NUnit은 .NET 플랫폼을 위한 오픈소스 단위 테스트 프레임워크로, 성숙한 생태계와 풍부한 어트리뷰트 기반 테스트 기능을 제공합니다.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38475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205" y="2499055"/>
            <a:ext cx="276149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38475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4654" y="2511857"/>
            <a:ext cx="1411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어트리뷰트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2841955"/>
            <a:ext cx="33320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[TestCase], [SetUp], [TearDown], [Category] 등 테스트 구성과 실행을 유연하게 제어합니다.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333" b="-333"/>
          <a:stretch/>
        </p:blipFill>
        <p:spPr>
          <a:xfrm>
            <a:off x="4432097" y="2499055"/>
            <a:ext cx="342900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38475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89297" y="2511857"/>
            <a:ext cx="12600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확장성과 통합성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32097" y="2841955"/>
            <a:ext cx="342717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Studio, Rider와 쉽게 통합되며, CI/CD 파이프라인과 연동이 용이합니다.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014" b="-1014"/>
          <a:stretch/>
        </p:blipFill>
        <p:spPr>
          <a:xfrm>
            <a:off x="8140903" y="2499055"/>
            <a:ext cx="304495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59698" y="2511857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구조화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40903" y="2841955"/>
            <a:ext cx="33988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테스트 시나리오를 TestFixture와 매개변수화된 테스트로 효율적 구성 가능합니다.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502152"/>
            <a:ext cx="10972800" cy="1695298"/>
          </a:xfrm>
          <a:prstGeom prst="roundRect">
            <a:avLst>
              <a:gd name="adj" fmla="val 24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3664001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6249" y="362651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방법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1076249" y="3892601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NuGet 패키지를 통해 설치: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1076249" y="4159606"/>
            <a:ext cx="3438144" cy="914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152143" y="4254703"/>
            <a:ext cx="3362249" cy="81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// NUnit </a:t>
            </a:r>
            <a:r>
              <a:rPr lang="ko-KR" alt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프레임워크 및 어댑터 설치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add package NUnit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add package NUnit3TestAdapter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add package Microsoft.NET.Test.Sdk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8720633" y="6548933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C# 단위테스트 환경 구축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1821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 소개와 설치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228954"/>
          </a:xfrm>
          <a:prstGeom prst="roundRect">
            <a:avLst>
              <a:gd name="adj" fmla="val 46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2289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410005"/>
            <a:ext cx="6007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828800"/>
            <a:ext cx="1063264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xUnit은 .NET Core 및 .NET 5+ 환경에 최적화된 현대적인 단위 테스트 프레임워크입니다. 오픈소스로 개발되었으며, 심플하고 확장 가능한 디자인을 갖고 있어 마이크로소프트에서도 권장하는 테스트 프레임워크입니다.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59872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205" y="2713025"/>
            <a:ext cx="276149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59872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76249" y="2724912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현대적 특징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3055925"/>
            <a:ext cx="331287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생성자 기반 테스트 픽스처, [Fact]/[Theory] 어트리뷰트 방식의 간결한 구문 제공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2097" y="271302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598725"/>
            <a:ext cx="35625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85055" y="2724912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32097" y="3055925"/>
            <a:ext cx="27322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 지원, 병렬 테스트 실행, 데이터 주도 테스트(DataAttribute) 제공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333" b="-333"/>
          <a:stretch/>
        </p:blipFill>
        <p:spPr>
          <a:xfrm>
            <a:off x="8140903" y="2713025"/>
            <a:ext cx="342900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59698" y="2724912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간편한 설치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40903" y="3055925"/>
            <a:ext cx="33421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NuGet 패키지로 빠른 설치, 최소한의 설정으로 테스트 시작 가능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677717"/>
            <a:ext cx="10972800" cy="1733702"/>
          </a:xfrm>
          <a:prstGeom prst="roundRect">
            <a:avLst>
              <a:gd name="adj" fmla="val 23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733349" y="3839566"/>
            <a:ext cx="256946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04595" y="380207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방법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104595" y="4106570"/>
            <a:ext cx="3676802" cy="533095"/>
          </a:xfrm>
          <a:prstGeom prst="roundRect">
            <a:avLst>
              <a:gd name="adj" fmla="val 12252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81405" y="4144518"/>
            <a:ext cx="4082132" cy="43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add package xunit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add package xunit.runner.visualstudio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104595" y="4716475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새 프로젝트 생성:</a:t>
            </a:r>
            <a:endParaRPr lang="en-US" sz="1000"/>
          </a:p>
        </p:txBody>
      </p:sp>
      <p:sp>
        <p:nvSpPr>
          <p:cNvPr id="29" name="Shape 23"/>
          <p:cNvSpPr/>
          <p:nvPr/>
        </p:nvSpPr>
        <p:spPr>
          <a:xfrm>
            <a:off x="1104595" y="4945075"/>
            <a:ext cx="3676802" cy="342900"/>
          </a:xfrm>
          <a:prstGeom prst="roundRect">
            <a:avLst>
              <a:gd name="adj" fmla="val 2963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1181405" y="4907585"/>
            <a:ext cx="4130149" cy="410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dotnet new xunit -n YourTestProject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9232697" y="6548933"/>
            <a:ext cx="2450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C# 테스트 환경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27916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비교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10972800" cy="381305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956255" y="1238098"/>
            <a:ext cx="267005" cy="267005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033065" y="1257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3299155" y="1248156"/>
            <a:ext cx="55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316675" y="1238098"/>
            <a:ext cx="267005" cy="267005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01714" y="12573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6659575" y="1248156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8727948" y="1238098"/>
            <a:ext cx="267005" cy="267005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795614" y="1257300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9070848" y="1248156"/>
            <a:ext cx="64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MSTest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09905" y="1561795"/>
            <a:ext cx="10972800" cy="57150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9905" y="2133295"/>
            <a:ext cx="10972800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905" y="2704795"/>
            <a:ext cx="10972800" cy="57150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9905" y="3276295"/>
            <a:ext cx="109728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09905" y="3886200"/>
            <a:ext cx="10972800" cy="362102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61695" y="17337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개념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>
          <a:xfrm>
            <a:off x="761695" y="23052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속성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2956255" y="2305202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[Test], [TestCase] [SetUp], [TearDown]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6316675" y="2190902"/>
            <a:ext cx="1534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[Fact], [Theory] 생성자/IDisposable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8727948" y="2190902"/>
            <a:ext cx="1877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[TestMethod], [DataRow] [TestInitialize]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761695" y="2876702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/ 병렬화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>
          <a:xfrm>
            <a:off x="2956255" y="276240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[TestCase], [TestCaseSource] 병렬: 설정으로 지원 (Assembly 수준)</a:t>
            </a:r>
            <a:endParaRPr lang="en-US" sz="1200"/>
          </a:p>
        </p:txBody>
      </p:sp>
      <p:sp>
        <p:nvSpPr>
          <p:cNvPr id="28" name="Text 26"/>
          <p:cNvSpPr txBox="1"/>
          <p:nvPr/>
        </p:nvSpPr>
        <p:spPr>
          <a:xfrm>
            <a:off x="6316675" y="2762402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[Theory] + [InlineData] 병렬: 기본 내장 지원</a:t>
            </a:r>
            <a:endParaRPr lang="en-US" sz="1200"/>
          </a:p>
        </p:txBody>
      </p:sp>
      <p:sp>
        <p:nvSpPr>
          <p:cNvPr id="29" name="Text 27"/>
          <p:cNvSpPr txBox="1"/>
          <p:nvPr/>
        </p:nvSpPr>
        <p:spPr>
          <a:xfrm>
            <a:off x="8727948" y="2762402"/>
            <a:ext cx="2648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[DataTestMethod] + [DataRow] 병렬: VS2019+ 설정 필요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761695" y="346740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장단점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761695" y="3952951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사용처</a:t>
            </a:r>
            <a:endParaRPr lang="en-US" sz="1200"/>
          </a:p>
        </p:txBody>
      </p:sp>
      <p:sp>
        <p:nvSpPr>
          <p:cNvPr id="32" name="Text 30"/>
          <p:cNvSpPr txBox="1"/>
          <p:nvPr/>
        </p:nvSpPr>
        <p:spPr>
          <a:xfrm>
            <a:off x="2956255" y="161940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JUnit 기반, 오픈소스</a:t>
            </a:r>
            <a:endParaRPr lang="en-US" sz="1200"/>
          </a:p>
        </p:txBody>
      </p:sp>
      <p:sp>
        <p:nvSpPr>
          <p:cNvPr id="33" name="Text 31"/>
          <p:cNvSpPr txBox="1"/>
          <p:nvPr/>
        </p:nvSpPr>
        <p:spPr>
          <a:xfrm>
            <a:off x="6316675" y="16194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 창시자가 개발한 최신형</a:t>
            </a:r>
            <a:endParaRPr lang="en-US" sz="1200"/>
          </a:p>
        </p:txBody>
      </p:sp>
      <p:sp>
        <p:nvSpPr>
          <p:cNvPr id="34" name="Text 32"/>
          <p:cNvSpPr txBox="1"/>
          <p:nvPr/>
        </p:nvSpPr>
        <p:spPr>
          <a:xfrm>
            <a:off x="8727948" y="1619402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 공식 프레임워크</a:t>
            </a:r>
            <a:endParaRPr lang="en-US" sz="1200"/>
          </a:p>
        </p:txBody>
      </p:sp>
      <p:sp>
        <p:nvSpPr>
          <p:cNvPr id="35" name="Text 33"/>
          <p:cNvSpPr txBox="1"/>
          <p:nvPr/>
        </p:nvSpPr>
        <p:spPr>
          <a:xfrm>
            <a:off x="2956255" y="3943807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프로젝트, 풍부한 기능 필요</a:t>
            </a:r>
            <a:endParaRPr lang="en-US" sz="1200"/>
          </a:p>
        </p:txBody>
      </p:sp>
      <p:sp>
        <p:nvSpPr>
          <p:cNvPr id="36" name="Text 34"/>
          <p:cNvSpPr txBox="1"/>
          <p:nvPr/>
        </p:nvSpPr>
        <p:spPr>
          <a:xfrm>
            <a:off x="6316675" y="3943807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프로젝트, .NET Core 환경</a:t>
            </a:r>
            <a:endParaRPr lang="en-US" sz="1200"/>
          </a:p>
        </p:txBody>
      </p:sp>
      <p:sp>
        <p:nvSpPr>
          <p:cNvPr id="37" name="Text 35"/>
          <p:cNvSpPr txBox="1"/>
          <p:nvPr/>
        </p:nvSpPr>
        <p:spPr>
          <a:xfrm>
            <a:off x="8727948" y="39438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 중심 환경, 간단한 테스트</a:t>
            </a:r>
            <a:endParaRPr lang="en-US" sz="1200"/>
          </a:p>
        </p:txBody>
      </p:sp>
      <p:sp>
        <p:nvSpPr>
          <p:cNvPr id="38" name="Text 36"/>
          <p:cNvSpPr txBox="1"/>
          <p:nvPr/>
        </p:nvSpPr>
        <p:spPr>
          <a:xfrm>
            <a:off x="2956255" y="1867205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v1부터 역사가 긺</a:t>
            </a:r>
            <a:endParaRPr lang="en-US" sz="1000"/>
          </a:p>
        </p:txBody>
      </p:sp>
      <p:sp>
        <p:nvSpPr>
          <p:cNvPr id="39" name="Text 37"/>
          <p:cNvSpPr txBox="1"/>
          <p:nvPr/>
        </p:nvSpPr>
        <p:spPr>
          <a:xfrm>
            <a:off x="6316675" y="1867205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관례보다 설정 중시</a:t>
            </a:r>
            <a:endParaRPr lang="en-US" sz="1000"/>
          </a:p>
        </p:txBody>
      </p:sp>
      <p:sp>
        <p:nvSpPr>
          <p:cNvPr id="40" name="Text 38"/>
          <p:cNvSpPr txBox="1"/>
          <p:nvPr/>
        </p:nvSpPr>
        <p:spPr>
          <a:xfrm>
            <a:off x="8727948" y="1867205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VS와 긴밀한 통합</a:t>
            </a:r>
            <a:endParaRPr lang="en-US" sz="1000"/>
          </a:p>
        </p:txBody>
      </p:sp>
      <p:sp>
        <p:nvSpPr>
          <p:cNvPr id="41" name="Text 39"/>
          <p:cNvSpPr txBox="1"/>
          <p:nvPr/>
        </p:nvSpPr>
        <p:spPr>
          <a:xfrm>
            <a:off x="2956255" y="333390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풍부한 기능과 문서화</a:t>
            </a:r>
            <a:endParaRPr lang="en-US" sz="1200"/>
          </a:p>
        </p:txBody>
      </p:sp>
      <p:sp>
        <p:nvSpPr>
          <p:cNvPr id="42" name="Text 40"/>
          <p:cNvSpPr txBox="1"/>
          <p:nvPr/>
        </p:nvSpPr>
        <p:spPr>
          <a:xfrm>
            <a:off x="6316675" y="333390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현대적 설계와 심플함</a:t>
            </a:r>
            <a:endParaRPr lang="en-US" sz="1200"/>
          </a:p>
        </p:txBody>
      </p:sp>
      <p:sp>
        <p:nvSpPr>
          <p:cNvPr id="43" name="Text 41"/>
          <p:cNvSpPr txBox="1"/>
          <p:nvPr/>
        </p:nvSpPr>
        <p:spPr>
          <a:xfrm>
            <a:off x="8727948" y="3333902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VS 통합 및 쉬운 시작</a:t>
            </a:r>
            <a:endParaRPr lang="en-US" sz="1200"/>
          </a:p>
        </p:txBody>
      </p:sp>
      <p:sp>
        <p:nvSpPr>
          <p:cNvPr id="44" name="Text 42"/>
          <p:cNvSpPr txBox="1"/>
          <p:nvPr/>
        </p:nvSpPr>
        <p:spPr>
          <a:xfrm>
            <a:off x="2956255" y="3581705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레거시 API 일부 존재</a:t>
            </a:r>
            <a:endParaRPr lang="en-US" sz="1200"/>
          </a:p>
        </p:txBody>
      </p:sp>
      <p:sp>
        <p:nvSpPr>
          <p:cNvPr id="45" name="Text 43"/>
          <p:cNvSpPr txBox="1"/>
          <p:nvPr/>
        </p:nvSpPr>
        <p:spPr>
          <a:xfrm>
            <a:off x="6316675" y="35817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상대적 학습 곡선</a:t>
            </a:r>
            <a:endParaRPr lang="en-US" sz="1200"/>
          </a:p>
        </p:txBody>
      </p:sp>
      <p:sp>
        <p:nvSpPr>
          <p:cNvPr id="46" name="Text 44"/>
          <p:cNvSpPr txBox="1"/>
          <p:nvPr/>
        </p:nvSpPr>
        <p:spPr>
          <a:xfrm>
            <a:off x="8727948" y="3581705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일부 기능 제약 존재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609905" y="4362602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733349" y="4524451"/>
            <a:ext cx="114300" cy="152705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961949" y="4486046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</a:t>
            </a:r>
            <a:endParaRPr lang="en-US" sz="1200"/>
          </a:p>
        </p:txBody>
      </p:sp>
      <p:sp>
        <p:nvSpPr>
          <p:cNvPr id="50" name="Text 47"/>
          <p:cNvSpPr txBox="1"/>
          <p:nvPr/>
        </p:nvSpPr>
        <p:spPr>
          <a:xfrm>
            <a:off x="961949" y="4714646"/>
            <a:ext cx="8149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애플리케이션은 xUnit(현대적, .NET Core 호환), 레거시/다양한 기능은 NUnit, Microsoft 생태계 내 간단한 테스트는 MSTest가 적합합니다.</a:t>
            </a:r>
            <a:endParaRPr lang="en-US" sz="1000"/>
          </a:p>
        </p:txBody>
      </p:sp>
      <p:sp>
        <p:nvSpPr>
          <p:cNvPr id="51" name="Text 48"/>
          <p:cNvSpPr txBox="1"/>
          <p:nvPr/>
        </p:nvSpPr>
        <p:spPr>
          <a:xfrm>
            <a:off x="9186062" y="6548933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프레임워크 비교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019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테스트 프로젝트 생성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506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dotnet CLI를 사용하여 C# 단위 테스트 프로젝트를 생성하는 기본 단계입니다.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00200"/>
            <a:ext cx="28346" cy="1171346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2876702"/>
            <a:ext cx="28346" cy="9720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958438"/>
            <a:ext cx="28346" cy="933602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" y="160020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" y="2876702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" y="3958438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69671" y="164592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569671" y="2922422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569671" y="4004158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942746" y="1600200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및 프로젝트 생성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942746" y="2876702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프로젝트 생성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942746" y="3958438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참조 연결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942746" y="1912925"/>
            <a:ext cx="10639044" cy="743407"/>
          </a:xfrm>
          <a:prstGeom prst="roundRect">
            <a:avLst>
              <a:gd name="adj" fmla="val 9462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2746" y="3189427"/>
            <a:ext cx="10639044" cy="543154"/>
          </a:xfrm>
          <a:prstGeom prst="roundRect">
            <a:avLst>
              <a:gd name="adj" fmla="val 17721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42746" y="4271162"/>
            <a:ext cx="10639044" cy="352044"/>
          </a:xfrm>
          <a:prstGeom prst="roundRect">
            <a:avLst>
              <a:gd name="adj" fmla="val 42120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0111" y="1957751"/>
            <a:ext cx="5232157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mkdir UnitTestDemo &amp;&amp; cd UnitTestDemo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dotnet new sln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dotnet new classlib -n Demo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19555" y="4376317"/>
            <a:ext cx="3174757" cy="18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dotnet add Demo.Tests reference Demo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42746" y="4656125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이제 Demo.Tests 프로젝트에서 Demo 프로젝트의 클래스를 테스트할 수 있습니다.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609905" y="5037430"/>
            <a:ext cx="10972800" cy="495605"/>
          </a:xfrm>
          <a:prstGeom prst="roundRect">
            <a:avLst>
              <a:gd name="adj" fmla="val 21289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09905" y="5037430"/>
            <a:ext cx="38405" cy="49560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724205" y="5132527"/>
            <a:ext cx="133502" cy="17190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33602" y="5113325"/>
            <a:ext cx="1081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팁: 프로젝트 구조</a:t>
            </a:r>
            <a:endParaRPr lang="en-US" sz="1000"/>
          </a:p>
        </p:txBody>
      </p:sp>
      <p:sp>
        <p:nvSpPr>
          <p:cNvPr id="33" name="Text 30"/>
          <p:cNvSpPr txBox="1"/>
          <p:nvPr/>
        </p:nvSpPr>
        <p:spPr>
          <a:xfrm>
            <a:off x="933602" y="5294376"/>
            <a:ext cx="7220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프로젝트는 src와 tests 폴더로 분리하는 구조가 권장됩니다. 테스트 프로젝트 이름은 테스트 대상 프로젝트 이름 뒤에 .Tests를 붙이는 것이 관례입니다.</a:t>
            </a:r>
            <a:endParaRPr lang="en-US" sz="900"/>
          </a:p>
        </p:txBody>
      </p:sp>
      <p:sp>
        <p:nvSpPr>
          <p:cNvPr id="34" name="Text 31"/>
          <p:cNvSpPr txBox="1"/>
          <p:nvPr/>
        </p:nvSpPr>
        <p:spPr>
          <a:xfrm>
            <a:off x="609905" y="6548933"/>
            <a:ext cx="14218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.NET 8 SDK 기준 설명</a:t>
            </a:r>
            <a:endParaRPr lang="en-US" sz="1000"/>
          </a:p>
        </p:txBody>
      </p:sp>
      <p:sp>
        <p:nvSpPr>
          <p:cNvPr id="35" name="Text 32"/>
          <p:cNvSpPr txBox="1"/>
          <p:nvPr/>
        </p:nvSpPr>
        <p:spPr>
          <a:xfrm>
            <a:off x="9542678" y="6548933"/>
            <a:ext cx="2145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환경 설정</a:t>
            </a:r>
            <a:endParaRPr lang="en-US" sz="100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3BE0C35E-C44D-A743-805B-D4FA765812A7}"/>
              </a:ext>
            </a:extLst>
          </p:cNvPr>
          <p:cNvSpPr txBox="1"/>
          <p:nvPr/>
        </p:nvSpPr>
        <p:spPr>
          <a:xfrm>
            <a:off x="1030111" y="3180283"/>
            <a:ext cx="3343106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dotnet new nunit -n Demo.Tests # </a:t>
            </a:r>
            <a:r>
              <a:rPr lang="ko-KR" alt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또는 </a:t>
            </a: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xunit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Nanum Gothic Coding" pitchFamily="34" charset="-120"/>
              </a:rPr>
              <a:t>dotnet sln add Demo Demo.Tests</a:t>
            </a:r>
            <a:endParaRPr lang="en-US" sz="10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3429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Explorer 활용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18895"/>
            <a:ext cx="3948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Studio의 Test Explorer를 통한 효율적인 테스트 관리 및 실행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524305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43400" y="1524305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2876702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24205" y="172638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1811426"/>
            <a:ext cx="133502" cy="1335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76895" y="1524305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43400" y="2876702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57700" y="172638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24205" y="307878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57700" y="307878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104595" y="163860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300"/>
          </a:p>
        </p:txBody>
      </p:sp>
      <p:sp>
        <p:nvSpPr>
          <p:cNvPr id="18" name="Text 15"/>
          <p:cNvSpPr txBox="1"/>
          <p:nvPr/>
        </p:nvSpPr>
        <p:spPr>
          <a:xfrm>
            <a:off x="4839005" y="163860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300"/>
          </a:p>
        </p:txBody>
      </p:sp>
      <p:sp>
        <p:nvSpPr>
          <p:cNvPr id="19" name="Text 16"/>
          <p:cNvSpPr txBox="1"/>
          <p:nvPr/>
        </p:nvSpPr>
        <p:spPr>
          <a:xfrm>
            <a:off x="1104595" y="2991002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300"/>
          </a:p>
        </p:txBody>
      </p:sp>
      <p:sp>
        <p:nvSpPr>
          <p:cNvPr id="20" name="Text 17"/>
          <p:cNvSpPr txBox="1"/>
          <p:nvPr/>
        </p:nvSpPr>
        <p:spPr>
          <a:xfrm>
            <a:off x="1104595" y="189006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발견</a:t>
            </a:r>
            <a:endParaRPr lang="en-US" sz="1200"/>
          </a:p>
        </p:txBody>
      </p:sp>
      <p:sp>
        <p:nvSpPr>
          <p:cNvPr id="21" name="Text 18"/>
          <p:cNvSpPr txBox="1"/>
          <p:nvPr/>
        </p:nvSpPr>
        <p:spPr>
          <a:xfrm>
            <a:off x="4839005" y="1890065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필터링/구성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724205" y="2147011"/>
            <a:ext cx="2628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시 테스트 어셈블리에서 테스트 메서드 자동 검색</a:t>
            </a:r>
            <a:endParaRPr lang="en-US" sz="90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3654" y="1811426"/>
            <a:ext cx="133502" cy="13350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191195" y="172638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8572500" y="189006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</a:t>
            </a:r>
            <a:endParaRPr lang="en-US" sz="1200"/>
          </a:p>
        </p:txBody>
      </p:sp>
      <p:sp>
        <p:nvSpPr>
          <p:cNvPr id="26" name="Text 22"/>
          <p:cNvSpPr txBox="1"/>
          <p:nvPr/>
        </p:nvSpPr>
        <p:spPr>
          <a:xfrm>
            <a:off x="4457700" y="2147011"/>
            <a:ext cx="2419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프로젝트, 네임스페이스, 클래스별 그룹화 및 필터</a:t>
            </a:r>
            <a:endParaRPr lang="en-US" sz="90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291779" y="1811426"/>
            <a:ext cx="105156" cy="1335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572500" y="1638605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300"/>
          </a:p>
        </p:txBody>
      </p:sp>
      <p:sp>
        <p:nvSpPr>
          <p:cNvPr id="29" name="Text 24"/>
          <p:cNvSpPr txBox="1"/>
          <p:nvPr/>
        </p:nvSpPr>
        <p:spPr>
          <a:xfrm>
            <a:off x="8191195" y="2147011"/>
            <a:ext cx="2162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전체/선택/실패 테스트 실행, 병렬 실행 지원</a:t>
            </a:r>
            <a:endParaRPr lang="en-US" sz="90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6034126" y="2572207"/>
            <a:ext cx="123444" cy="190195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3163824"/>
            <a:ext cx="133502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04595" y="32424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분석</a:t>
            </a:r>
            <a:endParaRPr lang="en-US" sz="1200"/>
          </a:p>
        </p:txBody>
      </p:sp>
      <p:sp>
        <p:nvSpPr>
          <p:cNvPr id="33" name="Text 26"/>
          <p:cNvSpPr txBox="1"/>
          <p:nvPr/>
        </p:nvSpPr>
        <p:spPr>
          <a:xfrm>
            <a:off x="724205" y="3499409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성공/실패 결과, 오류 메시지 및 스택 추적 분석</a:t>
            </a:r>
            <a:endParaRPr lang="en-US" sz="90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43654" y="3163824"/>
            <a:ext cx="133502" cy="133502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076895" y="2876702"/>
            <a:ext cx="35048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8"/>
          <p:cNvSpPr/>
          <p:nvPr/>
        </p:nvSpPr>
        <p:spPr>
          <a:xfrm>
            <a:off x="8191195" y="307878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4839005" y="2991002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300"/>
          </a:p>
        </p:txBody>
      </p:sp>
      <p:sp>
        <p:nvSpPr>
          <p:cNvPr id="38" name="Text 30"/>
          <p:cNvSpPr txBox="1"/>
          <p:nvPr/>
        </p:nvSpPr>
        <p:spPr>
          <a:xfrm>
            <a:off x="4839005" y="3242462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</a:t>
            </a:r>
            <a:endParaRPr lang="en-US" sz="1200"/>
          </a:p>
        </p:txBody>
      </p:sp>
      <p:sp>
        <p:nvSpPr>
          <p:cNvPr id="39" name="Text 31"/>
          <p:cNvSpPr txBox="1"/>
          <p:nvPr/>
        </p:nvSpPr>
        <p:spPr>
          <a:xfrm>
            <a:off x="4457700" y="3499409"/>
            <a:ext cx="2134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 모드 실행, 중단점 설정 및 변수 검사</a:t>
            </a:r>
            <a:endParaRPr lang="en-US" sz="90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77149" y="3163824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572500" y="2991002"/>
            <a:ext cx="650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300"/>
          </a:p>
        </p:txBody>
      </p:sp>
      <p:sp>
        <p:nvSpPr>
          <p:cNvPr id="42" name="Text 33"/>
          <p:cNvSpPr txBox="1"/>
          <p:nvPr/>
        </p:nvSpPr>
        <p:spPr>
          <a:xfrm>
            <a:off x="8572500" y="32424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실행</a:t>
            </a:r>
            <a:endParaRPr lang="en-US" sz="1200"/>
          </a:p>
        </p:txBody>
      </p:sp>
      <p:sp>
        <p:nvSpPr>
          <p:cNvPr id="43" name="Text 34"/>
          <p:cNvSpPr txBox="1"/>
          <p:nvPr/>
        </p:nvSpPr>
        <p:spPr>
          <a:xfrm>
            <a:off x="8191195" y="3499409"/>
            <a:ext cx="2429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 시 Live Unit Testing 또는 수동 재실행</a:t>
            </a:r>
            <a:endParaRPr lang="en-US" sz="900"/>
          </a:p>
        </p:txBody>
      </p:sp>
      <p:sp>
        <p:nvSpPr>
          <p:cNvPr id="44" name="Shape 35"/>
          <p:cNvSpPr/>
          <p:nvPr/>
        </p:nvSpPr>
        <p:spPr>
          <a:xfrm>
            <a:off x="609905" y="3924605"/>
            <a:ext cx="10972800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rcRect t="-841" b="-841"/>
          <a:stretch/>
        </p:blipFill>
        <p:spPr>
          <a:xfrm>
            <a:off x="694944" y="4095598"/>
            <a:ext cx="190195" cy="17190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61949" y="400964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활용</a:t>
            </a:r>
            <a:endParaRPr lang="en-US" sz="1000"/>
          </a:p>
        </p:txBody>
      </p:sp>
      <p:sp>
        <p:nvSpPr>
          <p:cNvPr id="47" name="Text 37"/>
          <p:cNvSpPr txBox="1"/>
          <p:nvPr/>
        </p:nvSpPr>
        <p:spPr>
          <a:xfrm>
            <a:off x="961949" y="4190695"/>
            <a:ext cx="3514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Ctrl+R, T: 모든 테스트 실행 | Ctrl+R, A: 디버깅 | Ctrl+R, F: 실패 테스트</a:t>
            </a:r>
            <a:endParaRPr lang="en-US" sz="900"/>
          </a:p>
        </p:txBody>
      </p:sp>
      <p:sp>
        <p:nvSpPr>
          <p:cNvPr id="48" name="Shape 38"/>
          <p:cNvSpPr/>
          <p:nvPr/>
        </p:nvSpPr>
        <p:spPr>
          <a:xfrm>
            <a:off x="609905" y="4552798"/>
            <a:ext cx="3581705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5800" y="4647895"/>
            <a:ext cx="114300" cy="11430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4304995" y="4552798"/>
            <a:ext cx="3581705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0"/>
          <p:cNvSpPr/>
          <p:nvPr/>
        </p:nvSpPr>
        <p:spPr>
          <a:xfrm>
            <a:off x="8001000" y="4552798"/>
            <a:ext cx="3581705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1"/>
          <p:cNvSpPr txBox="1"/>
          <p:nvPr/>
        </p:nvSpPr>
        <p:spPr>
          <a:xfrm>
            <a:off x="875995" y="4619549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탐색기 패널</a:t>
            </a:r>
            <a:endParaRPr lang="en-US" sz="900"/>
          </a:p>
        </p:txBody>
      </p:sp>
      <p:sp>
        <p:nvSpPr>
          <p:cNvPr id="53" name="Text 42"/>
          <p:cNvSpPr txBox="1"/>
          <p:nvPr/>
        </p:nvSpPr>
        <p:spPr>
          <a:xfrm>
            <a:off x="685800" y="4772254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트리 뷰 테스트 계층구조</a:t>
            </a:r>
            <a:endParaRPr lang="en-US" sz="90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4381805" y="4647895"/>
            <a:ext cx="85954" cy="1143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543654" y="4619549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 패널</a:t>
            </a:r>
            <a:endParaRPr lang="en-US" sz="900"/>
          </a:p>
        </p:txBody>
      </p:sp>
      <p:sp>
        <p:nvSpPr>
          <p:cNvPr id="56" name="Text 44"/>
          <p:cNvSpPr txBox="1"/>
          <p:nvPr/>
        </p:nvSpPr>
        <p:spPr>
          <a:xfrm>
            <a:off x="4381805" y="4772254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결과, 출력, 예외 정보 확인</a:t>
            </a:r>
            <a:endParaRPr lang="en-US" sz="90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076895" y="4647895"/>
            <a:ext cx="114300" cy="11430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268005" y="4619549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모음</a:t>
            </a:r>
            <a:endParaRPr lang="en-US" sz="900"/>
          </a:p>
        </p:txBody>
      </p:sp>
      <p:sp>
        <p:nvSpPr>
          <p:cNvPr id="59" name="Text 46"/>
          <p:cNvSpPr txBox="1"/>
          <p:nvPr/>
        </p:nvSpPr>
        <p:spPr>
          <a:xfrm>
            <a:off x="8076895" y="4772254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실행, 중지, 디버그 등 주요 기능</a:t>
            </a:r>
            <a:endParaRPr lang="en-US" sz="900"/>
          </a:p>
        </p:txBody>
      </p:sp>
      <p:sp>
        <p:nvSpPr>
          <p:cNvPr id="60" name="Text 47"/>
          <p:cNvSpPr txBox="1"/>
          <p:nvPr/>
        </p:nvSpPr>
        <p:spPr>
          <a:xfrm>
            <a:off x="9149486" y="6599225"/>
            <a:ext cx="25301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Test Explorer 활용</a:t>
            </a:r>
            <a:endParaRPr lang="en-US" sz="900"/>
          </a:p>
        </p:txBody>
      </p:sp>
      <p:sp>
        <p:nvSpPr>
          <p:cNvPr id="61" name="Shape 48"/>
          <p:cNvSpPr/>
          <p:nvPr/>
        </p:nvSpPr>
        <p:spPr>
          <a:xfrm>
            <a:off x="4114800" y="1900123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9"/>
          <p:cNvSpPr/>
          <p:nvPr/>
        </p:nvSpPr>
        <p:spPr>
          <a:xfrm>
            <a:off x="7848295" y="1900123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0"/>
          <p:cNvSpPr/>
          <p:nvPr/>
        </p:nvSpPr>
        <p:spPr>
          <a:xfrm>
            <a:off x="4114800" y="3252521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1"/>
          <p:cNvSpPr/>
          <p:nvPr/>
        </p:nvSpPr>
        <p:spPr>
          <a:xfrm>
            <a:off x="7848295" y="3252521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 핵심 메서드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761695" y="1447495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1402" y="1257300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521915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91402" y="2521915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1410005"/>
            <a:ext cx="12993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비교 Assert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762902" y="1410005"/>
            <a:ext cx="10808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Assert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762902" y="267462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검증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143000" y="172181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Assert.AreEqual(expected, actual)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143000" y="1950415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Assert.AreNotEqual(notExpected, actual)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4107" y="1447495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762902" y="1721815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Assert.IsTrue(condition)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762902" y="1950415"/>
            <a:ext cx="1867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Assert.IsFalse(condition)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713025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1405" y="2674620"/>
            <a:ext cx="8897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Null 검증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181405" y="2987345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Assert.IsNull(object)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181405" y="3215945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Assert.IsNotNull(object)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4107" y="2713025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2902" y="2987345"/>
            <a:ext cx="3115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Assert.Throws&lt;Exception&gt;(() =&gt; method())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762902" y="3215945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Assert.DoesNotThrow(() =&gt; method())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3787445"/>
            <a:ext cx="10972800" cy="1324051"/>
          </a:xfrm>
          <a:prstGeom prst="roundRect">
            <a:avLst>
              <a:gd name="adj" fmla="val 39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4001414"/>
            <a:ext cx="142646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28700" y="3949294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컬렉션 및 특수 비교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028700" y="4261104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컬렉션: CollectionAssert.Contains(collection, item)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28700" y="4489704"/>
            <a:ext cx="3743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부동소수점: Assert.AreEqual(expected, actual, delta)</a:t>
            </a:r>
            <a:endParaRPr lang="en-US" sz="1200"/>
          </a:p>
        </p:txBody>
      </p:sp>
      <p:sp>
        <p:nvSpPr>
          <p:cNvPr id="31" name="Text 24"/>
          <p:cNvSpPr txBox="1"/>
          <p:nvPr/>
        </p:nvSpPr>
        <p:spPr>
          <a:xfrm>
            <a:off x="1028700" y="4718304"/>
            <a:ext cx="2648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가독성: AreEqual(..., "실패 시 메시지")</a:t>
            </a:r>
            <a:endParaRPr lang="en-US" sz="1200"/>
          </a:p>
        </p:txBody>
      </p:sp>
      <p:sp>
        <p:nvSpPr>
          <p:cNvPr id="32" name="Text 25"/>
          <p:cNvSpPr txBox="1"/>
          <p:nvPr/>
        </p:nvSpPr>
        <p:spPr>
          <a:xfrm>
            <a:off x="609905" y="6548933"/>
            <a:ext cx="3002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NUnit 기준 (xUnit은 Equal(), NotEqual() 등 사용)</a:t>
            </a:r>
            <a:endParaRPr lang="en-US" sz="1000"/>
          </a:p>
        </p:txBody>
      </p:sp>
      <p:sp>
        <p:nvSpPr>
          <p:cNvPr id="33" name="Text 26"/>
          <p:cNvSpPr txBox="1"/>
          <p:nvPr/>
        </p:nvSpPr>
        <p:spPr>
          <a:xfrm>
            <a:off x="9699955" y="65489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2</a:t>
            </a:r>
            <a:endParaRPr lang="en-US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29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주도 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18895"/>
            <a:ext cx="109728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18895"/>
            <a:ext cx="47549" cy="92354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371600"/>
            <a:ext cx="2315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주도 테스트란?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742846"/>
            <a:ext cx="102705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입력 값으로 동일한 테스트 로직을 반복 실행하는 방법입니다. 테스트 코드와 데이터를 분리해 코드 중복을 줄이고 효율적으로 테스트합니다.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253996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014" b="-1014"/>
          <a:stretch/>
        </p:blipFill>
        <p:spPr>
          <a:xfrm>
            <a:off x="724205" y="2368296"/>
            <a:ext cx="304495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253996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43000" y="2381098"/>
            <a:ext cx="15169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NUnit의 TestCase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2663647"/>
            <a:ext cx="285567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매개변수 조합으로 테스트를 실행합니다. 각 TestCase는 테스트 메서드에 값을 전달합니다.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817" b="-817"/>
          <a:stretch/>
        </p:blipFill>
        <p:spPr>
          <a:xfrm>
            <a:off x="4432097" y="2368296"/>
            <a:ext cx="237744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253996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85055" y="2381098"/>
            <a:ext cx="13450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xUnit의 Theory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32097" y="2663647"/>
            <a:ext cx="334213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파라미터화된 테스트용 속성으로, [Fact]가 단일 테스트라면 [Theory]는 여러 데이터로 테스트합니다.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817" b="-817"/>
          <a:stretch/>
        </p:blipFill>
        <p:spPr>
          <a:xfrm>
            <a:off x="8140903" y="2368296"/>
            <a:ext cx="237744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92947" y="2381098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40903" y="2663647"/>
            <a:ext cx="33613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InlineData, MemberData, ClassData 등 다양한 속성을 통해 테스트 데이터를 제공합니다.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268066"/>
            <a:ext cx="10972800" cy="2115007"/>
          </a:xfrm>
          <a:prstGeom prst="roundRect">
            <a:avLst>
              <a:gd name="adj" fmla="val 15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3429914"/>
            <a:ext cx="237744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86307" y="339151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예제</a:t>
            </a:r>
            <a:endParaRPr lang="en-US" sz="1000"/>
          </a:p>
        </p:txBody>
      </p:sp>
      <p:sp>
        <p:nvSpPr>
          <p:cNvPr id="25" name="Text 19"/>
          <p:cNvSpPr txBox="1"/>
          <p:nvPr/>
        </p:nvSpPr>
        <p:spPr>
          <a:xfrm>
            <a:off x="1086307" y="361096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 예제:</a:t>
            </a:r>
            <a:endParaRPr lang="en-US" sz="900"/>
          </a:p>
        </p:txBody>
      </p:sp>
      <p:sp>
        <p:nvSpPr>
          <p:cNvPr id="26" name="Text 20"/>
          <p:cNvSpPr txBox="1"/>
          <p:nvPr/>
        </p:nvSpPr>
        <p:spPr>
          <a:xfrm>
            <a:off x="6310274" y="3610966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 예제:</a:t>
            </a:r>
            <a:endParaRPr lang="en-US" sz="900"/>
          </a:p>
        </p:txBody>
      </p:sp>
      <p:sp>
        <p:nvSpPr>
          <p:cNvPr id="27" name="Shape 21"/>
          <p:cNvSpPr/>
          <p:nvPr/>
        </p:nvSpPr>
        <p:spPr>
          <a:xfrm>
            <a:off x="1086307" y="3810305"/>
            <a:ext cx="5152644" cy="1295705"/>
          </a:xfrm>
          <a:prstGeom prst="roundRect">
            <a:avLst>
              <a:gd name="adj" fmla="val 2076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310274" y="3810305"/>
            <a:ext cx="5152644" cy="1447495"/>
          </a:xfrm>
          <a:prstGeom prst="roundRect">
            <a:avLst>
              <a:gd name="adj" fmla="val 1662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1123797" y="3858768"/>
            <a:ext cx="4034611" cy="119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[TestCase(1, 1, 2)]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[TestCase(2, 3, 5)]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 v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oid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Add_Returns_Sum(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int a, int b, int expected)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Assert.AreEqual(expected,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calculator.Add(a, b));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6348679" y="3858768"/>
            <a:ext cx="5001808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[[Theory]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[InlineData(1, 1, 2)]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[InlineData(2, 3, 5)]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public void Add_Returns_Sum(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int a, int b, int expected)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Assert.Equal(expected,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    calculator.Add(a, b));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Noto Sans KR" panose="020B0200000000000000" pitchFamily="50" charset="-127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9232697" y="6548933"/>
            <a:ext cx="2450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C# 테스트 환경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229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명명과 조직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8714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933895" y="160020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 명명 규칙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95705" y="324612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조직화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58000" y="32461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테스트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295705" y="195041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Arrange (준비) - 테스트에 필요한 객체 준비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295705" y="2179015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 (실행) - 테스트할 기능 수행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295705" y="2407615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 (검증) - 결과 검증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6400800" y="1600200"/>
            <a:ext cx="381305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33895" y="1950415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UnitOfWork_Condition_Expected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933895" y="2179015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Add_NegativeNumbers_ReturnsSum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933895" y="240761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의도를 명확히 표현하는 이름 사용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246120"/>
            <a:ext cx="342900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95705" y="3596335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클래스별/기능별 테스트 그룹화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295705" y="3824935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테스트 클래스는 한 가지 주제에 집중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295705" y="4053535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테스트 사이의 중복 최소화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246120"/>
            <a:ext cx="30449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359633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테스트는 한 가지만 검증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58000" y="3824935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Assert를 사용하더라도 검증 대상은 하나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58000" y="4053535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실패 시 원인 파악이 쉬움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7018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939589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4901184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베스트 프랙티스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252314"/>
            <a:ext cx="10353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테스트 명명과 조직은 코드 문서화 효과가 있으며, 새로운 팀원이 코드를 이해하는 데 도움을 줍니다. 테스트 코드는 프로덕션 코드만큼 중요하므로 동일한 품질 기준을 적용하세요.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4059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테스트 명명에 일관된 규칙을 적용하면 테스트 가독성이 크게 향상됩니다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9699955" y="6511442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2</a:t>
            </a:r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3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826764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3969410" y="2095805"/>
            <a:ext cx="476402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17059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826764" y="2800807"/>
            <a:ext cx="494416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 기초 실습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826764" y="3958438"/>
            <a:ext cx="4000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Calculator 예제를 통한 AAA 패턴 실습,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826764" y="4301338"/>
            <a:ext cx="44485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기본 사이클 및 테스트 픽스처 구성 연습</a:t>
            </a:r>
            <a:endParaRPr 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81305"/>
            <a:ext cx="343540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요구사항: Calculator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609905" y="94457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35685"/>
            <a:ext cx="3534156" cy="4486046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2246681" y="1325880"/>
            <a:ext cx="256946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178308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계산기 클래스 실습</a:t>
            </a:r>
            <a:endParaRPr lang="en-US" sz="1200"/>
          </a:p>
        </p:txBody>
      </p:sp>
      <p:sp>
        <p:nvSpPr>
          <p:cNvPr id="9" name="Text 6"/>
          <p:cNvSpPr txBox="1"/>
          <p:nvPr/>
        </p:nvSpPr>
        <p:spPr>
          <a:xfrm>
            <a:off x="800100" y="2125980"/>
            <a:ext cx="3014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수학 연산을 수행하는 Calculator 클래스를 TDD 방식으로 개발하고 테스트합니다.</a:t>
            </a:r>
            <a:endParaRPr lang="en-US" sz="1000"/>
          </a:p>
        </p:txBody>
      </p:sp>
      <p:sp>
        <p:nvSpPr>
          <p:cNvPr id="10" name="Text 7"/>
          <p:cNvSpPr txBox="1"/>
          <p:nvPr/>
        </p:nvSpPr>
        <p:spPr>
          <a:xfrm>
            <a:off x="800100" y="2583180"/>
            <a:ext cx="31866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패턴을 적용하여 단위 테스트의 기본 원칙을 실제로 적용해 봅니다.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800100" y="3116275"/>
            <a:ext cx="3152851" cy="533095"/>
          </a:xfrm>
          <a:prstGeom prst="roundRect">
            <a:avLst>
              <a:gd name="adj" fmla="val 2450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14400" y="3268980"/>
            <a:ext cx="114300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04595" y="3221431"/>
            <a:ext cx="28008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테스트 작성법과 경계값 테스트, 예외 처리 테스트 방법을 학습합니다.</a:t>
            </a:r>
            <a:endParaRPr lang="en-US" sz="900"/>
          </a:p>
        </p:txBody>
      </p:sp>
      <p:sp>
        <p:nvSpPr>
          <p:cNvPr id="14" name="Shape 10"/>
          <p:cNvSpPr/>
          <p:nvPr/>
        </p:nvSpPr>
        <p:spPr>
          <a:xfrm>
            <a:off x="4330598" y="1135685"/>
            <a:ext cx="7258507" cy="4486046"/>
          </a:xfrm>
          <a:prstGeom prst="roundRect">
            <a:avLst>
              <a:gd name="adj" fmla="val 34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520794" y="1335024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요구사항</a:t>
            </a:r>
            <a:endParaRPr lang="en-US" sz="1300"/>
          </a:p>
        </p:txBody>
      </p:sp>
      <p:sp>
        <p:nvSpPr>
          <p:cNvPr id="16" name="Shape 12"/>
          <p:cNvSpPr/>
          <p:nvPr/>
        </p:nvSpPr>
        <p:spPr>
          <a:xfrm>
            <a:off x="4520794" y="2002536"/>
            <a:ext cx="6877202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20794" y="3545129"/>
            <a:ext cx="6877202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20794" y="4585716"/>
            <a:ext cx="6877202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4520794" y="170718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연산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4520794" y="324977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4520794" y="429036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테스트</a:t>
            </a:r>
            <a:endParaRPr lang="en-US" sz="1200"/>
          </a:p>
        </p:txBody>
      </p:sp>
      <p:sp>
        <p:nvSpPr>
          <p:cNvPr id="22" name="Text 18"/>
          <p:cNvSpPr txBox="1"/>
          <p:nvPr/>
        </p:nvSpPr>
        <p:spPr>
          <a:xfrm>
            <a:off x="4749394" y="2097634"/>
            <a:ext cx="2076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정수의 덧셈(Add) 연산 구현</a:t>
            </a:r>
            <a:endParaRPr lang="en-US" sz="1200"/>
          </a:p>
        </p:txBody>
      </p:sp>
      <p:sp>
        <p:nvSpPr>
          <p:cNvPr id="23" name="Text 19"/>
          <p:cNvSpPr txBox="1"/>
          <p:nvPr/>
        </p:nvSpPr>
        <p:spPr>
          <a:xfrm>
            <a:off x="4749394" y="2371954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정수의 뺄셈(Subtract) 연산 구현</a:t>
            </a:r>
            <a:endParaRPr lang="en-US" sz="1200"/>
          </a:p>
        </p:txBody>
      </p:sp>
      <p:sp>
        <p:nvSpPr>
          <p:cNvPr id="24" name="Text 20"/>
          <p:cNvSpPr txBox="1"/>
          <p:nvPr/>
        </p:nvSpPr>
        <p:spPr>
          <a:xfrm>
            <a:off x="4749394" y="2623414"/>
            <a:ext cx="2371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정수의 곱셈(Multiply) 연산 구현</a:t>
            </a:r>
            <a:endParaRPr lang="en-US" sz="1200"/>
          </a:p>
        </p:txBody>
      </p:sp>
      <p:sp>
        <p:nvSpPr>
          <p:cNvPr id="25" name="Text 21"/>
          <p:cNvSpPr txBox="1"/>
          <p:nvPr/>
        </p:nvSpPr>
        <p:spPr>
          <a:xfrm>
            <a:off x="4749394" y="2874874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정수의 나눗셈(Divide) 연산 구현</a:t>
            </a:r>
            <a:endParaRPr lang="en-US" sz="1200"/>
          </a:p>
        </p:txBody>
      </p:sp>
      <p:sp>
        <p:nvSpPr>
          <p:cNvPr id="26" name="Text 22"/>
          <p:cNvSpPr txBox="1"/>
          <p:nvPr/>
        </p:nvSpPr>
        <p:spPr>
          <a:xfrm>
            <a:off x="4749394" y="3640226"/>
            <a:ext cx="29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0으로 나눌 때 DivideByZeroException 발생</a:t>
            </a:r>
            <a:endParaRPr lang="en-US" sz="1200"/>
          </a:p>
        </p:txBody>
      </p:sp>
      <p:sp>
        <p:nvSpPr>
          <p:cNvPr id="27" name="Text 23"/>
          <p:cNvSpPr txBox="1"/>
          <p:nvPr/>
        </p:nvSpPr>
        <p:spPr>
          <a:xfrm>
            <a:off x="4749394" y="3914546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정수 범위 초과 시 예외 처리</a:t>
            </a:r>
            <a:endParaRPr lang="en-US" sz="1200"/>
          </a:p>
        </p:txBody>
      </p:sp>
      <p:sp>
        <p:nvSpPr>
          <p:cNvPr id="28" name="Text 24"/>
          <p:cNvSpPr txBox="1"/>
          <p:nvPr/>
        </p:nvSpPr>
        <p:spPr>
          <a:xfrm>
            <a:off x="4749394" y="4679899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 최대값/최소값 연산 검증</a:t>
            </a:r>
            <a:endParaRPr lang="en-US" sz="1200"/>
          </a:p>
        </p:txBody>
      </p:sp>
      <p:sp>
        <p:nvSpPr>
          <p:cNvPr id="29" name="Text 25"/>
          <p:cNvSpPr txBox="1"/>
          <p:nvPr/>
        </p:nvSpPr>
        <p:spPr>
          <a:xfrm>
            <a:off x="4749394" y="4954219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음수 계산 정확성 검증</a:t>
            </a:r>
            <a:endParaRPr lang="en-US" sz="1200"/>
          </a:p>
        </p:txBody>
      </p:sp>
      <p:sp>
        <p:nvSpPr>
          <p:cNvPr id="30" name="Text 26"/>
          <p:cNvSpPr txBox="1"/>
          <p:nvPr/>
        </p:nvSpPr>
        <p:spPr>
          <a:xfrm>
            <a:off x="4749394" y="520659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포함 연산 정상 동작 검증</a:t>
            </a:r>
            <a:endParaRPr lang="en-US" sz="1200"/>
          </a:p>
        </p:txBody>
      </p:sp>
      <p:sp>
        <p:nvSpPr>
          <p:cNvPr id="31" name="Text 27"/>
          <p:cNvSpPr txBox="1"/>
          <p:nvPr/>
        </p:nvSpPr>
        <p:spPr>
          <a:xfrm>
            <a:off x="9068105" y="6560820"/>
            <a:ext cx="2606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 실습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4869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실패하는 테스트 작성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504749" cy="237744"/>
          </a:xfrm>
          <a:prstGeom prst="roundRect">
            <a:avLst>
              <a:gd name="adj" fmla="val 384615"/>
            </a:avLst>
          </a:prstGeom>
          <a:solidFill>
            <a:srgbClr val="F5656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196035"/>
            <a:ext cx="379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224382" y="1185062"/>
            <a:ext cx="5886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구현하기 전에 실패하는 테스트를 먼저 작성합니다. 이는 TDD 사이클의 첫 번째 단계입니다.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49321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605686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72007" y="1598371"/>
            <a:ext cx="13414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CalculatorTests.cs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048695" y="157916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25505" y="1617574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실패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609905" y="1851659"/>
            <a:ext cx="10972800" cy="3806929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24205" y="1997923"/>
            <a:ext cx="10677449" cy="353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using NUnit.Framework; using System;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namespace Demo.Tests {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[TestFixture] 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public class CalculatorTests {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[Test]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public void Add_TwoNumbers_ReturnsSum() {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// Arrange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 var calculator = new Calculator();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 int a = 2, b = 3, expected = 5;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// Act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int result = calculator.Add(a, b);</a:t>
            </a:r>
          </a:p>
          <a:p>
            <a:pPr lvl="2"/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/>
              <a:cs typeface="Nanum Gothic Coding" pitchFamily="34" charset="-120"/>
            </a:endParaRP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// Assert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Assert.AreEqual(expected, result);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}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[Test] public void Divide_ByZero_ThrowsException() 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{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    Assert.Throws&lt;DivideByZeroException&gt;(() =&gt; new Calculator().Divide(10, 0));</a:t>
            </a:r>
          </a:p>
          <a:p>
            <a:pPr lvl="2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} 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}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/>
                <a:cs typeface="Nanum Gothic Coding" pitchFamily="34" charset="-120"/>
              </a:rPr>
              <a:t>}</a:t>
            </a:r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609905" y="5770462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5932311"/>
            <a:ext cx="171907" cy="171907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981151" y="5894820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테스트가 실패하는 이유</a:t>
            </a:r>
            <a:endParaRPr lang="en-US" sz="1200"/>
          </a:p>
        </p:txBody>
      </p:sp>
      <p:sp>
        <p:nvSpPr>
          <p:cNvPr id="78" name="Text 74"/>
          <p:cNvSpPr txBox="1"/>
          <p:nvPr/>
        </p:nvSpPr>
        <p:spPr>
          <a:xfrm>
            <a:off x="981151" y="6123420"/>
            <a:ext cx="7377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Calculator 클래스와 메서드가 아직 구현되지 않았기 때문입니다. TDD에서는 이 '실패'가 다음 단계(Green)로 진행하는 신호입니다.</a:t>
            </a:r>
            <a:endParaRPr lang="en-US" sz="1000"/>
          </a:p>
        </p:txBody>
      </p:sp>
      <p:sp>
        <p:nvSpPr>
          <p:cNvPr id="79" name="Text 75"/>
          <p:cNvSpPr txBox="1"/>
          <p:nvPr/>
        </p:nvSpPr>
        <p:spPr>
          <a:xfrm>
            <a:off x="9525305" y="6548933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기초</a:t>
            </a:r>
            <a:endParaRPr lang="en-US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0577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최소 구현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694944" cy="237744"/>
          </a:xfrm>
          <a:prstGeom prst="roundRect">
            <a:avLst>
              <a:gd name="adj" fmla="val 384615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196035"/>
            <a:ext cx="569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410005" y="1185062"/>
            <a:ext cx="5839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통과시키기 위한 최소한의 코드를 구현합니다. TDD 사이클의 두 번째 단계입니다.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49321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761695" y="1605686"/>
            <a:ext cx="171907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9498" y="1598371"/>
            <a:ext cx="9985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Calculator.cs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11048695" y="157916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25505" y="1617574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성공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609905" y="1827106"/>
            <a:ext cx="10972800" cy="3175578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47648" y="2047777"/>
            <a:ext cx="7427990" cy="2877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using System;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namespace Demo {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public class Calculator {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public int Add(int a, int b) {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return a + b;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}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public int Divide(int a, int b) {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if (b == 0) {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  throw new DivideByZeroException();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}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return a / b;</a:t>
            </a:r>
          </a:p>
          <a:p>
            <a:pPr lvl="1"/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Subtract, Multiply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등 다른 메서드도 유사한 방식으로 구현 가능 </a:t>
            </a:r>
            <a:endParaRPr lang="en-US" altLang="ko-KR" sz="11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} </a:t>
            </a:r>
          </a:p>
          <a:p>
            <a:pPr marL="0" indent="0" algn="l">
              <a:buNone/>
            </a:pP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609905" y="5459045"/>
            <a:ext cx="10972800" cy="857707"/>
          </a:xfrm>
          <a:prstGeom prst="roundRect">
            <a:avLst>
              <a:gd name="adj" fmla="val 94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5630832"/>
            <a:ext cx="152705" cy="152705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961949" y="5592428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최소한의 구현으로 테스트 통과</a:t>
            </a:r>
            <a:endParaRPr lang="en-US" sz="1200"/>
          </a:p>
        </p:txBody>
      </p:sp>
      <p:sp>
        <p:nvSpPr>
          <p:cNvPr id="64" name="Text 60"/>
          <p:cNvSpPr txBox="1"/>
          <p:nvPr/>
        </p:nvSpPr>
        <p:spPr>
          <a:xfrm>
            <a:off x="961949" y="5821028"/>
            <a:ext cx="105878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구현은 앞서 작성한 테스트를 통과시키기 위한 가장 간단한 코드입니다. Add 메서드는 두 수를 더하고, Divide 메서드는 0으로 나누기를 방지하는 예외 처리를 포함합니다. TDD에서는 이 단계에서 과도한 최적화를 하지 않습니다.</a:t>
            </a:r>
            <a:endParaRPr lang="en-US" sz="1000"/>
          </a:p>
        </p:txBody>
      </p:sp>
      <p:sp>
        <p:nvSpPr>
          <p:cNvPr id="65" name="Text 61"/>
          <p:cNvSpPr txBox="1"/>
          <p:nvPr/>
        </p:nvSpPr>
        <p:spPr>
          <a:xfrm>
            <a:off x="9525305" y="6548933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기초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4957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Refactor: 중복 제거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800100" y="1600200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18895" y="1600200"/>
            <a:ext cx="1804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로직 메서드 추출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매직넘버 상수화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19595" y="301752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코드 제거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18895" y="195041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코드 블록을 별도의 메서드로 추출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18895" y="217901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기능을 재사용하여 코드량 감소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하드코딩된 숫자를 의미 있는 상수로 변환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2210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코드의 가독성과 유지보수성 향상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00100" y="3017520"/>
            <a:ext cx="38130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33195" y="301752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의도를 드러내는 네이밍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333195" y="3367735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메서드와 변수명을 기능과 목적이 명확하게 변경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333195" y="359633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 없이도 이해 가능한 코드 작성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017520"/>
            <a:ext cx="2670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9595" y="3367735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사용되지 않는 코드 제거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19595" y="3596335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원칙에 맞게 코드 정리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효과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363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사이클에서 Green 단계 이후 Refactor 단계는 동작을 변경하지 않으면서 코드의 가독성, 유지보수성, 확장성을 높이는 과정입니다. 테스트는 리팩토링 중 코드가 여전히 정상 동작함을 보장해주는 안전망 역할을 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469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모든 리팩토링 후에는 반드시 테스트 실행으로 기능 정상 확인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79254" y="6511442"/>
            <a:ext cx="21076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기초실습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경계값/예외 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800100" y="1600200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18895" y="160020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테스트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테스트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181405" y="324612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부동소수점 정밀도 처리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19595" y="3246120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전략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218895" y="195041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 입력 검증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218895" y="2179015"/>
            <a:ext cx="196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직전, 경계, 경계 직후 값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218895" y="2407615"/>
            <a:ext cx="2134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0, 1, -1, int.Max/MinValue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0" y="195041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Assert.Throws&lt;예외타입&gt;() 활용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858000" y="2179015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예외 메시지 검증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858000" y="240761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조건 예외 검증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246120"/>
            <a:ext cx="228600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81405" y="3596335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델타값을 이용한 근사치 비교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181405" y="3824935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AreEqual(expected, actual, delta)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181405" y="4053535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754 표준의 한계 인지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246120"/>
            <a:ext cx="2670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19595" y="359633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동등 분할 클래스 테스트 결합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19595" y="382493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DoesNotThrow 예외 미발생 검증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19595" y="4053535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경계값 선정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7018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939589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4901184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 팁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252314"/>
            <a:ext cx="10335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파라미터화된 테스트로 다양한 경계값 검증을 자동화하세요. NUnit [TestCase], xUnit [Theory][InlineData]를 활용하면 코드 중복을 줄이고 가독성을 높일 수 있습니다.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3859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예외 테스트는 비즈니스 규칙 위반이나 시스템 한계 상황 검증에 활용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9149486" y="6511442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7347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Fixture/Setup/TearDown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3048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픽스처란?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52748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픽스처는 테스트 실행에 필요한 사전 조건과 환경을 의미합니다. 테스트 대상 객체(SUT), 의존성, 테스트 데이터를 포함하며, Setup/TearDown 메서드로 반복적인 준비 작업을 캡슐화합니다.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713025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205" y="2827325"/>
            <a:ext cx="276149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13025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76249" y="2839212"/>
            <a:ext cx="6025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3122676"/>
            <a:ext cx="338968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[SetUp]: 각 테스트 전 호출 [TearDown]: 각 테스트 후 호출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2097" y="282732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13025"/>
            <a:ext cx="3562502" cy="90525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85055" y="2839212"/>
            <a:ext cx="574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32097" y="3122676"/>
            <a:ext cx="32653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생성자: 테스트 전 Setup 역할 IDisposable.Dispose(): TearDown 역할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014" b="-1014"/>
          <a:stretch/>
        </p:blipFill>
        <p:spPr>
          <a:xfrm>
            <a:off x="8140903" y="2827325"/>
            <a:ext cx="304495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21294" y="2839212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수준별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40903" y="3122676"/>
            <a:ext cx="33613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[OneTimeSetUp]: 클래스 전 1회 [ClassInitialize]: 클래스 수준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764585"/>
            <a:ext cx="10972800" cy="2152498"/>
          </a:xfrm>
          <a:prstGeom prst="roundRect">
            <a:avLst>
              <a:gd name="adj" fmla="val 15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3926434"/>
            <a:ext cx="237744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47902" y="3888943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 픽스처 예제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1047901" y="4117543"/>
            <a:ext cx="4905637" cy="1676095"/>
          </a:xfrm>
          <a:prstGeom prst="roundRect">
            <a:avLst>
              <a:gd name="adj" fmla="val 12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23798" y="4202582"/>
            <a:ext cx="4660776" cy="151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[TestFixture]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public class CustomerServiceTests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private CustomerService _service;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private Mock&lt;ICustomerRepository&gt; _mockRepo;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[SetUp]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public void Setup()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    _mockRepo = new Mock&lt;ICustomerRepository&gt;();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    _service = new CustomerService(_mockRepo.Object);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910828" y="6587338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 실습</a:t>
            </a:r>
            <a:endParaRPr lang="en-US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229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냄새와 개선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14429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Mocking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4712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Assert 남발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01752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불명확한 의도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95705" y="1950415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객체보다 모의 객체가 많으면 테스트가 구현에 과도하게 결합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95705" y="2179015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 필수 의존성만 Mock, 나머지는 실제 객체 사용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테스트에서 여러 기능을 검증하면 실패 원인 파악 어려움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 단일 개념만 검증하는 작은 테스트 작성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비결정성 방치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시간, 날짜, 랜덤값에 의존하여 실행할 때마다 결과가 달라짐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 시계/랜덤 주입으로 제어 가능하게 설계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017520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367735"/>
            <a:ext cx="3743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코드만 보고는 무엇을 검증하는지 이해하기 어려움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596335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➔ Given-When-Then 구조로 명확하게 표현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 리팩토링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363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코드도 프로덕션 코드만큼 정기적인 리팩토링이 필요합니다. 가독성과 유지보수성을 높이기 위해 중복을 제거하고, 테스트 헬퍼와 유틸리티 메서드를 적극 활용하세요. 단, 이로 인해 테스트의 명확성이 저하되지 않도록 주의하세요.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29928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테스트 냄새는 코드 리뷰 시 주요 개선 포인트로 활용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42678" y="6511442"/>
            <a:ext cx="2145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기초 실습</a:t>
            </a:r>
            <a:endParaRPr lang="en-US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27916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체크리스트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067105"/>
            <a:ext cx="3633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작성 후 아래 항목을 체크하여 테스트 품질을 점검하세요.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3331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647395" y="1380744"/>
            <a:ext cx="152705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13331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 준수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609905" y="1638605"/>
            <a:ext cx="5410505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1790395"/>
            <a:ext cx="200254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905" y="266730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09905" y="383316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09905" y="465612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00354" y="1752905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명확성</a:t>
            </a:r>
            <a:endParaRPr lang="en-US" sz="1400"/>
          </a:p>
        </p:txBody>
      </p:sp>
      <p:sp>
        <p:nvSpPr>
          <p:cNvPr id="16" name="Text 12"/>
          <p:cNvSpPr txBox="1"/>
          <p:nvPr/>
        </p:nvSpPr>
        <p:spPr>
          <a:xfrm>
            <a:off x="1000354" y="2064715"/>
            <a:ext cx="490392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Arrange-Act-Assert 구조가 명확하게 구분되어 있나요? Act는 단일 메서드 호출인가요?</a:t>
            </a:r>
            <a:endParaRPr lang="en-US" sz="10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819095"/>
            <a:ext cx="200254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0354" y="2781605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 명확성</a:t>
            </a:r>
            <a:endParaRPr lang="en-US" sz="1400"/>
          </a:p>
        </p:txBody>
      </p:sp>
      <p:sp>
        <p:nvSpPr>
          <p:cNvPr id="19" name="Text 14"/>
          <p:cNvSpPr txBox="1"/>
          <p:nvPr/>
        </p:nvSpPr>
        <p:spPr>
          <a:xfrm>
            <a:off x="1000354" y="394746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목적 단일화</a:t>
            </a:r>
            <a:endParaRPr lang="en-US" sz="1400"/>
          </a:p>
        </p:txBody>
      </p:sp>
      <p:sp>
        <p:nvSpPr>
          <p:cNvPr id="20" name="Text 15"/>
          <p:cNvSpPr txBox="1"/>
          <p:nvPr/>
        </p:nvSpPr>
        <p:spPr>
          <a:xfrm>
            <a:off x="1000354" y="3093415"/>
            <a:ext cx="31418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검증문이 명확한 기대값과 실제값을 비교하고 있나요?</a:t>
            </a:r>
            <a:endParaRPr lang="en-US" sz="1000"/>
          </a:p>
        </p:txBody>
      </p:sp>
      <p:sp>
        <p:nvSpPr>
          <p:cNvPr id="21" name="Shape 16"/>
          <p:cNvSpPr/>
          <p:nvPr/>
        </p:nvSpPr>
        <p:spPr>
          <a:xfrm>
            <a:off x="609905" y="35286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7454" y="3576218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0354" y="4260190"/>
            <a:ext cx="3217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테스트는 하나의 기능 또는 동작만 검증하고 있나요?</a:t>
            </a:r>
            <a:endParaRPr lang="en-US" sz="1000"/>
          </a:p>
        </p:txBody>
      </p:sp>
      <p:sp>
        <p:nvSpPr>
          <p:cNvPr id="24" name="Text 18"/>
          <p:cNvSpPr txBox="1"/>
          <p:nvPr/>
        </p:nvSpPr>
        <p:spPr>
          <a:xfrm>
            <a:off x="914400" y="3528670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원칙</a:t>
            </a:r>
            <a:endParaRPr lang="en-US" sz="12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985870"/>
            <a:ext cx="200254" cy="2286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4808830"/>
            <a:ext cx="200254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00354" y="477042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테스트 이름</a:t>
            </a:r>
            <a:endParaRPr lang="en-US" sz="1400"/>
          </a:p>
        </p:txBody>
      </p:sp>
      <p:sp>
        <p:nvSpPr>
          <p:cNvPr id="28" name="Text 20"/>
          <p:cNvSpPr txBox="1"/>
          <p:nvPr/>
        </p:nvSpPr>
        <p:spPr>
          <a:xfrm>
            <a:off x="1000354" y="5083150"/>
            <a:ext cx="3180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메서드 이름이 목적을 명확히 설명하고 있나요?</a:t>
            </a:r>
            <a:endParaRPr lang="en-US" sz="100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9749" y="1380744"/>
            <a:ext cx="133502" cy="13350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172200" y="163860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2"/>
          <p:cNvSpPr/>
          <p:nvPr/>
        </p:nvSpPr>
        <p:spPr>
          <a:xfrm>
            <a:off x="6172200" y="246156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6172200" y="445038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6562649" y="1752905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테스트</a:t>
            </a:r>
            <a:endParaRPr lang="en-US" sz="1400"/>
          </a:p>
        </p:txBody>
      </p:sp>
      <p:sp>
        <p:nvSpPr>
          <p:cNvPr id="34" name="Text 25"/>
          <p:cNvSpPr txBox="1"/>
          <p:nvPr/>
        </p:nvSpPr>
        <p:spPr>
          <a:xfrm>
            <a:off x="6562649" y="2575865"/>
            <a:ext cx="1804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케이스 및 특수값</a:t>
            </a:r>
            <a:endParaRPr lang="en-US" sz="1400"/>
          </a:p>
        </p:txBody>
      </p:sp>
      <p:sp>
        <p:nvSpPr>
          <p:cNvPr id="35" name="Text 26"/>
          <p:cNvSpPr txBox="1"/>
          <p:nvPr/>
        </p:nvSpPr>
        <p:spPr>
          <a:xfrm>
            <a:off x="6562649" y="2887675"/>
            <a:ext cx="38660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발생 상황, null, 빈 문자열 등의 특수 케이스를 테스트하나요?</a:t>
            </a:r>
            <a:endParaRPr lang="en-US" sz="1000"/>
          </a:p>
        </p:txBody>
      </p:sp>
      <p:sp>
        <p:nvSpPr>
          <p:cNvPr id="36" name="Text 27"/>
          <p:cNvSpPr txBox="1"/>
          <p:nvPr/>
        </p:nvSpPr>
        <p:spPr>
          <a:xfrm>
            <a:off x="6476695" y="133319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및 예외 처리</a:t>
            </a:r>
            <a:endParaRPr lang="en-US" sz="120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1790395"/>
            <a:ext cx="200254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562649" y="3741725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</a:t>
            </a:r>
            <a:endParaRPr lang="en-US" sz="1400"/>
          </a:p>
        </p:txBody>
      </p:sp>
      <p:sp>
        <p:nvSpPr>
          <p:cNvPr id="39" name="Text 29"/>
          <p:cNvSpPr txBox="1"/>
          <p:nvPr/>
        </p:nvSpPr>
        <p:spPr>
          <a:xfrm>
            <a:off x="6562649" y="4564685"/>
            <a:ext cx="642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</a:t>
            </a:r>
            <a:endParaRPr lang="en-US" sz="1400"/>
          </a:p>
        </p:txBody>
      </p:sp>
      <p:sp>
        <p:nvSpPr>
          <p:cNvPr id="40" name="Text 30"/>
          <p:cNvSpPr txBox="1"/>
          <p:nvPr/>
        </p:nvSpPr>
        <p:spPr>
          <a:xfrm>
            <a:off x="6562649" y="2064715"/>
            <a:ext cx="30184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최소값, 최대값, 경계 직전/직후 값을 테스트하나요?</a:t>
            </a:r>
            <a:endParaRPr lang="en-US" sz="100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2613355"/>
            <a:ext cx="200254" cy="22860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6172200" y="362742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2"/>
          <p:cNvSpPr txBox="1"/>
          <p:nvPr/>
        </p:nvSpPr>
        <p:spPr>
          <a:xfrm>
            <a:off x="6562649" y="4876495"/>
            <a:ext cx="3884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코드가 다른 개발자도 쉽게 이해할 수 있도록 작성되었나요?</a:t>
            </a:r>
            <a:endParaRPr lang="en-US" sz="1000"/>
          </a:p>
        </p:txBody>
      </p:sp>
      <p:sp>
        <p:nvSpPr>
          <p:cNvPr id="44" name="Shape 33"/>
          <p:cNvSpPr/>
          <p:nvPr/>
        </p:nvSpPr>
        <p:spPr>
          <a:xfrm>
            <a:off x="6172200" y="332201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6200546" y="3370478"/>
            <a:ext cx="171907" cy="13350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476695" y="332201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품질 검사</a:t>
            </a:r>
            <a:endParaRPr lang="en-US" sz="120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3779215"/>
            <a:ext cx="200254" cy="2286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562649" y="4053535"/>
            <a:ext cx="4179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간 중복된 코드가 제거되고 공통 셋업 코드가 적절히 활용되나요?</a:t>
            </a:r>
            <a:endParaRPr lang="en-US" sz="100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4603090"/>
            <a:ext cx="200254" cy="228600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609905" y="5517490"/>
            <a:ext cx="10972800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944" y="5688482"/>
            <a:ext cx="152705" cy="15270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961949" y="560252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리뷰</a:t>
            </a:r>
            <a:endParaRPr lang="en-US" sz="1000"/>
          </a:p>
        </p:txBody>
      </p:sp>
      <p:sp>
        <p:nvSpPr>
          <p:cNvPr id="53" name="Text 38"/>
          <p:cNvSpPr txBox="1"/>
          <p:nvPr/>
        </p:nvSpPr>
        <p:spPr>
          <a:xfrm>
            <a:off x="961949" y="5783580"/>
            <a:ext cx="3182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팀원과 테스트 코드를 상호 리뷰하고 이 체크리스트를 활용하세요.</a:t>
            </a:r>
            <a:endParaRPr lang="en-US" sz="900"/>
          </a:p>
        </p:txBody>
      </p:sp>
      <p:sp>
        <p:nvSpPr>
          <p:cNvPr id="54" name="Text 39"/>
          <p:cNvSpPr txBox="1"/>
          <p:nvPr/>
        </p:nvSpPr>
        <p:spPr>
          <a:xfrm>
            <a:off x="9186062" y="6587338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실습 체크리스트</a:t>
            </a:r>
            <a:endParaRPr lang="en-US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162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및 퀴즈(기초)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609905" y="1310335"/>
            <a:ext cx="219456" cy="200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5256" y="1257300"/>
            <a:ext cx="13587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내용 요약</a:t>
            </a:r>
            <a:endParaRPr lang="en-US" sz="1500"/>
          </a:p>
        </p:txBody>
      </p:sp>
      <p:sp>
        <p:nvSpPr>
          <p:cNvPr id="8" name="Shape 5"/>
          <p:cNvSpPr/>
          <p:nvPr/>
        </p:nvSpPr>
        <p:spPr>
          <a:xfrm>
            <a:off x="609905" y="1668780"/>
            <a:ext cx="4304995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1668780"/>
            <a:ext cx="47549" cy="13716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09244" y="1858975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7046" y="1821485"/>
            <a:ext cx="351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원칙: Fast, Independent, Repeatable, Self-Validating, Timely</a:t>
            </a:r>
            <a:endParaRPr lang="en-US" sz="12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09244" y="2392985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7046" y="2354580"/>
            <a:ext cx="3343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패턴: Arrange(준비), Act(실행), Assert(검증)</a:t>
            </a:r>
            <a:endParaRPr lang="en-US" sz="12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09244" y="2697480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7046" y="2659075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메서드 명명 규칙: 테스트대상_조건_기대결과</a:t>
            </a:r>
            <a:endParaRPr lang="en-US" sz="120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59375" y="1310335"/>
            <a:ext cx="200254" cy="20025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335524" y="1257300"/>
            <a:ext cx="9400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퀴즈</a:t>
            </a:r>
            <a:endParaRPr lang="en-US" sz="1500"/>
          </a:p>
        </p:txBody>
      </p:sp>
      <p:sp>
        <p:nvSpPr>
          <p:cNvPr id="18" name="Shape 11"/>
          <p:cNvSpPr/>
          <p:nvPr/>
        </p:nvSpPr>
        <p:spPr>
          <a:xfrm>
            <a:off x="5059375" y="1668780"/>
            <a:ext cx="6524244" cy="2115007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5212080" y="1821485"/>
            <a:ext cx="342900" cy="342900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 txBox="1"/>
          <p:nvPr/>
        </p:nvSpPr>
        <p:spPr>
          <a:xfrm>
            <a:off x="5334610" y="186720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21" name="Text 14"/>
          <p:cNvSpPr txBox="1"/>
          <p:nvPr/>
        </p:nvSpPr>
        <p:spPr>
          <a:xfrm>
            <a:off x="5669280" y="1867205"/>
            <a:ext cx="29745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원칙에서 S는 무엇을 의미하나요?</a:t>
            </a:r>
            <a:endParaRPr lang="en-US" sz="1300"/>
          </a:p>
        </p:txBody>
      </p:sp>
      <p:sp>
        <p:nvSpPr>
          <p:cNvPr id="22" name="Shape 15"/>
          <p:cNvSpPr/>
          <p:nvPr/>
        </p:nvSpPr>
        <p:spPr>
          <a:xfrm>
            <a:off x="5212080" y="2278685"/>
            <a:ext cx="6219749" cy="400507"/>
          </a:xfrm>
          <a:prstGeom prst="roundRect">
            <a:avLst>
              <a:gd name="adj" fmla="val 43488"/>
            </a:avLst>
          </a:prstGeom>
          <a:solidFill>
            <a:srgbClr val="C6F6D5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5298034" y="236372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45582" y="2402129"/>
            <a:ext cx="133502" cy="1527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212080" y="2755087"/>
            <a:ext cx="6219749" cy="400507"/>
          </a:xfrm>
          <a:prstGeom prst="roundRect">
            <a:avLst>
              <a:gd name="adj" fmla="val 43488"/>
            </a:avLst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5212080" y="3230575"/>
            <a:ext cx="6219749" cy="400507"/>
          </a:xfrm>
          <a:prstGeom prst="roundRect">
            <a:avLst>
              <a:gd name="adj" fmla="val 43488"/>
            </a:avLst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5640934" y="2363724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Self-Validating (자가 검증)</a:t>
            </a:r>
            <a:endParaRPr lang="en-US" sz="1200"/>
          </a:p>
        </p:txBody>
      </p:sp>
      <p:sp>
        <p:nvSpPr>
          <p:cNvPr id="28" name="Shape 20"/>
          <p:cNvSpPr/>
          <p:nvPr/>
        </p:nvSpPr>
        <p:spPr>
          <a:xfrm>
            <a:off x="5298034" y="28401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5524" y="2878531"/>
            <a:ext cx="152705" cy="152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640934" y="2840126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Specific (구체적)</a:t>
            </a:r>
            <a:endParaRPr lang="en-US" sz="1200"/>
          </a:p>
        </p:txBody>
      </p:sp>
      <p:sp>
        <p:nvSpPr>
          <p:cNvPr id="31" name="Shape 22"/>
          <p:cNvSpPr/>
          <p:nvPr/>
        </p:nvSpPr>
        <p:spPr>
          <a:xfrm>
            <a:off x="5298034" y="33165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5524" y="3354934"/>
            <a:ext cx="152705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640934" y="3316529"/>
            <a:ext cx="1038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Simple (단순)</a:t>
            </a:r>
            <a:endParaRPr lang="en-US" sz="1200"/>
          </a:p>
        </p:txBody>
      </p:sp>
      <p:sp>
        <p:nvSpPr>
          <p:cNvPr id="34" name="Shape 24"/>
          <p:cNvSpPr/>
          <p:nvPr/>
        </p:nvSpPr>
        <p:spPr>
          <a:xfrm>
            <a:off x="609905" y="5768035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3349" y="5929884"/>
            <a:ext cx="152705" cy="15270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00354" y="589239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포인트</a:t>
            </a:r>
            <a:endParaRPr lang="en-US" sz="1200"/>
          </a:p>
        </p:txBody>
      </p:sp>
      <p:sp>
        <p:nvSpPr>
          <p:cNvPr id="37" name="Text 26"/>
          <p:cNvSpPr txBox="1"/>
          <p:nvPr/>
        </p:nvSpPr>
        <p:spPr>
          <a:xfrm>
            <a:off x="1000354" y="6120994"/>
            <a:ext cx="4120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장에서는 이러한 단위테스트 개념들을 C# 코드로 적용해보겠습니다.</a:t>
            </a:r>
            <a:endParaRPr lang="en-US" sz="1000"/>
          </a:p>
        </p:txBody>
      </p:sp>
      <p:sp>
        <p:nvSpPr>
          <p:cNvPr id="38" name="Text 27"/>
          <p:cNvSpPr txBox="1"/>
          <p:nvPr/>
        </p:nvSpPr>
        <p:spPr>
          <a:xfrm>
            <a:off x="9186062" y="6548933"/>
            <a:ext cx="24981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단위테스트 기초</a:t>
            </a:r>
            <a:endParaRPr lang="en-US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4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547872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8067" y="2095805"/>
            <a:ext cx="381305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38167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547872" y="2800807"/>
            <a:ext cx="55056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처리(Moq)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547872" y="3958438"/>
            <a:ext cx="40489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 개념, Moq 프레임워크 활용,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547872" y="4301338"/>
            <a:ext cx="44961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및 데이터베이스 의존성 격리 테스트 전략</a:t>
            </a:r>
            <a:endParaRPr 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28867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 개념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04595"/>
            <a:ext cx="10972800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104595"/>
            <a:ext cx="47549" cy="11430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257300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더블이란?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638605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더블은 단위 테스트에서 외부 의존성을 대체하는 객체로, 테스트의 격리성과 속도를 높여줍니다. 영화의 스턴트 더블처럼 실제 의존성을 대신해 테스트 환경을 단순화합니다.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361895"/>
            <a:ext cx="2133295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326" b="-1326"/>
          <a:stretch/>
        </p:blipFill>
        <p:spPr>
          <a:xfrm>
            <a:off x="685800" y="2438705"/>
            <a:ext cx="181051" cy="2478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819095" y="2361895"/>
            <a:ext cx="2133295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239305" y="2361895"/>
            <a:ext cx="2133295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448495" y="2361895"/>
            <a:ext cx="2133295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42746" y="2447849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685800" y="2704795"/>
            <a:ext cx="2069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파라미터 채우기용 객체, 실제로는 사용되지 않음</a:t>
            </a:r>
            <a:endParaRPr lang="en-US" sz="100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95905" y="2438705"/>
            <a:ext cx="247802" cy="24780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29200" y="2361895"/>
            <a:ext cx="2133295" cy="780898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3219602" y="24478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Stub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2895905" y="2704795"/>
            <a:ext cx="19549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 준비된 답변만 제공하는 객체, 일관된 결과 반환</a:t>
            </a:r>
            <a:endParaRPr lang="en-US" sz="10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5105095" y="2438705"/>
            <a:ext cx="247802" cy="2478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29707" y="244784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Fake</a:t>
            </a:r>
            <a:endParaRPr lang="en-US" sz="1200"/>
          </a:p>
        </p:txBody>
      </p:sp>
      <p:sp>
        <p:nvSpPr>
          <p:cNvPr id="23" name="Text 18"/>
          <p:cNvSpPr txBox="1"/>
          <p:nvPr/>
        </p:nvSpPr>
        <p:spPr>
          <a:xfrm>
            <a:off x="7667244" y="2447849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Spy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5105095" y="2704795"/>
            <a:ext cx="20308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구현은 있지만 단순화된 구현체 (예: 인메모리 DB)</a:t>
            </a:r>
            <a:endParaRPr lang="en-US" sz="10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476" b="-476"/>
          <a:stretch/>
        </p:blipFill>
        <p:spPr>
          <a:xfrm>
            <a:off x="7315200" y="2438705"/>
            <a:ext cx="276149" cy="2478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905695" y="2447849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</a:t>
            </a:r>
            <a:endParaRPr lang="en-US" sz="1200"/>
          </a:p>
        </p:txBody>
      </p:sp>
      <p:sp>
        <p:nvSpPr>
          <p:cNvPr id="27" name="Text 21"/>
          <p:cNvSpPr txBox="1"/>
          <p:nvPr/>
        </p:nvSpPr>
        <p:spPr>
          <a:xfrm>
            <a:off x="7315200" y="2704795"/>
            <a:ext cx="198333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객체를 감싸 호출을 기록, 원래 구현도 사용 가능</a:t>
            </a:r>
            <a:endParaRPr lang="en-US" sz="100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863" b="-863"/>
          <a:stretch/>
        </p:blipFill>
        <p:spPr>
          <a:xfrm>
            <a:off x="9525305" y="2438705"/>
            <a:ext cx="304495" cy="2478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525305" y="2704795"/>
            <a:ext cx="2069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호출과 결과를 미리 프로그래밍, 행동 검증용</a:t>
            </a:r>
            <a:endParaRPr lang="en-US" sz="1000"/>
          </a:p>
        </p:txBody>
      </p:sp>
      <p:sp>
        <p:nvSpPr>
          <p:cNvPr id="30" name="Shape 23"/>
          <p:cNvSpPr/>
          <p:nvPr/>
        </p:nvSpPr>
        <p:spPr>
          <a:xfrm>
            <a:off x="609905" y="3251606"/>
            <a:ext cx="10972800" cy="2210105"/>
          </a:xfrm>
          <a:prstGeom prst="roundRect">
            <a:avLst>
              <a:gd name="adj" fmla="val 14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3349" y="3413455"/>
            <a:ext cx="142646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2805" y="3375050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 객체 사용 예시 (Moq)</a:t>
            </a:r>
            <a:endParaRPr lang="en-US" sz="1200"/>
          </a:p>
        </p:txBody>
      </p:sp>
      <p:sp>
        <p:nvSpPr>
          <p:cNvPr id="33" name="Shape 25"/>
          <p:cNvSpPr/>
          <p:nvPr/>
        </p:nvSpPr>
        <p:spPr>
          <a:xfrm>
            <a:off x="952805" y="3642055"/>
            <a:ext cx="5572354" cy="1695298"/>
          </a:xfrm>
          <a:prstGeom prst="roundRect">
            <a:avLst>
              <a:gd name="adj" fmla="val 1212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1028700" y="3737153"/>
            <a:ext cx="5372100" cy="148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Arrange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mockRepo = new Mock&lt;IUserRepository&gt;();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mockRepo.Setup(r =&gt; r.GetById(1)).Returns(new User { Id = 1, Name = "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홍길동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" });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service = new UserService(mockRepo.Object);</a:t>
            </a:r>
          </a:p>
          <a:p>
            <a:pPr marL="0" indent="0" algn="l">
              <a:buNone/>
            </a:pPr>
            <a:endParaRPr lang="en-US" sz="900">
              <a:solidFill>
                <a:srgbClr val="6EE7B7"/>
              </a:solidFill>
              <a:latin typeface="Consolas" panose="020B0609020204030204" pitchFamily="49" charset="0"/>
              <a:ea typeface="ui-monospace" pitchFamily="34" charset="-122"/>
              <a:cs typeface="ui-monospace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Act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result = service.GetUser(1);</a:t>
            </a:r>
          </a:p>
          <a:p>
            <a:pPr marL="0" indent="0" algn="l">
              <a:buNone/>
            </a:pPr>
            <a:endParaRPr lang="en-US" sz="900">
              <a:solidFill>
                <a:srgbClr val="6EE7B7"/>
              </a:solidFill>
              <a:latin typeface="Consolas" panose="020B0609020204030204" pitchFamily="49" charset="0"/>
              <a:ea typeface="ui-monospace" pitchFamily="34" charset="-122"/>
              <a:cs typeface="ui-monospace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Assert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Assert.AreEqual("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홍길동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", 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result.Name);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mockRepo.Verify(r =&gt; r.GetById(1), Times.Once);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609905" y="5537606"/>
            <a:ext cx="10972800" cy="362102"/>
          </a:xfrm>
          <a:prstGeom prst="roundRect">
            <a:avLst>
              <a:gd name="adj" fmla="val 265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694944" y="5623560"/>
            <a:ext cx="6130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라이브러리: Moq, NSubstitute, FakeItEasy 등을 통해 C#에서 테스트 더블을 쉽게 생성할 수 있습니다.</a:t>
            </a:r>
            <a:endParaRPr lang="en-US" sz="1000"/>
          </a:p>
        </p:txBody>
      </p:sp>
      <p:sp>
        <p:nvSpPr>
          <p:cNvPr id="45" name="Text 37"/>
          <p:cNvSpPr txBox="1"/>
          <p:nvPr/>
        </p:nvSpPr>
        <p:spPr>
          <a:xfrm>
            <a:off x="8761781" y="6587338"/>
            <a:ext cx="2926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외부 의존성 처리 (Moq)</a:t>
            </a:r>
            <a:endParaRPr lang="en-US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42583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역전과 인터페이스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404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 (의존성 주입)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96405" y="1600200"/>
            <a:ext cx="15096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IoC (제어의 역전)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782105" y="30175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생성자 주입 권장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컴포넌트에 필요한 의존성을 외부에서 주입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구현보다 추상화(인터페이스)에 의존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6400800" y="1600200"/>
            <a:ext cx="342900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96405" y="1950415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생성/관리 책임을 프레임워크에 위임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96405" y="217901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해결을 외부 컨테이너가 담당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017520"/>
            <a:ext cx="342900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5705" y="3017520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설계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95705" y="336773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작고 명확한 역할 중심 인터페이스 설계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95705" y="3596335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원칙(SRP)을 준수한 분리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6400800" y="3017520"/>
            <a:ext cx="228600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82105" y="33677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의존성은 생성자를 통해 주입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782105" y="3596335"/>
            <a:ext cx="2820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시 목(Mock) 객체로 쉽게 교체 가능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4482389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90549" y="4443984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가능한 설계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90549" y="4795114"/>
            <a:ext cx="10297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역전 원칙(DIP)은 테스트 가능한 코드의 핵심입니다. 고수준 모듈이 저수준 모듈에 의존하지 않고, 둘 다 추상화(인터페이스)에 의존함으로써 쉽게 테스트 대역(Test Double)으로 교체할 수 있는 구조를 만듭니다.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2916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의존성 주입은 테스트 용이성과 유연한 설계의 기반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699955" y="6511442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4</a:t>
            </a:r>
            <a:endParaRPr lang="en-US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991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기본 사용법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333195"/>
            <a:ext cx="523951" cy="237744"/>
          </a:xfrm>
          <a:prstGeom prst="roundRect">
            <a:avLst>
              <a:gd name="adj" fmla="val 384615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348740"/>
            <a:ext cx="3986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239926" y="1336853"/>
            <a:ext cx="5496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객체를 생성하고 Setup 메서드를 통해 의존성 동작을 정의하는 기본 사용법입니다.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83611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761695" y="1948586"/>
            <a:ext cx="171907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9498" y="1941271"/>
            <a:ext cx="14081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UserServiceTests.cs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048695" y="192206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25505" y="1960474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성공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609905" y="2194559"/>
            <a:ext cx="10972800" cy="2788403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2375611"/>
            <a:ext cx="10568914" cy="246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using Moq; using NUnit.Framework;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[TestFixture] public class UserServiceTests {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[Test] public void GetUser_UserExists_ReturnsUser() {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// Arrange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var userRepository = new Mock&lt;IUserRepository&gt;();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var userId = 1; var expectedUser = new User { Id = userId, Name = "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홍길동</a:t>
            </a: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" };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userRepository.Setup(repo =&gt; repo.GetUser(userId)).Returns(expectedUser);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var userService = new UserService(userRepository.Object);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// Act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var result = userService.GetUserById(userId);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// Assert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Assert.AreEqual(expectedUser, result);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}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609905" y="5144812"/>
            <a:ext cx="10972800" cy="1123798"/>
          </a:xfrm>
          <a:prstGeom prst="roundRect">
            <a:avLst>
              <a:gd name="adj" fmla="val 551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754" y="5344152"/>
            <a:ext cx="190195" cy="190195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1076249" y="5306661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핵심 사용법</a:t>
            </a:r>
            <a:endParaRPr lang="en-US" sz="1200"/>
          </a:p>
        </p:txBody>
      </p:sp>
      <p:sp>
        <p:nvSpPr>
          <p:cNvPr id="75" name="Text 71"/>
          <p:cNvSpPr txBox="1"/>
          <p:nvPr/>
        </p:nvSpPr>
        <p:spPr>
          <a:xfrm>
            <a:off x="1076249" y="557275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Mock&lt;T&gt;: 인터페이스/추상 클래스 목 생성</a:t>
            </a:r>
            <a:endParaRPr lang="en-US" sz="1200"/>
          </a:p>
        </p:txBody>
      </p:sp>
      <p:sp>
        <p:nvSpPr>
          <p:cNvPr id="76" name="Text 72"/>
          <p:cNvSpPr txBox="1"/>
          <p:nvPr/>
        </p:nvSpPr>
        <p:spPr>
          <a:xfrm>
            <a:off x="3887114" y="5572752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Setup(): 메서드 호출 동작 정의</a:t>
            </a:r>
            <a:endParaRPr lang="en-US" sz="1200"/>
          </a:p>
        </p:txBody>
      </p:sp>
      <p:sp>
        <p:nvSpPr>
          <p:cNvPr id="77" name="Text 73"/>
          <p:cNvSpPr txBox="1"/>
          <p:nvPr/>
        </p:nvSpPr>
        <p:spPr>
          <a:xfrm>
            <a:off x="1076249" y="5878161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Returns()/Throws(): 반환/예외 설정</a:t>
            </a:r>
            <a:endParaRPr lang="en-US" sz="1200"/>
          </a:p>
        </p:txBody>
      </p:sp>
      <p:sp>
        <p:nvSpPr>
          <p:cNvPr id="78" name="Text 74"/>
          <p:cNvSpPr txBox="1"/>
          <p:nvPr/>
        </p:nvSpPr>
        <p:spPr>
          <a:xfrm>
            <a:off x="3887114" y="5878161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Object: 실제 사용할 목 인스턴스 접근</a:t>
            </a:r>
            <a:endParaRPr lang="en-US" sz="1200"/>
          </a:p>
        </p:txBody>
      </p:sp>
      <p:sp>
        <p:nvSpPr>
          <p:cNvPr id="79" name="Text 75"/>
          <p:cNvSpPr txBox="1"/>
          <p:nvPr/>
        </p:nvSpPr>
        <p:spPr>
          <a:xfrm>
            <a:off x="9517075" y="6511442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Moq 활용</a:t>
            </a:r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419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Setup/Verify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523951" cy="237744"/>
          </a:xfrm>
          <a:prstGeom prst="roundRect">
            <a:avLst>
              <a:gd name="adj" fmla="val 384615"/>
            </a:avLst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196035"/>
            <a:ext cx="3986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239926" y="118506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Setup으로 동작 정의, Verify로 호출 검증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45572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761695" y="1568196"/>
            <a:ext cx="171907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9498" y="1559966"/>
            <a:ext cx="140817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UserServiceTests.cs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763402" y="1540764"/>
            <a:ext cx="676656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839298" y="1579169"/>
            <a:ext cx="609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핵심 예제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609905" y="1813255"/>
            <a:ext cx="10972800" cy="2258411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4" y="1994306"/>
            <a:ext cx="10529157" cy="191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var mockRepo = new Mock&lt;IUserRepository&gt;(); // Setup: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메서드 동작 정의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mockRepo.Setup(r =&gt; r.GetById(1)).Returns(new User(1, "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홍길동</a:t>
            </a: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"));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var service = new UserService(mockRepo.Object); 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var user = service.GetUserById(1); // Verify: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메서드 호출 검증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mockRepo.Verify(r =&gt; r.GetById(1), Times.Once());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매개변수 매치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mockRepo.Verify(r =&gt; r.Save(It.IsAny&lt;User&gt;()), Times.Never());</a:t>
            </a: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609905" y="4224370"/>
            <a:ext cx="10972800" cy="1009498"/>
          </a:xfrm>
          <a:prstGeom prst="roundRect">
            <a:avLst>
              <a:gd name="adj" fmla="val 68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4386219"/>
            <a:ext cx="171907" cy="171907"/>
          </a:xfrm>
          <a:prstGeom prst="rect">
            <a:avLst/>
          </a:prstGeom>
        </p:spPr>
      </p:pic>
      <p:sp>
        <p:nvSpPr>
          <p:cNvPr id="85" name="Text 81"/>
          <p:cNvSpPr txBox="1"/>
          <p:nvPr/>
        </p:nvSpPr>
        <p:spPr>
          <a:xfrm>
            <a:off x="981151" y="434781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메서드</a:t>
            </a:r>
            <a:endParaRPr lang="en-US" sz="1200"/>
          </a:p>
        </p:txBody>
      </p:sp>
      <p:sp>
        <p:nvSpPr>
          <p:cNvPr id="86" name="Text 82"/>
          <p:cNvSpPr txBox="1"/>
          <p:nvPr/>
        </p:nvSpPr>
        <p:spPr>
          <a:xfrm>
            <a:off x="981151" y="4614819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Setup/Returns</a:t>
            </a:r>
            <a:endParaRPr lang="en-US" sz="1000"/>
          </a:p>
        </p:txBody>
      </p:sp>
      <p:sp>
        <p:nvSpPr>
          <p:cNvPr id="87" name="Text 83"/>
          <p:cNvSpPr txBox="1"/>
          <p:nvPr/>
        </p:nvSpPr>
        <p:spPr>
          <a:xfrm>
            <a:off x="2830982" y="4614819"/>
            <a:ext cx="481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</a:t>
            </a:r>
            <a:endParaRPr lang="en-US" sz="1000"/>
          </a:p>
        </p:txBody>
      </p:sp>
      <p:sp>
        <p:nvSpPr>
          <p:cNvPr id="88" name="Text 84"/>
          <p:cNvSpPr txBox="1"/>
          <p:nvPr/>
        </p:nvSpPr>
        <p:spPr>
          <a:xfrm>
            <a:off x="1133856" y="4795870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 호출과 반환값 정의</a:t>
            </a:r>
            <a:endParaRPr lang="en-US" sz="900"/>
          </a:p>
        </p:txBody>
      </p:sp>
      <p:sp>
        <p:nvSpPr>
          <p:cNvPr id="89" name="Text 85"/>
          <p:cNvSpPr txBox="1"/>
          <p:nvPr/>
        </p:nvSpPr>
        <p:spPr>
          <a:xfrm>
            <a:off x="1133856" y="4947660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매칭 가능</a:t>
            </a:r>
            <a:endParaRPr lang="en-US" sz="900"/>
          </a:p>
        </p:txBody>
      </p:sp>
      <p:sp>
        <p:nvSpPr>
          <p:cNvPr id="90" name="Text 86"/>
          <p:cNvSpPr txBox="1"/>
          <p:nvPr/>
        </p:nvSpPr>
        <p:spPr>
          <a:xfrm>
            <a:off x="2983687" y="4795870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 호출 검증</a:t>
            </a:r>
            <a:endParaRPr lang="en-US" sz="900"/>
          </a:p>
        </p:txBody>
      </p:sp>
      <p:sp>
        <p:nvSpPr>
          <p:cNvPr id="91" name="Text 87"/>
          <p:cNvSpPr txBox="1"/>
          <p:nvPr/>
        </p:nvSpPr>
        <p:spPr>
          <a:xfrm>
            <a:off x="2983687" y="494766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Times: Once, Never, Exactly(n)</a:t>
            </a:r>
            <a:endParaRPr lang="en-US" sz="900"/>
          </a:p>
        </p:txBody>
      </p:sp>
      <p:sp>
        <p:nvSpPr>
          <p:cNvPr id="92" name="Text 88"/>
          <p:cNvSpPr txBox="1"/>
          <p:nvPr/>
        </p:nvSpPr>
        <p:spPr>
          <a:xfrm>
            <a:off x="9517075" y="6587338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Moq 활용</a:t>
            </a:r>
            <a:endParaRPr lang="en-US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6865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예외/콜백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81405"/>
            <a:ext cx="4015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Moq의 예외 발생, 콜백, 순차적 응답 기능을 활용한 테스트 패턴입니다.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41000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761695" y="1522476"/>
            <a:ext cx="171907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9498" y="1514246"/>
            <a:ext cx="13414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Moq 고급 기능 예제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763402" y="1495044"/>
            <a:ext cx="676656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39298" y="1533449"/>
            <a:ext cx="6099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핵심 패턴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609905" y="1767535"/>
            <a:ext cx="10972800" cy="2581351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24205" y="1901038"/>
            <a:ext cx="9821212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1.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예외 발생 </a:t>
            </a: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Throws)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mockRepo.Setup(r =&gt; r.GetById(999)).Throws&lt;KeyNotFoundException&gt;();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2.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콜백 함수 </a:t>
            </a: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Callback)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mockRepo.Setup(r =&gt; r.Save(It.IsAny&lt;User&gt;()))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.Callback&lt;User&gt;(u =&gt; capturedUser = u);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3.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순차적 응답 </a:t>
            </a: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SetupSequence)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mockRepo.SetupSequence(r =&gt; r.GetNext())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.Returns(new User { Id = 1 })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.Returns(new User { Id = 2 })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.Throws(new Exception());</a:t>
            </a: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609905" y="4455871"/>
            <a:ext cx="10972800" cy="694944"/>
          </a:xfrm>
          <a:prstGeom prst="roundRect">
            <a:avLst>
              <a:gd name="adj" fmla="val 1442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4617720"/>
            <a:ext cx="152705" cy="152705"/>
          </a:xfrm>
          <a:prstGeom prst="rect">
            <a:avLst/>
          </a:prstGeom>
        </p:spPr>
      </p:pic>
      <p:sp>
        <p:nvSpPr>
          <p:cNvPr id="79" name="Shape 75"/>
          <p:cNvSpPr/>
          <p:nvPr/>
        </p:nvSpPr>
        <p:spPr>
          <a:xfrm>
            <a:off x="1000354" y="4579315"/>
            <a:ext cx="638251" cy="219456"/>
          </a:xfrm>
          <a:prstGeom prst="roundRect">
            <a:avLst>
              <a:gd name="adj" fmla="val 416667"/>
            </a:avLst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6"/>
          <p:cNvSpPr/>
          <p:nvPr/>
        </p:nvSpPr>
        <p:spPr>
          <a:xfrm>
            <a:off x="1712671" y="4579315"/>
            <a:ext cx="705002" cy="219456"/>
          </a:xfrm>
          <a:prstGeom prst="roundRect">
            <a:avLst>
              <a:gd name="adj" fmla="val 416667"/>
            </a:avLst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7"/>
          <p:cNvSpPr/>
          <p:nvPr/>
        </p:nvSpPr>
        <p:spPr>
          <a:xfrm>
            <a:off x="2493569" y="4579315"/>
            <a:ext cx="1123798" cy="219456"/>
          </a:xfrm>
          <a:prstGeom prst="roundRect">
            <a:avLst>
              <a:gd name="adj" fmla="val 416667"/>
            </a:avLst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8"/>
          <p:cNvSpPr txBox="1"/>
          <p:nvPr/>
        </p:nvSpPr>
        <p:spPr>
          <a:xfrm>
            <a:off x="1099109" y="4594860"/>
            <a:ext cx="5394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Throws</a:t>
            </a:r>
            <a:endParaRPr lang="en-US" sz="900"/>
          </a:p>
        </p:txBody>
      </p:sp>
      <p:sp>
        <p:nvSpPr>
          <p:cNvPr id="83" name="Text 79"/>
          <p:cNvSpPr txBox="1"/>
          <p:nvPr/>
        </p:nvSpPr>
        <p:spPr>
          <a:xfrm>
            <a:off x="1811426" y="4594860"/>
            <a:ext cx="606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Callback</a:t>
            </a:r>
            <a:endParaRPr lang="en-US" sz="900"/>
          </a:p>
        </p:txBody>
      </p:sp>
      <p:sp>
        <p:nvSpPr>
          <p:cNvPr id="84" name="Text 80"/>
          <p:cNvSpPr txBox="1"/>
          <p:nvPr/>
        </p:nvSpPr>
        <p:spPr>
          <a:xfrm>
            <a:off x="2592324" y="4594860"/>
            <a:ext cx="10158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SetupSequence</a:t>
            </a:r>
            <a:endParaRPr lang="en-US" sz="900"/>
          </a:p>
        </p:txBody>
      </p:sp>
      <p:sp>
        <p:nvSpPr>
          <p:cNvPr id="85" name="Text 81"/>
          <p:cNvSpPr txBox="1"/>
          <p:nvPr/>
        </p:nvSpPr>
        <p:spPr>
          <a:xfrm>
            <a:off x="1000354" y="4830775"/>
            <a:ext cx="6568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Throws: 예외 상황 테스트 | Callback: 파라미터 캡처 및 사용자 정의 액션 | SetupSequence: 순차적 다른 결과 반환</a:t>
            </a:r>
            <a:endParaRPr lang="en-US" sz="1000"/>
          </a:p>
        </p:txBody>
      </p:sp>
      <p:sp>
        <p:nvSpPr>
          <p:cNvPr id="86" name="Text 82"/>
          <p:cNvSpPr txBox="1"/>
          <p:nvPr/>
        </p:nvSpPr>
        <p:spPr>
          <a:xfrm>
            <a:off x="9242755" y="6548933"/>
            <a:ext cx="24405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Moq 고급 활용</a:t>
            </a:r>
            <a:endParaRPr lang="en-US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3877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클라이언트 모킹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3504895" cy="3161995"/>
          </a:xfrm>
          <a:prstGeom prst="roundRect">
            <a:avLst>
              <a:gd name="adj" fmla="val 69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71700" y="1371600"/>
            <a:ext cx="381305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1876349"/>
            <a:ext cx="1462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통신 테스트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800100" y="2210105"/>
            <a:ext cx="31766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 호출 코드를 테스트하기 위해 HttpClient 의존성을 격리하고 모킹하는 실습입니다.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800100" y="2743200"/>
            <a:ext cx="3124505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14400" y="2895905"/>
            <a:ext cx="114300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04595" y="2848356"/>
            <a:ext cx="27916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HttpMessageHandler를 모킹하여 HTTP 응답을 시뮬레이션합니다. 이 패턴은 외부 서비스에 의존하는 모든 클라이언트 테스트에 활용 가능합니다.</a:t>
            </a:r>
            <a:endParaRPr lang="en-US" sz="900"/>
          </a:p>
        </p:txBody>
      </p:sp>
      <p:sp>
        <p:nvSpPr>
          <p:cNvPr id="13" name="Shape 9"/>
          <p:cNvSpPr/>
          <p:nvPr/>
        </p:nvSpPr>
        <p:spPr>
          <a:xfrm>
            <a:off x="4343400" y="1181405"/>
            <a:ext cx="7239305" cy="3161995"/>
          </a:xfrm>
          <a:prstGeom prst="roundRect">
            <a:avLst>
              <a:gd name="adj" fmla="val 69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4533595" y="1362456"/>
            <a:ext cx="2895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HttpMessageHandler 모킹 실습</a:t>
            </a:r>
            <a:endParaRPr lang="en-US" sz="1500"/>
          </a:p>
        </p:txBody>
      </p:sp>
      <p:sp>
        <p:nvSpPr>
          <p:cNvPr id="15" name="Shape 11"/>
          <p:cNvSpPr/>
          <p:nvPr/>
        </p:nvSpPr>
        <p:spPr>
          <a:xfrm>
            <a:off x="4533595" y="2029054"/>
            <a:ext cx="33531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039405" y="2029054"/>
            <a:ext cx="335310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533595" y="175290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모킹 시나리오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8039405" y="175290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포인트</a:t>
            </a:r>
            <a:endParaRPr lang="en-US" sz="1200"/>
          </a:p>
        </p:txBody>
      </p:sp>
      <p:sp>
        <p:nvSpPr>
          <p:cNvPr id="19" name="Text 15"/>
          <p:cNvSpPr txBox="1"/>
          <p:nvPr/>
        </p:nvSpPr>
        <p:spPr>
          <a:xfrm>
            <a:off x="4762195" y="2122322"/>
            <a:ext cx="1586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응답 (HTTP 200 OK)</a:t>
            </a:r>
            <a:endParaRPr lang="en-US" sz="1000"/>
          </a:p>
        </p:txBody>
      </p:sp>
      <p:sp>
        <p:nvSpPr>
          <p:cNvPr id="20" name="Text 16"/>
          <p:cNvSpPr txBox="1"/>
          <p:nvPr/>
        </p:nvSpPr>
        <p:spPr>
          <a:xfrm>
            <a:off x="4762195" y="2350922"/>
            <a:ext cx="1709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오류 (HTTP 500 Error)</a:t>
            </a:r>
            <a:endParaRPr lang="en-US" sz="1000"/>
          </a:p>
        </p:txBody>
      </p:sp>
      <p:sp>
        <p:nvSpPr>
          <p:cNvPr id="21" name="Text 17"/>
          <p:cNvSpPr txBox="1"/>
          <p:nvPr/>
        </p:nvSpPr>
        <p:spPr>
          <a:xfrm>
            <a:off x="4762195" y="2579522"/>
            <a:ext cx="2177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타임아웃 (TaskCanceledException)</a:t>
            </a:r>
            <a:endParaRPr lang="en-US" sz="1000"/>
          </a:p>
        </p:txBody>
      </p:sp>
      <p:sp>
        <p:nvSpPr>
          <p:cNvPr id="22" name="Text 18"/>
          <p:cNvSpPr txBox="1"/>
          <p:nvPr/>
        </p:nvSpPr>
        <p:spPr>
          <a:xfrm>
            <a:off x="8268005" y="2122322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URL, HTTP 메서드, 헤더 검증</a:t>
            </a:r>
            <a:endParaRPr lang="en-US" sz="1000"/>
          </a:p>
        </p:txBody>
      </p:sp>
      <p:sp>
        <p:nvSpPr>
          <p:cNvPr id="23" name="Text 19"/>
          <p:cNvSpPr txBox="1"/>
          <p:nvPr/>
        </p:nvSpPr>
        <p:spPr>
          <a:xfrm>
            <a:off x="8268005" y="2350922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본문 직렬화 확인</a:t>
            </a:r>
            <a:endParaRPr lang="en-US" sz="1000"/>
          </a:p>
        </p:txBody>
      </p:sp>
      <p:sp>
        <p:nvSpPr>
          <p:cNvPr id="24" name="Text 20"/>
          <p:cNvSpPr txBox="1"/>
          <p:nvPr/>
        </p:nvSpPr>
        <p:spPr>
          <a:xfrm>
            <a:off x="8268005" y="2579522"/>
            <a:ext cx="1700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상태 코드별 예외 처리</a:t>
            </a:r>
            <a:endParaRPr lang="en-US" sz="1000"/>
          </a:p>
        </p:txBody>
      </p:sp>
      <p:sp>
        <p:nvSpPr>
          <p:cNvPr id="25" name="Shape 21"/>
          <p:cNvSpPr/>
          <p:nvPr/>
        </p:nvSpPr>
        <p:spPr>
          <a:xfrm>
            <a:off x="4533595" y="3198571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4533595" y="2922422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모킹 코드 예시</a:t>
            </a:r>
            <a:endParaRPr lang="en-US" sz="1200"/>
          </a:p>
        </p:txBody>
      </p:sp>
      <p:sp>
        <p:nvSpPr>
          <p:cNvPr id="27" name="Shape 23"/>
          <p:cNvSpPr/>
          <p:nvPr/>
        </p:nvSpPr>
        <p:spPr>
          <a:xfrm>
            <a:off x="4533595" y="3291840"/>
            <a:ext cx="6858000" cy="857707"/>
          </a:xfrm>
          <a:prstGeom prst="roundRect">
            <a:avLst>
              <a:gd name="adj" fmla="val 473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4533595" y="3291840"/>
            <a:ext cx="28346" cy="8577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4608576" y="3346704"/>
            <a:ext cx="5222695" cy="75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var handlerMock = new Mock&lt;HttpMessageHandler&gt;();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handlerMock.Protected()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.Setup&lt;Task&lt;HttpResponseMessage&gt;&gt;("SendAsync", ItExpr.IsAny&lt;HttpRequestMessage&gt;(), ItExpr.IsAny&lt;CancellationToken&gt;())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.ReturnsAsync(new HttpResponseMessage(HttpStatusCode.OK));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8798357" y="6587338"/>
            <a:ext cx="28885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외부 의존성 처리(Moq)</a:t>
            </a:r>
            <a:endParaRPr lang="en-US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5058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연동 테스트 전략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22613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리포지토리 인터페이스 분리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96405" y="1600200"/>
            <a:ext cx="14328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InMemory 대체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57300" y="324612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롤백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19595" y="324612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데이터 관리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295705" y="1950415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액세스 로직을 인터페이스로 추상화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295705" y="217901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로직과 데이터 액세스 관심사 분리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295705" y="240761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시 대체 구현체로 교체 가능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6400800" y="1600200"/>
            <a:ext cx="342900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96405" y="1950415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DB 연결 없이 메모리 내 데이터로 테스트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896405" y="217901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 Core InMemory Provider 활용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896405" y="240761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실행 속도와 격리성 확보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246120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57300" y="3596335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DB 사용 시 테스트 후 변경사항 되돌림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257300" y="3824935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TransactionScope로 자동 롤백 구현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257300" y="405353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간 데이터 독립성 유지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246120"/>
            <a:ext cx="2670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19595" y="3596335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Builder 패턴으로 테스트 데이터 구성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19595" y="382493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픽스처 공유 및 재사용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19595" y="405353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시드 데이터 초기화 자동화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7018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939589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4901184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베스트 프랙티스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252314"/>
            <a:ext cx="10258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실제 DB에 의존하지 않도록 설계하고, 통합 테스트에서만 제한적으로 실제 DB 연동을 테스트합니다. Docker 컨테이너로 격리된 테스트 DB 환경을 구성하면 CI/CD 파이프라인에서도 안정적인 테스트가 가능합니다.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31930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실제 프로젝트에서는 도메인 특성에 맞는 전략 선택 필요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8721547" y="6511442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4: 외부 의존성 처리</a:t>
            </a:r>
            <a:endParaRPr lang="en-US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410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시간/랜덤/정적 제어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131820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131820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0808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IClock 주입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6614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시드 고정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57300" y="3322015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메서드 래핑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19595" y="332201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시간 가상화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257300" y="1950415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시간에 의존하는 코드를 테스트하기 위한 방법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257300" y="2179015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시간 제공 및 시간 흐름 제어 가능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257300" y="2484425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DateTime.Now 대신 IClock.Now 사용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0" y="1950415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값을 테스트 시 항상 동일한 결과로 제어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858000" y="2179015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Random(seed: 42)와 같이 시드 값 고정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858000" y="2484425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인터페이스 주입으로 테스트 가능성 확보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322015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57300" y="3673145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테스트가 어려운 정적 메서드를 인스턴스 메서드로 변환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257300" y="3901745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인터페이스를 통한 추상화로 모킹 가능하게 함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257300" y="420624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File.Exists(path) → IFileSystem.FileExists(path)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322015"/>
            <a:ext cx="2670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19595" y="3673145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시점이나 날짜 기반 로직 테스트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19595" y="390174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흐름 시뮬레이션 (오래된 데이터, 미래 날짜)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19595" y="4206240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타임존, 서머타임 관련 로직 안정적 테스트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85363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5092294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5053889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패턴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404104"/>
            <a:ext cx="10230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비결정적 요소(시간, 랜덤, 정적 메서드)는 테스트 가능성을 저해하는 주요 원인입니다. 인터페이스 주입과 래퍼 클래스 패턴을 활용하면 이러한 요소들을 효과적으로 제어하고 격리된 테스트를 작성할 수 있습니다.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28026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실무에서 자주 발생하는 비결정성 문제 해결 패턴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9699955" y="6511442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4</a:t>
            </a:r>
            <a:endParaRPr lang="en-US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038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vs 통합 경계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123798"/>
          </a:xfrm>
          <a:prstGeom prst="roundRect">
            <a:avLst>
              <a:gd name="adj" fmla="val 55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123798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410005"/>
            <a:ext cx="1991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경계의 이해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790395"/>
            <a:ext cx="106628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외부 의존성을 모의(mock)하여 격리된 컴포넌트를 검증하는 반면, 통합 테스트는 실제 의존성과의 상호작용을 포함합니다. 경계를 명확히 하여 테스트 효율성을 높이세요.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09905" y="2491740"/>
            <a:ext cx="3562502" cy="866851"/>
          </a:xfrm>
          <a:prstGeom prst="roundRect">
            <a:avLst>
              <a:gd name="adj" fmla="val 927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724205" y="2606040"/>
            <a:ext cx="200254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491740"/>
            <a:ext cx="3562502" cy="866851"/>
          </a:xfrm>
          <a:prstGeom prst="roundRect">
            <a:avLst>
              <a:gd name="adj" fmla="val 927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00354" y="260604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정의</a:t>
            </a:r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724205" y="2862986"/>
            <a:ext cx="33741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테스트 경계는 중복을 줄이고 테스트 유형별 가치를 극대화합니다.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4" b="-44"/>
          <a:stretch/>
        </p:blipFill>
        <p:spPr>
          <a:xfrm>
            <a:off x="4432097" y="2606040"/>
            <a:ext cx="256946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491740"/>
            <a:ext cx="3562502" cy="866851"/>
          </a:xfrm>
          <a:prstGeom prst="roundRect">
            <a:avLst>
              <a:gd name="adj" fmla="val 927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65853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피라미드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4432097" y="2862986"/>
            <a:ext cx="33649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단위(Unit) &gt; 서비스(Service) &gt; UI(E2E) 순으로 비율을 구성하세요.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8140903" y="2606040"/>
            <a:ext cx="286207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006" y="260604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균형적 접근</a:t>
            </a:r>
            <a:endParaRPr lang="en-US" sz="1200"/>
          </a:p>
        </p:txBody>
      </p:sp>
      <p:sp>
        <p:nvSpPr>
          <p:cNvPr id="21" name="Text 16"/>
          <p:cNvSpPr txBox="1"/>
          <p:nvPr/>
        </p:nvSpPr>
        <p:spPr>
          <a:xfrm>
            <a:off x="8140903" y="2862986"/>
            <a:ext cx="3402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로직은 단위 테스트로, 통합 지점은 통합 테스트로 검증하세요.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463747"/>
            <a:ext cx="10972800" cy="1886407"/>
          </a:xfrm>
          <a:prstGeom prst="roundRect">
            <a:avLst>
              <a:gd name="adj" fmla="val 19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3625596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0295" y="3588106"/>
            <a:ext cx="1081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유형 비교: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990295" y="3816706"/>
            <a:ext cx="4410151" cy="1410005"/>
          </a:xfrm>
          <a:prstGeom prst="roundRect">
            <a:avLst>
              <a:gd name="adj" fmla="val 175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067105" y="3902659"/>
            <a:ext cx="4160878" cy="1324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단위 테스트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: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외부 의존성 모의 처리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mockRepo = new Mock&lt;IOrderRepository&gt;();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service = new OrderService(mockRepo.Object);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Assert.AreEqual(expectedTotal, service.CalculateTotal(items));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통합 테스트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: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실제 의존성 사용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repo = new OrderRepository(realDbConnection);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var service = new OrderService(repo);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Assert.IsNotNull(repo.GetById(service.PlaceOrder(order)));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9149486" y="6548933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외부 의존성 처리</a:t>
            </a:r>
            <a:endParaRPr lang="en-US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14554"/>
            <a:ext cx="50776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서비스 레이어 모킹 (1/2)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028700"/>
            <a:ext cx="3986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주문합계 계산 서비스 모킹 실습 - Moq를 활용한 서비스 레이어 테스트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295705"/>
            <a:ext cx="28346" cy="1123798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8056" y="12957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69671" y="13414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942746" y="1295705"/>
            <a:ext cx="17647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인터페이스 정의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942746" y="1566367"/>
            <a:ext cx="10639044" cy="780898"/>
          </a:xfrm>
          <a:prstGeom prst="roundRect">
            <a:avLst>
              <a:gd name="adj" fmla="val 8568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88466" y="1640433"/>
            <a:ext cx="6933021" cy="63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interface IOrderCalculationService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decimal CalculateTotal(Order order);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decimal ApplyDiscount(decimal total, string couponCode);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905" y="2495398"/>
            <a:ext cx="28346" cy="26673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48056" y="2495398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69671" y="2541118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942746" y="2495398"/>
            <a:ext cx="1411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테스트할 컨트롤러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942746" y="2766060"/>
            <a:ext cx="10639044" cy="2324405"/>
          </a:xfrm>
          <a:prstGeom prst="roundRect">
            <a:avLst>
              <a:gd name="adj" fmla="val 967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88466" y="2840126"/>
            <a:ext cx="6674604" cy="216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class OrderController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private readonly IOrderCalculationService _service;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public OrderController(IOrderCalculationService service) { _service = service; 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public decimal ProcessOrder(Order order, string coupon)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// 1. 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주문 합계 계산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var total = _service.CalculateTotal(order);</a:t>
            </a:r>
          </a:p>
          <a:p>
            <a:pPr marL="0" indent="0" algn="l">
              <a:buNone/>
            </a:pPr>
            <a:endParaRPr lang="en-US" sz="900">
              <a:solidFill>
                <a:srgbClr val="E2E8F0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// 2. 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쿠폰 적용 </a:t>
            </a: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(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있는 경우</a:t>
            </a: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if (!string.IsNullOrEmpty(coupon))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    total = _service.ApplyDiscount(total, coupon);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return total;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9905" y="5238598"/>
            <a:ext cx="10972800" cy="228600"/>
          </a:xfrm>
          <a:prstGeom prst="roundRect">
            <a:avLst>
              <a:gd name="adj" fmla="val 100000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09905" y="5238598"/>
            <a:ext cx="38405" cy="2286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 t="-4457" b="-4457"/>
          <a:stretch/>
        </p:blipFill>
        <p:spPr>
          <a:xfrm>
            <a:off x="685800" y="5277002"/>
            <a:ext cx="105156" cy="15270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866851" y="5266944"/>
            <a:ext cx="4267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팁: 인터페이스는 단일 책임으로 작고 명확하게 설계하세요. 모킹 테스트에 최적화됩니다.</a:t>
            </a:r>
            <a:endParaRPr lang="en-US" sz="900"/>
          </a:p>
        </p:txBody>
      </p:sp>
      <p:sp>
        <p:nvSpPr>
          <p:cNvPr id="38" name="Text 35"/>
          <p:cNvSpPr txBox="1"/>
          <p:nvPr/>
        </p:nvSpPr>
        <p:spPr>
          <a:xfrm>
            <a:off x="609905" y="6587338"/>
            <a:ext cx="3460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다음 슬라이드에서 Moq를 활용한 테스트 코드를 작성합니다.</a:t>
            </a:r>
            <a:endParaRPr lang="en-US" sz="1000"/>
          </a:p>
        </p:txBody>
      </p:sp>
      <p:sp>
        <p:nvSpPr>
          <p:cNvPr id="39" name="Text 36"/>
          <p:cNvSpPr txBox="1"/>
          <p:nvPr/>
        </p:nvSpPr>
        <p:spPr>
          <a:xfrm>
            <a:off x="9517075" y="6587338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Moq 활용</a:t>
            </a:r>
            <a:endParaRPr lang="en-US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14554"/>
            <a:ext cx="50776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서비스 레이어 모킹 (2/3)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144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990295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Moq를 활용한 주문합계 계산 서비스 테스트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48056" y="11814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69671" y="12271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942746" y="1181405"/>
            <a:ext cx="18516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테스트 코드 구조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1095451" y="1445666"/>
            <a:ext cx="1800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 리포지토리 생성 및 주입 구조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942746" y="1645920"/>
            <a:ext cx="10639044" cy="2357262"/>
          </a:xfrm>
          <a:prstGeom prst="roundRect">
            <a:avLst>
              <a:gd name="adj" fmla="val 4282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248156" y="1836235"/>
            <a:ext cx="8175650" cy="203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class OrderServiceTests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private OrderService _orderService;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private Mock&lt;IOrderRepository&gt; _mockRepository;</a:t>
            </a:r>
          </a:p>
          <a:p>
            <a:pPr marL="0" indent="0" algn="l">
              <a:buNone/>
            </a:pPr>
            <a:endParaRPr lang="en-US" sz="1000">
              <a:solidFill>
                <a:srgbClr val="E2E8F0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[SetUp]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public void Setup()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{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_mockRepository = new Mock&lt;IOrderRepository&gt;();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    _orderService = new OrderService(_mockRepository.Object);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}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// </a:t>
            </a:r>
            <a:r>
              <a:rPr lang="ko-KR" alt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다음 페이지에서 테스트 메서드 구현을 확인하세요</a:t>
            </a:r>
          </a:p>
          <a:p>
            <a:pPr marL="0" indent="0" algn="l">
              <a:buNone/>
            </a:pPr>
            <a:r>
              <a:rPr lang="en-US" altLang="ko-KR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42746" y="4498330"/>
            <a:ext cx="23628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// 다음 페이지에서 테스트 메서드 구현을 확인하세요</a:t>
            </a:r>
            <a:endParaRPr lang="en-US" sz="800"/>
          </a:p>
        </p:txBody>
      </p:sp>
      <p:sp>
        <p:nvSpPr>
          <p:cNvPr id="24" name="Text 22"/>
          <p:cNvSpPr txBox="1"/>
          <p:nvPr/>
        </p:nvSpPr>
        <p:spPr>
          <a:xfrm>
            <a:off x="942746" y="4589770"/>
            <a:ext cx="1243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609905" y="4690354"/>
            <a:ext cx="10972800" cy="381305"/>
          </a:xfrm>
          <a:prstGeom prst="roundRect">
            <a:avLst>
              <a:gd name="adj" fmla="val 35971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09905" y="4690354"/>
            <a:ext cx="38405" cy="38130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t="-49900" b="-49900"/>
          <a:stretch/>
        </p:blipFill>
        <p:spPr>
          <a:xfrm>
            <a:off x="685800" y="4728758"/>
            <a:ext cx="114300" cy="30449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838505" y="4718700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900"/>
          </a:p>
        </p:txBody>
      </p:sp>
      <p:sp>
        <p:nvSpPr>
          <p:cNvPr id="29" name="Text 26"/>
          <p:cNvSpPr txBox="1"/>
          <p:nvPr/>
        </p:nvSpPr>
        <p:spPr>
          <a:xfrm>
            <a:off x="838505" y="4871405"/>
            <a:ext cx="5505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Moq를 활용할 때 Setup() 메서드에서는 필요한 목 객체를 초기화하고, 테스트에서는 목 객체의 동작을 설정합니다.</a:t>
            </a:r>
            <a:endParaRPr lang="en-US" sz="900"/>
          </a:p>
        </p:txBody>
      </p:sp>
      <p:sp>
        <p:nvSpPr>
          <p:cNvPr id="30" name="Text 27"/>
          <p:cNvSpPr txBox="1"/>
          <p:nvPr/>
        </p:nvSpPr>
        <p:spPr>
          <a:xfrm>
            <a:off x="609905" y="6625742"/>
            <a:ext cx="1230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Moq 6.0 이상 버전</a:t>
            </a:r>
            <a:endParaRPr lang="en-US" sz="1000"/>
          </a:p>
        </p:txBody>
      </p:sp>
      <p:sp>
        <p:nvSpPr>
          <p:cNvPr id="31" name="Text 28"/>
          <p:cNvSpPr txBox="1"/>
          <p:nvPr/>
        </p:nvSpPr>
        <p:spPr>
          <a:xfrm>
            <a:off x="9423806" y="6625742"/>
            <a:ext cx="2259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의존성 처리</a:t>
            </a:r>
            <a:endParaRPr lang="en-US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4572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요약/베스트프랙티스(Moq)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371600"/>
            <a:ext cx="5438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라이브러리를 효과적으로 활용하기 위한 핵심 베스트 프랙티스를 정리했습니다.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79039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79039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2004365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1402" y="179039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179039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317022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317022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1402" y="317022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91402" y="317022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81405" y="1981505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중심 설계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6819595" y="198150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최소한의 행위 검증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838505" y="2331720"/>
            <a:ext cx="4944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 클래스보다 인터페이스를 모킹하세요. 테스트 대상 코드가 인터페이스에 의존하도록 설계하면 Moq를 훨씬 효과적으로 활용할 수 있습니다.</a:t>
            </a:r>
            <a:endParaRPr lang="en-US" sz="12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6420002" y="2004365"/>
            <a:ext cx="286207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20002" y="233172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호출을 검증하는 대신 핵심 동작만 검증하세요. 과도한 Verify는 테스트를 구현 세부사항에 결합시켜 리팩토링을 어렵게 만듭니다.</a:t>
            </a:r>
            <a:endParaRPr lang="en-US" sz="1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838505" y="3383280"/>
            <a:ext cx="256946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09751" y="336042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인터페이스만 모킹</a:t>
            </a:r>
            <a:endParaRPr lang="en-US" sz="1400"/>
          </a:p>
        </p:txBody>
      </p:sp>
      <p:sp>
        <p:nvSpPr>
          <p:cNvPr id="23" name="Text 18"/>
          <p:cNvSpPr txBox="1"/>
          <p:nvPr/>
        </p:nvSpPr>
        <p:spPr>
          <a:xfrm>
            <a:off x="6762902" y="3360420"/>
            <a:ext cx="23088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버그에 가까운 시나리오</a:t>
            </a:r>
            <a:endParaRPr lang="en-US" sz="1400"/>
          </a:p>
        </p:txBody>
      </p:sp>
      <p:sp>
        <p:nvSpPr>
          <p:cNvPr id="24" name="Text 19"/>
          <p:cNvSpPr txBox="1"/>
          <p:nvPr/>
        </p:nvSpPr>
        <p:spPr>
          <a:xfrm>
            <a:off x="838505" y="3710635"/>
            <a:ext cx="4981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비공개 메서드나 내부 구현 세부사항은 모킹하지 마세요. 테스트는 공개 API에 초점을 맞춰야 합니다. 내부 로직을 검증하려면 설계를 재고하세요.</a:t>
            </a:r>
            <a:endParaRPr lang="en-US" sz="12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0002" y="338328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20002" y="3710635"/>
            <a:ext cx="5039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현실적인 시나리오를 테스트하세요. 실무에서 발생할 수 있는 문제 상황(타임아웃, 네트워크 오류 등)을 Moq로 재현하여 견고한 코드를 작성하세요.</a:t>
            </a:r>
            <a:endParaRPr lang="en-US" sz="1200"/>
          </a:p>
        </p:txBody>
      </p:sp>
      <p:sp>
        <p:nvSpPr>
          <p:cNvPr id="27" name="Shape 21"/>
          <p:cNvSpPr/>
          <p:nvPr/>
        </p:nvSpPr>
        <p:spPr>
          <a:xfrm>
            <a:off x="609905" y="4587545"/>
            <a:ext cx="10972800" cy="1047902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4786884"/>
            <a:ext cx="142646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8700" y="4749394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28700" y="5015484"/>
            <a:ext cx="10325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모킹은 격리된 테스트 환경을 제공하는 도구일 뿐, 모든 테스트에 필요한 것은 아닙니다. 단순한 로직은 실제 객체로 테스트하는 것이 더 명확할 수 있습니다. Moq를 사용할 때는 테스트 의도가 명확히 드러나도록 작성하고, 테스트 자체가 유지보수의 부담이 되지 않도록 주의하세요.</a:t>
            </a:r>
            <a:endParaRPr lang="en-US" sz="1200"/>
          </a:p>
        </p:txBody>
      </p:sp>
      <p:sp>
        <p:nvSpPr>
          <p:cNvPr id="32" name="Text 25"/>
          <p:cNvSpPr txBox="1"/>
          <p:nvPr/>
        </p:nvSpPr>
        <p:spPr>
          <a:xfrm>
            <a:off x="8721547" y="6511442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4: 외부 의존성 처리</a:t>
            </a:r>
            <a:endParaRPr lang="en-US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5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4023360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4166921" y="2095805"/>
            <a:ext cx="476402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14570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5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4023360" y="2800807"/>
            <a:ext cx="2563063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실전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4023360" y="3958438"/>
            <a:ext cx="32488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요구사항을 테스트로 구체화하고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4023360" y="4301338"/>
            <a:ext cx="4325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프로젝트에 TDD를 적용하는 실전 기법</a:t>
            </a:r>
            <a:endParaRPr lang="en-US"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29626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사이클 심화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18895"/>
            <a:ext cx="3471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Red-Green-Refactor 사이클을 더 효과적으로 적용하는 방법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561795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175839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851" y="1862633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18895" y="1714500"/>
            <a:ext cx="4498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300"/>
          </a:p>
        </p:txBody>
      </p:sp>
      <p:sp>
        <p:nvSpPr>
          <p:cNvPr id="11" name="Text 8"/>
          <p:cNvSpPr txBox="1"/>
          <p:nvPr/>
        </p:nvSpPr>
        <p:spPr>
          <a:xfrm>
            <a:off x="1218895" y="1965960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실패하는 테스트 작성</a:t>
            </a:r>
            <a:endParaRPr lang="en-US" sz="1100"/>
          </a:p>
        </p:txBody>
      </p:sp>
      <p:sp>
        <p:nvSpPr>
          <p:cNvPr id="12" name="Text 9"/>
          <p:cNvSpPr txBox="1"/>
          <p:nvPr/>
        </p:nvSpPr>
        <p:spPr>
          <a:xfrm>
            <a:off x="761695" y="2221078"/>
            <a:ext cx="1911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구현하기 전에 실패하는 테스트 작성</a:t>
            </a:r>
            <a:endParaRPr lang="en-US" sz="9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75995" y="2514600"/>
            <a:ext cx="105156" cy="1234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19556" y="2480767"/>
            <a:ext cx="10634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기대값 설정</a:t>
            </a:r>
            <a:endParaRPr lang="en-US" sz="9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875995" y="2697480"/>
            <a:ext cx="105156" cy="1234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19556" y="2663647"/>
            <a:ext cx="10634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단위로 테스트</a:t>
            </a:r>
            <a:endParaRPr lang="en-US" sz="900"/>
          </a:p>
        </p:txBody>
      </p:sp>
      <p:sp>
        <p:nvSpPr>
          <p:cNvPr id="17" name="Shape 12"/>
          <p:cNvSpPr/>
          <p:nvPr/>
        </p:nvSpPr>
        <p:spPr>
          <a:xfrm>
            <a:off x="4343400" y="1561795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4496105" y="175839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00346" y="1862633"/>
            <a:ext cx="171907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53305" y="1714500"/>
            <a:ext cx="6217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1300"/>
          </a:p>
        </p:txBody>
      </p:sp>
      <p:sp>
        <p:nvSpPr>
          <p:cNvPr id="21" name="Text 15"/>
          <p:cNvSpPr txBox="1"/>
          <p:nvPr/>
        </p:nvSpPr>
        <p:spPr>
          <a:xfrm>
            <a:off x="4953305" y="1965960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최소한의 코드로 통과</a:t>
            </a:r>
            <a:endParaRPr lang="en-US" sz="1100"/>
          </a:p>
        </p:txBody>
      </p:sp>
      <p:sp>
        <p:nvSpPr>
          <p:cNvPr id="22" name="Text 16"/>
          <p:cNvSpPr txBox="1"/>
          <p:nvPr/>
        </p:nvSpPr>
        <p:spPr>
          <a:xfrm>
            <a:off x="4496105" y="2221078"/>
            <a:ext cx="18059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간단한 방법으로 테스트 통과</a:t>
            </a:r>
            <a:endParaRPr lang="en-US" sz="90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4610405" y="2514600"/>
            <a:ext cx="105156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53051" y="2480767"/>
            <a:ext cx="9107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하드코딩도 허용</a:t>
            </a:r>
            <a:endParaRPr lang="en-US" sz="9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4610405" y="2697480"/>
            <a:ext cx="105156" cy="1234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753051" y="2663647"/>
            <a:ext cx="1091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한 테스트만</a:t>
            </a:r>
            <a:endParaRPr lang="en-US" sz="900"/>
          </a:p>
        </p:txBody>
      </p:sp>
      <p:sp>
        <p:nvSpPr>
          <p:cNvPr id="27" name="Shape 19"/>
          <p:cNvSpPr/>
          <p:nvPr/>
        </p:nvSpPr>
        <p:spPr>
          <a:xfrm>
            <a:off x="8076895" y="1561795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0"/>
          <p:cNvSpPr/>
          <p:nvPr/>
        </p:nvSpPr>
        <p:spPr>
          <a:xfrm>
            <a:off x="8229600" y="175839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34756" y="1862633"/>
            <a:ext cx="171907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686800" y="1714500"/>
            <a:ext cx="8211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</a:t>
            </a:r>
            <a:endParaRPr lang="en-US" sz="1300"/>
          </a:p>
        </p:txBody>
      </p:sp>
      <p:sp>
        <p:nvSpPr>
          <p:cNvPr id="31" name="Text 22"/>
          <p:cNvSpPr txBox="1"/>
          <p:nvPr/>
        </p:nvSpPr>
        <p:spPr>
          <a:xfrm>
            <a:off x="8686800" y="1965960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개선</a:t>
            </a:r>
            <a:endParaRPr lang="en-US" sz="1100"/>
          </a:p>
        </p:txBody>
      </p:sp>
      <p:sp>
        <p:nvSpPr>
          <p:cNvPr id="32" name="Text 23"/>
          <p:cNvSpPr txBox="1"/>
          <p:nvPr/>
        </p:nvSpPr>
        <p:spPr>
          <a:xfrm>
            <a:off x="8229600" y="2221078"/>
            <a:ext cx="16916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통과 상태에서 코드 개선</a:t>
            </a:r>
            <a:endParaRPr lang="en-US" sz="9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t="-1359" b="-1359"/>
          <a:stretch/>
        </p:blipFill>
        <p:spPr>
          <a:xfrm>
            <a:off x="8343900" y="2514600"/>
            <a:ext cx="105156" cy="1234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486546" y="2480767"/>
            <a:ext cx="12444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 및 패턴 적용</a:t>
            </a:r>
            <a:endParaRPr lang="en-US" sz="90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rcRect t="-1359" b="-1359"/>
          <a:stretch/>
        </p:blipFill>
        <p:spPr>
          <a:xfrm>
            <a:off x="8343900" y="2697480"/>
            <a:ext cx="105156" cy="123444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486546" y="2663647"/>
            <a:ext cx="1072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변수/메서드명 개선</a:t>
            </a:r>
            <a:endParaRPr lang="en-US" sz="90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01207" y="2974543"/>
            <a:ext cx="190195" cy="19019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609905" y="3455518"/>
            <a:ext cx="3562502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7"/>
          <p:cNvSpPr/>
          <p:nvPr/>
        </p:nvSpPr>
        <p:spPr>
          <a:xfrm>
            <a:off x="724205" y="356981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rcRect l="-837" r="-837"/>
          <a:stretch/>
        </p:blipFill>
        <p:spPr>
          <a:xfrm>
            <a:off x="800100" y="3655771"/>
            <a:ext cx="152705" cy="133502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4317797" y="3455518"/>
            <a:ext cx="3562502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8026603" y="3455518"/>
            <a:ext cx="3562502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0"/>
          <p:cNvSpPr txBox="1"/>
          <p:nvPr/>
        </p:nvSpPr>
        <p:spPr>
          <a:xfrm>
            <a:off x="1104595" y="362742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단계</a:t>
            </a:r>
            <a:endParaRPr lang="en-US" sz="1000"/>
          </a:p>
        </p:txBody>
      </p:sp>
      <p:sp>
        <p:nvSpPr>
          <p:cNvPr id="44" name="Text 31"/>
          <p:cNvSpPr txBox="1"/>
          <p:nvPr/>
        </p:nvSpPr>
        <p:spPr>
          <a:xfrm>
            <a:off x="800100" y="3941978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테스트 하나에만 집중</a:t>
            </a:r>
            <a:endParaRPr lang="en-US" sz="900"/>
          </a:p>
        </p:txBody>
      </p:sp>
      <p:sp>
        <p:nvSpPr>
          <p:cNvPr id="45" name="Text 32"/>
          <p:cNvSpPr txBox="1"/>
          <p:nvPr/>
        </p:nvSpPr>
        <p:spPr>
          <a:xfrm>
            <a:off x="800100" y="4093769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기능을 작은 단위로 분해하여 진행</a:t>
            </a:r>
            <a:endParaRPr lang="en-US" sz="90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4527194" y="3655771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4508906" y="3941978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 완료 후 커밋</a:t>
            </a:r>
            <a:endParaRPr lang="en-US" sz="900"/>
          </a:p>
        </p:txBody>
      </p:sp>
      <p:sp>
        <p:nvSpPr>
          <p:cNvPr id="48" name="Text 34"/>
          <p:cNvSpPr txBox="1"/>
          <p:nvPr/>
        </p:nvSpPr>
        <p:spPr>
          <a:xfrm>
            <a:off x="4508906" y="4093769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이력을 세밀하게 관리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4813402" y="362742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커밋</a:t>
            </a:r>
            <a:endParaRPr lang="en-US" sz="100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25942" y="3655771"/>
            <a:ext cx="133502" cy="133502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216798" y="3941978"/>
            <a:ext cx="1657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테스트가 통과한 상태에서만</a:t>
            </a:r>
            <a:endParaRPr lang="en-US" sz="900"/>
          </a:p>
        </p:txBody>
      </p:sp>
      <p:sp>
        <p:nvSpPr>
          <p:cNvPr id="52" name="Text 37"/>
          <p:cNvSpPr txBox="1"/>
          <p:nvPr/>
        </p:nvSpPr>
        <p:spPr>
          <a:xfrm>
            <a:off x="8216798" y="4093769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추가와 리팩토링 분리</a:t>
            </a:r>
            <a:endParaRPr lang="en-US" sz="900"/>
          </a:p>
        </p:txBody>
      </p:sp>
      <p:sp>
        <p:nvSpPr>
          <p:cNvPr id="53" name="Text 38"/>
          <p:cNvSpPr txBox="1"/>
          <p:nvPr/>
        </p:nvSpPr>
        <p:spPr>
          <a:xfrm>
            <a:off x="8521294" y="3627425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타이밍</a:t>
            </a:r>
            <a:endParaRPr lang="en-US" sz="1000"/>
          </a:p>
        </p:txBody>
      </p:sp>
      <p:sp>
        <p:nvSpPr>
          <p:cNvPr id="54" name="Shape 39"/>
          <p:cNvSpPr/>
          <p:nvPr/>
        </p:nvSpPr>
        <p:spPr>
          <a:xfrm>
            <a:off x="609905" y="4598518"/>
            <a:ext cx="10972800" cy="400507"/>
          </a:xfrm>
          <a:prstGeom prst="roundRect">
            <a:avLst>
              <a:gd name="adj" fmla="val 434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733349" y="4722876"/>
            <a:ext cx="114300" cy="1527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923544" y="4712818"/>
            <a:ext cx="5115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TDD는 작은 단계의 반복적인 사이클입니다. 하나의 큰 단계로 건너뛰지 말고 각 단계를 충실히 수행하세요.</a:t>
            </a:r>
            <a:endParaRPr lang="en-US" sz="900"/>
          </a:p>
        </p:txBody>
      </p:sp>
      <p:sp>
        <p:nvSpPr>
          <p:cNvPr id="57" name="Text 41"/>
          <p:cNvSpPr txBox="1"/>
          <p:nvPr/>
        </p:nvSpPr>
        <p:spPr>
          <a:xfrm>
            <a:off x="9275674" y="6599225"/>
            <a:ext cx="24067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사이클 심화</a:t>
            </a:r>
            <a:endParaRPr lang="en-US" sz="900"/>
          </a:p>
        </p:txBody>
      </p:sp>
      <p:sp>
        <p:nvSpPr>
          <p:cNvPr id="58" name="Shape 42"/>
          <p:cNvSpPr/>
          <p:nvPr/>
        </p:nvSpPr>
        <p:spPr>
          <a:xfrm>
            <a:off x="4114800" y="220919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3"/>
          <p:cNvSpPr/>
          <p:nvPr/>
        </p:nvSpPr>
        <p:spPr>
          <a:xfrm>
            <a:off x="7848295" y="220919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50392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예제1: 문자열 계산기 요구사항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3562502" cy="3514954"/>
          </a:xfrm>
          <a:prstGeom prst="roundRect">
            <a:avLst>
              <a:gd name="adj" fmla="val 56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40" r="-40"/>
          <a:stretch/>
        </p:blipFill>
        <p:spPr>
          <a:xfrm>
            <a:off x="2244852" y="1333195"/>
            <a:ext cx="286207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1800454"/>
            <a:ext cx="1881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계산기 TDD 실습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761695" y="2133295"/>
            <a:ext cx="33101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문자열로 된 숫자를 입력받아 덧셈 연산을 수행하는 계산기를 TDD 방식으로 개발합니다.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761695" y="2590495"/>
            <a:ext cx="3258007" cy="418795"/>
          </a:xfrm>
          <a:prstGeom prst="roundRect">
            <a:avLst>
              <a:gd name="adj" fmla="val 3969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875995" y="2743200"/>
            <a:ext cx="114300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67105" y="2695651"/>
            <a:ext cx="2648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단계로 진행하며 TDD의 핵심 원칙을 체득합니다.</a:t>
            </a:r>
            <a:endParaRPr lang="en-US" sz="900"/>
          </a:p>
        </p:txBody>
      </p:sp>
      <p:sp>
        <p:nvSpPr>
          <p:cNvPr id="13" name="Shape 9"/>
          <p:cNvSpPr/>
          <p:nvPr/>
        </p:nvSpPr>
        <p:spPr>
          <a:xfrm>
            <a:off x="4317797" y="1181405"/>
            <a:ext cx="7267651" cy="3514954"/>
          </a:xfrm>
          <a:prstGeom prst="roundRect">
            <a:avLst>
              <a:gd name="adj" fmla="val 56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4470502" y="1343254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요구사항</a:t>
            </a:r>
            <a:endParaRPr lang="en-US" sz="1300"/>
          </a:p>
        </p:txBody>
      </p:sp>
      <p:sp>
        <p:nvSpPr>
          <p:cNvPr id="15" name="Shape 11"/>
          <p:cNvSpPr/>
          <p:nvPr/>
        </p:nvSpPr>
        <p:spPr>
          <a:xfrm>
            <a:off x="4470502" y="1990649"/>
            <a:ext cx="6963156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470502" y="3121762"/>
            <a:ext cx="6963156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470502" y="4025189"/>
            <a:ext cx="6963156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4470502" y="171450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동작</a:t>
            </a:r>
            <a:endParaRPr lang="en-US" sz="1200"/>
          </a:p>
        </p:txBody>
      </p:sp>
      <p:sp>
        <p:nvSpPr>
          <p:cNvPr id="19" name="Text 15"/>
          <p:cNvSpPr txBox="1"/>
          <p:nvPr/>
        </p:nvSpPr>
        <p:spPr>
          <a:xfrm>
            <a:off x="4470502" y="2845613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구분자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4470502" y="3749040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및 제한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4699102" y="2083918"/>
            <a:ext cx="1957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문자열을 입력할 경우 0을 반환</a:t>
            </a:r>
            <a:endParaRPr lang="en-US" sz="1000"/>
          </a:p>
        </p:txBody>
      </p:sp>
      <p:sp>
        <p:nvSpPr>
          <p:cNvPr id="22" name="Text 18"/>
          <p:cNvSpPr txBox="1"/>
          <p:nvPr/>
        </p:nvSpPr>
        <p:spPr>
          <a:xfrm>
            <a:off x="4699102" y="2312518"/>
            <a:ext cx="3748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 하나를 문자열로 입력할 경우 해당 숫자를 반환 (예: "1" → 1)</a:t>
            </a:r>
            <a:endParaRPr lang="en-US" sz="1000"/>
          </a:p>
        </p:txBody>
      </p:sp>
      <p:sp>
        <p:nvSpPr>
          <p:cNvPr id="23" name="Text 19"/>
          <p:cNvSpPr txBox="1"/>
          <p:nvPr/>
        </p:nvSpPr>
        <p:spPr>
          <a:xfrm>
            <a:off x="4699102" y="2541118"/>
            <a:ext cx="2882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쉼표(,)로 구분된 숫자의 합 반환 (예: "1,2,3" → 6)</a:t>
            </a:r>
            <a:endParaRPr lang="en-US" sz="1000"/>
          </a:p>
        </p:txBody>
      </p:sp>
      <p:sp>
        <p:nvSpPr>
          <p:cNvPr id="24" name="Text 20"/>
          <p:cNvSpPr txBox="1"/>
          <p:nvPr/>
        </p:nvSpPr>
        <p:spPr>
          <a:xfrm>
            <a:off x="4699102" y="3215945"/>
            <a:ext cx="3158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개행문자(\n)도 구분자로 사용 가능 (예: "1\n2,3" → 6)</a:t>
            </a:r>
            <a:endParaRPr lang="en-US" sz="1000"/>
          </a:p>
        </p:txBody>
      </p:sp>
      <p:sp>
        <p:nvSpPr>
          <p:cNvPr id="25" name="Text 21"/>
          <p:cNvSpPr txBox="1"/>
          <p:nvPr/>
        </p:nvSpPr>
        <p:spPr>
          <a:xfrm>
            <a:off x="4699102" y="3444545"/>
            <a:ext cx="3586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구분자 지정: "//[구분자]\n[숫자]" (예: "//;\n1;2" → 3)</a:t>
            </a:r>
            <a:endParaRPr lang="en-US" sz="1000"/>
          </a:p>
        </p:txBody>
      </p:sp>
      <p:sp>
        <p:nvSpPr>
          <p:cNvPr id="26" name="Text 22"/>
          <p:cNvSpPr txBox="1"/>
          <p:nvPr/>
        </p:nvSpPr>
        <p:spPr>
          <a:xfrm>
            <a:off x="4699102" y="4118458"/>
            <a:ext cx="3643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음수 입력 시 예외 발생: "음수는 허용되지 않습니다: [음수목록]"</a:t>
            </a:r>
            <a:endParaRPr lang="en-US" sz="1000"/>
          </a:p>
        </p:txBody>
      </p:sp>
      <p:sp>
        <p:nvSpPr>
          <p:cNvPr id="27" name="Text 23"/>
          <p:cNvSpPr txBox="1"/>
          <p:nvPr/>
        </p:nvSpPr>
        <p:spPr>
          <a:xfrm>
            <a:off x="4699102" y="4347058"/>
            <a:ext cx="2510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1000 초과 숫자는 무시 (예: "2,1001" → 2)</a:t>
            </a:r>
            <a:endParaRPr lang="en-US" sz="1000"/>
          </a:p>
        </p:txBody>
      </p:sp>
      <p:sp>
        <p:nvSpPr>
          <p:cNvPr id="28" name="Text 24"/>
          <p:cNvSpPr txBox="1"/>
          <p:nvPr/>
        </p:nvSpPr>
        <p:spPr>
          <a:xfrm>
            <a:off x="9525305" y="6587338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31053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예제1 테스트 목록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028700"/>
            <a:ext cx="5058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계산기 Add 메서드를 TDD로 구현하기 위한 주요 테스트 케이스입니다.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295705"/>
            <a:ext cx="28346" cy="8577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2186330"/>
            <a:ext cx="28346" cy="8577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077870"/>
            <a:ext cx="28346" cy="8577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3969410"/>
            <a:ext cx="28346" cy="1390802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" y="12957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" y="218633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8056" y="307787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" y="396941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9671" y="13414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569671" y="223205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569671" y="312359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69671" y="401513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942746" y="1295705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문자열 테스트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942746" y="218633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숫자 테스트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942746" y="3077870"/>
            <a:ext cx="23088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쉼표로 구분된 숫자들 테스트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942746" y="396941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기능 테스트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942746" y="1570025"/>
            <a:ext cx="2839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문자열이 입력되면 0을 반환해야 합니다.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942746" y="246065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숫자가 입력되면 해당 숫자를 반환합니다.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942746" y="3352190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쉼표로 구분된 숫자들의 합을 반환합니다.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942746" y="4243730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개행 문자, 커스텀 구분자, 음수 예외 처리를 테스트합니다.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942746" y="1798625"/>
            <a:ext cx="10639044" cy="314554"/>
          </a:xfrm>
          <a:prstGeom prst="roundRect">
            <a:avLst>
              <a:gd name="adj" fmla="val 52854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42746" y="2689250"/>
            <a:ext cx="10639044" cy="314554"/>
          </a:xfrm>
          <a:prstGeom prst="roundRect">
            <a:avLst>
              <a:gd name="adj" fmla="val 52854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42746" y="3580790"/>
            <a:ext cx="10639044" cy="314554"/>
          </a:xfrm>
          <a:prstGeom prst="roundRect">
            <a:avLst>
              <a:gd name="adj" fmla="val 52854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42746" y="4472330"/>
            <a:ext cx="10639044" cy="886054"/>
          </a:xfrm>
          <a:prstGeom prst="roundRect">
            <a:avLst>
              <a:gd name="adj" fmla="val 6658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04011" y="1887321"/>
            <a:ext cx="3940150" cy="145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Assert.That(calculator.Add(""), Is.EqualTo(0));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004011" y="2778861"/>
            <a:ext cx="4084824" cy="145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Assert.That(calculator.Add("1"), Is.EqualTo(1));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04011" y="3670402"/>
            <a:ext cx="3940150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Assert.That(calculator.Add("1,2"), Is.EqualTo(3));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004010" y="4561941"/>
            <a:ext cx="5237763" cy="716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 Coding" pitchFamily="34" charset="-120"/>
              </a:rPr>
              <a:t>// </a:t>
            </a:r>
            <a:r>
              <a:rPr lang="ko-KR" altLang="en-US" sz="90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 Coding" pitchFamily="34" charset="-120"/>
              </a:rPr>
              <a:t>개행 및 커스텀 구분자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Assert.That(calculator.Add("1\n2,3"), Is.EqualTo(6));</a:t>
            </a:r>
          </a:p>
          <a:p>
            <a:pPr marL="0" indent="0" algn="l">
              <a:buNone/>
            </a:pPr>
            <a:endParaRPr lang="en-US" sz="900">
              <a:solidFill>
                <a:srgbClr val="E2E8F0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 Coding" pitchFamily="34" charset="-120"/>
              </a:rPr>
              <a:t>// </a:t>
            </a:r>
            <a:r>
              <a:rPr lang="ko-KR" altLang="en-US" sz="90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 Coding" pitchFamily="34" charset="-120"/>
              </a:rPr>
              <a:t>음수 예외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Assert.Throws&lt;ArgumentException&gt;(() =&gt; calculator.Add("-1,2"));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9905" y="5432450"/>
            <a:ext cx="10972800" cy="457200"/>
          </a:xfrm>
          <a:prstGeom prst="roundRect">
            <a:avLst>
              <a:gd name="adj" fmla="val 25000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09905" y="5432450"/>
            <a:ext cx="38405" cy="4572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685800" y="5469941"/>
            <a:ext cx="133502" cy="171907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895198" y="5469941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팁: 테스트 순서</a:t>
            </a:r>
            <a:endParaRPr lang="en-US" sz="1200"/>
          </a:p>
        </p:txBody>
      </p:sp>
      <p:sp>
        <p:nvSpPr>
          <p:cNvPr id="42" name="Text 39"/>
          <p:cNvSpPr txBox="1"/>
          <p:nvPr/>
        </p:nvSpPr>
        <p:spPr>
          <a:xfrm>
            <a:off x="895198" y="5689397"/>
            <a:ext cx="4362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간단한 테스트부터 시작하고, 테스트를 통과시킬 수 있는 최소한의 코드만 작성하세요.</a:t>
            </a:r>
            <a:endParaRPr lang="en-US" sz="900"/>
          </a:p>
        </p:txBody>
      </p:sp>
      <p:sp>
        <p:nvSpPr>
          <p:cNvPr id="43" name="Text 40"/>
          <p:cNvSpPr txBox="1"/>
          <p:nvPr/>
        </p:nvSpPr>
        <p:spPr>
          <a:xfrm>
            <a:off x="609905" y="6587338"/>
            <a:ext cx="1002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TDD 실전 예제</a:t>
            </a:r>
            <a:endParaRPr lang="en-US" sz="1000"/>
          </a:p>
        </p:txBody>
      </p:sp>
      <p:sp>
        <p:nvSpPr>
          <p:cNvPr id="44" name="Text 41"/>
          <p:cNvSpPr txBox="1"/>
          <p:nvPr/>
        </p:nvSpPr>
        <p:spPr>
          <a:xfrm>
            <a:off x="9525305" y="6587338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1053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예제1 단계별 구현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계산기 예제를 통한 TDD의 단계별 구현 프로세스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10972800" cy="552298"/>
          </a:xfrm>
          <a:prstGeom prst="roundRect">
            <a:avLst>
              <a:gd name="adj" fmla="val 228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94944" y="17236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828446" y="1837944"/>
            <a:ext cx="114300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1723644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200"/>
          </a:p>
        </p:txBody>
      </p:sp>
      <p:sp>
        <p:nvSpPr>
          <p:cNvPr id="11" name="Text 8"/>
          <p:cNvSpPr txBox="1"/>
          <p:nvPr/>
        </p:nvSpPr>
        <p:spPr>
          <a:xfrm>
            <a:off x="1152144" y="1943100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테스트</a:t>
            </a:r>
            <a:endParaRPr lang="en-US" sz="9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3536899" y="1848002"/>
            <a:ext cx="133502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54573" y="194310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</a:t>
            </a:r>
            <a:endParaRPr lang="en-US" sz="900"/>
          </a:p>
        </p:txBody>
      </p:sp>
      <p:sp>
        <p:nvSpPr>
          <p:cNvPr id="14" name="Shape 10"/>
          <p:cNvSpPr/>
          <p:nvPr/>
        </p:nvSpPr>
        <p:spPr>
          <a:xfrm>
            <a:off x="5497373" y="17236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5621731" y="1837944"/>
            <a:ext cx="133502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54573" y="1723644"/>
            <a:ext cx="638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12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297266" y="1848002"/>
            <a:ext cx="133502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0256825" y="17236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1125" y="1837944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714025" y="194310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개선</a:t>
            </a:r>
            <a:endParaRPr lang="en-US" sz="900"/>
          </a:p>
        </p:txBody>
      </p:sp>
      <p:sp>
        <p:nvSpPr>
          <p:cNvPr id="21" name="Text 14"/>
          <p:cNvSpPr txBox="1"/>
          <p:nvPr/>
        </p:nvSpPr>
        <p:spPr>
          <a:xfrm>
            <a:off x="10714025" y="172364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</a:t>
            </a:r>
            <a:endParaRPr lang="en-US" sz="1200"/>
          </a:p>
        </p:txBody>
      </p:sp>
      <p:sp>
        <p:nvSpPr>
          <p:cNvPr id="22" name="Shape 15"/>
          <p:cNvSpPr/>
          <p:nvPr/>
        </p:nvSpPr>
        <p:spPr>
          <a:xfrm>
            <a:off x="609905" y="2343607"/>
            <a:ext cx="2628900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3390595" y="2343607"/>
            <a:ext cx="2628900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6172200" y="2343607"/>
            <a:ext cx="2628900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8953805" y="2343607"/>
            <a:ext cx="2628900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609905" y="3486607"/>
            <a:ext cx="2628900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3390595" y="3486607"/>
            <a:ext cx="2628900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6172200" y="3486607"/>
            <a:ext cx="2628900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8953805" y="3486607"/>
            <a:ext cx="2628900" cy="838505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685800" y="2419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3467405" y="2419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6248095" y="2419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9029700" y="2419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685800" y="3562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3467405" y="3562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6248095" y="3562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9029700" y="35625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792785" y="2457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/>
          </a:p>
        </p:txBody>
      </p:sp>
      <p:sp>
        <p:nvSpPr>
          <p:cNvPr id="39" name="Text 32"/>
          <p:cNvSpPr txBox="1"/>
          <p:nvPr/>
        </p:nvSpPr>
        <p:spPr>
          <a:xfrm>
            <a:off x="3574390" y="2457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/>
          </a:p>
        </p:txBody>
      </p:sp>
      <p:sp>
        <p:nvSpPr>
          <p:cNvPr id="40" name="Text 33"/>
          <p:cNvSpPr txBox="1"/>
          <p:nvPr/>
        </p:nvSpPr>
        <p:spPr>
          <a:xfrm>
            <a:off x="6355994" y="2457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/>
          </a:p>
        </p:txBody>
      </p:sp>
      <p:sp>
        <p:nvSpPr>
          <p:cNvPr id="41" name="Text 34"/>
          <p:cNvSpPr txBox="1"/>
          <p:nvPr/>
        </p:nvSpPr>
        <p:spPr>
          <a:xfrm>
            <a:off x="9136685" y="2457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/>
          </a:p>
        </p:txBody>
      </p:sp>
      <p:sp>
        <p:nvSpPr>
          <p:cNvPr id="42" name="Text 35"/>
          <p:cNvSpPr txBox="1"/>
          <p:nvPr/>
        </p:nvSpPr>
        <p:spPr>
          <a:xfrm>
            <a:off x="792785" y="3600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/>
          </a:p>
        </p:txBody>
      </p:sp>
      <p:sp>
        <p:nvSpPr>
          <p:cNvPr id="43" name="Text 36"/>
          <p:cNvSpPr txBox="1"/>
          <p:nvPr/>
        </p:nvSpPr>
        <p:spPr>
          <a:xfrm>
            <a:off x="3574390" y="3600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/>
          </a:p>
        </p:txBody>
      </p:sp>
      <p:sp>
        <p:nvSpPr>
          <p:cNvPr id="44" name="Text 37"/>
          <p:cNvSpPr txBox="1"/>
          <p:nvPr/>
        </p:nvSpPr>
        <p:spPr>
          <a:xfrm>
            <a:off x="6355994" y="3600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200"/>
          </a:p>
        </p:txBody>
      </p:sp>
      <p:sp>
        <p:nvSpPr>
          <p:cNvPr id="45" name="Text 38"/>
          <p:cNvSpPr txBox="1"/>
          <p:nvPr/>
        </p:nvSpPr>
        <p:spPr>
          <a:xfrm>
            <a:off x="9136685" y="36009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200"/>
          </a:p>
        </p:txBody>
      </p:sp>
      <p:sp>
        <p:nvSpPr>
          <p:cNvPr id="46" name="Text 39"/>
          <p:cNvSpPr txBox="1"/>
          <p:nvPr/>
        </p:nvSpPr>
        <p:spPr>
          <a:xfrm>
            <a:off x="1067105" y="2457907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문자열 테스트</a:t>
            </a:r>
            <a:endParaRPr lang="en-US" sz="1200"/>
          </a:p>
        </p:txBody>
      </p:sp>
      <p:sp>
        <p:nvSpPr>
          <p:cNvPr id="47" name="Text 40"/>
          <p:cNvSpPr txBox="1"/>
          <p:nvPr/>
        </p:nvSpPr>
        <p:spPr>
          <a:xfrm>
            <a:off x="3847795" y="245790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숫자</a:t>
            </a:r>
            <a:endParaRPr lang="en-US" sz="1200"/>
          </a:p>
        </p:txBody>
      </p:sp>
      <p:sp>
        <p:nvSpPr>
          <p:cNvPr id="48" name="Text 41"/>
          <p:cNvSpPr txBox="1"/>
          <p:nvPr/>
        </p:nvSpPr>
        <p:spPr>
          <a:xfrm>
            <a:off x="6629400" y="245790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쉼표 구분자</a:t>
            </a:r>
            <a:endParaRPr lang="en-US" sz="1200"/>
          </a:p>
        </p:txBody>
      </p:sp>
      <p:sp>
        <p:nvSpPr>
          <p:cNvPr id="49" name="Text 42"/>
          <p:cNvSpPr txBox="1"/>
          <p:nvPr/>
        </p:nvSpPr>
        <p:spPr>
          <a:xfrm>
            <a:off x="9411005" y="245790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숫자</a:t>
            </a:r>
            <a:endParaRPr lang="en-US" sz="1200"/>
          </a:p>
        </p:txBody>
      </p:sp>
      <p:sp>
        <p:nvSpPr>
          <p:cNvPr id="50" name="Text 43"/>
          <p:cNvSpPr txBox="1"/>
          <p:nvPr/>
        </p:nvSpPr>
        <p:spPr>
          <a:xfrm>
            <a:off x="1067105" y="360090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개행 구분자</a:t>
            </a:r>
            <a:endParaRPr lang="en-US" sz="1200"/>
          </a:p>
        </p:txBody>
      </p:sp>
      <p:sp>
        <p:nvSpPr>
          <p:cNvPr id="51" name="Text 44"/>
          <p:cNvSpPr txBox="1"/>
          <p:nvPr/>
        </p:nvSpPr>
        <p:spPr>
          <a:xfrm>
            <a:off x="3847795" y="360090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구분자</a:t>
            </a:r>
            <a:endParaRPr lang="en-US" sz="1200"/>
          </a:p>
        </p:txBody>
      </p:sp>
      <p:sp>
        <p:nvSpPr>
          <p:cNvPr id="52" name="Text 45"/>
          <p:cNvSpPr txBox="1"/>
          <p:nvPr/>
        </p:nvSpPr>
        <p:spPr>
          <a:xfrm>
            <a:off x="6629400" y="360090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음수 예외</a:t>
            </a:r>
            <a:endParaRPr lang="en-US" sz="1200"/>
          </a:p>
        </p:txBody>
      </p:sp>
      <p:sp>
        <p:nvSpPr>
          <p:cNvPr id="53" name="Text 46"/>
          <p:cNvSpPr txBox="1"/>
          <p:nvPr/>
        </p:nvSpPr>
        <p:spPr>
          <a:xfrm>
            <a:off x="9411005" y="3600907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1000 초과 무시</a:t>
            </a:r>
            <a:endParaRPr lang="en-US" sz="1200"/>
          </a:p>
        </p:txBody>
      </p:sp>
      <p:sp>
        <p:nvSpPr>
          <p:cNvPr id="54" name="Text 47"/>
          <p:cNvSpPr txBox="1"/>
          <p:nvPr/>
        </p:nvSpPr>
        <p:spPr>
          <a:xfrm>
            <a:off x="685800" y="2743200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Add("")=0</a:t>
            </a:r>
            <a:endParaRPr lang="en-US" sz="1000"/>
          </a:p>
        </p:txBody>
      </p:sp>
      <p:sp>
        <p:nvSpPr>
          <p:cNvPr id="55" name="Text 48"/>
          <p:cNvSpPr txBox="1"/>
          <p:nvPr/>
        </p:nvSpPr>
        <p:spPr>
          <a:xfrm>
            <a:off x="685800" y="2933395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return input=="" ? 0 : -1</a:t>
            </a:r>
            <a:endParaRPr lang="en-US" sz="1000"/>
          </a:p>
        </p:txBody>
      </p:sp>
      <p:sp>
        <p:nvSpPr>
          <p:cNvPr id="56" name="Text 49"/>
          <p:cNvSpPr txBox="1"/>
          <p:nvPr/>
        </p:nvSpPr>
        <p:spPr>
          <a:xfrm>
            <a:off x="3467405" y="2743200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Add("1")=1</a:t>
            </a:r>
            <a:endParaRPr lang="en-US" sz="1000"/>
          </a:p>
        </p:txBody>
      </p:sp>
      <p:sp>
        <p:nvSpPr>
          <p:cNvPr id="57" name="Text 50"/>
          <p:cNvSpPr txBox="1"/>
          <p:nvPr/>
        </p:nvSpPr>
        <p:spPr>
          <a:xfrm>
            <a:off x="3467405" y="2933395"/>
            <a:ext cx="1869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return input=="" ? 0 : int.Parse(input)</a:t>
            </a:r>
            <a:endParaRPr lang="en-US" sz="1000"/>
          </a:p>
        </p:txBody>
      </p:sp>
      <p:sp>
        <p:nvSpPr>
          <p:cNvPr id="58" name="Text 51"/>
          <p:cNvSpPr txBox="1"/>
          <p:nvPr/>
        </p:nvSpPr>
        <p:spPr>
          <a:xfrm>
            <a:off x="6248095" y="2743200"/>
            <a:ext cx="11932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Add("1,2")=3</a:t>
            </a:r>
            <a:endParaRPr lang="en-US" sz="1000"/>
          </a:p>
        </p:txBody>
      </p:sp>
      <p:sp>
        <p:nvSpPr>
          <p:cNvPr id="59" name="Text 52"/>
          <p:cNvSpPr txBox="1"/>
          <p:nvPr/>
        </p:nvSpPr>
        <p:spPr>
          <a:xfrm>
            <a:off x="6248095" y="2933395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쉼표로 분할 후 합산</a:t>
            </a:r>
            <a:endParaRPr lang="en-US" sz="1000"/>
          </a:p>
        </p:txBody>
      </p:sp>
      <p:sp>
        <p:nvSpPr>
          <p:cNvPr id="60" name="Text 53"/>
          <p:cNvSpPr txBox="1"/>
          <p:nvPr/>
        </p:nvSpPr>
        <p:spPr>
          <a:xfrm>
            <a:off x="9029700" y="2743200"/>
            <a:ext cx="1488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Add("1,2,3,4")=10</a:t>
            </a:r>
            <a:endParaRPr lang="en-US" sz="1000"/>
          </a:p>
        </p:txBody>
      </p:sp>
      <p:sp>
        <p:nvSpPr>
          <p:cNvPr id="61" name="Text 54"/>
          <p:cNvSpPr txBox="1"/>
          <p:nvPr/>
        </p:nvSpPr>
        <p:spPr>
          <a:xfrm>
            <a:off x="9029700" y="2933395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REFACTOR: LINQ로 최적화</a:t>
            </a:r>
            <a:endParaRPr lang="en-US" sz="1000"/>
          </a:p>
        </p:txBody>
      </p:sp>
      <p:sp>
        <p:nvSpPr>
          <p:cNvPr id="62" name="Text 55"/>
          <p:cNvSpPr txBox="1"/>
          <p:nvPr/>
        </p:nvSpPr>
        <p:spPr>
          <a:xfrm>
            <a:off x="685800" y="3886200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Add("1\n2,3")=6</a:t>
            </a:r>
            <a:endParaRPr lang="en-US" sz="1000"/>
          </a:p>
        </p:txBody>
      </p:sp>
      <p:sp>
        <p:nvSpPr>
          <p:cNvPr id="63" name="Text 56"/>
          <p:cNvSpPr txBox="1"/>
          <p:nvPr/>
        </p:nvSpPr>
        <p:spPr>
          <a:xfrm>
            <a:off x="685800" y="4076395"/>
            <a:ext cx="14977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다중 구분자 지원</a:t>
            </a:r>
            <a:endParaRPr lang="en-US" sz="1000"/>
          </a:p>
        </p:txBody>
      </p:sp>
      <p:sp>
        <p:nvSpPr>
          <p:cNvPr id="64" name="Text 57"/>
          <p:cNvSpPr txBox="1"/>
          <p:nvPr/>
        </p:nvSpPr>
        <p:spPr>
          <a:xfrm>
            <a:off x="3467405" y="3886200"/>
            <a:ext cx="1459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Add("//;\n1;2")=3</a:t>
            </a:r>
            <a:endParaRPr lang="en-US" sz="1000"/>
          </a:p>
        </p:txBody>
      </p:sp>
      <p:sp>
        <p:nvSpPr>
          <p:cNvPr id="65" name="Text 58"/>
          <p:cNvSpPr txBox="1"/>
          <p:nvPr/>
        </p:nvSpPr>
        <p:spPr>
          <a:xfrm>
            <a:off x="3467405" y="4076395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커스텀 구분자 파싱</a:t>
            </a:r>
            <a:endParaRPr lang="en-US" sz="1000"/>
          </a:p>
        </p:txBody>
      </p:sp>
      <p:sp>
        <p:nvSpPr>
          <p:cNvPr id="66" name="Text 59"/>
          <p:cNvSpPr txBox="1"/>
          <p:nvPr/>
        </p:nvSpPr>
        <p:spPr>
          <a:xfrm>
            <a:off x="6248095" y="3886200"/>
            <a:ext cx="13743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Add("-1,2") 예외</a:t>
            </a:r>
            <a:endParaRPr lang="en-US" sz="1000"/>
          </a:p>
        </p:txBody>
      </p:sp>
      <p:sp>
        <p:nvSpPr>
          <p:cNvPr id="67" name="Text 60"/>
          <p:cNvSpPr txBox="1"/>
          <p:nvPr/>
        </p:nvSpPr>
        <p:spPr>
          <a:xfrm>
            <a:off x="6248095" y="4076395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음수 검증 추가</a:t>
            </a:r>
            <a:endParaRPr lang="en-US" sz="1000"/>
          </a:p>
        </p:txBody>
      </p:sp>
      <p:sp>
        <p:nvSpPr>
          <p:cNvPr id="68" name="Text 61"/>
          <p:cNvSpPr txBox="1"/>
          <p:nvPr/>
        </p:nvSpPr>
        <p:spPr>
          <a:xfrm>
            <a:off x="9029700" y="3886200"/>
            <a:ext cx="1411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RED: Add("2,1001")=2</a:t>
            </a:r>
            <a:endParaRPr lang="en-US" sz="1000"/>
          </a:p>
        </p:txBody>
      </p:sp>
      <p:sp>
        <p:nvSpPr>
          <p:cNvPr id="69" name="Text 62"/>
          <p:cNvSpPr txBox="1"/>
          <p:nvPr/>
        </p:nvSpPr>
        <p:spPr>
          <a:xfrm>
            <a:off x="9029700" y="4076395"/>
            <a:ext cx="15453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GREEN: 1000 초과 필터링</a:t>
            </a:r>
            <a:endParaRPr lang="en-US" sz="1000"/>
          </a:p>
        </p:txBody>
      </p:sp>
      <p:sp>
        <p:nvSpPr>
          <p:cNvPr id="70" name="Shape 63"/>
          <p:cNvSpPr/>
          <p:nvPr/>
        </p:nvSpPr>
        <p:spPr>
          <a:xfrm>
            <a:off x="609905" y="4476902"/>
            <a:ext cx="10972800" cy="362102"/>
          </a:xfrm>
          <a:prstGeom prst="roundRect">
            <a:avLst>
              <a:gd name="adj" fmla="val 5316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5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694944" y="4581144"/>
            <a:ext cx="114300" cy="152705"/>
          </a:xfrm>
          <a:prstGeom prst="rect">
            <a:avLst/>
          </a:prstGeom>
        </p:spPr>
      </p:pic>
      <p:sp>
        <p:nvSpPr>
          <p:cNvPr id="72" name="Text 64"/>
          <p:cNvSpPr txBox="1"/>
          <p:nvPr/>
        </p:nvSpPr>
        <p:spPr>
          <a:xfrm>
            <a:off x="886054" y="4562856"/>
            <a:ext cx="4948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단계마다 실패 테스트부터 시작하여 통과시킨 후 개선하는 TDD 사이클을 반복합니다.</a:t>
            </a:r>
            <a:endParaRPr lang="en-US" sz="1000"/>
          </a:p>
        </p:txBody>
      </p:sp>
      <p:sp>
        <p:nvSpPr>
          <p:cNvPr id="73" name="Text 65"/>
          <p:cNvSpPr txBox="1"/>
          <p:nvPr/>
        </p:nvSpPr>
        <p:spPr>
          <a:xfrm>
            <a:off x="8488375" y="4839005"/>
            <a:ext cx="2583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5: TDD 실전</a:t>
            </a:r>
            <a:endParaRPr lang="en-US" sz="1000"/>
          </a:p>
        </p:txBody>
      </p:sp>
      <p:sp>
        <p:nvSpPr>
          <p:cNvPr id="74" name="Shape 66"/>
          <p:cNvSpPr/>
          <p:nvPr/>
        </p:nvSpPr>
        <p:spPr>
          <a:xfrm>
            <a:off x="3238805" y="27432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67"/>
          <p:cNvSpPr/>
          <p:nvPr/>
        </p:nvSpPr>
        <p:spPr>
          <a:xfrm>
            <a:off x="6019495" y="27432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8"/>
          <p:cNvSpPr/>
          <p:nvPr/>
        </p:nvSpPr>
        <p:spPr>
          <a:xfrm>
            <a:off x="8801100" y="27432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9"/>
          <p:cNvSpPr/>
          <p:nvPr/>
        </p:nvSpPr>
        <p:spPr>
          <a:xfrm>
            <a:off x="3238805" y="381030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0"/>
          <p:cNvSpPr/>
          <p:nvPr/>
        </p:nvSpPr>
        <p:spPr>
          <a:xfrm>
            <a:off x="6019495" y="381030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1"/>
          <p:cNvSpPr/>
          <p:nvPr/>
        </p:nvSpPr>
        <p:spPr>
          <a:xfrm>
            <a:off x="8801100" y="381030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4482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예제1 리팩토링 기법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800100" y="1600200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95044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131820"/>
            <a:ext cx="5372100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131820"/>
            <a:ext cx="5372100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18895" y="1600200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 분리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985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파라미터화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322015"/>
            <a:ext cx="12710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불변/순수 함수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18895" y="1950415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코드나 복잡한 로직을 별도 메서드로 추출하여 재사용성과 가독성을 높입니다.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18895" y="2484425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ExtractDelimiter(), SplitNumbers() 등의 헬퍼 메서드 추출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4524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유사한 로직을 매개변수를 받는 단일 메서드로 통합하여 중복을 제거합니다.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48442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구분자 처리 → Parse(string input, string delimiter)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322015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32201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 드러내는 이름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673145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메서드와 변수 이름을 통해 코드의 의도를 명확히 표현합니다.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977640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 → numbers, p → customDelimiter, Add → Calculate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322015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673145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 이펙트 없는 순수 함수를 작성하여 안정성을 높입니다.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977640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변경 없이 입력에 따른 결과만 반환하는 메서드 설계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62503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863694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825289"/>
            <a:ext cx="15380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리팩토링의 중요성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5175504"/>
            <a:ext cx="10306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TDD에서 리팩토링은 테스트가 성공한 후(Green) 반드시 수행해야 하는 단계입니다. 코드가 올바르게 동작하는지 확인한 후에 코드의 품질을 개선하는 과정입니다. 지속적인 리팩토링은 코드의 기술 부채를 관리하고, 유지보수성을 높이는 핵심 프랙티스입니다.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7554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리팩토링 단계에서는 테스트가 여전히 성공하는지 지속적으로 확인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25305" y="6511442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예제2: 쇼핑카트 모델링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3504895" cy="3791102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2147926" y="1447495"/>
            <a:ext cx="428854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1952244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온라인 쇼핑카트 시스템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800100" y="2324405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방법론을 적용해 장바구니 시스템을 설계하고 구현합니다.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800100" y="2857500"/>
            <a:ext cx="3124505" cy="533095"/>
          </a:xfrm>
          <a:prstGeom prst="roundRect">
            <a:avLst>
              <a:gd name="adj" fmla="val 2450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14400" y="3010205"/>
            <a:ext cx="114300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04595" y="2962656"/>
            <a:ext cx="27816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비즈니스 시나리오에서 TDD 적용 사례로, 모델 설계부터 테스트, 구현까지의 전체 과정을 경험합니다.</a:t>
            </a:r>
            <a:endParaRPr lang="en-US" sz="900"/>
          </a:p>
        </p:txBody>
      </p:sp>
      <p:sp>
        <p:nvSpPr>
          <p:cNvPr id="13" name="Shape 9"/>
          <p:cNvSpPr/>
          <p:nvPr/>
        </p:nvSpPr>
        <p:spPr>
          <a:xfrm>
            <a:off x="4343400" y="1257300"/>
            <a:ext cx="7239305" cy="3791102"/>
          </a:xfrm>
          <a:prstGeom prst="roundRect">
            <a:avLst>
              <a:gd name="adj" fmla="val 48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4533595" y="1457554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모델링</a:t>
            </a:r>
            <a:endParaRPr lang="en-US" sz="1300"/>
          </a:p>
        </p:txBody>
      </p:sp>
      <p:sp>
        <p:nvSpPr>
          <p:cNvPr id="15" name="Shape 11"/>
          <p:cNvSpPr/>
          <p:nvPr/>
        </p:nvSpPr>
        <p:spPr>
          <a:xfrm>
            <a:off x="4533595" y="2171700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33595" y="3219602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33595" y="4266590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4533595" y="1867205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Item (상품)</a:t>
            </a:r>
            <a:endParaRPr lang="en-US" sz="1200"/>
          </a:p>
        </p:txBody>
      </p:sp>
      <p:sp>
        <p:nvSpPr>
          <p:cNvPr id="19" name="Text 15"/>
          <p:cNvSpPr txBox="1"/>
          <p:nvPr/>
        </p:nvSpPr>
        <p:spPr>
          <a:xfrm>
            <a:off x="4533595" y="2915107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 (장바구니)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4533595" y="3962095"/>
            <a:ext cx="1733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PricingRule (가격 정책)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4762195" y="2305202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ID, 이름, 가격, 수량 속성을 가집니다.</a:t>
            </a:r>
            <a:endParaRPr lang="en-US" sz="1000"/>
          </a:p>
        </p:txBody>
      </p:sp>
      <p:sp>
        <p:nvSpPr>
          <p:cNvPr id="22" name="Text 18"/>
          <p:cNvSpPr txBox="1"/>
          <p:nvPr/>
        </p:nvSpPr>
        <p:spPr>
          <a:xfrm>
            <a:off x="4762195" y="2572207"/>
            <a:ext cx="2701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 적용 가능 여부와 품절 상태를 표시합니다.</a:t>
            </a:r>
            <a:endParaRPr lang="en-US" sz="1000"/>
          </a:p>
        </p:txBody>
      </p:sp>
      <p:sp>
        <p:nvSpPr>
          <p:cNvPr id="23" name="Text 19"/>
          <p:cNvSpPr txBox="1"/>
          <p:nvPr/>
        </p:nvSpPr>
        <p:spPr>
          <a:xfrm>
            <a:off x="4762195" y="3353105"/>
            <a:ext cx="3044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추가/수정/삭제 및 총액 계산 기능을 제공합니다.</a:t>
            </a:r>
            <a:endParaRPr lang="en-US" sz="1000"/>
          </a:p>
        </p:txBody>
      </p:sp>
      <p:sp>
        <p:nvSpPr>
          <p:cNvPr id="24" name="Text 20"/>
          <p:cNvSpPr txBox="1"/>
          <p:nvPr/>
        </p:nvSpPr>
        <p:spPr>
          <a:xfrm>
            <a:off x="4762195" y="3619195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쿠폰 코드 적용 및 해제 기능을 구현합니다.</a:t>
            </a:r>
            <a:endParaRPr lang="en-US" sz="1000"/>
          </a:p>
        </p:txBody>
      </p:sp>
      <p:sp>
        <p:nvSpPr>
          <p:cNvPr id="25" name="Text 21"/>
          <p:cNvSpPr txBox="1"/>
          <p:nvPr/>
        </p:nvSpPr>
        <p:spPr>
          <a:xfrm>
            <a:off x="4762195" y="4401007"/>
            <a:ext cx="4443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할인 규칙 적용: BOGO(하나 사면 하나 무료), 대량 구매 할인, 비율 할인</a:t>
            </a:r>
            <a:endParaRPr lang="en-US" sz="1000"/>
          </a:p>
        </p:txBody>
      </p:sp>
      <p:sp>
        <p:nvSpPr>
          <p:cNvPr id="26" name="Text 22"/>
          <p:cNvSpPr txBox="1"/>
          <p:nvPr/>
        </p:nvSpPr>
        <p:spPr>
          <a:xfrm>
            <a:off x="4762195" y="4667098"/>
            <a:ext cx="3396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할인 규칙 조합과 시간/지역별 가격 정책을 설계합니다.</a:t>
            </a:r>
            <a:endParaRPr lang="en-US" sz="1000"/>
          </a:p>
        </p:txBody>
      </p:sp>
      <p:sp>
        <p:nvSpPr>
          <p:cNvPr id="27" name="Text 23"/>
          <p:cNvSpPr txBox="1"/>
          <p:nvPr/>
        </p:nvSpPr>
        <p:spPr>
          <a:xfrm>
            <a:off x="9525305" y="6548933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237744"/>
            <a:ext cx="40581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예제2 규칙 테스트 (1/2)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8385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914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쇼핑카트 시스템의 다양한 할인 규칙 테스트 방법 - BOGO와 Bulk 할인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181405"/>
            <a:ext cx="28346" cy="18288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3082442"/>
            <a:ext cx="28346" cy="18288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48056" y="11814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8056" y="3082442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69671" y="12271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569671" y="3128162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942746" y="1181405"/>
            <a:ext cx="327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BOGO(Buy One Get One) 할인 테스트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942746" y="3082442"/>
            <a:ext cx="14904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Bulk 할인 테스트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942746" y="1455725"/>
            <a:ext cx="25950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상품 2개 구매 시 1개 무료 할인 검증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942746" y="3356762"/>
            <a:ext cx="26709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상품 3개 이상 구매 시 10% 할인 적용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942746" y="1710842"/>
            <a:ext cx="10639044" cy="1228954"/>
          </a:xfrm>
          <a:prstGeom prst="roundRect">
            <a:avLst>
              <a:gd name="adj" fmla="val 3461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42746" y="3611880"/>
            <a:ext cx="10639044" cy="1228954"/>
          </a:xfrm>
          <a:prstGeom prst="roundRect">
            <a:avLst>
              <a:gd name="adj" fmla="val 3461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04010" y="1781251"/>
            <a:ext cx="5277519" cy="108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[Test]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void BogoDiscount_WhenTwoItems_AppliesDiscount()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cart = new ShoppingCart();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cart.AddItem(new Product { Price = 100.0m }, 2);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result = new BogoDiscountRule().ApplyDiscount(cart);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Assert.AreEqual(100.0m, result); // 2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번째 상품 무료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04011" y="3682289"/>
            <a:ext cx="6264554" cy="108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[[Test]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void BulkDiscount_WhenThreeOrMore_AppliesDiscount()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cart = new ShoppingCart();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cart.AddItem(new Product { Price = 100.0m }, 3);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result = new BulkDiscountRule(0.1m).ApplyDiscount(cart);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Assert.AreEqual(270.0m, result);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9905" y="4984394"/>
            <a:ext cx="10972800" cy="495605"/>
          </a:xfrm>
          <a:prstGeom prst="roundRect">
            <a:avLst>
              <a:gd name="adj" fmla="val 21289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9905" y="4984394"/>
            <a:ext cx="38405" cy="49560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rcRect t="-46319" b="-46319"/>
          <a:stretch/>
        </p:blipFill>
        <p:spPr>
          <a:xfrm>
            <a:off x="724205" y="5060290"/>
            <a:ext cx="133502" cy="34290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933602" y="506029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전략 팁</a:t>
            </a:r>
            <a:endParaRPr lang="en-US" sz="1000"/>
          </a:p>
        </p:txBody>
      </p:sp>
      <p:sp>
        <p:nvSpPr>
          <p:cNvPr id="39" name="Text 36"/>
          <p:cNvSpPr txBox="1"/>
          <p:nvPr/>
        </p:nvSpPr>
        <p:spPr>
          <a:xfrm>
            <a:off x="933602" y="5241341"/>
            <a:ext cx="6334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할인 규칙은 단독 테스트 후 규칙 간 충돌이나 우선순위를 테스트하세요. 다음 페이지에서 Percent 할인과 엣지케이스를 다룹니다.</a:t>
            </a:r>
            <a:endParaRPr lang="en-US" sz="900"/>
          </a:p>
        </p:txBody>
      </p:sp>
      <p:sp>
        <p:nvSpPr>
          <p:cNvPr id="40" name="Text 37"/>
          <p:cNvSpPr txBox="1"/>
          <p:nvPr/>
        </p:nvSpPr>
        <p:spPr>
          <a:xfrm>
            <a:off x="609905" y="6587338"/>
            <a:ext cx="2764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모든 테스트는 독립적으로 실행 가능해야 합니다</a:t>
            </a:r>
            <a:endParaRPr lang="en-US" sz="1000"/>
          </a:p>
        </p:txBody>
      </p:sp>
      <p:sp>
        <p:nvSpPr>
          <p:cNvPr id="41" name="Text 38"/>
          <p:cNvSpPr txBox="1"/>
          <p:nvPr/>
        </p:nvSpPr>
        <p:spPr>
          <a:xfrm>
            <a:off x="9525305" y="6587338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0581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예제2 규칙 테스트 (2/3)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쇼핑카트 시스템의 다양한 할인 규칙을 테스트하는 방법 - Percent 할인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28346" cy="3381451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8056" y="16386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69671" y="16843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942746" y="1638605"/>
            <a:ext cx="17666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Percent 할인 테스트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942746" y="19504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금액의 특정 비율을 할인해주는 규칙 테스트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942746" y="2179015"/>
            <a:ext cx="10639044" cy="2723998"/>
          </a:xfrm>
          <a:prstGeom prst="roundRect">
            <a:avLst>
              <a:gd name="adj" fmla="val 704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19556" y="2284170"/>
            <a:ext cx="9833974" cy="250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[Test]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public void ApplyPercentDiscount_Should_Reduce_Price_By_Percentage()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// Arrange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cart = new ShoppingCart();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item = new Item("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노트북</a:t>
            </a: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", 1000000);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cart.AddItem(item, 1);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var rule = new PercentDiscountRule(10); // 10% 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할인</a:t>
            </a:r>
          </a:p>
          <a:p>
            <a:pPr marL="0" indent="0" algn="l">
              <a:buNone/>
            </a:pPr>
            <a:endParaRPr lang="ko-KR" altLang="en-US" sz="900">
              <a:solidFill>
                <a:srgbClr val="E2E8F0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// </a:t>
            </a: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Act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rule.ApplyDiscount(cart);</a:t>
            </a:r>
          </a:p>
          <a:p>
            <a:pPr marL="0" indent="0" algn="l">
              <a:buNone/>
            </a:pPr>
            <a:endParaRPr lang="en-US" sz="900">
              <a:solidFill>
                <a:srgbClr val="E2E8F0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// Assert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    Assert.AreEqual(900000, cart.TotalAmount); // 10% </a:t>
            </a:r>
            <a:r>
              <a:rPr lang="ko-KR" altLang="en-US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할인 후 금액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905" y="5170018"/>
            <a:ext cx="10972800" cy="609905"/>
          </a:xfrm>
          <a:prstGeom prst="roundRect">
            <a:avLst>
              <a:gd name="adj" fmla="val 14055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09905" y="5170018"/>
            <a:ext cx="38405" cy="60990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rcRect t="-57106" b="-57106"/>
          <a:stretch/>
        </p:blipFill>
        <p:spPr>
          <a:xfrm>
            <a:off x="761695" y="5284318"/>
            <a:ext cx="133502" cy="38130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972007" y="5284318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작성 팁</a:t>
            </a:r>
            <a:endParaRPr lang="en-US" sz="1200"/>
          </a:p>
        </p:txBody>
      </p:sp>
      <p:sp>
        <p:nvSpPr>
          <p:cNvPr id="30" name="Text 27"/>
          <p:cNvSpPr txBox="1"/>
          <p:nvPr/>
        </p:nvSpPr>
        <p:spPr>
          <a:xfrm>
            <a:off x="972007" y="5503774"/>
            <a:ext cx="7696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할인율 변경 테스트, 최소/최대 할인 금액 제한 테스트, 소수점 처리 테스트 등 다양한 비율 할인 시나리오를 고려하세요. 각 테스트는 단일 기능에 집중해야 합니다.</a:t>
            </a:r>
            <a:endParaRPr lang="en-US" sz="900"/>
          </a:p>
        </p:txBody>
      </p:sp>
      <p:sp>
        <p:nvSpPr>
          <p:cNvPr id="31" name="Text 28"/>
          <p:cNvSpPr txBox="1"/>
          <p:nvPr/>
        </p:nvSpPr>
        <p:spPr>
          <a:xfrm>
            <a:off x="609905" y="6548933"/>
            <a:ext cx="3173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TDD 방식으로 규칙을 구현한 후 테스트를 통과시키세요</a:t>
            </a:r>
            <a:endParaRPr lang="en-US" sz="1000"/>
          </a:p>
        </p:txBody>
      </p:sp>
      <p:sp>
        <p:nvSpPr>
          <p:cNvPr id="32" name="Text 29"/>
          <p:cNvSpPr txBox="1"/>
          <p:nvPr/>
        </p:nvSpPr>
        <p:spPr>
          <a:xfrm>
            <a:off x="9525305" y="6548933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29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진화와 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285646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285646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주도 설계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53114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먼저 작성하는 과정에서 자연스럽게 인터페이스가 설계됩니다. 테스트 코드는 '첫 번째 클라이언트'가 되어 사용자 관점에서 직관적인 API를 유도합니다.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690165"/>
            <a:ext cx="3534156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841955"/>
            <a:ext cx="247802" cy="2478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30598" y="2690165"/>
            <a:ext cx="3534156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23798" y="2845613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응집도 향상</a:t>
            </a:r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761695" y="3147365"/>
            <a:ext cx="3212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먼저 작성하면 단일 책임 원칙을 자연스럽게 따르게 되어 높은 응집도를 가진 설계가 만들어집니다.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863" b="-863"/>
          <a:stretch/>
        </p:blipFill>
        <p:spPr>
          <a:xfrm>
            <a:off x="4483303" y="2841955"/>
            <a:ext cx="304495" cy="2478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52206" y="2690165"/>
            <a:ext cx="3534156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902098" y="2845613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결합도 감소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4483303" y="3147365"/>
            <a:ext cx="3212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격리를 위해 의존성 주입과 인터페이스를 활용해 컴포넌트 간 결합도를 낮춥니다.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3997" y="2841955"/>
            <a:ext cx="247802" cy="2478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66099" y="2845613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개선</a:t>
            </a:r>
            <a:endParaRPr lang="en-US" sz="1200"/>
          </a:p>
        </p:txBody>
      </p:sp>
      <p:sp>
        <p:nvSpPr>
          <p:cNvPr id="21" name="Text 16"/>
          <p:cNvSpPr txBox="1"/>
          <p:nvPr/>
        </p:nvSpPr>
        <p:spPr>
          <a:xfrm>
            <a:off x="8203997" y="3147365"/>
            <a:ext cx="32598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요구사항마다 테스트를 먼저 작성하면서 API가 점진적으로 진화하고 개선됩니다.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807562"/>
            <a:ext cx="10972800" cy="2266798"/>
          </a:xfrm>
          <a:prstGeom prst="roundRect">
            <a:avLst>
              <a:gd name="adj" fmla="val 1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771754" y="4007815"/>
            <a:ext cx="171907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57046" y="3969410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진화 예시</a:t>
            </a:r>
            <a:endParaRPr lang="en-US" sz="1000"/>
          </a:p>
        </p:txBody>
      </p:sp>
      <p:sp>
        <p:nvSpPr>
          <p:cNvPr id="25" name="Text 19"/>
          <p:cNvSpPr txBox="1"/>
          <p:nvPr/>
        </p:nvSpPr>
        <p:spPr>
          <a:xfrm>
            <a:off x="1057046" y="4188866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시스템 인터페이스 진화: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1057046" y="4389120"/>
            <a:ext cx="3933749" cy="1524305"/>
          </a:xfrm>
          <a:prstGeom prst="roundRect">
            <a:avLst>
              <a:gd name="adj" fmla="val 15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133856" y="4475073"/>
            <a:ext cx="3768242" cy="1315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1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단계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: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기본 주문 생성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interface IOrderService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Order CreateOrder(Customer customer, List&lt;Item&gt; items);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2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단계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: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할인 규칙 추가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interface IOrderService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Order CreateOrder(Customer customer, List&lt;Item&gt; items);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Order ApplyDiscount(Order order, IDiscountRule rule);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9525305" y="6548933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46579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Given-When-Then 스타일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1667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Given (준비)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782105" y="1600200"/>
            <a:ext cx="11667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(행동)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933895" y="30175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언어 반영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위한 전제 조건과 초기 상태를 설정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267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조건과 컨텍스트를 명시적으로 정의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6400800" y="1600200"/>
            <a:ext cx="228600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782105" y="195041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대상 행위를 수행하는 단계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782105" y="217901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하나의 행동에 집중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11091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Then (검증)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기대하는 결과와 상태 변화를 검증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가능한 행동이나 상태에 집중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6400800" y="3017520"/>
            <a:ext cx="3813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33895" y="336773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용어와 규칙을 테스트에 반영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933895" y="3596335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개발자와 비기술팀 간 소통 향상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4482389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90549" y="4443984"/>
            <a:ext cx="16331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BDD 스타일의 이점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90549" y="4795114"/>
            <a:ext cx="10191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Given-When-Then 구조는 테스트 명세를 명확하게 하여 가독성을 높이고, 테스트의 의도를 분명히 전달합니다. 테스트가 문서의 역할도 겸하게 되어 요구사항과 행동을 함께 명세할 수 있습니다.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2689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BDD: Behavior-Driven Development (행위 주도 개발)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25305" y="6511442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</a:t>
            </a:r>
            <a:endParaRPr lang="en-US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46204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Outside-in vs Inside-out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43000"/>
            <a:ext cx="10972800" cy="43799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504895" y="1218895"/>
            <a:ext cx="286207" cy="286207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3589020" y="1248156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3866998" y="124815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Outside-in (Top-down)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7894015" y="1218895"/>
            <a:ext cx="286207" cy="286207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011973" y="1248156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/>
          </a:p>
        </p:txBody>
      </p:sp>
      <p:sp>
        <p:nvSpPr>
          <p:cNvPr id="12" name="Text 10"/>
          <p:cNvSpPr txBox="1"/>
          <p:nvPr/>
        </p:nvSpPr>
        <p:spPr>
          <a:xfrm>
            <a:off x="8256118" y="1248156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Inside-out (Bottom-up)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09905" y="1580998"/>
            <a:ext cx="10972800" cy="381305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905" y="1962302"/>
            <a:ext cx="109728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09905" y="2572207"/>
            <a:ext cx="10972800" cy="609905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09905" y="3181198"/>
            <a:ext cx="10972800" cy="3813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61695" y="1657807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방식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3504895" y="1657807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관점 우선 (BDD 철학) API, UI부터 설계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7894015" y="1657807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모델 우선 (전통 TDD) 핵심 로직부터 구현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761695" y="21524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흐름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761695" y="2762402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특징/장단점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>
          <a:xfrm>
            <a:off x="3504895" y="2648102"/>
            <a:ext cx="4077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 루프 TDD (인수+단위) + 사용자 중심 설계 - Mock 의존성 증가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7894015" y="2648102"/>
            <a:ext cx="3610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클래식 TDD (단위 중심) + 도메인 로직 명확화 - 전체 방향성 놓칠 수 있음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761695" y="325800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사용처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3504895" y="2038198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상위→하위 레벨 진행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3504895" y="2266798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 활용도 높음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>
          <a:xfrm>
            <a:off x="7894015" y="2038198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하위→상위 레벨 진행</a:t>
            </a:r>
            <a:endParaRPr lang="en-US" sz="1200"/>
          </a:p>
        </p:txBody>
      </p:sp>
      <p:sp>
        <p:nvSpPr>
          <p:cNvPr id="28" name="Text 26"/>
          <p:cNvSpPr txBox="1"/>
          <p:nvPr/>
        </p:nvSpPr>
        <p:spPr>
          <a:xfrm>
            <a:off x="7894015" y="226679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구현체 선호</a:t>
            </a:r>
            <a:endParaRPr lang="en-US" sz="1200"/>
          </a:p>
        </p:txBody>
      </p:sp>
      <p:sp>
        <p:nvSpPr>
          <p:cNvPr id="29" name="Text 27"/>
          <p:cNvSpPr txBox="1"/>
          <p:nvPr/>
        </p:nvSpPr>
        <p:spPr>
          <a:xfrm>
            <a:off x="3504895" y="3258007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UI/서비스 개발, 불명확한 요구사항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7894015" y="3258007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알고리즘, 복잡한 도메인 모델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609905" y="3676802"/>
            <a:ext cx="10972800" cy="933602"/>
          </a:xfrm>
          <a:prstGeom prst="roundRect">
            <a:avLst>
              <a:gd name="adj" fmla="val 799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733349" y="3838651"/>
            <a:ext cx="114300" cy="152705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923544" y="3800246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가이드</a:t>
            </a:r>
            <a:endParaRPr lang="en-US" sz="1200"/>
          </a:p>
        </p:txBody>
      </p:sp>
      <p:sp>
        <p:nvSpPr>
          <p:cNvPr id="34" name="Text 31"/>
          <p:cNvSpPr txBox="1"/>
          <p:nvPr/>
        </p:nvSpPr>
        <p:spPr>
          <a:xfrm>
            <a:off x="923544" y="4028846"/>
            <a:ext cx="10611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실무에서는 두 방식을 상황에 따라 혼합하여 사용하는 것이 효과적입니다. 새로운 기능은 Outside-in으로 흐름을 파악한 후, 복잡한 로직은 Inside-out으로 접근하는 하이브리드 방식이 권장됩니다.</a:t>
            </a:r>
            <a:endParaRPr lang="en-US" sz="1200"/>
          </a:p>
        </p:txBody>
      </p:sp>
      <p:sp>
        <p:nvSpPr>
          <p:cNvPr id="35" name="Text 32"/>
          <p:cNvSpPr txBox="1"/>
          <p:nvPr/>
        </p:nvSpPr>
        <p:spPr>
          <a:xfrm>
            <a:off x="8620963" y="6587338"/>
            <a:ext cx="3059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TDD 실전 - 접근 방식 비교</a:t>
            </a:r>
            <a:endParaRPr lang="en-US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6197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실전 요약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73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TDD를 실무에서 효과적으로 적용하기 위한 핵심 원칙과 실천 방법입니다.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63860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185166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1402" y="1638605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1638605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3017520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3017520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1402" y="3017520"/>
            <a:ext cx="5391302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91402" y="3017520"/>
            <a:ext cx="38405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81405" y="182880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시작 - 자주 피드백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6705295" y="182880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명세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838505" y="2179015"/>
            <a:ext cx="5039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범위를 최소화하고 Red-Green-Refactor 사이클을 빠르게 반복하여 방향성 검증을 수시로 진행하세요.</a:t>
            </a:r>
            <a:endParaRPr lang="en-US" sz="12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6420002" y="1851660"/>
            <a:ext cx="171907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20002" y="2179015"/>
            <a:ext cx="499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테스트는 실행 가능한 문서입니다. 테스트가 요구사항을 명확히 표현하면 코드 의도가 분명해집니다.</a:t>
            </a:r>
            <a:endParaRPr lang="en-US" sz="1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838505" y="3230575"/>
            <a:ext cx="256946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09751" y="3207715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리팩토링은 습관</a:t>
            </a:r>
            <a:endParaRPr lang="en-US" sz="1400"/>
          </a:p>
        </p:txBody>
      </p:sp>
      <p:sp>
        <p:nvSpPr>
          <p:cNvPr id="23" name="Text 18"/>
          <p:cNvSpPr txBox="1"/>
          <p:nvPr/>
        </p:nvSpPr>
        <p:spPr>
          <a:xfrm>
            <a:off x="6762902" y="3207715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설계</a:t>
            </a:r>
            <a:endParaRPr lang="en-US" sz="1400"/>
          </a:p>
        </p:txBody>
      </p:sp>
      <p:sp>
        <p:nvSpPr>
          <p:cNvPr id="24" name="Text 19"/>
          <p:cNvSpPr txBox="1"/>
          <p:nvPr/>
        </p:nvSpPr>
        <p:spPr>
          <a:xfrm>
            <a:off x="838505" y="3558845"/>
            <a:ext cx="5077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통과 후에는 반드시 리팩토링하세요. 코드 중복 제거와 가독성 향상에 지속적으로 투자하세요.</a:t>
            </a:r>
            <a:endParaRPr lang="en-US" sz="12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0002" y="323057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20002" y="3558845"/>
            <a:ext cx="5039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설계는 점진적으로 발전시키고, YAGNI 원칙에 따라 과도한 추상화는 필요할 때만 도입하세요.</a:t>
            </a:r>
            <a:endParaRPr lang="en-US" sz="1200"/>
          </a:p>
        </p:txBody>
      </p:sp>
      <p:sp>
        <p:nvSpPr>
          <p:cNvPr id="27" name="Shape 21"/>
          <p:cNvSpPr/>
          <p:nvPr/>
        </p:nvSpPr>
        <p:spPr>
          <a:xfrm>
            <a:off x="609905" y="4434840"/>
            <a:ext cx="10972800" cy="1047902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4635094"/>
            <a:ext cx="142646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8700" y="459668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28700" y="4863694"/>
            <a:ext cx="10430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TDD는 단순한 테스트 작성 방법론이 아닌 소프트웨어 설계 접근법입니다. 테스트부터 시작하면 명확한 인터페이스와 유지보수 가능한 코드를 작성할 수 있습니다. 절차보다 원칙을 이해하고 유연하게 적용하는 것이 중요합니다.</a:t>
            </a:r>
            <a:endParaRPr lang="en-US" sz="1200"/>
          </a:p>
        </p:txBody>
      </p:sp>
      <p:sp>
        <p:nvSpPr>
          <p:cNvPr id="32" name="Text 25"/>
          <p:cNvSpPr txBox="1"/>
          <p:nvPr/>
        </p:nvSpPr>
        <p:spPr>
          <a:xfrm>
            <a:off x="9097366" y="6548933"/>
            <a:ext cx="2583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5: TDD 실전</a:t>
            </a:r>
            <a:endParaRPr lang="en-US" sz="1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6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697834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7" r="-17"/>
          <a:stretch/>
        </p:blipFill>
        <p:spPr>
          <a:xfrm>
            <a:off x="3912718" y="2095805"/>
            <a:ext cx="333756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89043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6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697834" y="2800807"/>
            <a:ext cx="39913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테스트 기법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697834" y="3958438"/>
            <a:ext cx="4972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처리, 경계값, 비동기, 파라미터화된 테스트 등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697834" y="4301338"/>
            <a:ext cx="3857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테스트 기법으로 테스트 품질 향상</a:t>
            </a:r>
            <a:endParaRPr lang="en-US"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66344"/>
            <a:ext cx="28867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045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333195"/>
            <a:ext cx="53913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4859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1402" y="1333195"/>
            <a:ext cx="53913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636215"/>
            <a:ext cx="53913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91402" y="2636215"/>
            <a:ext cx="53913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18895" y="1485900"/>
            <a:ext cx="27569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Assert.Throws / ThrowsAsync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01307" y="1485900"/>
            <a:ext cx="20994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메시지 / 도메인 예외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77202" y="278892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패턴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18895" y="1836115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발생 명시적 검증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18895" y="2064715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메서드는 ThrowsAsync 사용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4107" y="14859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01307" y="1836115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내용 및 속성 검증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01307" y="206471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예외 클래스 활용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7889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18895" y="2788920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경로 우선 검증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18895" y="3139135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케이스 먼저 작성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18895" y="3367735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경계조건 테스트에 집중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6344107" y="2788920"/>
            <a:ext cx="3813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77202" y="3139135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try-catch 블록 테스트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77202" y="3367735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변환 및 복구 로직 검증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3939235"/>
            <a:ext cx="10972800" cy="1857146"/>
          </a:xfrm>
          <a:prstGeom prst="roundRect">
            <a:avLst>
              <a:gd name="adj" fmla="val 202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733349" y="4101084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57046" y="4063594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예시</a:t>
            </a:r>
            <a:endParaRPr lang="en-US" sz="1400"/>
          </a:p>
        </p:txBody>
      </p:sp>
      <p:sp>
        <p:nvSpPr>
          <p:cNvPr id="29" name="Shape 22"/>
          <p:cNvSpPr/>
          <p:nvPr/>
        </p:nvSpPr>
        <p:spPr>
          <a:xfrm>
            <a:off x="1057046" y="4375404"/>
            <a:ext cx="6467551" cy="1295705"/>
          </a:xfrm>
          <a:prstGeom prst="roundRect">
            <a:avLst>
              <a:gd name="adj" fmla="val 207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 txBox="1"/>
          <p:nvPr/>
        </p:nvSpPr>
        <p:spPr>
          <a:xfrm>
            <a:off x="1133856" y="4461358"/>
            <a:ext cx="6161466" cy="111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[Test]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public void Divide_ByZero_ThrowsDivideByZeroException()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var calculator = new Calculator();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Assert.Throws&lt;DivideByZeroException&gt;(() =&gt; calculator.Divide(10, 0));</a:t>
            </a:r>
          </a:p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>
              <a:latin typeface="Consolas" panose="020B0609020204030204" pitchFamily="49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609905" y="6511442"/>
            <a:ext cx="28785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적절한 예외 테스트는 견고한 시스템의 기반입니다</a:t>
            </a:r>
            <a:endParaRPr lang="en-US" sz="1000"/>
          </a:p>
        </p:txBody>
      </p:sp>
      <p:sp>
        <p:nvSpPr>
          <p:cNvPr id="37" name="Text 30"/>
          <p:cNvSpPr txBox="1"/>
          <p:nvPr/>
        </p:nvSpPr>
        <p:spPr>
          <a:xfrm>
            <a:off x="8721547" y="6511442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6: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9343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경계값/동등 분할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10972800" cy="1266444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410005"/>
            <a:ext cx="47549" cy="126644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561795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 설계 기법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990649"/>
            <a:ext cx="1063264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분석은 경계 부근에서 결함이 발생하기 쉽다는 점을 활용해 경계값을 집중 테스트하며, 동등 분할은 입력값을 동등한 그룹으로 나누어 각 그룹에서 대표값만 테스트합니다.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822753"/>
            <a:ext cx="3581705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724205" y="2937053"/>
            <a:ext cx="237744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04995" y="2822753"/>
            <a:ext cx="3581705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76249" y="2948940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분석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3279953"/>
            <a:ext cx="33988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최소값, 최대값, 경계 내/외부 값 테스트. 예: 1~100 범위면 0,1,100,101 테스트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19295" y="2937053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01000" y="2822753"/>
            <a:ext cx="3581705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09744" y="2948940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동등 분할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19295" y="3279953"/>
            <a:ext cx="343723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동작 입력을 그룹화하고 각 그룹당 대표 케이스만 테스트. 예: 양수, 0, 음수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15300" y="2937053"/>
            <a:ext cx="276149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5749" y="2948940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테이블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15300" y="3279953"/>
            <a:ext cx="331287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입력 조건 조합을 테스트. 복잡한 비즈니스 규칙이나 조건 테스트에 적합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940150"/>
            <a:ext cx="10972800" cy="2229307"/>
          </a:xfrm>
          <a:prstGeom prst="roundRect">
            <a:avLst>
              <a:gd name="adj" fmla="val 140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139489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4101998"/>
            <a:ext cx="2129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예시: 나이 확인 기능(18~65세)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1028700" y="4330598"/>
            <a:ext cx="4686300" cy="1676095"/>
          </a:xfrm>
          <a:prstGeom prst="roundRect">
            <a:avLst>
              <a:gd name="adj" fmla="val 124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04595" y="4415637"/>
            <a:ext cx="4497934" cy="146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[Theory]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[InlineData(17, false)] 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경계 외부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하한 미만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InlineData(18, true)] 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경계값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하한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InlineData(40, true)] 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동등 분할 내부값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InlineData(65, true)] 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경계값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상한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InlineData(66, false)] // 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경계 외부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ko-KR" alt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상한 초과</a:t>
            </a:r>
            <a:r>
              <a:rPr lang="en-US" altLang="ko-KR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public void IsEligible_ChecksAgeBoundaries(int age, bool expected)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Assert.Equal(expected, userService.IsEligible(age));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9149486" y="6511442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비동기/병렬 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1543507"/>
            <a:ext cx="466344" cy="4663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304849" y="1600200"/>
            <a:ext cx="21570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테스트 패턴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19595" y="160020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타임아웃 처리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57300" y="32461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 토큰 테스트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58000" y="324612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스레드 안전성 검증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304849" y="195041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메서드는 async Task 반환 형식으로 작성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304849" y="2179015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await 사용 (fire-and-forget 지양)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304849" y="2407615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메서드에도 async 키워드 필수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6400800" y="1600200"/>
            <a:ext cx="267005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19595" y="1950415"/>
            <a:ext cx="2553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Task.Delay로 비동기 동작 시뮬레이션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819595" y="2179015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NUnit: [Timeout(1000)] 어트리뷰트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819595" y="2407615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xUnit: TimeoutAttribute 패키지 설치 필요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246120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57300" y="3596335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CancellationTokenSource로 취소 시뮬레이션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257300" y="382493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token.ThrowIfCancellationRequested() 검증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257300" y="4053535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 후 OperationCanceledException 기대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246120"/>
            <a:ext cx="30449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359633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Parallel.ForEach로 경쟁 상태 테스트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58000" y="3824935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Interlocked 클래스 활용 검증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58000" y="405353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불변성 보장 패턴 우선 적용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7018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939589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4901184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테스트 모범 사례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252314"/>
            <a:ext cx="1027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 void는 테스트하기 어려우므로 항상 async Task 사용. 테스트에서는 await를 사용하여 비동기 작업 완료를 보장하고, 모의 객체에서 비동기 메서드를 설정할 때 ReturnsAsync()를 활용하세요. 경쟁 상태나 교착 상태를 방지하려면 테스트 격리와 멱등성을 유지하는 것이 중요합니다.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53172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Moq에서 비동기 메서드 모킹: mockRepo.Setup(x =&gt; x.GetAsync()).ReturnsAsync(result);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8721547" y="6511442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6: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25438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의존 코드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109728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181405"/>
            <a:ext cx="47549" cy="11905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333195"/>
            <a:ext cx="2467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의존 코드의 문제점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714500"/>
            <a:ext cx="1065093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DateTime.Now나 DateTimeOffset.UtcNow를 직접 사용하는 코드는 테스트하기 어렵습니다. 테스트 실행 시점에 따라 결과가 달라져 효과적인 테스트를 위해 시간을 제어할 수 있는 추상화가 필요합니다.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484425"/>
            <a:ext cx="3562502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205" y="2598725"/>
            <a:ext cx="276149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484425"/>
            <a:ext cx="3562502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76249" y="2610612"/>
            <a:ext cx="14502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IClock 인터페이스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24205" y="2903220"/>
            <a:ext cx="29891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제공을 추상화하는 인터페이스로 의존성 주입. DateTime.Now 대신 clock.Now를 사용합니다.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52" r="-552"/>
          <a:stretch/>
        </p:blipFill>
        <p:spPr>
          <a:xfrm>
            <a:off x="4432097" y="2598725"/>
            <a:ext cx="209398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484425"/>
            <a:ext cx="3562502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18304" y="261061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가짜 시계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32097" y="2903220"/>
            <a:ext cx="336133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테스트에서는 고정된 시간을 반환하거나, 원하는 시간으로 조작 가능한 FakeClock을 사용합니다.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817" b="-817"/>
          <a:stretch/>
        </p:blipFill>
        <p:spPr>
          <a:xfrm>
            <a:off x="8140903" y="2598725"/>
            <a:ext cx="237744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54542" y="2610612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이동 기능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40903" y="2903220"/>
            <a:ext cx="34180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AdvanceBy()나 SetCurrentTime() 같은 메서드로 테스트 중 가상 시간을 조작해 검증합니다.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525012"/>
            <a:ext cx="10972800" cy="2381098"/>
          </a:xfrm>
          <a:prstGeom prst="roundRect">
            <a:avLst>
              <a:gd name="adj" fmla="val 12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3687775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0295" y="364937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예시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990295" y="3916375"/>
            <a:ext cx="4162349" cy="1867205"/>
          </a:xfrm>
          <a:prstGeom prst="roundRect">
            <a:avLst>
              <a:gd name="adj" fmla="val 999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067105" y="4011473"/>
            <a:ext cx="4001852" cy="1665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public interface IClock {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DateTime Now { get; }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// </a:t>
            </a:r>
            <a:r>
              <a:rPr lang="ko-KR" alt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테스트용 가짜 시계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public class FakeClock : IClock {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private DateTime _now = DateTime.Now;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public DateTime Now =&gt; _now;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public void SetTime(DateTime time) =&gt; _now = time;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9149486" y="6548933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1345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파일/IO/환경 격리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17474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 디렉터리 사용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6139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환경변수 주입/복원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933895" y="3017520"/>
            <a:ext cx="16139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네트워크/소켓 격리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95705" y="1950415"/>
            <a:ext cx="3267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Path.GetTempPath()를 활용한 임시 파일 테스트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95705" y="2179015"/>
            <a:ext cx="3029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 후 자동 정리 (Setup/TearDown)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테스트용 환경변수 값 설정 및 테스트 후 원래 값 복원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3134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Environment.SetEnvironmentVariable 활용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017520"/>
            <a:ext cx="228600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1405" y="3017520"/>
            <a:ext cx="1404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 인터페이스화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181405" y="3367735"/>
            <a:ext cx="256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IFileSystem, IFile 등 인터페이스 도입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181405" y="3596335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System.IO.Abstractions 라이브러리 활용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6400800" y="3017520"/>
            <a:ext cx="3813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33895" y="3367735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포트 사용 테스트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933895" y="359633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래퍼 클래스로 의존성 분리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격리 원칙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353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환경에 의존하는 테스트는 불안정하고 실행 환경에 영향을 받기 쉽습니다. 파일 시스템, 환경 변수, 네트워크 등 외부 의존성을 인터페이스로 추상화하고 테스트 중에는 가짜 구현체를 사용하여 안정적이고 격리된 테스트를 만들어야 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2122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복잡한 IO 테스트는 통합 테스트로 분리하는 것이 효과적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149486" y="6511442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랜덤/비결정성 제어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800100" y="1600200"/>
            <a:ext cx="3813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333195" y="160020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시드 고정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주입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58000" y="301752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비결정성 격리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333195" y="1950415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 rnd = new Random(42); // 고정 시드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333195" y="217901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테스트마다 동일한 난수 시퀀스 생성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IRandomProvider 인터페이스 생성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테스트에서 예측 가능한 구현체 주입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검증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모의 난수 생성 결과의 통계적 특성 검증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범위 내 결과값 확인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3017520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3367735"/>
            <a:ext cx="2543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Guid.NewGuid() 등 정적 메서드 래핑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58000" y="3596335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테스트에서 예측 가능한 값으로 대체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테스트 패턴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191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가능한 코드는 비결정적 요소(시간, 난수)를 의존성으로 주입받아야 합니다. 랜덤 요소가 필요한 테스트는 결정적인 부분과 확률적인 부분을 명확히 구분하고, 확률적 특성만 별도로 테스트합니다.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7170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랜덤 코드를 다루는 테스트는 간헐적 실패(Flaky) 위험이 높습니다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542678" y="6511442"/>
            <a:ext cx="2145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기법</a:t>
            </a:r>
            <a:endParaRPr lang="en-US" sz="1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 대안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 Assert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1804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포맷 변화에 강한 검증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19595" y="3017520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비교 라이브러리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값을 명시적으로 선언하여 테스트 의도를 분명히 표현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스냅샷보다 테스트 가독성과 유지보수성 향상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950415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 구조나 값에 집중하고 형식 변경에 민감하지 않은 검증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58000" y="2179015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요소/JSON 포맷 변경에도 테스트 안정성 유지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800100" y="3017520"/>
            <a:ext cx="342900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5705" y="3017520"/>
            <a:ext cx="10332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검증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95705" y="336773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객체 대신 핵심 속성만 검증하는 방식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95705" y="3596335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FluentAssertions나 확장 메서드로 가독성 있는 검증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017520"/>
            <a:ext cx="2670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9595" y="3367735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CompareNETObjects, DeepEqual 등 활용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19595" y="3596335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지능적인 차이 비교와 무시할 속성 설정 가능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베스트 프랙티스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325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 테스트는 UI 컴포넌트나 직렬화된 결과물처럼 복잡한 출력에 유용할 수 있지만, 단위 테스트에서는 명시적 검증이 더 효과적합니다. 테스트가 실패했을 때 무엇이 왜 실패했는지 명확히 알 수 있는 방식으로 작성하세요.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611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복잡한 객체는 ToStringHelpers나 커스텀 비교기를 활용하세요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149486" y="6511442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715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성능/회귀 테스트 구분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257300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2573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유형 분리의 중요성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639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테스트와 비기능 테스트(성능, 부하)는 목적이 다르므로 분리해야 합니다. 단위 테스트는 기능 정확성 검증에 집중하고, 성능 테스트는 시스템 자원 사용과 응답 시간에 초점을 맞춥니다. 두 유형을 명확히 구분하여 각각 최적화하세요.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667305"/>
            <a:ext cx="3534156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761695" y="2819095"/>
            <a:ext cx="237744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30598" y="2667305"/>
            <a:ext cx="3534156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4654" y="2831897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속도 차이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61695" y="3161995"/>
            <a:ext cx="33128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밀리초 단위로 빠르게 실행되지만, 성능 테스트는 유의미한 데이터 수집을 위해 더 오래 실행됩니다. CI 파이프라인에서 분리하세요.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3303" y="281909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52206" y="2667305"/>
            <a:ext cx="3534156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73752" y="2831897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요구사항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83303" y="3161995"/>
            <a:ext cx="33128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모든 환경에서 일관된 결과를 보이지만, 성능 테스트는 실제와 유사한 환경에서 실행해야 의미가 있습니다.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3997" y="2819095"/>
            <a:ext cx="276149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94446" y="2831897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203997" y="3161995"/>
            <a:ext cx="329458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테스트는 성공/실패의 이분법적 결과를 제공하지만, 성능 테스트는 응답 시간, 처리량, 자원 사용률 등 다양한 지표로 평가합니다.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4052621"/>
            <a:ext cx="10972800" cy="1733702"/>
          </a:xfrm>
          <a:prstGeom prst="roundRect">
            <a:avLst>
              <a:gd name="adj" fmla="val 23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252874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4214470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 방법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1028700" y="4481474"/>
            <a:ext cx="2824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구조와 명명 규칙으로 테스트 유형 분리:</a:t>
            </a:r>
            <a:endParaRPr lang="en-US" sz="1000"/>
          </a:p>
        </p:txBody>
      </p:sp>
      <p:sp>
        <p:nvSpPr>
          <p:cNvPr id="26" name="Shape 20"/>
          <p:cNvSpPr/>
          <p:nvPr/>
        </p:nvSpPr>
        <p:spPr>
          <a:xfrm>
            <a:off x="1028700" y="4710074"/>
            <a:ext cx="3362249" cy="914400"/>
          </a:xfrm>
          <a:prstGeom prst="roundRect">
            <a:avLst>
              <a:gd name="adj" fmla="val 416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104595" y="4795114"/>
            <a:ext cx="3226003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OrderService.Tests.Unit // </a:t>
            </a:r>
            <a:r>
              <a:rPr lang="ko-KR" alt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단위 테스트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OrderService.Tests.Integration // </a:t>
            </a:r>
            <a:r>
              <a:rPr lang="ko-KR" alt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통합 테스트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OrderService.Tests.Performance // </a:t>
            </a:r>
            <a:r>
              <a:rPr lang="ko-KR" alt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성능 테스트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TestCategory("Unit")] // </a:t>
            </a:r>
            <a:r>
              <a:rPr lang="ko-KR" alt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단위 테스트 태그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TestCategory("Performance")] // </a:t>
            </a:r>
            <a:r>
              <a:rPr lang="ko-KR" altLang="en-US" sz="900">
                <a:solidFill>
                  <a:srgbClr val="F3F4F6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성능 테스트 태그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9149486" y="6511442"/>
            <a:ext cx="2535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5438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기법 요약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5734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단위테스트의 고급 기술을 효과적으로 적용하기 위한 핵심 원칙과 베스트 프랙티스입니다.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3913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638605"/>
            <a:ext cx="38405" cy="11430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185166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1402" y="1638605"/>
            <a:ext cx="53913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1638605"/>
            <a:ext cx="38405" cy="11430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2965399"/>
            <a:ext cx="53913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2965399"/>
            <a:ext cx="38405" cy="11430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1402" y="2965399"/>
            <a:ext cx="5391302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91402" y="2965399"/>
            <a:ext cx="38405" cy="11430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81405" y="1828800"/>
            <a:ext cx="13661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결정적인 테스트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6762902" y="1828800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경계값과 실패 시나리오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838505" y="2169871"/>
            <a:ext cx="49761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시간, 랜덤, 환경 변수는 인터페이스로 격리하세요. 날짜/시간은 IClock 패턴, 랜덤은 시드 고정이나 주입 패턴을 사용합니다.</a:t>
            </a:r>
            <a:endParaRPr lang="en-US" sz="11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0002" y="185166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20002" y="2169871"/>
            <a:ext cx="508132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 분석과 동등 분할로 테스트를 설계하세요. 정상 경로보다 예외와 실패 경로를 먼저 테스트하면 더 견고해집니다.</a:t>
            </a:r>
            <a:endParaRPr lang="en-US" sz="11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505" y="3179369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81405" y="3156509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 어서션</a:t>
            </a:r>
            <a:endParaRPr lang="en-US" sz="1400"/>
          </a:p>
        </p:txBody>
      </p:sp>
      <p:sp>
        <p:nvSpPr>
          <p:cNvPr id="23" name="Text 18"/>
          <p:cNvSpPr txBox="1"/>
          <p:nvPr/>
        </p:nvSpPr>
        <p:spPr>
          <a:xfrm>
            <a:off x="6762902" y="3156509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코드 테스트</a:t>
            </a:r>
            <a:endParaRPr lang="en-US" sz="1400"/>
          </a:p>
        </p:txBody>
      </p:sp>
      <p:sp>
        <p:nvSpPr>
          <p:cNvPr id="24" name="Text 19"/>
          <p:cNvSpPr txBox="1"/>
          <p:nvPr/>
        </p:nvSpPr>
        <p:spPr>
          <a:xfrm>
            <a:off x="838505" y="3497580"/>
            <a:ext cx="49953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스냅샷보다 명시적 Assert로 의도를 표현하세요. Given-When-Then 구조로 테스트 목적과 검증 대상을 명확히 하세요.</a:t>
            </a:r>
            <a:endParaRPr lang="en-US" sz="11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0002" y="3179369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20002" y="3497580"/>
            <a:ext cx="50621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패턴을 사용하고, 타임아웃과 취소 토큰을 테스트하세요. 병렬 코드는 경쟁 상태를 고려한 설계가 필요합니다.</a:t>
            </a:r>
            <a:endParaRPr lang="en-US" sz="1100"/>
          </a:p>
        </p:txBody>
      </p:sp>
      <p:sp>
        <p:nvSpPr>
          <p:cNvPr id="27" name="Shape 21"/>
          <p:cNvSpPr/>
          <p:nvPr/>
        </p:nvSpPr>
        <p:spPr>
          <a:xfrm>
            <a:off x="609905" y="4331513"/>
            <a:ext cx="10972800" cy="972007"/>
          </a:xfrm>
          <a:prstGeom prst="roundRect">
            <a:avLst>
              <a:gd name="adj" fmla="val 7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4530852"/>
            <a:ext cx="142646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8700" y="449336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28700" y="4759452"/>
            <a:ext cx="104351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테스트의 핵심은 결정성과 격리입니다. 외부 요인을 제어하는 패턴을 익히고, 성능 테스트와 단위 테스트를 구분하세요. 모든 테스트는 의도가 명확하고, 실행이 빠르며, 결과가 일관되어야 합니다.</a:t>
            </a:r>
            <a:endParaRPr lang="en-US" sz="1000"/>
          </a:p>
        </p:txBody>
      </p:sp>
      <p:sp>
        <p:nvSpPr>
          <p:cNvPr id="32" name="Text 25"/>
          <p:cNvSpPr txBox="1"/>
          <p:nvPr/>
        </p:nvSpPr>
        <p:spPr>
          <a:xfrm>
            <a:off x="8721547" y="6548933"/>
            <a:ext cx="29644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6: 고급 테스트 기법</a:t>
            </a:r>
            <a:endParaRPr lang="en-US"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7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546958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3713378" y="2095805"/>
            <a:ext cx="428854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37253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7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546958" y="2800807"/>
            <a:ext cx="33915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546958" y="3958438"/>
            <a:ext cx="5277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이해와 활용, ReportGenerator, 커버리지 분석,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546958" y="4301338"/>
            <a:ext cx="41340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실무적인 코드 품질 향상을 위한 측정 전략</a:t>
            </a:r>
            <a:endParaRPr lang="en-US" sz="1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4487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지표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9528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9244" y="1410005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09244" y="1828800"/>
            <a:ext cx="9201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커버리지는 테스트 실행 중 코드의 어느 부분이 실행되었는지 측정하는 지표입니다. 테스트 품질과 미테스트 영역을 파악하는 데 유용합니다.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36189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724205" y="2476195"/>
            <a:ext cx="200254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36189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00354" y="247619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커버리지</a:t>
            </a:r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724205" y="2762402"/>
            <a:ext cx="34024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실행된 코드 라인의 비율. 가장 기본적이고 직관적인 지표로 미실행 코드를 빠르게 식별합니다.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432097" y="2476195"/>
            <a:ext cx="200254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36189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708246" y="247619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커버리지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4432097" y="2762402"/>
            <a:ext cx="33649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조건문(if, switch)의 분기 테스트 여부. 모든 의사결정 경로가 테스트되었는지 검증합니다.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8140903" y="2476195"/>
            <a:ext cx="256946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73745" y="247619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 커버리지</a:t>
            </a:r>
            <a:endParaRPr lang="en-US" sz="1200"/>
          </a:p>
        </p:txBody>
      </p:sp>
      <p:sp>
        <p:nvSpPr>
          <p:cNvPr id="21" name="Text 16"/>
          <p:cNvSpPr txBox="1"/>
          <p:nvPr/>
        </p:nvSpPr>
        <p:spPr>
          <a:xfrm>
            <a:off x="8140903" y="2762402"/>
            <a:ext cx="33741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테스트된 메서드의 비율. 어떤 기능이 테스트에서 완전히 누락되었는지 파악하는 데 유용합니다.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385109"/>
            <a:ext cx="10972800" cy="1314907"/>
          </a:xfrm>
          <a:prstGeom prst="roundRect">
            <a:avLst>
              <a:gd name="adj" fmla="val 403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33349" y="3546958"/>
            <a:ext cx="21945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67105" y="3508553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리포트 예시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1067105" y="3737153"/>
            <a:ext cx="3705149" cy="609905"/>
          </a:xfrm>
          <a:prstGeom prst="roundRect">
            <a:avLst>
              <a:gd name="adj" fmla="val 937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43000" y="3823106"/>
            <a:ext cx="35652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Summary: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Line: 82.5% (165/200) | Branch: 76.3% (45/59)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Method: 90.1% (91/101) | Class: 95.0% (19/20)</a:t>
            </a:r>
            <a:endParaRPr lang="en-US" sz="900">
              <a:latin typeface="Consolas" panose="020B0609020204030204" pitchFamily="49" charset="0"/>
            </a:endParaRPr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7105" y="4446727"/>
            <a:ext cx="114300" cy="1143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18895" y="4413809"/>
            <a:ext cx="3639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목표는 코드의 중요도와 위험도에 따라 차등 설정하는 것이 효과적</a:t>
            </a:r>
            <a:endParaRPr lang="en-US" sz="900"/>
          </a:p>
        </p:txBody>
      </p:sp>
      <p:sp>
        <p:nvSpPr>
          <p:cNvPr id="31" name="Text 24"/>
          <p:cNvSpPr txBox="1"/>
          <p:nvPr/>
        </p:nvSpPr>
        <p:spPr>
          <a:xfrm>
            <a:off x="9304934" y="6548933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코드 커버리지</a:t>
            </a:r>
            <a:endParaRPr lang="en-US" sz="1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5914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Coverlet 설정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81405"/>
            <a:ext cx="6601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Coverlet은 .NET Core 프로젝트를 위한 코드 커버리지 도구입니다. 쉽게 설치하고 실행할 수 있습니다.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485900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761695" y="1598371"/>
            <a:ext cx="152705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0295" y="1591056"/>
            <a:ext cx="15508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Coverlet 설치 및 실행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11048695" y="1571854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125505" y="1609344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설치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609905" y="1844345"/>
            <a:ext cx="10972800" cy="1723644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09905" y="3682289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3349" y="3844138"/>
            <a:ext cx="152705" cy="15270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961949" y="3805733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결과 파일</a:t>
            </a:r>
            <a:endParaRPr lang="en-US" sz="1200"/>
          </a:p>
        </p:txBody>
      </p:sp>
      <p:sp>
        <p:nvSpPr>
          <p:cNvPr id="30" name="Text 26"/>
          <p:cNvSpPr txBox="1"/>
          <p:nvPr/>
        </p:nvSpPr>
        <p:spPr>
          <a:xfrm>
            <a:off x="961949" y="4034333"/>
            <a:ext cx="8453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테스트를 실행하면 ./TestResults/ 경로에 커버리지 파일이 생성됩니다. 기본 형식은 Cobertura XML로, ReportGenerator와 함께 사용할 수 있습니다.</a:t>
            </a:r>
            <a:endParaRPr lang="en-US" sz="1000"/>
          </a:p>
        </p:txBody>
      </p:sp>
      <p:sp>
        <p:nvSpPr>
          <p:cNvPr id="31" name="Text 27"/>
          <p:cNvSpPr txBox="1"/>
          <p:nvPr/>
        </p:nvSpPr>
        <p:spPr>
          <a:xfrm>
            <a:off x="9304934" y="6548933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코드 커버리지</a:t>
            </a:r>
            <a:endParaRPr lang="en-US" sz="100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F05961D-3A3D-463C-C590-8388D02AC2F8}"/>
              </a:ext>
            </a:extLst>
          </p:cNvPr>
          <p:cNvSpPr txBox="1"/>
          <p:nvPr/>
        </p:nvSpPr>
        <p:spPr>
          <a:xfrm>
            <a:off x="746606" y="1899725"/>
            <a:ext cx="9331671" cy="1526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>
                <a:solidFill>
                  <a:schemeClr val="bg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</a:rPr>
              <a:t>프로젝트에 </a:t>
            </a: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Coverlet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</a:rPr>
              <a:t>패키지 추가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dotnet add package coverlet.collector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</a:rPr>
              <a:t>코드 커버리지 수집을 포함하여 테스트 실행</a:t>
            </a: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dotnet test --collect:"XPlat Code Coverage"</a:t>
            </a:r>
          </a:p>
          <a:p>
            <a:pPr marL="0" indent="0" algn="l">
              <a:buNone/>
            </a:pPr>
            <a:endParaRPr lang="en-US" sz="11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100">
                <a:solidFill>
                  <a:schemeClr val="bg1"/>
                </a:solidFill>
                <a:latin typeface="Consolas" panose="020B0609020204030204" pitchFamily="49" charset="0"/>
              </a:rPr>
              <a:t>더 많은 옵션을 지정하여 실행 </a:t>
            </a:r>
            <a:r>
              <a:rPr lang="en-US" sz="1100">
                <a:solidFill>
                  <a:schemeClr val="bg1"/>
                </a:solidFill>
                <a:latin typeface="Consolas" panose="020B0609020204030204" pitchFamily="49" charset="0"/>
              </a:rPr>
              <a:t>dotnet test /p:CollectCoverage=true /p:CoverletOutputFormat=cobertura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52044"/>
            <a:ext cx="4134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 사용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04595"/>
            <a:ext cx="485546" cy="237744"/>
          </a:xfrm>
          <a:prstGeom prst="roundRect">
            <a:avLst>
              <a:gd name="adj" fmla="val 384615"/>
            </a:avLst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120140"/>
            <a:ext cx="3602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205179" y="1108253"/>
            <a:ext cx="4515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 결과를 시각적인 HTML 보고서로 변환하는 도구입니다.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417320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761695" y="1529791"/>
            <a:ext cx="152705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905" y="2841041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90295" y="1522476"/>
            <a:ext cx="14749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ReportGenerator 설치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72007" y="2945282"/>
            <a:ext cx="8650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리포트 생성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9905" y="1775765"/>
            <a:ext cx="10972800" cy="9144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09905" y="3199486"/>
            <a:ext cx="10972800" cy="514807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09905" y="1927555"/>
            <a:ext cx="10972800" cy="209398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09905" y="2333549"/>
            <a:ext cx="10972800" cy="209398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09905" y="3351276"/>
            <a:ext cx="10972800" cy="209398"/>
          </a:xfrm>
          <a:prstGeom prst="rect">
            <a:avLst/>
          </a:prstGeom>
          <a:solidFill>
            <a:srgbClr val="4299E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61695" y="1956816"/>
            <a:ext cx="155722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71809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anum Gothic Coding" pitchFamily="34" charset="-120"/>
              </a:rPr>
              <a:t># 글로벌 도구로 설치</a:t>
            </a:r>
            <a:endParaRPr lang="en-US" sz="11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61695" y="2361895"/>
            <a:ext cx="603667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dotnet tool install -g dotnet-reportgenerator-globaltool</a:t>
            </a:r>
            <a:endParaRPr lang="en-US" sz="1100">
              <a:latin typeface="Consolas" panose="020B0609020204030204" pitchFamily="49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776266" y="3240634"/>
            <a:ext cx="9058166" cy="41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reportgenerator -reports:**/coverage.cobertura.xml -targetdir:coveragereport -reporttypes:Html</a:t>
            </a: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2953512"/>
            <a:ext cx="133502" cy="1335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09905" y="3858768"/>
            <a:ext cx="10972800" cy="1086307"/>
          </a:xfrm>
          <a:prstGeom prst="roundRect">
            <a:avLst>
              <a:gd name="adj" fmla="val 59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349" y="4020617"/>
            <a:ext cx="152705" cy="1527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61949" y="3983126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매개변수</a:t>
            </a:r>
            <a:endParaRPr lang="en-US" sz="1200"/>
          </a:p>
        </p:txBody>
      </p:sp>
      <p:sp>
        <p:nvSpPr>
          <p:cNvPr id="35" name="Text 30"/>
          <p:cNvSpPr txBox="1"/>
          <p:nvPr/>
        </p:nvSpPr>
        <p:spPr>
          <a:xfrm>
            <a:off x="961949" y="4249217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-reports: 커버리지 결과 파일 경로 (와일드카드 지원)</a:t>
            </a:r>
            <a:endParaRPr lang="en-US" sz="1000"/>
          </a:p>
        </p:txBody>
      </p:sp>
      <p:sp>
        <p:nvSpPr>
          <p:cNvPr id="36" name="Text 31"/>
          <p:cNvSpPr txBox="1"/>
          <p:nvPr/>
        </p:nvSpPr>
        <p:spPr>
          <a:xfrm>
            <a:off x="961949" y="4440326"/>
            <a:ext cx="2472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-targetdir: 보고서를 생성할 대상 디렉토리</a:t>
            </a:r>
            <a:endParaRPr lang="en-US" sz="1000"/>
          </a:p>
        </p:txBody>
      </p:sp>
      <p:sp>
        <p:nvSpPr>
          <p:cNvPr id="37" name="Text 32"/>
          <p:cNvSpPr txBox="1"/>
          <p:nvPr/>
        </p:nvSpPr>
        <p:spPr>
          <a:xfrm>
            <a:off x="961949" y="4630522"/>
            <a:ext cx="3834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-reporttypes: 생성할 보고서 형식 (Html, Cobertura, Badges 등)</a:t>
            </a:r>
            <a:endParaRPr lang="en-US" sz="1000"/>
          </a:p>
        </p:txBody>
      </p:sp>
      <p:sp>
        <p:nvSpPr>
          <p:cNvPr id="38" name="Text 33"/>
          <p:cNvSpPr txBox="1"/>
          <p:nvPr/>
        </p:nvSpPr>
        <p:spPr>
          <a:xfrm>
            <a:off x="9304934" y="6587338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코드 커버리지</a:t>
            </a:r>
            <a:endParaRPr lang="en-US" sz="1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해석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6002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2827325"/>
            <a:ext cx="5372100" cy="1190549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57300" y="160020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미커버 라인 식별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19595" y="1600200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분기 우선 보강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933895" y="301752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기반 개선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257300" y="1950415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빨간색/노란색 강조 부분 확인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257300" y="2179015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단위 커버리지와 코드 컨텍스트 연결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6400800" y="1600200"/>
            <a:ext cx="26700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19595" y="195041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분기가 미커버된 경우 우선 보강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19595" y="217901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비즈니스 로직의 조건부 분기 집중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17520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57300" y="301752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분석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57300" y="3367735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수치보다 시간에 따른 커버리지 변화 확인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57300" y="3596335"/>
            <a:ext cx="3057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추가/수정에 따른 커버리지 영향 모니터링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6400800" y="3017520"/>
            <a:ext cx="38130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33895" y="336773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수치 채우기보다 비즈니스 가치 고려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933895" y="359633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발생 위험이 높은 영역에 테스트 집중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4244645"/>
            <a:ext cx="10972800" cy="1209751"/>
          </a:xfrm>
          <a:prstGeom prst="roundRect">
            <a:avLst>
              <a:gd name="adj" fmla="val 47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482389"/>
            <a:ext cx="1719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33856" y="4443984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해석 팁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33856" y="4795114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보고서의 드릴다운 기능을 활용하여 클래스-메서드 단위로 상세 분석하고, 커버리지가 낮은 모듈의 빈발 패턴을 식별해 공통 해결책을 마련하세요. 수치보다는 품질에 집중하여 의미 있는 테스트를 작성하는 것이 중요합니다.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11442"/>
            <a:ext cx="3602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커버리지 100%가 목표가 아닌, 핵심 영역의 안정성 확보가 중요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9304934" y="6511442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코드 커버리지</a:t>
            </a:r>
            <a:endParaRPr lang="en-US" sz="10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104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목표/KPI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32369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918765" y="1304849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6314" y="1358798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04058" y="1305763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모듈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844845" y="1304849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554" b="-1554"/>
          <a:stretch/>
        </p:blipFill>
        <p:spPr>
          <a:xfrm>
            <a:off x="5877763" y="1358798"/>
            <a:ext cx="161849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30138" y="1305763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8770925" y="1304849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644" b="-2644"/>
          <a:stretch/>
        </p:blipFill>
        <p:spPr>
          <a:xfrm>
            <a:off x="8813902" y="1358798"/>
            <a:ext cx="142646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56218" y="1305763"/>
            <a:ext cx="727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인프라/UI</a:t>
            </a:r>
            <a:endParaRPr lang="en-US" sz="1100"/>
          </a:p>
        </p:txBody>
      </p:sp>
      <p:sp>
        <p:nvSpPr>
          <p:cNvPr id="16" name="Shape 11"/>
          <p:cNvSpPr/>
          <p:nvPr/>
        </p:nvSpPr>
        <p:spPr>
          <a:xfrm>
            <a:off x="609905" y="1580998"/>
            <a:ext cx="10972800" cy="323698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09905" y="1904695"/>
            <a:ext cx="10972800" cy="3236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609905" y="2229307"/>
            <a:ext cx="10972800" cy="485546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09905" y="2713025"/>
            <a:ext cx="10972800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09905" y="3196742"/>
            <a:ext cx="10972800" cy="485546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724205" y="1628546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커버리지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2918765" y="16285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85-95% 높은 품질 요구</a:t>
            </a:r>
            <a:endParaRPr lang="en-US" sz="1200"/>
          </a:p>
        </p:txBody>
      </p:sp>
      <p:sp>
        <p:nvSpPr>
          <p:cNvPr id="23" name="Text 18"/>
          <p:cNvSpPr txBox="1"/>
          <p:nvPr/>
        </p:nvSpPr>
        <p:spPr>
          <a:xfrm>
            <a:off x="5844845" y="16285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70-80% 주요 경로 우선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8770925" y="1628546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50-70% 중요 기능 중심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724205" y="195224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커버리지</a:t>
            </a:r>
            <a:endParaRPr lang="en-US" sz="1200"/>
          </a:p>
        </p:txBody>
      </p:sp>
      <p:sp>
        <p:nvSpPr>
          <p:cNvPr id="26" name="Text 21"/>
          <p:cNvSpPr txBox="1"/>
          <p:nvPr/>
        </p:nvSpPr>
        <p:spPr>
          <a:xfrm>
            <a:off x="2918765" y="195224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90%+ 모든 분기 검증</a:t>
            </a:r>
            <a:endParaRPr lang="en-US" sz="1200"/>
          </a:p>
        </p:txBody>
      </p:sp>
      <p:sp>
        <p:nvSpPr>
          <p:cNvPr id="27" name="Text 22"/>
          <p:cNvSpPr txBox="1"/>
          <p:nvPr/>
        </p:nvSpPr>
        <p:spPr>
          <a:xfrm>
            <a:off x="5844845" y="195224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75%+ 주요 결정 경로</a:t>
            </a:r>
            <a:endParaRPr lang="en-US" sz="1200"/>
          </a:p>
        </p:txBody>
      </p:sp>
      <p:sp>
        <p:nvSpPr>
          <p:cNvPr id="28" name="Text 23"/>
          <p:cNvSpPr txBox="1"/>
          <p:nvPr/>
        </p:nvSpPr>
        <p:spPr>
          <a:xfrm>
            <a:off x="8770925" y="1952244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40-60% 핵심 경로만</a:t>
            </a:r>
            <a:endParaRPr lang="en-US" sz="1200"/>
          </a:p>
        </p:txBody>
      </p:sp>
      <p:sp>
        <p:nvSpPr>
          <p:cNvPr id="29" name="Text 24"/>
          <p:cNvSpPr txBox="1"/>
          <p:nvPr/>
        </p:nvSpPr>
        <p:spPr>
          <a:xfrm>
            <a:off x="724205" y="2356409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기반 목표</a:t>
            </a:r>
            <a:endParaRPr lang="en-US" sz="1200"/>
          </a:p>
        </p:txBody>
      </p:sp>
      <p:sp>
        <p:nvSpPr>
          <p:cNvPr id="30" name="Text 25"/>
          <p:cNvSpPr txBox="1"/>
          <p:nvPr/>
        </p:nvSpPr>
        <p:spPr>
          <a:xfrm>
            <a:off x="724205" y="2840126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관리</a:t>
            </a:r>
            <a:endParaRPr lang="en-US" sz="1200"/>
          </a:p>
        </p:txBody>
      </p:sp>
      <p:sp>
        <p:nvSpPr>
          <p:cNvPr id="31" name="Text 26"/>
          <p:cNvSpPr txBox="1"/>
          <p:nvPr/>
        </p:nvSpPr>
        <p:spPr>
          <a:xfrm>
            <a:off x="724205" y="332384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관리</a:t>
            </a:r>
            <a:endParaRPr lang="en-US" sz="1200"/>
          </a:p>
        </p:txBody>
      </p:sp>
      <p:sp>
        <p:nvSpPr>
          <p:cNvPr id="32" name="Text 27"/>
          <p:cNvSpPr txBox="1"/>
          <p:nvPr/>
        </p:nvSpPr>
        <p:spPr>
          <a:xfrm>
            <a:off x="2918765" y="227685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감소 방지</a:t>
            </a:r>
            <a:endParaRPr lang="en-US" sz="1100"/>
          </a:p>
        </p:txBody>
      </p:sp>
      <p:sp>
        <p:nvSpPr>
          <p:cNvPr id="33" name="Text 28"/>
          <p:cNvSpPr txBox="1"/>
          <p:nvPr/>
        </p:nvSpPr>
        <p:spPr>
          <a:xfrm>
            <a:off x="5844845" y="227685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개선</a:t>
            </a:r>
            <a:endParaRPr lang="en-US" sz="1100"/>
          </a:p>
        </p:txBody>
      </p:sp>
      <p:sp>
        <p:nvSpPr>
          <p:cNvPr id="34" name="Text 29"/>
          <p:cNvSpPr txBox="1"/>
          <p:nvPr/>
        </p:nvSpPr>
        <p:spPr>
          <a:xfrm>
            <a:off x="8770925" y="227685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개선</a:t>
            </a:r>
            <a:endParaRPr lang="en-US" sz="1100"/>
          </a:p>
        </p:txBody>
      </p:sp>
      <p:sp>
        <p:nvSpPr>
          <p:cNvPr id="35" name="Text 30"/>
          <p:cNvSpPr txBox="1"/>
          <p:nvPr/>
        </p:nvSpPr>
        <p:spPr>
          <a:xfrm>
            <a:off x="2918765" y="3244291"/>
            <a:ext cx="14712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고위험, 목표 미달성 시</a:t>
            </a:r>
            <a:endParaRPr lang="en-US" sz="1100"/>
          </a:p>
        </p:txBody>
      </p:sp>
      <p:sp>
        <p:nvSpPr>
          <p:cNvPr id="36" name="Text 31"/>
          <p:cNvSpPr txBox="1"/>
          <p:nvPr/>
        </p:nvSpPr>
        <p:spPr>
          <a:xfrm>
            <a:off x="5844845" y="3244291"/>
            <a:ext cx="13377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중위험, 감소 추세 시</a:t>
            </a:r>
            <a:endParaRPr lang="en-US" sz="1100"/>
          </a:p>
        </p:txBody>
      </p:sp>
      <p:sp>
        <p:nvSpPr>
          <p:cNvPr id="37" name="Text 32"/>
          <p:cNvSpPr txBox="1"/>
          <p:nvPr/>
        </p:nvSpPr>
        <p:spPr>
          <a:xfrm>
            <a:off x="8770925" y="3244291"/>
            <a:ext cx="11667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저위험, 테크 부채</a:t>
            </a:r>
            <a:endParaRPr lang="en-US" sz="1100"/>
          </a:p>
        </p:txBody>
      </p:sp>
      <p:sp>
        <p:nvSpPr>
          <p:cNvPr id="38" name="Text 33"/>
          <p:cNvSpPr txBox="1"/>
          <p:nvPr/>
        </p:nvSpPr>
        <p:spPr>
          <a:xfrm>
            <a:off x="2918765" y="247436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변경에 테스트 추가</a:t>
            </a:r>
            <a:endParaRPr lang="en-US" sz="1100"/>
          </a:p>
        </p:txBody>
      </p:sp>
      <p:sp>
        <p:nvSpPr>
          <p:cNvPr id="39" name="Text 34"/>
          <p:cNvSpPr txBox="1"/>
          <p:nvPr/>
        </p:nvSpPr>
        <p:spPr>
          <a:xfrm>
            <a:off x="5844845" y="2474366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변경사항 중심</a:t>
            </a:r>
            <a:endParaRPr lang="en-US" sz="1100"/>
          </a:p>
        </p:txBody>
      </p:sp>
      <p:sp>
        <p:nvSpPr>
          <p:cNvPr id="40" name="Text 35"/>
          <p:cNvSpPr txBox="1"/>
          <p:nvPr/>
        </p:nvSpPr>
        <p:spPr>
          <a:xfrm>
            <a:off x="8770925" y="2474366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위주</a:t>
            </a:r>
            <a:endParaRPr lang="en-US" sz="1100"/>
          </a:p>
        </p:txBody>
      </p:sp>
      <p:sp>
        <p:nvSpPr>
          <p:cNvPr id="41" name="Text 36"/>
          <p:cNvSpPr txBox="1"/>
          <p:nvPr/>
        </p:nvSpPr>
        <p:spPr>
          <a:xfrm>
            <a:off x="2918765" y="2958084"/>
            <a:ext cx="12326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게이트/PR 조건</a:t>
            </a:r>
            <a:endParaRPr lang="en-US" sz="1100"/>
          </a:p>
        </p:txBody>
      </p:sp>
      <p:sp>
        <p:nvSpPr>
          <p:cNvPr id="42" name="Text 37"/>
          <p:cNvSpPr txBox="1"/>
          <p:nvPr/>
        </p:nvSpPr>
        <p:spPr>
          <a:xfrm>
            <a:off x="5844845" y="2958084"/>
            <a:ext cx="11475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주간/월간 리포팅</a:t>
            </a:r>
            <a:endParaRPr lang="en-US" sz="1100"/>
          </a:p>
        </p:txBody>
      </p:sp>
      <p:sp>
        <p:nvSpPr>
          <p:cNvPr id="43" name="Text 38"/>
          <p:cNvSpPr txBox="1"/>
          <p:nvPr/>
        </p:nvSpPr>
        <p:spPr>
          <a:xfrm>
            <a:off x="8770925" y="295808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분기별 리뷰</a:t>
            </a:r>
            <a:endParaRPr lang="en-US" sz="1100"/>
          </a:p>
        </p:txBody>
      </p:sp>
      <p:sp>
        <p:nvSpPr>
          <p:cNvPr id="44" name="Text 39"/>
          <p:cNvSpPr txBox="1"/>
          <p:nvPr/>
        </p:nvSpPr>
        <p:spPr>
          <a:xfrm>
            <a:off x="2918765" y="2760574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수치 모니터링</a:t>
            </a:r>
            <a:endParaRPr lang="en-US" sz="1100"/>
          </a:p>
        </p:txBody>
      </p:sp>
      <p:sp>
        <p:nvSpPr>
          <p:cNvPr id="45" name="Text 40"/>
          <p:cNvSpPr txBox="1"/>
          <p:nvPr/>
        </p:nvSpPr>
        <p:spPr>
          <a:xfrm>
            <a:off x="5844845" y="2760574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변화율 모니터링</a:t>
            </a:r>
            <a:endParaRPr lang="en-US" sz="1100"/>
          </a:p>
        </p:txBody>
      </p:sp>
      <p:sp>
        <p:nvSpPr>
          <p:cNvPr id="46" name="Text 41"/>
          <p:cNvSpPr txBox="1"/>
          <p:nvPr/>
        </p:nvSpPr>
        <p:spPr>
          <a:xfrm>
            <a:off x="8770925" y="2760574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모니터링</a:t>
            </a:r>
            <a:endParaRPr lang="en-US" sz="1100"/>
          </a:p>
        </p:txBody>
      </p:sp>
      <p:sp>
        <p:nvSpPr>
          <p:cNvPr id="47" name="Text 42"/>
          <p:cNvSpPr txBox="1"/>
          <p:nvPr/>
        </p:nvSpPr>
        <p:spPr>
          <a:xfrm>
            <a:off x="2918765" y="3441802"/>
            <a:ext cx="10140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실패/경고</a:t>
            </a:r>
            <a:endParaRPr lang="en-US" sz="1100"/>
          </a:p>
        </p:txBody>
      </p:sp>
      <p:sp>
        <p:nvSpPr>
          <p:cNvPr id="48" name="Text 43"/>
          <p:cNvSpPr txBox="1"/>
          <p:nvPr/>
        </p:nvSpPr>
        <p:spPr>
          <a:xfrm>
            <a:off x="5844845" y="3441802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강화</a:t>
            </a:r>
            <a:endParaRPr lang="en-US" sz="1100"/>
          </a:p>
        </p:txBody>
      </p:sp>
      <p:sp>
        <p:nvSpPr>
          <p:cNvPr id="49" name="Text 44"/>
          <p:cNvSpPr txBox="1"/>
          <p:nvPr/>
        </p:nvSpPr>
        <p:spPr>
          <a:xfrm>
            <a:off x="8770925" y="3441802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계획 수립</a:t>
            </a:r>
            <a:endParaRPr lang="en-US" sz="1100"/>
          </a:p>
        </p:txBody>
      </p:sp>
      <p:sp>
        <p:nvSpPr>
          <p:cNvPr id="50" name="Shape 45"/>
          <p:cNvSpPr/>
          <p:nvPr/>
        </p:nvSpPr>
        <p:spPr>
          <a:xfrm>
            <a:off x="609905" y="3794760"/>
            <a:ext cx="10972800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694944" y="3918204"/>
            <a:ext cx="114300" cy="152705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86054" y="3880714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품질 관리 원칙</a:t>
            </a:r>
            <a:endParaRPr lang="en-US" sz="1000"/>
          </a:p>
        </p:txBody>
      </p:sp>
      <p:sp>
        <p:nvSpPr>
          <p:cNvPr id="53" name="Text 47"/>
          <p:cNvSpPr txBox="1"/>
          <p:nvPr/>
        </p:nvSpPr>
        <p:spPr>
          <a:xfrm>
            <a:off x="886054" y="4061765"/>
            <a:ext cx="106491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수치가 아닌 품질 지표로 활용하세요. 모듈 중요도와 위험도에 따라 차등화된 목표를 설정하고, 개선 추세를 관리하는 것이 효과적입니다. 커버리지 감소 영역을 집중 모니터링하고 지속적 개선을 위한 피드백 루프를 구축하세요.</a:t>
            </a:r>
            <a:endParaRPr lang="en-US" sz="900"/>
          </a:p>
        </p:txBody>
      </p:sp>
      <p:sp>
        <p:nvSpPr>
          <p:cNvPr id="54" name="Text 48"/>
          <p:cNvSpPr txBox="1"/>
          <p:nvPr/>
        </p:nvSpPr>
        <p:spPr>
          <a:xfrm>
            <a:off x="9304934" y="6548933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코드 커버리지</a:t>
            </a:r>
            <a:endParaRPr lang="en-US" sz="10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14554"/>
            <a:ext cx="27057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품질 게이트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43000"/>
            <a:ext cx="3062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CI에서 커버리지 체크를 통한 코드 품질 관리 프로세스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447495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43400" y="1447495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2586838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" y="15773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785470" y="1672438"/>
            <a:ext cx="105156" cy="114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76895" y="1447495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343400" y="2586838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19295" y="15773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85800" y="27166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19295" y="27166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67105" y="1524305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00"/>
          </a:p>
        </p:txBody>
      </p:sp>
      <p:sp>
        <p:nvSpPr>
          <p:cNvPr id="18" name="Text 15"/>
          <p:cNvSpPr txBox="1"/>
          <p:nvPr/>
        </p:nvSpPr>
        <p:spPr>
          <a:xfrm>
            <a:off x="4800600" y="1524305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/>
          </a:p>
        </p:txBody>
      </p:sp>
      <p:sp>
        <p:nvSpPr>
          <p:cNvPr id="19" name="Text 16"/>
          <p:cNvSpPr txBox="1"/>
          <p:nvPr/>
        </p:nvSpPr>
        <p:spPr>
          <a:xfrm>
            <a:off x="1067105" y="266364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000"/>
          </a:p>
        </p:txBody>
      </p:sp>
      <p:sp>
        <p:nvSpPr>
          <p:cNvPr id="20" name="Text 17"/>
          <p:cNvSpPr txBox="1"/>
          <p:nvPr/>
        </p:nvSpPr>
        <p:spPr>
          <a:xfrm>
            <a:off x="4800600" y="266364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000"/>
          </a:p>
        </p:txBody>
      </p:sp>
      <p:sp>
        <p:nvSpPr>
          <p:cNvPr id="21" name="Text 18"/>
          <p:cNvSpPr txBox="1"/>
          <p:nvPr/>
        </p:nvSpPr>
        <p:spPr>
          <a:xfrm>
            <a:off x="1067105" y="1730045"/>
            <a:ext cx="579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생성</a:t>
            </a:r>
            <a:endParaRPr lang="en-US" sz="1000"/>
          </a:p>
        </p:txBody>
      </p:sp>
      <p:sp>
        <p:nvSpPr>
          <p:cNvPr id="22" name="Text 19"/>
          <p:cNvSpPr txBox="1"/>
          <p:nvPr/>
        </p:nvSpPr>
        <p:spPr>
          <a:xfrm>
            <a:off x="4800600" y="1730045"/>
            <a:ext cx="655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트리거</a:t>
            </a:r>
            <a:endParaRPr lang="en-US" sz="1000"/>
          </a:p>
        </p:txBody>
      </p:sp>
      <p:sp>
        <p:nvSpPr>
          <p:cNvPr id="23" name="Text 20"/>
          <p:cNvSpPr txBox="1"/>
          <p:nvPr/>
        </p:nvSpPr>
        <p:spPr>
          <a:xfrm>
            <a:off x="685800" y="1954987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개발자가 PR 생성 및 푸시</a:t>
            </a:r>
            <a:endParaRPr lang="en-US" sz="90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5307" y="1672438"/>
            <a:ext cx="114300" cy="1143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8153705" y="15773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8534095" y="266364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000"/>
          </a:p>
        </p:txBody>
      </p:sp>
      <p:sp>
        <p:nvSpPr>
          <p:cNvPr id="27" name="Text 23"/>
          <p:cNvSpPr txBox="1"/>
          <p:nvPr/>
        </p:nvSpPr>
        <p:spPr>
          <a:xfrm>
            <a:off x="8534095" y="1730045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</a:t>
            </a:r>
            <a:endParaRPr lang="en-US" sz="1000"/>
          </a:p>
        </p:txBody>
      </p:sp>
      <p:sp>
        <p:nvSpPr>
          <p:cNvPr id="28" name="Text 24"/>
          <p:cNvSpPr txBox="1"/>
          <p:nvPr/>
        </p:nvSpPr>
        <p:spPr>
          <a:xfrm>
            <a:off x="8534095" y="2869387"/>
            <a:ext cx="6464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판단</a:t>
            </a:r>
            <a:endParaRPr lang="en-US" sz="1000"/>
          </a:p>
        </p:txBody>
      </p:sp>
      <p:sp>
        <p:nvSpPr>
          <p:cNvPr id="29" name="Text 25"/>
          <p:cNvSpPr txBox="1"/>
          <p:nvPr/>
        </p:nvSpPr>
        <p:spPr>
          <a:xfrm>
            <a:off x="4419295" y="1954987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빌드 및 테스트 실행</a:t>
            </a:r>
            <a:endParaRPr lang="en-US" sz="90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48802" y="1672438"/>
            <a:ext cx="114300" cy="1143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534095" y="1524305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00"/>
          </a:p>
        </p:txBody>
      </p:sp>
      <p:sp>
        <p:nvSpPr>
          <p:cNvPr id="32" name="Text 27"/>
          <p:cNvSpPr txBox="1"/>
          <p:nvPr/>
        </p:nvSpPr>
        <p:spPr>
          <a:xfrm>
            <a:off x="8153705" y="1954987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및 커버리지 측정</a:t>
            </a:r>
            <a:endParaRPr lang="en-US" sz="90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2339950"/>
            <a:ext cx="105156" cy="171907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795528" y="2811780"/>
            <a:ext cx="85954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67105" y="2869387"/>
            <a:ext cx="9034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계산</a:t>
            </a:r>
            <a:endParaRPr lang="en-US" sz="1000"/>
          </a:p>
        </p:txBody>
      </p:sp>
      <p:sp>
        <p:nvSpPr>
          <p:cNvPr id="36" name="Text 29"/>
          <p:cNvSpPr txBox="1"/>
          <p:nvPr/>
        </p:nvSpPr>
        <p:spPr>
          <a:xfrm>
            <a:off x="685800" y="309433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생성 및 분석</a:t>
            </a:r>
            <a:endParaRPr lang="en-US" sz="90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4500677" y="2811780"/>
            <a:ext cx="142646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76895" y="2586838"/>
            <a:ext cx="3504895" cy="743407"/>
          </a:xfrm>
          <a:prstGeom prst="roundRect">
            <a:avLst>
              <a:gd name="adj" fmla="val 1261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1"/>
          <p:cNvSpPr/>
          <p:nvPr/>
        </p:nvSpPr>
        <p:spPr>
          <a:xfrm>
            <a:off x="8153705" y="27166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4800600" y="2869387"/>
            <a:ext cx="10268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비교</a:t>
            </a:r>
            <a:endParaRPr lang="en-US" sz="1000"/>
          </a:p>
        </p:txBody>
      </p:sp>
      <p:sp>
        <p:nvSpPr>
          <p:cNvPr id="41" name="Text 33"/>
          <p:cNvSpPr txBox="1"/>
          <p:nvPr/>
        </p:nvSpPr>
        <p:spPr>
          <a:xfrm>
            <a:off x="4419295" y="3094330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대비 커버리지 변화 확인</a:t>
            </a:r>
            <a:endParaRPr lang="en-US" sz="90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48802" y="2811780"/>
            <a:ext cx="114300" cy="1143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153705" y="3094330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 기준 품질 평가</a:t>
            </a:r>
            <a:endParaRPr lang="en-US" sz="90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rcRect t="-1087" b="-1087"/>
          <a:stretch/>
        </p:blipFill>
        <p:spPr>
          <a:xfrm>
            <a:off x="6043270" y="3479292"/>
            <a:ext cx="105156" cy="171907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609905" y="3727094"/>
            <a:ext cx="5410505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6"/>
          <p:cNvSpPr/>
          <p:nvPr/>
        </p:nvSpPr>
        <p:spPr>
          <a:xfrm>
            <a:off x="6172200" y="3727094"/>
            <a:ext cx="5410505" cy="666598"/>
          </a:xfrm>
          <a:prstGeom prst="roundRect">
            <a:avLst>
              <a:gd name="adj" fmla="val 156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7"/>
          <p:cNvSpPr/>
          <p:nvPr/>
        </p:nvSpPr>
        <p:spPr>
          <a:xfrm>
            <a:off x="685800" y="380299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76326" y="3878885"/>
            <a:ext cx="85954" cy="1143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028700" y="3833165"/>
            <a:ext cx="9034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감소</a:t>
            </a:r>
            <a:endParaRPr lang="en-US" sz="1000"/>
          </a:p>
        </p:txBody>
      </p:sp>
      <p:sp>
        <p:nvSpPr>
          <p:cNvPr id="50" name="Text 39"/>
          <p:cNvSpPr txBox="1"/>
          <p:nvPr/>
        </p:nvSpPr>
        <p:spPr>
          <a:xfrm>
            <a:off x="6590995" y="3833165"/>
            <a:ext cx="12079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유지/향상</a:t>
            </a:r>
            <a:endParaRPr lang="en-US" sz="1000"/>
          </a:p>
        </p:txBody>
      </p:sp>
      <p:sp>
        <p:nvSpPr>
          <p:cNvPr id="51" name="Text 40"/>
          <p:cNvSpPr txBox="1"/>
          <p:nvPr/>
        </p:nvSpPr>
        <p:spPr>
          <a:xfrm>
            <a:off x="685800" y="412303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미달</a:t>
            </a:r>
            <a:endParaRPr lang="en-US" sz="900"/>
          </a:p>
        </p:txBody>
      </p:sp>
      <p:sp>
        <p:nvSpPr>
          <p:cNvPr id="52" name="Text 41"/>
          <p:cNvSpPr txBox="1"/>
          <p:nvPr/>
        </p:nvSpPr>
        <p:spPr>
          <a:xfrm>
            <a:off x="6248095" y="412303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충족</a:t>
            </a:r>
            <a:endParaRPr lang="en-US" sz="900"/>
          </a:p>
        </p:txBody>
      </p:sp>
      <p:sp>
        <p:nvSpPr>
          <p:cNvPr id="53" name="Shape 42"/>
          <p:cNvSpPr/>
          <p:nvPr/>
        </p:nvSpPr>
        <p:spPr>
          <a:xfrm>
            <a:off x="5595214" y="4107485"/>
            <a:ext cx="352044" cy="209398"/>
          </a:xfrm>
          <a:prstGeom prst="roundRect">
            <a:avLst>
              <a:gd name="adj" fmla="val 436680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3"/>
          <p:cNvSpPr txBox="1"/>
          <p:nvPr/>
        </p:nvSpPr>
        <p:spPr>
          <a:xfrm>
            <a:off x="5671109" y="4130345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800"/>
          </a:p>
        </p:txBody>
      </p:sp>
      <p:sp>
        <p:nvSpPr>
          <p:cNvPr id="55" name="Shape 44"/>
          <p:cNvSpPr/>
          <p:nvPr/>
        </p:nvSpPr>
        <p:spPr>
          <a:xfrm>
            <a:off x="6248095" y="380299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6338621" y="3878885"/>
            <a:ext cx="85954" cy="114300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11157509" y="4107485"/>
            <a:ext cx="352044" cy="209398"/>
          </a:xfrm>
          <a:prstGeom prst="roundRect">
            <a:avLst>
              <a:gd name="adj" fmla="val 436680"/>
            </a:avLst>
          </a:prstGeom>
          <a:solidFill>
            <a:srgbClr val="48BB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6"/>
          <p:cNvSpPr txBox="1"/>
          <p:nvPr/>
        </p:nvSpPr>
        <p:spPr>
          <a:xfrm>
            <a:off x="11233404" y="4130345"/>
            <a:ext cx="2807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</a:t>
            </a:r>
            <a:endParaRPr lang="en-US" sz="800"/>
          </a:p>
        </p:txBody>
      </p:sp>
      <p:sp>
        <p:nvSpPr>
          <p:cNvPr id="59" name="Shape 47"/>
          <p:cNvSpPr/>
          <p:nvPr/>
        </p:nvSpPr>
        <p:spPr>
          <a:xfrm>
            <a:off x="609905" y="454182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8"/>
          <p:cNvSpPr/>
          <p:nvPr/>
        </p:nvSpPr>
        <p:spPr>
          <a:xfrm>
            <a:off x="4317797" y="454182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9"/>
          <p:cNvSpPr/>
          <p:nvPr/>
        </p:nvSpPr>
        <p:spPr>
          <a:xfrm>
            <a:off x="8026603" y="4541825"/>
            <a:ext cx="3562502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0"/>
          <p:cNvSpPr/>
          <p:nvPr/>
        </p:nvSpPr>
        <p:spPr>
          <a:xfrm>
            <a:off x="685800" y="461772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695" y="4694530"/>
            <a:ext cx="114300" cy="1143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1028700" y="4647895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실패</a:t>
            </a:r>
            <a:endParaRPr lang="en-US" sz="1000"/>
          </a:p>
        </p:txBody>
      </p:sp>
      <p:sp>
        <p:nvSpPr>
          <p:cNvPr id="65" name="Text 52"/>
          <p:cNvSpPr txBox="1"/>
          <p:nvPr/>
        </p:nvSpPr>
        <p:spPr>
          <a:xfrm>
            <a:off x="4737506" y="4647895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통과</a:t>
            </a:r>
            <a:endParaRPr lang="en-US" sz="1000"/>
          </a:p>
        </p:txBody>
      </p:sp>
      <p:sp>
        <p:nvSpPr>
          <p:cNvPr id="66" name="Text 53"/>
          <p:cNvSpPr txBox="1"/>
          <p:nvPr/>
        </p:nvSpPr>
        <p:spPr>
          <a:xfrm>
            <a:off x="8445398" y="4647895"/>
            <a:ext cx="6464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조치</a:t>
            </a:r>
            <a:endParaRPr lang="en-US" sz="1000"/>
          </a:p>
        </p:txBody>
      </p:sp>
      <p:sp>
        <p:nvSpPr>
          <p:cNvPr id="67" name="Text 54"/>
          <p:cNvSpPr txBox="1"/>
          <p:nvPr/>
        </p:nvSpPr>
        <p:spPr>
          <a:xfrm>
            <a:off x="685800" y="4903927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PR에 실패 상태 표시</a:t>
            </a:r>
            <a:endParaRPr lang="en-US" sz="900"/>
          </a:p>
        </p:txBody>
      </p:sp>
      <p:sp>
        <p:nvSpPr>
          <p:cNvPr id="68" name="Text 55"/>
          <p:cNvSpPr txBox="1"/>
          <p:nvPr/>
        </p:nvSpPr>
        <p:spPr>
          <a:xfrm>
            <a:off x="685800" y="5041087"/>
            <a:ext cx="1200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문제 영역 자동 코멘트</a:t>
            </a:r>
            <a:endParaRPr lang="en-US" sz="900"/>
          </a:p>
        </p:txBody>
      </p:sp>
      <p:sp>
        <p:nvSpPr>
          <p:cNvPr id="69" name="Text 56"/>
          <p:cNvSpPr txBox="1"/>
          <p:nvPr/>
        </p:nvSpPr>
        <p:spPr>
          <a:xfrm>
            <a:off x="685800" y="5178247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리뷰어 알림</a:t>
            </a:r>
            <a:endParaRPr lang="en-US" sz="900"/>
          </a:p>
        </p:txBody>
      </p:sp>
      <p:sp>
        <p:nvSpPr>
          <p:cNvPr id="70" name="Text 57"/>
          <p:cNvSpPr txBox="1"/>
          <p:nvPr/>
        </p:nvSpPr>
        <p:spPr>
          <a:xfrm>
            <a:off x="4394606" y="5041087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커버리지 리포트 링크</a:t>
            </a:r>
            <a:endParaRPr lang="en-US" sz="900"/>
          </a:p>
        </p:txBody>
      </p:sp>
      <p:sp>
        <p:nvSpPr>
          <p:cNvPr id="71" name="Text 58"/>
          <p:cNvSpPr txBox="1"/>
          <p:nvPr/>
        </p:nvSpPr>
        <p:spPr>
          <a:xfrm>
            <a:off x="4394606" y="5178247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리뷰 프로세스 진행</a:t>
            </a:r>
            <a:endParaRPr lang="en-US" sz="900"/>
          </a:p>
        </p:txBody>
      </p:sp>
      <p:sp>
        <p:nvSpPr>
          <p:cNvPr id="72" name="Shape 59"/>
          <p:cNvSpPr/>
          <p:nvPr/>
        </p:nvSpPr>
        <p:spPr>
          <a:xfrm>
            <a:off x="4394606" y="461772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470502" y="4694530"/>
            <a:ext cx="114300" cy="114300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4394606" y="4903927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PR에 성공 상태 표시</a:t>
            </a:r>
            <a:endParaRPr lang="en-US" sz="900"/>
          </a:p>
        </p:txBody>
      </p:sp>
      <p:sp>
        <p:nvSpPr>
          <p:cNvPr id="75" name="Text 61"/>
          <p:cNvSpPr txBox="1"/>
          <p:nvPr/>
        </p:nvSpPr>
        <p:spPr>
          <a:xfrm>
            <a:off x="8102498" y="5178247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 승인 (예외)</a:t>
            </a:r>
            <a:endParaRPr lang="en-US" sz="900"/>
          </a:p>
        </p:txBody>
      </p:sp>
      <p:sp>
        <p:nvSpPr>
          <p:cNvPr id="76" name="Shape 62"/>
          <p:cNvSpPr/>
          <p:nvPr/>
        </p:nvSpPr>
        <p:spPr>
          <a:xfrm>
            <a:off x="8102498" y="461772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78394" y="4694530"/>
            <a:ext cx="114300" cy="114300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8102498" y="4903927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테스트 추가</a:t>
            </a:r>
            <a:endParaRPr lang="en-US" sz="900"/>
          </a:p>
        </p:txBody>
      </p:sp>
      <p:sp>
        <p:nvSpPr>
          <p:cNvPr id="79" name="Text 64"/>
          <p:cNvSpPr txBox="1"/>
          <p:nvPr/>
        </p:nvSpPr>
        <p:spPr>
          <a:xfrm>
            <a:off x="8102498" y="5041087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코드 품질 개선</a:t>
            </a:r>
            <a:endParaRPr lang="en-US" sz="900"/>
          </a:p>
        </p:txBody>
      </p:sp>
      <p:sp>
        <p:nvSpPr>
          <p:cNvPr id="80" name="Shape 65"/>
          <p:cNvSpPr/>
          <p:nvPr/>
        </p:nvSpPr>
        <p:spPr>
          <a:xfrm>
            <a:off x="609905" y="5524805"/>
            <a:ext cx="10972800" cy="323698"/>
          </a:xfrm>
          <a:prstGeom prst="roundRect">
            <a:avLst>
              <a:gd name="adj" fmla="val 664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1" name="Image 13" descr="preencoded.png"/>
          <p:cNvPicPr>
            <a:picLocks noChangeAspect="1"/>
          </p:cNvPicPr>
          <p:nvPr/>
        </p:nvPicPr>
        <p:blipFill>
          <a:blip r:embed="rId15"/>
          <a:srcRect l="-2512" r="-2512"/>
          <a:stretch/>
        </p:blipFill>
        <p:spPr>
          <a:xfrm>
            <a:off x="694944" y="5619902"/>
            <a:ext cx="105156" cy="133502"/>
          </a:xfrm>
          <a:prstGeom prst="rect">
            <a:avLst/>
          </a:prstGeom>
        </p:spPr>
      </p:pic>
      <p:sp>
        <p:nvSpPr>
          <p:cNvPr id="82" name="Text 66"/>
          <p:cNvSpPr txBox="1"/>
          <p:nvPr/>
        </p:nvSpPr>
        <p:spPr>
          <a:xfrm>
            <a:off x="875995" y="5600700"/>
            <a:ext cx="5705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중요도별 차등 커버리지 임계값 설정 및 감소량(-1% 이상)을 기준으로 품질 게이트를 설정하는 것이 효과적입니다.</a:t>
            </a:r>
            <a:endParaRPr lang="en-US" sz="900"/>
          </a:p>
        </p:txBody>
      </p:sp>
      <p:sp>
        <p:nvSpPr>
          <p:cNvPr id="83" name="Text 67"/>
          <p:cNvSpPr txBox="1"/>
          <p:nvPr/>
        </p:nvSpPr>
        <p:spPr>
          <a:xfrm>
            <a:off x="9499702" y="6610198"/>
            <a:ext cx="2171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PR 품질 게이트</a:t>
            </a:r>
            <a:endParaRPr lang="en-US" sz="900"/>
          </a:p>
        </p:txBody>
      </p:sp>
      <p:sp>
        <p:nvSpPr>
          <p:cNvPr id="84" name="Shape 68"/>
          <p:cNvSpPr/>
          <p:nvPr/>
        </p:nvSpPr>
        <p:spPr>
          <a:xfrm>
            <a:off x="4114800" y="1770278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69"/>
          <p:cNvSpPr/>
          <p:nvPr/>
        </p:nvSpPr>
        <p:spPr>
          <a:xfrm>
            <a:off x="7848295" y="1770278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70"/>
          <p:cNvSpPr/>
          <p:nvPr/>
        </p:nvSpPr>
        <p:spPr>
          <a:xfrm>
            <a:off x="4114800" y="2909621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71"/>
          <p:cNvSpPr/>
          <p:nvPr/>
        </p:nvSpPr>
        <p:spPr>
          <a:xfrm>
            <a:off x="7848295" y="2909621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요약/실습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 분석과 개선을 위한 핵심 원칙과 실습 가이드입니다.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638605"/>
            <a:ext cx="38405" cy="8860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800100" y="1813255"/>
            <a:ext cx="256946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638605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72200" y="1638605"/>
            <a:ext cx="38405" cy="8860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2674620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2674620"/>
            <a:ext cx="38405" cy="8860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72200" y="2674620"/>
            <a:ext cx="5410505" cy="886054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72200" y="2674620"/>
            <a:ext cx="38405" cy="8860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71346" y="1790395"/>
            <a:ext cx="18425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측정-분석-개선 사이클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6705295" y="1790395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모듈 우선 전략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800100" y="214152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수치보다 중요 기능의 테스트 품질을 분석하고 점진적 개선에 집중하세요.</a:t>
            </a:r>
            <a:endParaRPr lang="en-US" sz="12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2395" y="1813255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62395" y="2141525"/>
            <a:ext cx="5181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로직은 80% 이상, UI/인프라는 낮은 목표로 차등화 전략을 적용하세요.</a:t>
            </a:r>
            <a:endParaRPr lang="en-US" sz="12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00100" y="2850185"/>
            <a:ext cx="200254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14654" y="2827325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활용 기법</a:t>
            </a:r>
            <a:endParaRPr lang="en-US" sz="1400"/>
          </a:p>
        </p:txBody>
      </p:sp>
      <p:sp>
        <p:nvSpPr>
          <p:cNvPr id="23" name="Text 18"/>
          <p:cNvSpPr txBox="1"/>
          <p:nvPr/>
        </p:nvSpPr>
        <p:spPr>
          <a:xfrm>
            <a:off x="6705295" y="2827325"/>
            <a:ext cx="14136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통합 방법</a:t>
            </a:r>
            <a:endParaRPr lang="en-US" sz="1400"/>
          </a:p>
        </p:txBody>
      </p:sp>
      <p:sp>
        <p:nvSpPr>
          <p:cNvPr id="24" name="Text 19"/>
          <p:cNvSpPr txBox="1"/>
          <p:nvPr/>
        </p:nvSpPr>
        <p:spPr>
          <a:xfrm>
            <a:off x="800100" y="3177540"/>
            <a:ext cx="484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커버리지가 낮거나 복잡도 높은 미테스트 코드를 식별하고 개선하세요.</a:t>
            </a:r>
            <a:endParaRPr lang="en-US" sz="12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62395" y="285018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62395" y="317754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리포트 생성 및 커버리지 하락 시 빌드 실패 전략을 도입하세요.</a:t>
            </a:r>
            <a:endParaRPr lang="en-US" sz="1200"/>
          </a:p>
        </p:txBody>
      </p:sp>
      <p:sp>
        <p:nvSpPr>
          <p:cNvPr id="27" name="Shape 21"/>
          <p:cNvSpPr/>
          <p:nvPr/>
        </p:nvSpPr>
        <p:spPr>
          <a:xfrm>
            <a:off x="609905" y="3787445"/>
            <a:ext cx="10972800" cy="1505102"/>
          </a:xfrm>
          <a:prstGeom prst="roundRect">
            <a:avLst>
              <a:gd name="adj" fmla="val 307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71754" y="3986784"/>
            <a:ext cx="171907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57046" y="394929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가이드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57046" y="4215384"/>
            <a:ext cx="3838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저커버리지 모듈 선택 및 ReportGenerator 리포트 생성</a:t>
            </a:r>
            <a:endParaRPr lang="en-US" sz="1200"/>
          </a:p>
        </p:txBody>
      </p:sp>
      <p:sp>
        <p:nvSpPr>
          <p:cNvPr id="31" name="Text 24"/>
          <p:cNvSpPr txBox="1"/>
          <p:nvPr/>
        </p:nvSpPr>
        <p:spPr>
          <a:xfrm>
            <a:off x="1057046" y="4443984"/>
            <a:ext cx="2791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미커버 라인 분석 및 테스트 케이스 추가</a:t>
            </a:r>
            <a:endParaRPr lang="en-US" sz="1200"/>
          </a:p>
        </p:txBody>
      </p:sp>
      <p:sp>
        <p:nvSpPr>
          <p:cNvPr id="32" name="Text 25"/>
          <p:cNvSpPr txBox="1"/>
          <p:nvPr/>
        </p:nvSpPr>
        <p:spPr>
          <a:xfrm>
            <a:off x="1057046" y="4672584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GitHub Actions에 coverlet.collector 통합</a:t>
            </a:r>
            <a:endParaRPr lang="en-US" sz="1200"/>
          </a:p>
        </p:txBody>
      </p:sp>
      <p:sp>
        <p:nvSpPr>
          <p:cNvPr id="33" name="Text 26"/>
          <p:cNvSpPr txBox="1"/>
          <p:nvPr/>
        </p:nvSpPr>
        <p:spPr>
          <a:xfrm>
            <a:off x="1057046" y="4901184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PR에 커버리지 변화 표시 스크립트 추가</a:t>
            </a:r>
            <a:endParaRPr lang="en-US" sz="1200"/>
          </a:p>
        </p:txBody>
      </p:sp>
      <p:sp>
        <p:nvSpPr>
          <p:cNvPr id="35" name="Text 28"/>
          <p:cNvSpPr txBox="1"/>
          <p:nvPr/>
        </p:nvSpPr>
        <p:spPr>
          <a:xfrm>
            <a:off x="8876995" y="6548933"/>
            <a:ext cx="2811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7: 코드 커버리지</a:t>
            </a:r>
            <a:endParaRPr lang="en-US" sz="1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8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711550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01745" y="2095805"/>
            <a:ext cx="381305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01845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8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711550" y="2800807"/>
            <a:ext cx="49917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자동화/CI-CD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711550" y="3958438"/>
            <a:ext cx="4944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파이프라인 구축, 테스트 자동화,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711550" y="4301338"/>
            <a:ext cx="4877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Jenkins 연동, 빌드-테스트-배포 통합 워크플로우</a:t>
            </a:r>
            <a:endParaRPr lang="en-US"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086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개요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3048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11247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54669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CI/CD(지속적 통합/지속적 배포)는 코드 변경을 더 자주, 안정적으로 제공하는 자동화된 소프트웨어 릴리스 프로세스입니다. CI는 코드 변경을 자동으로 빌드/테스트하며, CD는 검증된 코드를 배포하여 개발-배포 사이클을 가속화합니다.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713025"/>
            <a:ext cx="3562502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761695" y="2864815"/>
            <a:ext cx="237744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13025"/>
            <a:ext cx="3562502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14654" y="2877617"/>
            <a:ext cx="12307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통합(CI)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61695" y="3207715"/>
            <a:ext cx="327538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변경사항을 공유 저장소에 자주 통합하고, 자동화된 빌드와 테스트로 버그를 조기 발견하여 품질을 보장합니다.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0502" y="286481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13025"/>
            <a:ext cx="3562502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60950" y="2877617"/>
            <a:ext cx="12975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배포(CD)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70502" y="3207715"/>
            <a:ext cx="325617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통과 코드를 자동으로 스테이징/프로덕션 환경에 배포하여 릴리스 프로세스를 간소화하고 출시 시간을 단축합니다.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333" b="-333"/>
          <a:stretch/>
        </p:blipFill>
        <p:spPr>
          <a:xfrm>
            <a:off x="8178394" y="2864815"/>
            <a:ext cx="342900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35594" y="2877617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이점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78394" y="3207715"/>
            <a:ext cx="330372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작업 감소, 휴먼 에러 방지, 피드백 주기 단축으로 개발 생산성과 소프트웨어 품질을 향상시킵니다.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4098341"/>
            <a:ext cx="10972800" cy="1333195"/>
          </a:xfrm>
          <a:prstGeom prst="roundRect">
            <a:avLst>
              <a:gd name="adj" fmla="val 391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298594"/>
            <a:ext cx="237744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23798" y="426019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예시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123798" y="4565599"/>
            <a:ext cx="3362249" cy="70500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248156" y="4689043"/>
            <a:ext cx="685800" cy="45720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1478585" y="4757623"/>
            <a:ext cx="219456" cy="17190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62456" y="494599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</a:t>
            </a:r>
            <a:endParaRPr lang="en-US" sz="90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1929384" y="4850892"/>
            <a:ext cx="114300" cy="13350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2043684" y="4689043"/>
            <a:ext cx="448056" cy="457200"/>
          </a:xfrm>
          <a:prstGeom prst="roundRect">
            <a:avLst>
              <a:gd name="adj" fmla="val 1736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841" b="-841"/>
          <a:stretch/>
        </p:blipFill>
        <p:spPr>
          <a:xfrm>
            <a:off x="2168042" y="4757623"/>
            <a:ext cx="190195" cy="17190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157984" y="494599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</a:t>
            </a:r>
            <a:endParaRPr lang="en-US" sz="9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2482596" y="4850892"/>
            <a:ext cx="114300" cy="13350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596896" y="4689043"/>
            <a:ext cx="552298" cy="45720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83434" y="4757623"/>
            <a:ext cx="171907" cy="17190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2711196" y="494599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90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3140964" y="4850892"/>
            <a:ext cx="114300" cy="133502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3255264" y="4689043"/>
            <a:ext cx="552298" cy="45720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441802" y="4757623"/>
            <a:ext cx="171907" cy="171907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3913632" y="4689043"/>
            <a:ext cx="448056" cy="457200"/>
          </a:xfrm>
          <a:prstGeom prst="roundRect">
            <a:avLst>
              <a:gd name="adj" fmla="val 17369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8"/>
          <p:cNvSpPr txBox="1"/>
          <p:nvPr/>
        </p:nvSpPr>
        <p:spPr>
          <a:xfrm>
            <a:off x="3369564" y="4945990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3799332" y="4850892"/>
            <a:ext cx="114300" cy="133502"/>
          </a:xfrm>
          <a:prstGeom prst="rect">
            <a:avLst/>
          </a:prstGeom>
        </p:spPr>
      </p:pic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2"/>
          <a:srcRect l="-1064" r="-1064"/>
          <a:stretch/>
        </p:blipFill>
        <p:spPr>
          <a:xfrm>
            <a:off x="4027932" y="4757623"/>
            <a:ext cx="219456" cy="171907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032504" y="494599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</a:t>
            </a:r>
            <a:endParaRPr lang="en-US" sz="900"/>
          </a:p>
        </p:txBody>
      </p:sp>
      <p:sp>
        <p:nvSpPr>
          <p:cNvPr id="45" name="Text 30"/>
          <p:cNvSpPr txBox="1"/>
          <p:nvPr/>
        </p:nvSpPr>
        <p:spPr>
          <a:xfrm>
            <a:off x="8770010" y="6548933"/>
            <a:ext cx="29169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테스트 자동화 및 CI/CD</a:t>
            </a:r>
            <a:endParaRPr lang="en-US" sz="1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7911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기본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95705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761695" y="1447495"/>
            <a:ext cx="26700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1402" y="1295705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560320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91402" y="2560320"/>
            <a:ext cx="5391302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81405" y="1447495"/>
            <a:ext cx="20235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 (Workflow)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01307" y="1447495"/>
            <a:ext cx="5093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jobs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6801307" y="2713025"/>
            <a:ext cx="13185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러너 (Runner)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1181405" y="1760220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YAML 형식의 자동화 프로세스</a:t>
            </a:r>
            <a:endParaRPr lang="en-US" sz="1200"/>
          </a:p>
        </p:txBody>
      </p:sp>
      <p:sp>
        <p:nvSpPr>
          <p:cNvPr id="15" name="Text 12"/>
          <p:cNvSpPr txBox="1"/>
          <p:nvPr/>
        </p:nvSpPr>
        <p:spPr>
          <a:xfrm>
            <a:off x="1181405" y="1988820"/>
            <a:ext cx="2705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on: 이벤트 트리거(push, pull_request)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4107" y="1447495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01307" y="1760220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워크플로우의 실행 단위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6801307" y="1988820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환경에서 병렬/순차 실행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713025"/>
            <a:ext cx="304495" cy="3044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18895" y="2713025"/>
            <a:ext cx="6044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steps</a:t>
            </a:r>
            <a:endParaRPr lang="en-US" sz="1400"/>
          </a:p>
        </p:txBody>
      </p:sp>
      <p:sp>
        <p:nvSpPr>
          <p:cNvPr id="21" name="Text 16"/>
          <p:cNvSpPr txBox="1"/>
          <p:nvPr/>
        </p:nvSpPr>
        <p:spPr>
          <a:xfrm>
            <a:off x="1218895" y="3024835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uses: 미리 정의된 액션 사용</a:t>
            </a:r>
            <a:endParaRPr lang="en-US" sz="1200"/>
          </a:p>
        </p:txBody>
      </p:sp>
      <p:sp>
        <p:nvSpPr>
          <p:cNvPr id="22" name="Text 17"/>
          <p:cNvSpPr txBox="1"/>
          <p:nvPr/>
        </p:nvSpPr>
        <p:spPr>
          <a:xfrm>
            <a:off x="1218895" y="32534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run: 쉘 명령어 실행(dotnet test)</a:t>
            </a:r>
            <a:endParaRPr lang="en-US" sz="12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4107" y="2713025"/>
            <a:ext cx="304495" cy="3044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01307" y="302483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runs-on: 실행환경 지정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6801307" y="325343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호스팅/셀프호스팅 러너 선택</a:t>
            </a:r>
            <a:endParaRPr lang="en-US" sz="1200"/>
          </a:p>
        </p:txBody>
      </p:sp>
      <p:sp>
        <p:nvSpPr>
          <p:cNvPr id="26" name="Shape 20"/>
          <p:cNvSpPr/>
          <p:nvPr/>
        </p:nvSpPr>
        <p:spPr>
          <a:xfrm>
            <a:off x="609905" y="3787445"/>
            <a:ext cx="10972800" cy="866851"/>
          </a:xfrm>
          <a:prstGeom prst="roundRect">
            <a:avLst>
              <a:gd name="adj" fmla="val 9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398678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52144" y="3949294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액션 예시</a:t>
            </a:r>
            <a:endParaRPr lang="en-US" sz="1400"/>
          </a:p>
        </p:txBody>
      </p:sp>
      <p:sp>
        <p:nvSpPr>
          <p:cNvPr id="29" name="Text 22"/>
          <p:cNvSpPr txBox="1"/>
          <p:nvPr/>
        </p:nvSpPr>
        <p:spPr>
          <a:xfrm>
            <a:off x="1152144" y="4261104"/>
            <a:ext cx="4010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actions/checkout, setup-dotnet, upload-artifact, cache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609905" y="6548933"/>
            <a:ext cx="3069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YAML 파일로 정의, 이벤트 기반 트리거 방식으로 동작</a:t>
            </a:r>
            <a:endParaRPr lang="en-US" sz="1000"/>
          </a:p>
        </p:txBody>
      </p:sp>
      <p:sp>
        <p:nvSpPr>
          <p:cNvPr id="31" name="Text 24"/>
          <p:cNvSpPr txBox="1"/>
          <p:nvPr/>
        </p:nvSpPr>
        <p:spPr>
          <a:xfrm>
            <a:off x="8876995" y="6548933"/>
            <a:ext cx="2811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8: 테스트 자동화</a:t>
            </a:r>
            <a:endParaRPr lang="en-US" sz="1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562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.NET 매트릭스 빌드/테스트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829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OS와 SDK 버전 조합에서 병렬 테스트 실행으로 크로스 플랫폼 호환성 검증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333695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24205" y="17529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828800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04595" y="179039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 정의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724205" y="2133295"/>
            <a:ext cx="5105095" cy="761695"/>
          </a:xfrm>
          <a:prstGeom prst="roundRect">
            <a:avLst>
              <a:gd name="adj" fmla="val 9004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00100" y="2219249"/>
            <a:ext cx="27624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strategy: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matrix: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os: [ubuntu-latest, windows-latest]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dotnet: ['6.0', '8.0']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609905" y="3124505"/>
            <a:ext cx="5333695" cy="1257300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24205" y="32388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09244" y="3314700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04595" y="3276295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실행 이점</a:t>
            </a:r>
            <a:endParaRPr lang="en-US" sz="12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657600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9498" y="361919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빌드/테스트 시간 단축</a:t>
            </a:r>
            <a:endParaRPr lang="en-US" sz="100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886200"/>
            <a:ext cx="133502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9498" y="3847795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호환성 문제 조기 발견</a:t>
            </a:r>
            <a:endParaRPr lang="en-US" sz="10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4114800"/>
            <a:ext cx="133502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9498" y="4076395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크로스 플랫폼 이슈 식별</a:t>
            </a:r>
            <a:endParaRPr lang="en-US" sz="1000"/>
          </a:p>
        </p:txBody>
      </p:sp>
      <p:sp>
        <p:nvSpPr>
          <p:cNvPr id="23" name="Shape 16"/>
          <p:cNvSpPr/>
          <p:nvPr/>
        </p:nvSpPr>
        <p:spPr>
          <a:xfrm>
            <a:off x="6172200" y="1638605"/>
            <a:ext cx="5410505" cy="171450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6286500" y="17529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62395" y="1828800"/>
            <a:ext cx="152705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67805" y="1790395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 실행 결과</a:t>
            </a:r>
            <a:endParaRPr lang="en-US" sz="1200"/>
          </a:p>
        </p:txBody>
      </p:sp>
      <p:sp>
        <p:nvSpPr>
          <p:cNvPr id="27" name="Shape 19"/>
          <p:cNvSpPr/>
          <p:nvPr/>
        </p:nvSpPr>
        <p:spPr>
          <a:xfrm>
            <a:off x="6286500" y="2133295"/>
            <a:ext cx="2553005" cy="514807"/>
          </a:xfrm>
          <a:prstGeom prst="roundRect">
            <a:avLst>
              <a:gd name="adj" fmla="val 26314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6972300" y="2219249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Ubuntu + .NET 6.0</a:t>
            </a:r>
            <a:endParaRPr lang="en-US" sz="100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81037" y="2433218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33742" y="240030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900"/>
          </a:p>
        </p:txBody>
      </p:sp>
      <p:sp>
        <p:nvSpPr>
          <p:cNvPr id="31" name="Shape 22"/>
          <p:cNvSpPr/>
          <p:nvPr/>
        </p:nvSpPr>
        <p:spPr>
          <a:xfrm>
            <a:off x="8915400" y="2133295"/>
            <a:ext cx="2553005" cy="514807"/>
          </a:xfrm>
          <a:prstGeom prst="roundRect">
            <a:avLst>
              <a:gd name="adj" fmla="val 26314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3"/>
          <p:cNvSpPr txBox="1"/>
          <p:nvPr/>
        </p:nvSpPr>
        <p:spPr>
          <a:xfrm>
            <a:off x="9601200" y="2219249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Ubuntu + .NET 8.0</a:t>
            </a:r>
            <a:endParaRPr lang="en-US" sz="10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9937" y="2433218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162642" y="240030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900"/>
          </a:p>
        </p:txBody>
      </p:sp>
      <p:sp>
        <p:nvSpPr>
          <p:cNvPr id="35" name="Shape 25"/>
          <p:cNvSpPr/>
          <p:nvPr/>
        </p:nvSpPr>
        <p:spPr>
          <a:xfrm>
            <a:off x="6286500" y="2723998"/>
            <a:ext cx="2553005" cy="514807"/>
          </a:xfrm>
          <a:prstGeom prst="roundRect">
            <a:avLst>
              <a:gd name="adj" fmla="val 26314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/>
          <p:cNvSpPr txBox="1"/>
          <p:nvPr/>
        </p:nvSpPr>
        <p:spPr>
          <a:xfrm>
            <a:off x="6923837" y="2809951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+ .NET 6.0</a:t>
            </a:r>
            <a:endParaRPr lang="en-US" sz="100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81037" y="3023921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533742" y="299100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900"/>
          </a:p>
        </p:txBody>
      </p:sp>
      <p:sp>
        <p:nvSpPr>
          <p:cNvPr id="39" name="Shape 28"/>
          <p:cNvSpPr/>
          <p:nvPr/>
        </p:nvSpPr>
        <p:spPr>
          <a:xfrm>
            <a:off x="8915400" y="2723998"/>
            <a:ext cx="2553005" cy="514807"/>
          </a:xfrm>
          <a:prstGeom prst="roundRect">
            <a:avLst>
              <a:gd name="adj" fmla="val 26314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 txBox="1"/>
          <p:nvPr/>
        </p:nvSpPr>
        <p:spPr>
          <a:xfrm>
            <a:off x="9552737" y="2809951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+ .NET 8.0</a:t>
            </a:r>
            <a:endParaRPr lang="en-US" sz="100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9937" y="3023921"/>
            <a:ext cx="114300" cy="11430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0162642" y="2991002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900"/>
          </a:p>
        </p:txBody>
      </p:sp>
      <p:sp>
        <p:nvSpPr>
          <p:cNvPr id="43" name="Text 31"/>
          <p:cNvSpPr txBox="1"/>
          <p:nvPr/>
        </p:nvSpPr>
        <p:spPr>
          <a:xfrm>
            <a:off x="609905" y="4533595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 워크플로우 프로세스</a:t>
            </a:r>
            <a:endParaRPr lang="en-US" sz="1200"/>
          </a:p>
        </p:txBody>
      </p:sp>
      <p:sp>
        <p:nvSpPr>
          <p:cNvPr id="44" name="Shape 32"/>
          <p:cNvSpPr/>
          <p:nvPr/>
        </p:nvSpPr>
        <p:spPr>
          <a:xfrm>
            <a:off x="609905" y="4876495"/>
            <a:ext cx="26289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3"/>
          <p:cNvSpPr/>
          <p:nvPr/>
        </p:nvSpPr>
        <p:spPr>
          <a:xfrm>
            <a:off x="724205" y="499079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790956" y="5048402"/>
            <a:ext cx="133502" cy="152705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3390595" y="4876495"/>
            <a:ext cx="26289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3504895" y="499079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6"/>
          <p:cNvSpPr txBox="1"/>
          <p:nvPr/>
        </p:nvSpPr>
        <p:spPr>
          <a:xfrm>
            <a:off x="1067105" y="5009998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 정의</a:t>
            </a:r>
            <a:endParaRPr lang="en-US" sz="1200"/>
          </a:p>
        </p:txBody>
      </p:sp>
      <p:sp>
        <p:nvSpPr>
          <p:cNvPr id="50" name="Text 37"/>
          <p:cNvSpPr txBox="1"/>
          <p:nvPr/>
        </p:nvSpPr>
        <p:spPr>
          <a:xfrm>
            <a:off x="724205" y="5277002"/>
            <a:ext cx="1145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OS+SDK 조합 설정</a:t>
            </a:r>
            <a:endParaRPr lang="en-US" sz="100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62502" y="5048402"/>
            <a:ext cx="152705" cy="15270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6172200" y="4876495"/>
            <a:ext cx="26289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9"/>
          <p:cNvSpPr/>
          <p:nvPr/>
        </p:nvSpPr>
        <p:spPr>
          <a:xfrm>
            <a:off x="8953805" y="4876495"/>
            <a:ext cx="26289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6286500" y="499079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9068105" y="499079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2"/>
          <p:cNvSpPr txBox="1"/>
          <p:nvPr/>
        </p:nvSpPr>
        <p:spPr>
          <a:xfrm>
            <a:off x="3847795" y="50099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생성</a:t>
            </a:r>
            <a:endParaRPr lang="en-US" sz="1200"/>
          </a:p>
        </p:txBody>
      </p:sp>
      <p:sp>
        <p:nvSpPr>
          <p:cNvPr id="57" name="Text 43"/>
          <p:cNvSpPr txBox="1"/>
          <p:nvPr/>
        </p:nvSpPr>
        <p:spPr>
          <a:xfrm>
            <a:off x="9411005" y="50099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취합</a:t>
            </a:r>
            <a:endParaRPr lang="en-US" sz="1200"/>
          </a:p>
        </p:txBody>
      </p:sp>
      <p:sp>
        <p:nvSpPr>
          <p:cNvPr id="58" name="Text 44"/>
          <p:cNvSpPr txBox="1"/>
          <p:nvPr/>
        </p:nvSpPr>
        <p:spPr>
          <a:xfrm>
            <a:off x="3504895" y="5277002"/>
            <a:ext cx="887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작업 생성</a:t>
            </a:r>
            <a:endParaRPr lang="en-US" sz="1000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44107" y="5048402"/>
            <a:ext cx="152705" cy="15270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629400" y="500999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실행</a:t>
            </a:r>
            <a:endParaRPr lang="en-US" sz="1200"/>
          </a:p>
        </p:txBody>
      </p:sp>
      <p:sp>
        <p:nvSpPr>
          <p:cNvPr id="61" name="Text 46"/>
          <p:cNvSpPr txBox="1"/>
          <p:nvPr/>
        </p:nvSpPr>
        <p:spPr>
          <a:xfrm>
            <a:off x="6286500" y="5277002"/>
            <a:ext cx="887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독립 실행</a:t>
            </a:r>
            <a:endParaRPr lang="en-US" sz="100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9134856" y="5048402"/>
            <a:ext cx="133502" cy="152705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9068105" y="5277002"/>
            <a:ext cx="887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결과 보고</a:t>
            </a:r>
            <a:endParaRPr lang="en-US" sz="1000"/>
          </a:p>
        </p:txBody>
      </p:sp>
      <p:sp>
        <p:nvSpPr>
          <p:cNvPr id="64" name="Shape 48"/>
          <p:cNvSpPr/>
          <p:nvPr/>
        </p:nvSpPr>
        <p:spPr>
          <a:xfrm>
            <a:off x="609905" y="5715000"/>
            <a:ext cx="10972800" cy="437998"/>
          </a:xfrm>
          <a:prstGeom prst="roundRect">
            <a:avLst>
              <a:gd name="adj" fmla="val 363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2"/>
          <a:srcRect l="-1773" r="-1773"/>
          <a:stretch/>
        </p:blipFill>
        <p:spPr>
          <a:xfrm>
            <a:off x="733349" y="5838444"/>
            <a:ext cx="133502" cy="171907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942746" y="5838444"/>
            <a:ext cx="4634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팁: fail-fast: false 옵션 추가 시 일부 작업 실패에도 모든 매트릭스 조합 실행</a:t>
            </a:r>
            <a:endParaRPr lang="en-US" sz="1000"/>
          </a:p>
        </p:txBody>
      </p:sp>
      <p:sp>
        <p:nvSpPr>
          <p:cNvPr id="67" name="Text 50"/>
          <p:cNvSpPr txBox="1"/>
          <p:nvPr/>
        </p:nvSpPr>
        <p:spPr>
          <a:xfrm>
            <a:off x="8577072" y="6548933"/>
            <a:ext cx="3107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.NET 매트릭스 빌드/테스트</a:t>
            </a:r>
            <a:endParaRPr lang="en-US" sz="1000"/>
          </a:p>
        </p:txBody>
      </p:sp>
      <p:sp>
        <p:nvSpPr>
          <p:cNvPr id="68" name="Shape 51"/>
          <p:cNvSpPr/>
          <p:nvPr/>
        </p:nvSpPr>
        <p:spPr>
          <a:xfrm>
            <a:off x="3200400" y="51435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2"/>
          <p:cNvSpPr/>
          <p:nvPr/>
        </p:nvSpPr>
        <p:spPr>
          <a:xfrm>
            <a:off x="5982005" y="51435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3"/>
          <p:cNvSpPr/>
          <p:nvPr/>
        </p:nvSpPr>
        <p:spPr>
          <a:xfrm>
            <a:off x="8762695" y="5143500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42583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아티팩트 업로드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5410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Actions에서 커버리지 리포트를 아티팩트로 저장하고 공유하는 방법입니다.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00200"/>
            <a:ext cx="28346" cy="6190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2331720"/>
            <a:ext cx="28346" cy="6190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063240"/>
            <a:ext cx="28346" cy="1429207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4603090"/>
            <a:ext cx="28346" cy="54315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" y="160020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" y="233172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8056" y="306324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" y="460309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9671" y="164592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569671" y="237744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569671" y="310896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69671" y="464789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942746" y="1600200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리포트 생성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942746" y="2331720"/>
            <a:ext cx="20235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 실행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942746" y="3063240"/>
            <a:ext cx="25758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actions/upload-artifact 설정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942746" y="4603090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아티팩트 활용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942746" y="1912925"/>
            <a:ext cx="5362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 단계에서 dotnet test --collect:"XPlat Code Coverage" 명령어 사용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942746" y="2644445"/>
            <a:ext cx="29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커버리지 파일을 HTML 리포트로 변환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942746" y="4914900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'Artifacts' 섹션에서 리포트 다운로드 및 공유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942746" y="3375965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워크플로우에 아티팩트 업로드 단계 추가: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942746" y="3642055"/>
            <a:ext cx="10639044" cy="771754"/>
          </a:xfrm>
          <a:prstGeom prst="roundRect">
            <a:avLst>
              <a:gd name="adj" fmla="val 8777"/>
            </a:avLst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19556" y="3747211"/>
            <a:ext cx="8681035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- name: Upload coverage report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uses: actions/upload-artifact@v3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E2E8F0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with: { name: code-coverage-report, path: coveragereport/ }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905" y="5257800"/>
            <a:ext cx="10972800" cy="5715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09905" y="5257800"/>
            <a:ext cx="38405" cy="5715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t="-67637" b="-67637"/>
          <a:stretch/>
        </p:blipFill>
        <p:spPr>
          <a:xfrm>
            <a:off x="724205" y="5333695"/>
            <a:ext cx="133502" cy="4187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933602" y="5333695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200"/>
          </a:p>
        </p:txBody>
      </p:sp>
      <p:sp>
        <p:nvSpPr>
          <p:cNvPr id="35" name="Text 32"/>
          <p:cNvSpPr txBox="1"/>
          <p:nvPr/>
        </p:nvSpPr>
        <p:spPr>
          <a:xfrm>
            <a:off x="933602" y="5562295"/>
            <a:ext cx="8863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리포트는 압축하여 업로드하면 시간과 용량을 절약할 수 있습니다. if-no-files-found: error 옵션으로 리포트 생성 실패 시 워크플로우를 중단할 수 있습니다.</a:t>
            </a:r>
            <a:endParaRPr lang="en-US" sz="1000"/>
          </a:p>
        </p:txBody>
      </p:sp>
      <p:sp>
        <p:nvSpPr>
          <p:cNvPr id="36" name="Text 33"/>
          <p:cNvSpPr txBox="1"/>
          <p:nvPr/>
        </p:nvSpPr>
        <p:spPr>
          <a:xfrm>
            <a:off x="609905" y="6548933"/>
            <a:ext cx="32689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아티팩트는 기본 90일 보존, retention-days로 조정 가능</a:t>
            </a:r>
            <a:endParaRPr lang="en-US" sz="1000"/>
          </a:p>
        </p:txBody>
      </p:sp>
      <p:sp>
        <p:nvSpPr>
          <p:cNvPr id="37" name="Text 34"/>
          <p:cNvSpPr txBox="1"/>
          <p:nvPr/>
        </p:nvSpPr>
        <p:spPr>
          <a:xfrm>
            <a:off x="9318650" y="6548933"/>
            <a:ext cx="2364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CI/CD 자동화</a:t>
            </a:r>
            <a:endParaRPr lang="en-US" sz="1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5250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상태 배지/코멘트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5410505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1410005"/>
            <a:ext cx="267005" cy="2670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257300"/>
            <a:ext cx="5410505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731313"/>
            <a:ext cx="5410505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72200" y="2731313"/>
            <a:ext cx="5410505" cy="1324051"/>
          </a:xfrm>
          <a:prstGeom prst="roundRect">
            <a:avLst>
              <a:gd name="adj" fmla="val 397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1410005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배지 추가</a:t>
            </a:r>
            <a:endParaRPr lang="en-US" sz="1300"/>
          </a:p>
        </p:txBody>
      </p:sp>
      <p:sp>
        <p:nvSpPr>
          <p:cNvPr id="12" name="Text 9"/>
          <p:cNvSpPr txBox="1"/>
          <p:nvPr/>
        </p:nvSpPr>
        <p:spPr>
          <a:xfrm>
            <a:off x="6772046" y="1410005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링크</a:t>
            </a:r>
            <a:endParaRPr lang="en-US" sz="1300"/>
          </a:p>
        </p:txBody>
      </p:sp>
      <p:sp>
        <p:nvSpPr>
          <p:cNvPr id="13" name="Text 10"/>
          <p:cNvSpPr txBox="1"/>
          <p:nvPr/>
        </p:nvSpPr>
        <p:spPr>
          <a:xfrm>
            <a:off x="1143000" y="2884018"/>
            <a:ext cx="1459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코멘트 자동화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6705295" y="2884018"/>
            <a:ext cx="16120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추이 시각화</a:t>
            </a:r>
            <a:endParaRPr lang="en-US" sz="1300"/>
          </a:p>
        </p:txBody>
      </p:sp>
      <p:sp>
        <p:nvSpPr>
          <p:cNvPr id="15" name="Text 12"/>
          <p:cNvSpPr txBox="1"/>
          <p:nvPr/>
        </p:nvSpPr>
        <p:spPr>
          <a:xfrm>
            <a:off x="1143000" y="1698955"/>
            <a:ext cx="23088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README.md에 코드 품질 배지 추가</a:t>
            </a:r>
            <a:endParaRPr lang="en-US" sz="1100"/>
          </a:p>
        </p:txBody>
      </p:sp>
      <p:sp>
        <p:nvSpPr>
          <p:cNvPr id="16" name="Text 13"/>
          <p:cNvSpPr txBox="1"/>
          <p:nvPr/>
        </p:nvSpPr>
        <p:spPr>
          <a:xfrm>
            <a:off x="1143000" y="1954987"/>
            <a:ext cx="20427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coverage: 85% tests: passing</a:t>
            </a:r>
            <a:endParaRPr lang="en-US" sz="1100"/>
          </a:p>
        </p:txBody>
      </p:sp>
      <p:sp>
        <p:nvSpPr>
          <p:cNvPr id="17" name="Text 14"/>
          <p:cNvSpPr txBox="1"/>
          <p:nvPr/>
        </p:nvSpPr>
        <p:spPr>
          <a:xfrm>
            <a:off x="1143000" y="2210105"/>
            <a:ext cx="2852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shields.io 또는 codecov 배지로 가시성 향상</a:t>
            </a:r>
            <a:endParaRPr lang="en-US" sz="11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4905" y="1410005"/>
            <a:ext cx="333756" cy="2670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772046" y="1698955"/>
            <a:ext cx="19001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Pages로 리포트 게시</a:t>
            </a:r>
            <a:endParaRPr lang="en-US" sz="1100"/>
          </a:p>
        </p:txBody>
      </p:sp>
      <p:sp>
        <p:nvSpPr>
          <p:cNvPr id="20" name="Text 16"/>
          <p:cNvSpPr txBox="1"/>
          <p:nvPr/>
        </p:nvSpPr>
        <p:spPr>
          <a:xfrm>
            <a:off x="6772046" y="1954987"/>
            <a:ext cx="22430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코멘트에 리포트 URL 자동 추가</a:t>
            </a:r>
            <a:endParaRPr lang="en-US" sz="1100"/>
          </a:p>
        </p:txBody>
      </p:sp>
      <p:sp>
        <p:nvSpPr>
          <p:cNvPr id="21" name="Text 17"/>
          <p:cNvSpPr txBox="1"/>
          <p:nvPr/>
        </p:nvSpPr>
        <p:spPr>
          <a:xfrm>
            <a:off x="6772046" y="2210105"/>
            <a:ext cx="23189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형식: github.io/&lt;repo&gt;/coverage/</a:t>
            </a:r>
            <a:endParaRPr lang="en-US" sz="11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2884018"/>
            <a:ext cx="267005" cy="2670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43000" y="3173882"/>
            <a:ext cx="24999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코멘트 자동 생성 (GitHub Actions)</a:t>
            </a:r>
            <a:endParaRPr lang="en-US" sz="1100"/>
          </a:p>
        </p:txBody>
      </p:sp>
      <p:sp>
        <p:nvSpPr>
          <p:cNvPr id="24" name="Text 19"/>
          <p:cNvSpPr txBox="1"/>
          <p:nvPr/>
        </p:nvSpPr>
        <p:spPr>
          <a:xfrm>
            <a:off x="1143000" y="3429000"/>
            <a:ext cx="23573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결과, 커버리지 변화 정보 포함</a:t>
            </a:r>
            <a:endParaRPr lang="en-US" sz="1100"/>
          </a:p>
        </p:txBody>
      </p:sp>
      <p:sp>
        <p:nvSpPr>
          <p:cNvPr id="25" name="Text 20"/>
          <p:cNvSpPr txBox="1"/>
          <p:nvPr/>
        </p:nvSpPr>
        <p:spPr>
          <a:xfrm>
            <a:off x="1143000" y="3684118"/>
            <a:ext cx="25283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리뷰 효율화 및 코드 품질 가시성 제공</a:t>
            </a:r>
            <a:endParaRPr lang="en-US" sz="11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24905" y="2884018"/>
            <a:ext cx="267005" cy="2670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05295" y="317388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변화량 표시 (+2.5%)</a:t>
            </a:r>
            <a:endParaRPr lang="en-US" sz="1100"/>
          </a:p>
        </p:txBody>
      </p:sp>
      <p:sp>
        <p:nvSpPr>
          <p:cNvPr id="28" name="Text 22"/>
          <p:cNvSpPr txBox="1"/>
          <p:nvPr/>
        </p:nvSpPr>
        <p:spPr>
          <a:xfrm>
            <a:off x="6705295" y="3429000"/>
            <a:ext cx="2004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코드의 커버리지 별도 강조</a:t>
            </a:r>
            <a:endParaRPr lang="en-US" sz="1100"/>
          </a:p>
        </p:txBody>
      </p:sp>
      <p:sp>
        <p:nvSpPr>
          <p:cNvPr id="29" name="Text 23"/>
          <p:cNvSpPr txBox="1"/>
          <p:nvPr/>
        </p:nvSpPr>
        <p:spPr>
          <a:xfrm>
            <a:off x="6705295" y="3684118"/>
            <a:ext cx="20427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 미달 시 시각적 경고 표시</a:t>
            </a:r>
            <a:endParaRPr lang="en-US" sz="1100"/>
          </a:p>
        </p:txBody>
      </p:sp>
      <p:sp>
        <p:nvSpPr>
          <p:cNvPr id="30" name="Shape 24"/>
          <p:cNvSpPr/>
          <p:nvPr/>
        </p:nvSpPr>
        <p:spPr>
          <a:xfrm>
            <a:off x="609905" y="4206240"/>
            <a:ext cx="10972800" cy="838505"/>
          </a:xfrm>
          <a:prstGeom prst="roundRect">
            <a:avLst>
              <a:gd name="adj" fmla="val 99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771754" y="4420210"/>
            <a:ext cx="171907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57046" y="4368089"/>
            <a:ext cx="21168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예시: GitHub Actions</a:t>
            </a:r>
            <a:endParaRPr lang="en-US" sz="1300"/>
          </a:p>
        </p:txBody>
      </p:sp>
      <p:sp>
        <p:nvSpPr>
          <p:cNvPr id="33" name="Text 26"/>
          <p:cNvSpPr txBox="1"/>
          <p:nvPr/>
        </p:nvSpPr>
        <p:spPr>
          <a:xfrm>
            <a:off x="1057046" y="4657954"/>
            <a:ext cx="7509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uses: marocchino/sticky-pull-request-comment@v2 message: "## 테스트 결과: ✅ 통과 | 커버리지: 85% (+2.3%)"</a:t>
            </a:r>
            <a:endParaRPr lang="en-US" sz="1100"/>
          </a:p>
        </p:txBody>
      </p:sp>
      <p:sp>
        <p:nvSpPr>
          <p:cNvPr id="34" name="Text 27"/>
          <p:cNvSpPr txBox="1"/>
          <p:nvPr/>
        </p:nvSpPr>
        <p:spPr>
          <a:xfrm>
            <a:off x="609905" y="6548933"/>
            <a:ext cx="3354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PR 통계 자동화는 개발 생산성과 코드 품질을 향상시킵니다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9712757" y="6548933"/>
            <a:ext cx="1974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CI/CD</a:t>
            </a:r>
            <a:endParaRPr lang="en-US" sz="1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44677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Jenkins 파이프라인(선택)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333195"/>
            <a:ext cx="10972800" cy="1257300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333195"/>
            <a:ext cx="47549" cy="12573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524305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Jenkins 파이프라인이란?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943100"/>
            <a:ext cx="10649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Jenkins Pipeline은 CI/CD 파이프라인을 코드로 정의하는 방식으로, 빌드, 테스트, 배포 과정을 자동화합니다. Jenkinsfile을 통해 파이프라인을 정의하고 버전 관리 시스템과 함께 관리할 수 있습니다.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09905" y="2743200"/>
            <a:ext cx="3562502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326" b="-1326"/>
          <a:stretch/>
        </p:blipFill>
        <p:spPr>
          <a:xfrm>
            <a:off x="761695" y="2895905"/>
            <a:ext cx="181051" cy="2478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43200"/>
            <a:ext cx="3562502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57046" y="289956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Declarative Pipeline</a:t>
            </a:r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761695" y="3209544"/>
            <a:ext cx="32881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Groovy 기반 선언적 문법으로, 'pipeline' 블록을 사용해 구조화된 형태로 파이프라인을 정의합니다.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76" b="-476"/>
          <a:stretch/>
        </p:blipFill>
        <p:spPr>
          <a:xfrm>
            <a:off x="4470502" y="2895905"/>
            <a:ext cx="276149" cy="2478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43200"/>
            <a:ext cx="3562502" cy="100035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60950" y="2899562"/>
            <a:ext cx="12637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Stages &amp; Steps</a:t>
            </a:r>
            <a:endParaRPr lang="en-US" sz="1200"/>
          </a:p>
        </p:txBody>
      </p:sp>
      <p:sp>
        <p:nvSpPr>
          <p:cNvPr id="18" name="Text 14"/>
          <p:cNvSpPr txBox="1"/>
          <p:nvPr/>
        </p:nvSpPr>
        <p:spPr>
          <a:xfrm>
            <a:off x="4470502" y="3209544"/>
            <a:ext cx="32598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Stages는 파이프라인의 주요 단계를, Steps는 각 단계의 실행 작업을 정의합니다.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8394" y="2895905"/>
            <a:ext cx="247802" cy="2478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40496" y="2899562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&amp; 에이전트</a:t>
            </a:r>
            <a:endParaRPr lang="en-US" sz="1200"/>
          </a:p>
        </p:txBody>
      </p:sp>
      <p:sp>
        <p:nvSpPr>
          <p:cNvPr id="21" name="Text 16"/>
          <p:cNvSpPr txBox="1"/>
          <p:nvPr/>
        </p:nvSpPr>
        <p:spPr>
          <a:xfrm>
            <a:off x="8178394" y="3209544"/>
            <a:ext cx="32506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환경변수 설정 및 실행 환경을 지정하여 다양한 환경에서 동일한 파이프라인을 실행합니다.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887114"/>
            <a:ext cx="10972800" cy="2076602"/>
          </a:xfrm>
          <a:prstGeom prst="roundRect">
            <a:avLst>
              <a:gd name="adj" fmla="val 161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1754" y="4087368"/>
            <a:ext cx="142646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8700" y="4048963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Declarative Pipeline 예시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028700" y="4353458"/>
            <a:ext cx="7229246" cy="1447495"/>
          </a:xfrm>
          <a:prstGeom prst="roundRect">
            <a:avLst>
              <a:gd name="adj" fmla="val 1662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142999" y="4477816"/>
            <a:ext cx="7229246" cy="1237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pipeline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agent any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stages {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    stage('Build') { steps { sh 'dotnet build' }}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    stage('Test') { steps { sh 'dotnet test --collect:"XPlat Code Coverage"' }}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    stage('Report') { steps { sh 'reportgenerator -reports:**/coverage.cobertura.xml -targetdir:report’}}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    }</a:t>
            </a:r>
          </a:p>
          <a:p>
            <a:pPr marL="0" indent="0" algn="l">
              <a:buNone/>
            </a:pPr>
            <a:r>
              <a:rPr lang="en-US" sz="900">
                <a:solidFill>
                  <a:srgbClr val="6EE7B7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900">
              <a:latin typeface="Consolas" panose="020B0609020204030204" pitchFamily="49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8801100" y="6548933"/>
            <a:ext cx="28785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CI/CD &amp; 테스트 자동화</a:t>
            </a:r>
            <a:endParaRPr lang="en-US" sz="10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1433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시크릿/보안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5858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파이프라인에서 자격 증명과 토큰을 안전하게 관리하기 위한 보안 체크리스트입니다.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94944" y="1714500"/>
            <a:ext cx="133502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8700" y="1666951"/>
            <a:ext cx="1739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Secrets 관리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609905" y="201899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171700"/>
            <a:ext cx="200254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905" y="2880360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09905" y="374172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172200" y="201899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72200" y="2880360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37844" y="2133295"/>
            <a:ext cx="20711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리포지토리 Secrets 설정</a:t>
            </a:r>
            <a:endParaRPr lang="en-US" sz="1400"/>
          </a:p>
        </p:txBody>
      </p:sp>
      <p:sp>
        <p:nvSpPr>
          <p:cNvPr id="17" name="Text 13"/>
          <p:cNvSpPr txBox="1"/>
          <p:nvPr/>
        </p:nvSpPr>
        <p:spPr>
          <a:xfrm>
            <a:off x="1037844" y="2446020"/>
            <a:ext cx="43415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Settings &gt; Secrets에서 시크릿을 설정하여 워크플로우에서 안전하게 참조</a:t>
            </a:r>
            <a:endParaRPr lang="en-US" sz="10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033065"/>
            <a:ext cx="200254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7844" y="2994660"/>
            <a:ext cx="17382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환경별 Secrets 분리</a:t>
            </a:r>
            <a:endParaRPr lang="en-US" sz="1400"/>
          </a:p>
        </p:txBody>
      </p:sp>
      <p:sp>
        <p:nvSpPr>
          <p:cNvPr id="20" name="Text 15"/>
          <p:cNvSpPr txBox="1"/>
          <p:nvPr/>
        </p:nvSpPr>
        <p:spPr>
          <a:xfrm>
            <a:off x="1037844" y="3307385"/>
            <a:ext cx="33896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개발/테스트/운영 환경별 시크릿 분리 및 환경별 승인 설정</a:t>
            </a:r>
            <a:endParaRPr lang="en-US" sz="10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893515"/>
            <a:ext cx="200254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2200" y="374172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1037844" y="3856025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시크릿 순환 정책</a:t>
            </a:r>
            <a:endParaRPr lang="en-US" sz="1400"/>
          </a:p>
        </p:txBody>
      </p:sp>
      <p:sp>
        <p:nvSpPr>
          <p:cNvPr id="24" name="Text 18"/>
          <p:cNvSpPr txBox="1"/>
          <p:nvPr/>
        </p:nvSpPr>
        <p:spPr>
          <a:xfrm>
            <a:off x="6601054" y="3856025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보안 처리</a:t>
            </a:r>
            <a:endParaRPr lang="en-US" sz="1400"/>
          </a:p>
        </p:txBody>
      </p:sp>
      <p:sp>
        <p:nvSpPr>
          <p:cNvPr id="25" name="Text 19"/>
          <p:cNvSpPr txBox="1"/>
          <p:nvPr/>
        </p:nvSpPr>
        <p:spPr>
          <a:xfrm>
            <a:off x="1037844" y="4167835"/>
            <a:ext cx="27038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 토큰/시크릿 교체 및 노출 시 즉시 갱신</a:t>
            </a:r>
            <a:endParaRPr lang="en-US" sz="1000"/>
          </a:p>
        </p:txBody>
      </p:sp>
      <p:sp>
        <p:nvSpPr>
          <p:cNvPr id="26" name="Shape 20"/>
          <p:cNvSpPr/>
          <p:nvPr/>
        </p:nvSpPr>
        <p:spPr>
          <a:xfrm>
            <a:off x="6172200" y="163860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48095" y="1714500"/>
            <a:ext cx="15270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601054" y="2446020"/>
            <a:ext cx="3027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최소 권한만 부여한 토큰 생성 (읽기 전용 등)</a:t>
            </a:r>
            <a:endParaRPr lang="en-US" sz="1000"/>
          </a:p>
        </p:txBody>
      </p:sp>
      <p:sp>
        <p:nvSpPr>
          <p:cNvPr id="29" name="Text 22"/>
          <p:cNvSpPr txBox="1"/>
          <p:nvPr/>
        </p:nvSpPr>
        <p:spPr>
          <a:xfrm>
            <a:off x="6601054" y="4167835"/>
            <a:ext cx="3513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::add-mask::로 민감 정보 로그 노출 방지, 디버그 출력 제한</a:t>
            </a:r>
            <a:endParaRPr lang="en-US" sz="1000"/>
          </a:p>
        </p:txBody>
      </p:sp>
      <p:sp>
        <p:nvSpPr>
          <p:cNvPr id="30" name="Text 23"/>
          <p:cNvSpPr txBox="1"/>
          <p:nvPr/>
        </p:nvSpPr>
        <p:spPr>
          <a:xfrm>
            <a:off x="6590995" y="1666951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최소 권한</a:t>
            </a:r>
            <a:endParaRPr lang="en-US" sz="13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2171700"/>
            <a:ext cx="200254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01054" y="2133295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권한 원칙</a:t>
            </a:r>
            <a:endParaRPr lang="en-US" sz="140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3033065"/>
            <a:ext cx="200254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01054" y="2994660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서드파티 액션 검증</a:t>
            </a:r>
            <a:endParaRPr lang="en-US" sz="1400"/>
          </a:p>
        </p:txBody>
      </p:sp>
      <p:sp>
        <p:nvSpPr>
          <p:cNvPr id="35" name="Text 26"/>
          <p:cNvSpPr txBox="1"/>
          <p:nvPr/>
        </p:nvSpPr>
        <p:spPr>
          <a:xfrm>
            <a:off x="6601054" y="3307385"/>
            <a:ext cx="3560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소스의 액션만 사용, 토큰 접근 액션 철저 검토</a:t>
            </a:r>
            <a:endParaRPr lang="en-US" sz="100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6286500" y="3893515"/>
            <a:ext cx="200254" cy="22860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09905" y="4678985"/>
            <a:ext cx="10972800" cy="629107"/>
          </a:xfrm>
          <a:prstGeom prst="roundRect">
            <a:avLst>
              <a:gd name="adj" fmla="val 176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3349" y="4871923"/>
            <a:ext cx="171907" cy="171907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19556" y="4802429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모범 사례</a:t>
            </a:r>
            <a:endParaRPr lang="en-US" sz="1000"/>
          </a:p>
        </p:txBody>
      </p:sp>
      <p:sp>
        <p:nvSpPr>
          <p:cNvPr id="40" name="Text 29"/>
          <p:cNvSpPr txBox="1"/>
          <p:nvPr/>
        </p:nvSpPr>
        <p:spPr>
          <a:xfrm>
            <a:off x="1019556" y="5021885"/>
            <a:ext cx="6229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Actions에서 ${{ secrets.SECRET_NAME }} 문법으로 시크릿 참조. 절대 시크릿을 직접 하드코딩하거나 커밋하지 마세요.</a:t>
            </a:r>
            <a:endParaRPr lang="en-US" sz="900"/>
          </a:p>
        </p:txBody>
      </p:sp>
      <p:sp>
        <p:nvSpPr>
          <p:cNvPr id="41" name="Text 30"/>
          <p:cNvSpPr txBox="1"/>
          <p:nvPr/>
        </p:nvSpPr>
        <p:spPr>
          <a:xfrm>
            <a:off x="8531352" y="6587338"/>
            <a:ext cx="3154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CI/CD 파이프라인 보안 관리</a:t>
            </a:r>
            <a:endParaRPr lang="en-US" sz="1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504749"/>
            <a:ext cx="29343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테스트/샤딩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1430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800100" y="1600200"/>
            <a:ext cx="342900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605" y="141000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10605" y="3055925"/>
            <a:ext cx="5372100" cy="1419149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295705" y="1600200"/>
            <a:ext cx="19659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샤딩(Sharding)</a:t>
            </a:r>
            <a:endParaRPr lang="en-US" sz="1400"/>
          </a:p>
        </p:txBody>
      </p:sp>
      <p:sp>
        <p:nvSpPr>
          <p:cNvPr id="12" name="Text 9"/>
          <p:cNvSpPr txBox="1"/>
          <p:nvPr/>
        </p:nvSpPr>
        <p:spPr>
          <a:xfrm>
            <a:off x="6858000" y="1600200"/>
            <a:ext cx="861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전략</a:t>
            </a:r>
            <a:endParaRPr lang="en-US" sz="1400"/>
          </a:p>
        </p:txBody>
      </p:sp>
      <p:sp>
        <p:nvSpPr>
          <p:cNvPr id="13" name="Text 10"/>
          <p:cNvSpPr txBox="1"/>
          <p:nvPr/>
        </p:nvSpPr>
        <p:spPr>
          <a:xfrm>
            <a:off x="1257300" y="3246120"/>
            <a:ext cx="15663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Flaky 테스트 관리</a:t>
            </a:r>
            <a:endParaRPr lang="en-US" sz="1400"/>
          </a:p>
        </p:txBody>
      </p:sp>
      <p:sp>
        <p:nvSpPr>
          <p:cNvPr id="14" name="Text 11"/>
          <p:cNvSpPr txBox="1"/>
          <p:nvPr/>
        </p:nvSpPr>
        <p:spPr>
          <a:xfrm>
            <a:off x="6819595" y="32461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실행 최적화</a:t>
            </a:r>
            <a:endParaRPr lang="en-US" sz="1400"/>
          </a:p>
        </p:txBody>
      </p:sp>
      <p:sp>
        <p:nvSpPr>
          <p:cNvPr id="15" name="Text 12"/>
          <p:cNvSpPr txBox="1"/>
          <p:nvPr/>
        </p:nvSpPr>
        <p:spPr>
          <a:xfrm>
            <a:off x="1295705" y="195041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테스트 묶음을 여러 샤드로 분할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1295705" y="2179015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샤드를 별도 머신/프로세스에서 실행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1295705" y="2407615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CI 파이프라인 시간 단축</a:t>
            </a:r>
            <a:endParaRPr lang="en-US" sz="12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1600200"/>
            <a:ext cx="304495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0" y="1950415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시간 기반 균등 분배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6858000" y="2179015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xUnit: %assemblyName%.dll --list-tests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6858000" y="2407615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NUnit: TestContext.Parameters["shard"]</a:t>
            </a:r>
            <a:endParaRPr lang="en-US" sz="12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246120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57300" y="3596335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비결정적 테스트 식별 및 라벨링</a:t>
            </a:r>
            <a:endParaRPr lang="en-US" sz="1200"/>
          </a:p>
        </p:txBody>
      </p:sp>
      <p:sp>
        <p:nvSpPr>
          <p:cNvPr id="24" name="Text 19"/>
          <p:cNvSpPr txBox="1"/>
          <p:nvPr/>
        </p:nvSpPr>
        <p:spPr>
          <a:xfrm>
            <a:off x="1257300" y="3824935"/>
            <a:ext cx="1619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재시도 전략: [Retry(3)]</a:t>
            </a:r>
            <a:endParaRPr lang="en-US" sz="1200"/>
          </a:p>
        </p:txBody>
      </p:sp>
      <p:sp>
        <p:nvSpPr>
          <p:cNvPr id="25" name="Text 20"/>
          <p:cNvSpPr txBox="1"/>
          <p:nvPr/>
        </p:nvSpPr>
        <p:spPr>
          <a:xfrm>
            <a:off x="1257300" y="40535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격리된 별도 실행 파이프라인 구성</a:t>
            </a:r>
            <a:endParaRPr lang="en-US" sz="12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6400800" y="3246120"/>
            <a:ext cx="2670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19595" y="359633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xUnit: [Collection("이름")] 격리</a:t>
            </a:r>
            <a:endParaRPr lang="en-US" sz="1200"/>
          </a:p>
        </p:txBody>
      </p:sp>
      <p:sp>
        <p:nvSpPr>
          <p:cNvPr id="28" name="Text 22"/>
          <p:cNvSpPr txBox="1"/>
          <p:nvPr/>
        </p:nvSpPr>
        <p:spPr>
          <a:xfrm>
            <a:off x="6819595" y="382493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NUnit: [Parallelizable], MaxCpuCount</a:t>
            </a:r>
            <a:endParaRPr lang="en-US" sz="1200"/>
          </a:p>
        </p:txBody>
      </p:sp>
      <p:sp>
        <p:nvSpPr>
          <p:cNvPr id="29" name="Text 23"/>
          <p:cNvSpPr txBox="1"/>
          <p:nvPr/>
        </p:nvSpPr>
        <p:spPr>
          <a:xfrm>
            <a:off x="6819595" y="4053535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자원 충돌 회피 설계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609905" y="4701845"/>
            <a:ext cx="10972800" cy="981151"/>
          </a:xfrm>
          <a:prstGeom prst="roundRect">
            <a:avLst>
              <a:gd name="adj" fmla="val 723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09244" y="4939589"/>
            <a:ext cx="171907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33856" y="4901184"/>
            <a:ext cx="16422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실행 모범 사례</a:t>
            </a:r>
            <a:endParaRPr lang="en-US" sz="1400"/>
          </a:p>
        </p:txBody>
      </p:sp>
      <p:sp>
        <p:nvSpPr>
          <p:cNvPr id="33" name="Text 26"/>
          <p:cNvSpPr txBox="1"/>
          <p:nvPr/>
        </p:nvSpPr>
        <p:spPr>
          <a:xfrm>
            <a:off x="1133856" y="5252314"/>
            <a:ext cx="9315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간 상태 격리, 공유 리소스 접근 관리, 순서 의존성 제거, 외부 서비스 목킹을 통해 실제 환경에서도 안정적인 병렬 테스트 실행을 확보합니다.</a:t>
            </a:r>
            <a:endParaRPr lang="en-US" sz="1200"/>
          </a:p>
        </p:txBody>
      </p:sp>
      <p:sp>
        <p:nvSpPr>
          <p:cNvPr id="34" name="Text 27"/>
          <p:cNvSpPr txBox="1"/>
          <p:nvPr/>
        </p:nvSpPr>
        <p:spPr>
          <a:xfrm>
            <a:off x="609905" y="6511442"/>
            <a:ext cx="3069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병렬화는 머신 스펙과 테스트 특성에 따라 최적화 필요</a:t>
            </a:r>
            <a:endParaRPr lang="en-US" sz="1000"/>
          </a:p>
        </p:txBody>
      </p:sp>
      <p:sp>
        <p:nvSpPr>
          <p:cNvPr id="35" name="Text 28"/>
          <p:cNvSpPr txBox="1"/>
          <p:nvPr/>
        </p:nvSpPr>
        <p:spPr>
          <a:xfrm>
            <a:off x="9542678" y="6511442"/>
            <a:ext cx="2145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고급 기법</a:t>
            </a:r>
            <a:endParaRPr lang="en-US" sz="10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5914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진단/로그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로그 수집 및 실패 진단, 플레이키(Flaky) 테스트 관리 프로세스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41050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172200" y="1638605"/>
            <a:ext cx="541050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4205" y="17903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1904695"/>
            <a:ext cx="152705" cy="1527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905" y="2697480"/>
            <a:ext cx="541050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81405" y="1752905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1: 테스트 실패 감지</a:t>
            </a:r>
            <a:endParaRPr lang="en-US" sz="1300"/>
          </a:p>
        </p:txBody>
      </p:sp>
      <p:sp>
        <p:nvSpPr>
          <p:cNvPr id="13" name="Text 10"/>
          <p:cNvSpPr txBox="1"/>
          <p:nvPr/>
        </p:nvSpPr>
        <p:spPr>
          <a:xfrm>
            <a:off x="1181405" y="2004365"/>
            <a:ext cx="21607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파이프라인에서 테스트 실패 발생</a:t>
            </a:r>
            <a:endParaRPr lang="en-US" sz="1000"/>
          </a:p>
        </p:txBody>
      </p:sp>
      <p:sp>
        <p:nvSpPr>
          <p:cNvPr id="14" name="Text 11"/>
          <p:cNvSpPr txBox="1"/>
          <p:nvPr/>
        </p:nvSpPr>
        <p:spPr>
          <a:xfrm>
            <a:off x="6743700" y="2004365"/>
            <a:ext cx="1237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진단 정보 수집</a:t>
            </a:r>
            <a:endParaRPr lang="en-US" sz="1000"/>
          </a:p>
        </p:txBody>
      </p:sp>
      <p:sp>
        <p:nvSpPr>
          <p:cNvPr id="15" name="Text 12"/>
          <p:cNvSpPr txBox="1"/>
          <p:nvPr/>
        </p:nvSpPr>
        <p:spPr>
          <a:xfrm>
            <a:off x="1181405" y="3063240"/>
            <a:ext cx="14840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비결정적 실패 패턴 식별</a:t>
            </a:r>
            <a:endParaRPr lang="en-US" sz="1000"/>
          </a:p>
        </p:txBody>
      </p:sp>
      <p:sp>
        <p:nvSpPr>
          <p:cNvPr id="16" name="Text 13"/>
          <p:cNvSpPr txBox="1"/>
          <p:nvPr/>
        </p:nvSpPr>
        <p:spPr>
          <a:xfrm>
            <a:off x="724205" y="2247595"/>
            <a:ext cx="32068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타임스탬프, 실행 환경, 테스트 이름, 예상/실제 결과 정보 캡처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6286500" y="17903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6420002" y="1904695"/>
            <a:ext cx="114300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743700" y="1752905"/>
            <a:ext cx="1907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2: 로그 수집 및 첨부</a:t>
            </a:r>
            <a:endParaRPr lang="en-US" sz="13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524" b="-524"/>
          <a:stretch/>
        </p:blipFill>
        <p:spPr>
          <a:xfrm>
            <a:off x="6286500" y="2282342"/>
            <a:ext cx="152705" cy="1234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76695" y="2247595"/>
            <a:ext cx="10634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스택 트레이스 수집</a:t>
            </a:r>
            <a:endParaRPr lang="en-US" sz="90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15400" y="2282342"/>
            <a:ext cx="123444" cy="1234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77249" y="2247595"/>
            <a:ext cx="10634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타이밍 기록</a:t>
            </a:r>
            <a:endParaRPr lang="en-US" sz="900"/>
          </a:p>
        </p:txBody>
      </p:sp>
      <p:sp>
        <p:nvSpPr>
          <p:cNvPr id="24" name="Shape 18"/>
          <p:cNvSpPr/>
          <p:nvPr/>
        </p:nvSpPr>
        <p:spPr>
          <a:xfrm>
            <a:off x="724205" y="285018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8505" y="2964485"/>
            <a:ext cx="152705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1405" y="2811780"/>
            <a:ext cx="20025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3: Flaky 테스트 분석</a:t>
            </a:r>
            <a:endParaRPr lang="en-US" sz="130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4205" y="3341218"/>
            <a:ext cx="123444" cy="1234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72200" y="2697480"/>
            <a:ext cx="541050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886054" y="3307385"/>
            <a:ext cx="43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재실행</a:t>
            </a:r>
            <a:endParaRPr lang="en-US" sz="90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1950415" y="3341218"/>
            <a:ext cx="105156" cy="1143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t="-828" b="-828"/>
          <a:stretch/>
        </p:blipFill>
        <p:spPr>
          <a:xfrm>
            <a:off x="2784348" y="3341218"/>
            <a:ext cx="75895" cy="1234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2898648" y="3307385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확인</a:t>
            </a:r>
            <a:endParaRPr lang="en-US" sz="90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4109314" y="3341218"/>
            <a:ext cx="105156" cy="114300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4943246" y="3341218"/>
            <a:ext cx="105156" cy="12344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5085893" y="3307385"/>
            <a:ext cx="9107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플레이키 라벨링</a:t>
            </a:r>
            <a:endParaRPr lang="en-US" sz="900"/>
          </a:p>
        </p:txBody>
      </p:sp>
      <p:sp>
        <p:nvSpPr>
          <p:cNvPr id="36" name="Shape 24"/>
          <p:cNvSpPr/>
          <p:nvPr/>
        </p:nvSpPr>
        <p:spPr>
          <a:xfrm>
            <a:off x="6286500" y="285018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00800" y="2964485"/>
            <a:ext cx="152705" cy="15270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743700" y="3063240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관리 및 개선</a:t>
            </a:r>
            <a:endParaRPr lang="en-US" sz="1000"/>
          </a:p>
        </p:txBody>
      </p:sp>
      <p:sp>
        <p:nvSpPr>
          <p:cNvPr id="39" name="Text 26"/>
          <p:cNvSpPr txBox="1"/>
          <p:nvPr/>
        </p:nvSpPr>
        <p:spPr>
          <a:xfrm>
            <a:off x="6448349" y="3307385"/>
            <a:ext cx="8065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결정</a:t>
            </a:r>
            <a:endParaRPr lang="en-US" sz="900"/>
          </a:p>
        </p:txBody>
      </p:sp>
      <p:sp>
        <p:nvSpPr>
          <p:cNvPr id="40" name="Text 27"/>
          <p:cNvSpPr txBox="1"/>
          <p:nvPr/>
        </p:nvSpPr>
        <p:spPr>
          <a:xfrm>
            <a:off x="8716975" y="3307385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재시도 전략</a:t>
            </a:r>
            <a:endParaRPr lang="en-US" sz="900"/>
          </a:p>
        </p:txBody>
      </p:sp>
      <p:sp>
        <p:nvSpPr>
          <p:cNvPr id="41" name="Text 28"/>
          <p:cNvSpPr txBox="1"/>
          <p:nvPr/>
        </p:nvSpPr>
        <p:spPr>
          <a:xfrm>
            <a:off x="6743700" y="2811780"/>
            <a:ext cx="20025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4: Flaky 테스트 처리</a:t>
            </a:r>
            <a:endParaRPr lang="en-US" sz="130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286500" y="3341218"/>
            <a:ext cx="123444" cy="123444"/>
          </a:xfrm>
          <a:prstGeom prst="rect">
            <a:avLst/>
          </a:prstGeom>
        </p:spPr>
      </p:pic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555126" y="3341218"/>
            <a:ext cx="123444" cy="123444"/>
          </a:xfrm>
          <a:prstGeom prst="rect">
            <a:avLst/>
          </a:prstGeom>
        </p:spPr>
      </p:pic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711282" y="3341218"/>
            <a:ext cx="123444" cy="12344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10873130" y="3307385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 추적</a:t>
            </a:r>
            <a:endParaRPr lang="en-US" sz="900"/>
          </a:p>
        </p:txBody>
      </p:sp>
      <p:sp>
        <p:nvSpPr>
          <p:cNvPr id="46" name="Shape 30"/>
          <p:cNvSpPr/>
          <p:nvPr/>
        </p:nvSpPr>
        <p:spPr>
          <a:xfrm>
            <a:off x="609905" y="3757270"/>
            <a:ext cx="10972800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rcRect l="-33" r="-33"/>
          <a:stretch/>
        </p:blipFill>
        <p:spPr>
          <a:xfrm>
            <a:off x="724205" y="3919118"/>
            <a:ext cx="171907" cy="152705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933602" y="3871570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Flaky 테스트 진단 프로세스</a:t>
            </a:r>
            <a:endParaRPr lang="en-US" sz="1200"/>
          </a:p>
        </p:txBody>
      </p:sp>
      <p:sp>
        <p:nvSpPr>
          <p:cNvPr id="49" name="Shape 32"/>
          <p:cNvSpPr/>
          <p:nvPr/>
        </p:nvSpPr>
        <p:spPr>
          <a:xfrm>
            <a:off x="761695" y="4176065"/>
            <a:ext cx="2076602" cy="609905"/>
          </a:xfrm>
          <a:prstGeom prst="roundRect">
            <a:avLst>
              <a:gd name="adj" fmla="val 18741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448410" y="4421124"/>
            <a:ext cx="133502" cy="133502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1619402" y="438546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감지</a:t>
            </a:r>
            <a:endParaRPr lang="en-US" sz="1000"/>
          </a:p>
        </p:txBody>
      </p:sp>
      <p:sp>
        <p:nvSpPr>
          <p:cNvPr id="52" name="Shape 34"/>
          <p:cNvSpPr/>
          <p:nvPr/>
        </p:nvSpPr>
        <p:spPr>
          <a:xfrm>
            <a:off x="3173882" y="440466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5"/>
          <p:cNvSpPr/>
          <p:nvPr/>
        </p:nvSpPr>
        <p:spPr>
          <a:xfrm>
            <a:off x="3626510" y="4176065"/>
            <a:ext cx="2076602" cy="609905"/>
          </a:xfrm>
          <a:prstGeom prst="roundRect">
            <a:avLst>
              <a:gd name="adj" fmla="val 1874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313225" y="4326026"/>
            <a:ext cx="133502" cy="133502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4485132" y="429036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분석</a:t>
            </a:r>
            <a:endParaRPr lang="en-US" sz="1000"/>
          </a:p>
        </p:txBody>
      </p:sp>
      <p:sp>
        <p:nvSpPr>
          <p:cNvPr id="56" name="Text 37"/>
          <p:cNvSpPr txBox="1"/>
          <p:nvPr/>
        </p:nvSpPr>
        <p:spPr>
          <a:xfrm>
            <a:off x="4219956" y="4480560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3회 이상 재시도</a:t>
            </a:r>
            <a:endParaRPr lang="en-US" sz="1000"/>
          </a:p>
        </p:txBody>
      </p:sp>
      <p:sp>
        <p:nvSpPr>
          <p:cNvPr id="57" name="Shape 38"/>
          <p:cNvSpPr/>
          <p:nvPr/>
        </p:nvSpPr>
        <p:spPr>
          <a:xfrm>
            <a:off x="6038698" y="440466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39"/>
          <p:cNvSpPr/>
          <p:nvPr/>
        </p:nvSpPr>
        <p:spPr>
          <a:xfrm>
            <a:off x="6492240" y="4176065"/>
            <a:ext cx="2076602" cy="609905"/>
          </a:xfrm>
          <a:prstGeom prst="roundRect">
            <a:avLst>
              <a:gd name="adj" fmla="val 18741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9"/>
          <a:srcRect t="-1100" b="-1100"/>
          <a:stretch/>
        </p:blipFill>
        <p:spPr>
          <a:xfrm>
            <a:off x="7267651" y="4326026"/>
            <a:ext cx="114300" cy="133502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7420356" y="4290365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</a:t>
            </a:r>
            <a:endParaRPr lang="en-US" sz="1000"/>
          </a:p>
        </p:txBody>
      </p:sp>
      <p:sp>
        <p:nvSpPr>
          <p:cNvPr id="61" name="Text 41"/>
          <p:cNvSpPr txBox="1"/>
          <p:nvPr/>
        </p:nvSpPr>
        <p:spPr>
          <a:xfrm>
            <a:off x="7060997" y="448056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시스템 등록</a:t>
            </a:r>
            <a:endParaRPr lang="en-US" sz="1000"/>
          </a:p>
        </p:txBody>
      </p:sp>
      <p:sp>
        <p:nvSpPr>
          <p:cNvPr id="62" name="Shape 42"/>
          <p:cNvSpPr/>
          <p:nvPr/>
        </p:nvSpPr>
        <p:spPr>
          <a:xfrm>
            <a:off x="8903513" y="4404665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3"/>
          <p:cNvSpPr/>
          <p:nvPr/>
        </p:nvSpPr>
        <p:spPr>
          <a:xfrm>
            <a:off x="9357055" y="4176065"/>
            <a:ext cx="2076602" cy="609905"/>
          </a:xfrm>
          <a:prstGeom prst="roundRect">
            <a:avLst>
              <a:gd name="adj" fmla="val 18741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035540" y="4326026"/>
            <a:ext cx="133502" cy="133502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10207447" y="4290365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격리/수정</a:t>
            </a:r>
            <a:endParaRPr lang="en-US" sz="1000"/>
          </a:p>
        </p:txBody>
      </p:sp>
      <p:sp>
        <p:nvSpPr>
          <p:cNvPr id="66" name="Text 45"/>
          <p:cNvSpPr txBox="1"/>
          <p:nvPr/>
        </p:nvSpPr>
        <p:spPr>
          <a:xfrm>
            <a:off x="10067544" y="448056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전담팀 배정</a:t>
            </a:r>
            <a:endParaRPr lang="en-US" sz="1000"/>
          </a:p>
        </p:txBody>
      </p:sp>
      <p:sp>
        <p:nvSpPr>
          <p:cNvPr id="67" name="Shape 46"/>
          <p:cNvSpPr/>
          <p:nvPr/>
        </p:nvSpPr>
        <p:spPr>
          <a:xfrm>
            <a:off x="609905" y="5052060"/>
            <a:ext cx="10972800" cy="437998"/>
          </a:xfrm>
          <a:prstGeom prst="roundRect">
            <a:avLst>
              <a:gd name="adj" fmla="val 363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21"/>
          <a:srcRect l="-1773" r="-1773"/>
          <a:stretch/>
        </p:blipFill>
        <p:spPr>
          <a:xfrm>
            <a:off x="733349" y="5185562"/>
            <a:ext cx="133502" cy="171907"/>
          </a:xfrm>
          <a:prstGeom prst="rect">
            <a:avLst/>
          </a:prstGeom>
        </p:spPr>
      </p:pic>
      <p:sp>
        <p:nvSpPr>
          <p:cNvPr id="69" name="Text 47"/>
          <p:cNvSpPr txBox="1"/>
          <p:nvPr/>
        </p:nvSpPr>
        <p:spPr>
          <a:xfrm>
            <a:off x="942746" y="5176418"/>
            <a:ext cx="7129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Flaky 테스트는 비결정적 특성으로 디버깅이 어렵습니다. 자동화된 로깅과 패턴 분석으로 원인을 신속하게 파악하고 해결하세요.</a:t>
            </a:r>
            <a:endParaRPr lang="en-US" sz="1000"/>
          </a:p>
        </p:txBody>
      </p:sp>
      <p:sp>
        <p:nvSpPr>
          <p:cNvPr id="70" name="Text 48"/>
          <p:cNvSpPr txBox="1"/>
          <p:nvPr/>
        </p:nvSpPr>
        <p:spPr>
          <a:xfrm>
            <a:off x="9253728" y="6548933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실패 진단/로그</a:t>
            </a:r>
            <a:endParaRPr lang="en-US" sz="10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9529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 예시(yaml)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181405"/>
            <a:ext cx="590702" cy="237744"/>
          </a:xfrm>
          <a:prstGeom prst="roundRect">
            <a:avLst>
              <a:gd name="adj" fmla="val 384615"/>
            </a:avLst>
          </a:prstGeom>
          <a:solidFill>
            <a:srgbClr val="38A1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196035"/>
            <a:ext cx="465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YAML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1306678" y="1185062"/>
            <a:ext cx="3829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워크플로우 파일의 핵심 구성 예시입니다.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09905" y="1493215"/>
            <a:ext cx="10972800" cy="362102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761695" y="1605686"/>
            <a:ext cx="123444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1949" y="1598371"/>
            <a:ext cx="12079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dotnet-tests.yml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10477195" y="1579169"/>
            <a:ext cx="961949" cy="190195"/>
          </a:xfrm>
          <a:prstGeom prst="roundRect">
            <a:avLst>
              <a:gd name="adj" fmla="val 96154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554005" y="1617574"/>
            <a:ext cx="896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GitHub Actions</a:t>
            </a:r>
            <a:endParaRPr lang="en-US" sz="900"/>
          </a:p>
        </p:txBody>
      </p:sp>
      <p:sp>
        <p:nvSpPr>
          <p:cNvPr id="14" name="Shape 11"/>
          <p:cNvSpPr/>
          <p:nvPr/>
        </p:nvSpPr>
        <p:spPr>
          <a:xfrm>
            <a:off x="609905" y="1851660"/>
            <a:ext cx="10972800" cy="381030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24204" y="1975104"/>
            <a:ext cx="10616343" cy="352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name: .NET CI/CD Pipeline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on: [push, pull_request]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jobs: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build-and-test: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runs-on: ${{ matrix.os }}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strategy: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matrix: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os: [ ubuntu-latest, windows-latest ]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dotnet-version: [ 8.0.x ]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steps: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# </a:t>
            </a:r>
            <a:r>
              <a:rPr lang="ko-KR" alt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코드 체크아웃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- </a:t>
            </a: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uses: actions/checkout@v3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# .NET SDK </a:t>
            </a:r>
            <a:r>
              <a:rPr lang="ko-KR" alt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설정</a:t>
            </a:r>
          </a:p>
          <a:p>
            <a:pPr marL="0" indent="0" algn="l">
              <a:buNone/>
            </a:pPr>
            <a:r>
              <a:rPr lang="en-US" altLang="ko-KR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- </a:t>
            </a: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name: Setup .NET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uses: actions/setup-dotnet@v3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with: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dotnet-version: ${{ matrix.dotnet-version }}</a:t>
            </a: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# </a:t>
            </a:r>
            <a:r>
              <a:rPr lang="ko-KR" alt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의존성 복원 및 빌드</a:t>
            </a:r>
          </a:p>
          <a:p>
            <a:pPr marL="0" indent="0" algn="l">
              <a:buNone/>
            </a:pPr>
            <a:endParaRPr lang="ko-KR" altLang="en-US" sz="9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altLang="ko-KR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- </a:t>
            </a: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run: dotnet restore &amp;&amp; dotnet build --no-restore</a:t>
            </a:r>
          </a:p>
          <a:p>
            <a:pPr marL="0" indent="0" algn="l">
              <a:buNone/>
            </a:pPr>
            <a:endParaRPr lang="en-US" sz="9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# </a:t>
            </a:r>
            <a:r>
              <a:rPr lang="ko-KR" alt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테스트 실행 및 커버리지 수집</a:t>
            </a:r>
          </a:p>
          <a:p>
            <a:pPr marL="0" indent="0" algn="l">
              <a:buNone/>
            </a:pPr>
            <a:endParaRPr lang="ko-KR" altLang="en-US" sz="900">
              <a:solidFill>
                <a:schemeClr val="bg1"/>
              </a:solidFill>
              <a:latin typeface="Consolas" panose="020B0609020204030204" pitchFamily="49" charset="0"/>
              <a:ea typeface="Nanum Gothic Coding" pitchFamily="34" charset="-122"/>
              <a:cs typeface="Nanum Gothic Coding" pitchFamily="34" charset="-120"/>
            </a:endParaRPr>
          </a:p>
          <a:p>
            <a:pPr marL="0" indent="0" algn="l">
              <a:buNone/>
            </a:pPr>
            <a:r>
              <a:rPr lang="en-US" altLang="ko-KR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- </a:t>
            </a:r>
            <a:r>
              <a:rPr lang="en-US" sz="900">
                <a:solidFill>
                  <a:schemeClr val="bg1"/>
                </a:solidFill>
                <a:latin typeface="Consolas" panose="020B0609020204030204" pitchFamily="49" charset="0"/>
                <a:ea typeface="Nanum Gothic Coding" pitchFamily="34" charset="-122"/>
                <a:cs typeface="Nanum Gothic Coding" pitchFamily="34" charset="-120"/>
              </a:rPr>
              <a:t>run: dotnet test --no-build --collect:"XPlat Code Coverage"</a:t>
            </a:r>
            <a:endParaRPr lang="en-US" sz="9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724205" y="5837530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</a:t>
            </a:r>
            <a:endParaRPr lang="en-US" sz="900"/>
          </a:p>
        </p:txBody>
      </p:sp>
      <p:sp>
        <p:nvSpPr>
          <p:cNvPr id="41" name="Text 38"/>
          <p:cNvSpPr txBox="1"/>
          <p:nvPr/>
        </p:nvSpPr>
        <p:spPr>
          <a:xfrm>
            <a:off x="1009498" y="5837530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:</a:t>
            </a:r>
            <a:endParaRPr lang="en-US" sz="900"/>
          </a:p>
        </p:txBody>
      </p:sp>
      <p:sp>
        <p:nvSpPr>
          <p:cNvPr id="42" name="Text 39"/>
          <p:cNvSpPr txBox="1"/>
          <p:nvPr/>
        </p:nvSpPr>
        <p:spPr>
          <a:xfrm>
            <a:off x="952805" y="5985662"/>
            <a:ext cx="152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:</a:t>
            </a:r>
            <a:endParaRPr lang="en-US" sz="900"/>
          </a:p>
        </p:txBody>
      </p:sp>
      <p:sp>
        <p:nvSpPr>
          <p:cNvPr id="61" name="Text 58"/>
          <p:cNvSpPr txBox="1"/>
          <p:nvPr/>
        </p:nvSpPr>
        <p:spPr>
          <a:xfrm>
            <a:off x="1067105" y="5837530"/>
            <a:ext cx="2781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8D39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danielpalme/ReportGenerator-GitHub-Action@5.2.0</a:t>
            </a:r>
            <a:endParaRPr lang="en-US" sz="900"/>
          </a:p>
        </p:txBody>
      </p:sp>
      <p:sp>
        <p:nvSpPr>
          <p:cNvPr id="79" name="Text 76"/>
          <p:cNvSpPr txBox="1"/>
          <p:nvPr/>
        </p:nvSpPr>
        <p:spPr>
          <a:xfrm>
            <a:off x="780898" y="5837530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6AD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uses</a:t>
            </a:r>
            <a:endParaRPr lang="en-US" sz="900"/>
          </a:p>
        </p:txBody>
      </p:sp>
      <p:sp>
        <p:nvSpPr>
          <p:cNvPr id="80" name="Text 77"/>
          <p:cNvSpPr txBox="1"/>
          <p:nvPr/>
        </p:nvSpPr>
        <p:spPr>
          <a:xfrm>
            <a:off x="724205" y="5985662"/>
            <a:ext cx="3246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6AD55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with</a:t>
            </a:r>
            <a:endParaRPr lang="en-US" sz="900"/>
          </a:p>
        </p:txBody>
      </p:sp>
      <p:sp>
        <p:nvSpPr>
          <p:cNvPr id="105" name="Shape 102"/>
          <p:cNvSpPr/>
          <p:nvPr/>
        </p:nvSpPr>
        <p:spPr>
          <a:xfrm>
            <a:off x="609905" y="5737860"/>
            <a:ext cx="10972800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5861304"/>
            <a:ext cx="152705" cy="152705"/>
          </a:xfrm>
          <a:prstGeom prst="rect">
            <a:avLst/>
          </a:prstGeom>
        </p:spPr>
      </p:pic>
      <p:sp>
        <p:nvSpPr>
          <p:cNvPr id="107" name="Text 103"/>
          <p:cNvSpPr txBox="1"/>
          <p:nvPr/>
        </p:nvSpPr>
        <p:spPr>
          <a:xfrm>
            <a:off x="923544" y="582381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000"/>
          </a:p>
        </p:txBody>
      </p:sp>
      <p:sp>
        <p:nvSpPr>
          <p:cNvPr id="108" name="Text 104"/>
          <p:cNvSpPr txBox="1"/>
          <p:nvPr/>
        </p:nvSpPr>
        <p:spPr>
          <a:xfrm>
            <a:off x="923544" y="6004865"/>
            <a:ext cx="7715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워크플로우는 멀티 OS 환경에서 테스트를 자동 실행하고, 코드 커버리지 리포트를 생성하여 아티팩트로 저장합니다. PR이나 커밋 발생 시 자동으로 실행됩니다.</a:t>
            </a:r>
            <a:endParaRPr lang="en-US" sz="900"/>
          </a:p>
        </p:txBody>
      </p:sp>
      <p:sp>
        <p:nvSpPr>
          <p:cNvPr id="109" name="Text 105"/>
          <p:cNvSpPr txBox="1"/>
          <p:nvPr/>
        </p:nvSpPr>
        <p:spPr>
          <a:xfrm>
            <a:off x="8916314" y="6548933"/>
            <a:ext cx="2764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테스트 자동화/CI-CD</a:t>
            </a:r>
            <a:endParaRPr lang="en-US" sz="10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9630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요약/체크리스트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 및 CI/CD 파이프라인 구현을 위한 필수 체크리스트입니다.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705356"/>
            <a:ext cx="133502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2805" y="164774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구현 항목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609905" y="2018995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171700"/>
            <a:ext cx="200254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7844" y="2133295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PR 자동 테스트</a:t>
            </a:r>
            <a:endParaRPr lang="en-US" sz="1500"/>
          </a:p>
        </p:txBody>
      </p:sp>
      <p:sp>
        <p:nvSpPr>
          <p:cNvPr id="13" name="Text 9"/>
          <p:cNvSpPr txBox="1"/>
          <p:nvPr/>
        </p:nvSpPr>
        <p:spPr>
          <a:xfrm>
            <a:off x="1037844" y="2457907"/>
            <a:ext cx="42848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Pull Request에서 자동 테스트 실행 및 PR 머지 전 테스트 통과 확인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609905" y="2892247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044038"/>
            <a:ext cx="200254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37844" y="3006547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 보고</a:t>
            </a:r>
            <a:endParaRPr lang="en-US" sz="1500"/>
          </a:p>
        </p:txBody>
      </p:sp>
      <p:sp>
        <p:nvSpPr>
          <p:cNvPr id="17" name="Text 12"/>
          <p:cNvSpPr txBox="1"/>
          <p:nvPr/>
        </p:nvSpPr>
        <p:spPr>
          <a:xfrm>
            <a:off x="1037844" y="3330245"/>
            <a:ext cx="37609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실행 후 커버리지 수집 및 ReportGenerator 보고서 생성</a:t>
            </a:r>
            <a:endParaRPr lang="en-US" sz="1000"/>
          </a:p>
        </p:txBody>
      </p:sp>
      <p:sp>
        <p:nvSpPr>
          <p:cNvPr id="18" name="Shape 13"/>
          <p:cNvSpPr/>
          <p:nvPr/>
        </p:nvSpPr>
        <p:spPr>
          <a:xfrm>
            <a:off x="609905" y="3764585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917290"/>
            <a:ext cx="200254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37844" y="3878885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</a:t>
            </a:r>
            <a:endParaRPr lang="en-US" sz="1500"/>
          </a:p>
        </p:txBody>
      </p:sp>
      <p:sp>
        <p:nvSpPr>
          <p:cNvPr id="21" name="Text 15"/>
          <p:cNvSpPr txBox="1"/>
          <p:nvPr/>
        </p:nvSpPr>
        <p:spPr>
          <a:xfrm>
            <a:off x="1037844" y="4202582"/>
            <a:ext cx="3351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최소 기준 설정 및 미달 시 워크플로우 실패 구성</a:t>
            </a:r>
            <a:endParaRPr lang="en-US" sz="1000"/>
          </a:p>
        </p:txBody>
      </p:sp>
      <p:sp>
        <p:nvSpPr>
          <p:cNvPr id="22" name="Shape 16"/>
          <p:cNvSpPr/>
          <p:nvPr/>
        </p:nvSpPr>
        <p:spPr>
          <a:xfrm>
            <a:off x="609905" y="4636922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4789627"/>
            <a:ext cx="200254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37844" y="4751222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시크릿 보안 관리</a:t>
            </a:r>
            <a:endParaRPr lang="en-US" sz="1500"/>
          </a:p>
        </p:txBody>
      </p:sp>
      <p:sp>
        <p:nvSpPr>
          <p:cNvPr id="25" name="Text 18"/>
          <p:cNvSpPr txBox="1"/>
          <p:nvPr/>
        </p:nvSpPr>
        <p:spPr>
          <a:xfrm>
            <a:off x="1037844" y="5074920"/>
            <a:ext cx="3180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토큰, API 키 등을 GitHub Secrets으로 안전하게 관리</a:t>
            </a:r>
            <a:endParaRPr lang="en-US" sz="1000"/>
          </a:p>
        </p:txBody>
      </p:sp>
      <p:sp>
        <p:nvSpPr>
          <p:cNvPr id="26" name="Shape 19"/>
          <p:cNvSpPr/>
          <p:nvPr/>
        </p:nvSpPr>
        <p:spPr>
          <a:xfrm>
            <a:off x="6210605" y="1638605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77356" y="1705356"/>
            <a:ext cx="133502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53505" y="164774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구현 항목</a:t>
            </a:r>
            <a:endParaRPr lang="en-US" sz="1300"/>
          </a:p>
        </p:txBody>
      </p:sp>
      <p:sp>
        <p:nvSpPr>
          <p:cNvPr id="29" name="Shape 21"/>
          <p:cNvSpPr/>
          <p:nvPr/>
        </p:nvSpPr>
        <p:spPr>
          <a:xfrm>
            <a:off x="6210605" y="2018995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324905" y="2171700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638544" y="213329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매트릭스 빌드 구성</a:t>
            </a:r>
            <a:endParaRPr lang="en-US" sz="1500"/>
          </a:p>
        </p:txBody>
      </p:sp>
      <p:sp>
        <p:nvSpPr>
          <p:cNvPr id="32" name="Text 23"/>
          <p:cNvSpPr txBox="1"/>
          <p:nvPr/>
        </p:nvSpPr>
        <p:spPr>
          <a:xfrm>
            <a:off x="6638544" y="2457907"/>
            <a:ext cx="3418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OS 및 .NET 버전 조합에서의 매트릭스 테스트 실행</a:t>
            </a:r>
            <a:endParaRPr lang="en-US" sz="1000"/>
          </a:p>
        </p:txBody>
      </p:sp>
      <p:sp>
        <p:nvSpPr>
          <p:cNvPr id="33" name="Shape 24"/>
          <p:cNvSpPr/>
          <p:nvPr/>
        </p:nvSpPr>
        <p:spPr>
          <a:xfrm>
            <a:off x="6210605" y="2892247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324905" y="3044038"/>
            <a:ext cx="200254" cy="2286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38544" y="3006547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아티팩트 업로드</a:t>
            </a:r>
            <a:endParaRPr lang="en-US" sz="1500"/>
          </a:p>
        </p:txBody>
      </p:sp>
      <p:sp>
        <p:nvSpPr>
          <p:cNvPr id="36" name="Text 26"/>
          <p:cNvSpPr txBox="1"/>
          <p:nvPr/>
        </p:nvSpPr>
        <p:spPr>
          <a:xfrm>
            <a:off x="6638544" y="3330245"/>
            <a:ext cx="3523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결과, 커버리지 보고서, 로그 파일 등의 아티팩트 저장</a:t>
            </a:r>
            <a:endParaRPr lang="en-US" sz="1000"/>
          </a:p>
        </p:txBody>
      </p:sp>
      <p:sp>
        <p:nvSpPr>
          <p:cNvPr id="37" name="Shape 27"/>
          <p:cNvSpPr/>
          <p:nvPr/>
        </p:nvSpPr>
        <p:spPr>
          <a:xfrm>
            <a:off x="6210605" y="3764585"/>
            <a:ext cx="53721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324905" y="3917290"/>
            <a:ext cx="200254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38544" y="3878885"/>
            <a:ext cx="1962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배지와 PR 코멘트</a:t>
            </a:r>
            <a:endParaRPr lang="en-US" sz="1500"/>
          </a:p>
        </p:txBody>
      </p:sp>
      <p:sp>
        <p:nvSpPr>
          <p:cNvPr id="40" name="Text 29"/>
          <p:cNvSpPr txBox="1"/>
          <p:nvPr/>
        </p:nvSpPr>
        <p:spPr>
          <a:xfrm>
            <a:off x="6638544" y="4202582"/>
            <a:ext cx="37417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 파일에 빌드/테스트 상태 배지 및 PR 결과 자동 코멘트</a:t>
            </a:r>
            <a:endParaRPr lang="en-US" sz="1000"/>
          </a:p>
        </p:txBody>
      </p:sp>
      <p:sp>
        <p:nvSpPr>
          <p:cNvPr id="41" name="Shape 30"/>
          <p:cNvSpPr/>
          <p:nvPr/>
        </p:nvSpPr>
        <p:spPr>
          <a:xfrm>
            <a:off x="609905" y="5509260"/>
            <a:ext cx="10972800" cy="629107"/>
          </a:xfrm>
          <a:prstGeom prst="roundRect">
            <a:avLst>
              <a:gd name="adj" fmla="val 176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733349" y="5681167"/>
            <a:ext cx="114300" cy="15270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961949" y="563361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구현 팁</a:t>
            </a:r>
            <a:endParaRPr lang="en-US" sz="1000"/>
          </a:p>
        </p:txBody>
      </p:sp>
      <p:sp>
        <p:nvSpPr>
          <p:cNvPr id="44" name="Text 32"/>
          <p:cNvSpPr txBox="1"/>
          <p:nvPr/>
        </p:nvSpPr>
        <p:spPr>
          <a:xfrm>
            <a:off x="961949" y="5852160"/>
            <a:ext cx="6324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NuGet 패키지와 도구를 캐싱하여 파이프라인 실행 시간을 최대 50% 단축하세요. 가독성을 위해 워크플로우를 작업별로 분할하세요.</a:t>
            </a:r>
            <a:endParaRPr lang="en-US" sz="900"/>
          </a:p>
        </p:txBody>
      </p:sp>
      <p:sp>
        <p:nvSpPr>
          <p:cNvPr id="45" name="Text 33"/>
          <p:cNvSpPr txBox="1"/>
          <p:nvPr/>
        </p:nvSpPr>
        <p:spPr>
          <a:xfrm>
            <a:off x="8686800" y="6587338"/>
            <a:ext cx="29928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CI/CD 자동화 체크리스트</a:t>
            </a:r>
            <a:endParaRPr lang="en-US" sz="1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99955" y="6434633"/>
            <a:ext cx="19833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3250692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3417113" y="2095805"/>
            <a:ext cx="428854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40987" y="2115007"/>
            <a:ext cx="848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9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3250692" y="2800807"/>
            <a:ext cx="33915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프로젝트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3250692" y="3958438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TDD·자동화 적용 실습 프로젝트,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3250692" y="4301338"/>
            <a:ext cx="5867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단위테스트와 CI/CD 파이프라인 구축을 통한 실무 역량 강화</a:t>
            </a:r>
            <a:endParaRPr lang="en-US" sz="18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개요/요구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3504895" cy="4476902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2147926" y="1447495"/>
            <a:ext cx="428854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1952244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종합 프로젝트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800100" y="2286000"/>
            <a:ext cx="32250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단위테스트, TDD, Moq, 자동화 기술을 활용하여 실무 환경에서 프로젝트를 수행합니다.</a:t>
            </a:r>
            <a:endParaRPr lang="en-US" sz="1000"/>
          </a:p>
        </p:txBody>
      </p:sp>
      <p:sp>
        <p:nvSpPr>
          <p:cNvPr id="10" name="Text 7"/>
          <p:cNvSpPr txBox="1"/>
          <p:nvPr/>
        </p:nvSpPr>
        <p:spPr>
          <a:xfrm>
            <a:off x="800100" y="2743200"/>
            <a:ext cx="31866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팀별로 도메인을 선택하고 품질 높은 테스트 코드와 함께 개발합니다.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800100" y="3238805"/>
            <a:ext cx="3124505" cy="533095"/>
          </a:xfrm>
          <a:prstGeom prst="roundRect">
            <a:avLst>
              <a:gd name="adj" fmla="val 2450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14400" y="3390595"/>
            <a:ext cx="114300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04595" y="3343046"/>
            <a:ext cx="2705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비기능 요구사항(성능, 보안)은 제외하고, 단위테스트 및 TDD 적용에 집중합니다.</a:t>
            </a:r>
            <a:endParaRPr lang="en-US" sz="900"/>
          </a:p>
        </p:txBody>
      </p:sp>
      <p:sp>
        <p:nvSpPr>
          <p:cNvPr id="14" name="Shape 10"/>
          <p:cNvSpPr/>
          <p:nvPr/>
        </p:nvSpPr>
        <p:spPr>
          <a:xfrm>
            <a:off x="4343400" y="1257300"/>
            <a:ext cx="7239305" cy="4476902"/>
          </a:xfrm>
          <a:prstGeom prst="roundRect">
            <a:avLst>
              <a:gd name="adj" fmla="val 34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4533595" y="1438351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요구사항</a:t>
            </a:r>
            <a:endParaRPr lang="en-US" sz="1500"/>
          </a:p>
        </p:txBody>
      </p:sp>
      <p:sp>
        <p:nvSpPr>
          <p:cNvPr id="16" name="Shape 12"/>
          <p:cNvSpPr/>
          <p:nvPr/>
        </p:nvSpPr>
        <p:spPr>
          <a:xfrm>
            <a:off x="4533595" y="2133295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33595" y="3409798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33595" y="4686300"/>
            <a:ext cx="68580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4533595" y="1828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기능적 요구사항</a:t>
            </a:r>
            <a:endParaRPr lang="en-US" sz="1200"/>
          </a:p>
        </p:txBody>
      </p:sp>
      <p:sp>
        <p:nvSpPr>
          <p:cNvPr id="20" name="Text 16"/>
          <p:cNvSpPr txBox="1"/>
          <p:nvPr/>
        </p:nvSpPr>
        <p:spPr>
          <a:xfrm>
            <a:off x="4533595" y="31053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요구사항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4533595" y="438180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제출물</a:t>
            </a:r>
            <a:endParaRPr lang="en-US" sz="1200"/>
          </a:p>
        </p:txBody>
      </p:sp>
      <p:sp>
        <p:nvSpPr>
          <p:cNvPr id="22" name="Text 18"/>
          <p:cNvSpPr txBox="1"/>
          <p:nvPr/>
        </p:nvSpPr>
        <p:spPr>
          <a:xfrm>
            <a:off x="4762195" y="2266798"/>
            <a:ext cx="2986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선택한 도메인의 핵심 비즈니스 로직 구현 (5개 이상)</a:t>
            </a:r>
            <a:endParaRPr lang="en-US" sz="1000"/>
          </a:p>
        </p:txBody>
      </p:sp>
      <p:sp>
        <p:nvSpPr>
          <p:cNvPr id="23" name="Text 19"/>
          <p:cNvSpPr txBox="1"/>
          <p:nvPr/>
        </p:nvSpPr>
        <p:spPr>
          <a:xfrm>
            <a:off x="4762195" y="2533802"/>
            <a:ext cx="3176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핵심 로직의 단위테스트 (코드 커버리지 80% 이상)</a:t>
            </a:r>
            <a:endParaRPr lang="en-US" sz="1000"/>
          </a:p>
        </p:txBody>
      </p:sp>
      <p:sp>
        <p:nvSpPr>
          <p:cNvPr id="24" name="Text 20"/>
          <p:cNvSpPr txBox="1"/>
          <p:nvPr/>
        </p:nvSpPr>
        <p:spPr>
          <a:xfrm>
            <a:off x="4762195" y="2800807"/>
            <a:ext cx="2882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2개 이상 기능은 TDD로 개발 (커밋으로 증명)</a:t>
            </a:r>
            <a:endParaRPr lang="en-US" sz="1000"/>
          </a:p>
        </p:txBody>
      </p:sp>
      <p:sp>
        <p:nvSpPr>
          <p:cNvPr id="25" name="Text 21"/>
          <p:cNvSpPr txBox="1"/>
          <p:nvPr/>
        </p:nvSpPr>
        <p:spPr>
          <a:xfrm>
            <a:off x="4762195" y="3543300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Moq를 활용한 외부 의존성 격리 (최소 1개 이상)</a:t>
            </a:r>
            <a:endParaRPr lang="en-US" sz="1000"/>
          </a:p>
        </p:txBody>
      </p:sp>
      <p:sp>
        <p:nvSpPr>
          <p:cNvPr id="26" name="Text 22"/>
          <p:cNvSpPr txBox="1"/>
          <p:nvPr/>
        </p:nvSpPr>
        <p:spPr>
          <a:xfrm>
            <a:off x="4762195" y="3810305"/>
            <a:ext cx="2138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CI 파이프라인 구축</a:t>
            </a:r>
            <a:endParaRPr lang="en-US" sz="1000"/>
          </a:p>
        </p:txBody>
      </p:sp>
      <p:sp>
        <p:nvSpPr>
          <p:cNvPr id="27" name="Text 23"/>
          <p:cNvSpPr txBox="1"/>
          <p:nvPr/>
        </p:nvSpPr>
        <p:spPr>
          <a:xfrm>
            <a:off x="4762195" y="4076395"/>
            <a:ext cx="3139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 커버리지 리포트 생성 및 PR 코멘트</a:t>
            </a:r>
            <a:endParaRPr lang="en-US" sz="1000"/>
          </a:p>
        </p:txBody>
      </p:sp>
      <p:sp>
        <p:nvSpPr>
          <p:cNvPr id="28" name="Text 24"/>
          <p:cNvSpPr txBox="1"/>
          <p:nvPr/>
        </p:nvSpPr>
        <p:spPr>
          <a:xfrm>
            <a:off x="4762195" y="4819802"/>
            <a:ext cx="2662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리포지토리 (소스코드 및 테스트 코드)</a:t>
            </a:r>
            <a:endParaRPr lang="en-US" sz="1000"/>
          </a:p>
        </p:txBody>
      </p:sp>
      <p:sp>
        <p:nvSpPr>
          <p:cNvPr id="29" name="Text 25"/>
          <p:cNvSpPr txBox="1"/>
          <p:nvPr/>
        </p:nvSpPr>
        <p:spPr>
          <a:xfrm>
            <a:off x="4762195" y="5086807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계획서 문서 및 팀 회고 문서</a:t>
            </a:r>
            <a:endParaRPr lang="en-US" sz="1000"/>
          </a:p>
        </p:txBody>
      </p:sp>
      <p:sp>
        <p:nvSpPr>
          <p:cNvPr id="30" name="Text 26"/>
          <p:cNvSpPr txBox="1"/>
          <p:nvPr/>
        </p:nvSpPr>
        <p:spPr>
          <a:xfrm>
            <a:off x="4762195" y="5352898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데모 발표 자료 (5분 내외)</a:t>
            </a:r>
            <a:endParaRPr lang="en-US" sz="1000"/>
          </a:p>
        </p:txBody>
      </p:sp>
      <p:sp>
        <p:nvSpPr>
          <p:cNvPr id="31" name="Text 27"/>
          <p:cNvSpPr txBox="1"/>
          <p:nvPr/>
        </p:nvSpPr>
        <p:spPr>
          <a:xfrm>
            <a:off x="9304934" y="6511442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종합 프로젝트</a:t>
            </a:r>
            <a:endParaRPr lang="en-US" sz="10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아키텍처/폴더 구조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57300"/>
            <a:ext cx="10972800" cy="1304849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1257300"/>
            <a:ext cx="47549" cy="130484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7649" y="1447495"/>
            <a:ext cx="19915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구조 설계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47649" y="1867205"/>
            <a:ext cx="1063264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효율성을 위해 관심사 분리와 의존성 역전 원칙을 적용한 구조가 필요합니다. 도메인 중심 설계로 비즈니스 로직과 인프라 코드를 분리하여 테스트 용이성을 높입니다.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09905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014" b="-1014"/>
          <a:stretch/>
        </p:blipFill>
        <p:spPr>
          <a:xfrm>
            <a:off x="761695" y="2864815"/>
            <a:ext cx="304495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7797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81405" y="2877617"/>
            <a:ext cx="14593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소스와 테스트 분리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761695" y="3207715"/>
            <a:ext cx="323697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 폴더와 tests/ 폴더로 분리하고, 테스트 프로젝트는 [원본프로젝트].Tests 형식으로 명명합니다.</a:t>
            </a:r>
            <a:endParaRPr lang="en-US" sz="1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0502" y="2864815"/>
            <a:ext cx="276149" cy="2761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26603" y="2713025"/>
            <a:ext cx="3562502" cy="1047902"/>
          </a:xfrm>
          <a:prstGeom prst="roundRect">
            <a:avLst>
              <a:gd name="adj" fmla="val 634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60950" y="2877617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중심 설계</a:t>
            </a:r>
            <a:endParaRPr lang="en-US" sz="1300"/>
          </a:p>
        </p:txBody>
      </p:sp>
      <p:sp>
        <p:nvSpPr>
          <p:cNvPr id="18" name="Text 14"/>
          <p:cNvSpPr txBox="1"/>
          <p:nvPr/>
        </p:nvSpPr>
        <p:spPr>
          <a:xfrm>
            <a:off x="4470502" y="3207715"/>
            <a:ext cx="332293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Domain, Application, Infrastructure 계층으로 구분하여 책임을 명확히 합니다.</a:t>
            </a:r>
            <a:endParaRPr lang="en-US" sz="10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552" r="-552"/>
          <a:stretch/>
        </p:blipFill>
        <p:spPr>
          <a:xfrm>
            <a:off x="8178394" y="2864815"/>
            <a:ext cx="209398" cy="2761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006" y="2877617"/>
            <a:ext cx="16120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기반 설계</a:t>
            </a:r>
            <a:endParaRPr lang="en-US" sz="1300"/>
          </a:p>
        </p:txBody>
      </p:sp>
      <p:sp>
        <p:nvSpPr>
          <p:cNvPr id="21" name="Text 16"/>
          <p:cNvSpPr txBox="1"/>
          <p:nvPr/>
        </p:nvSpPr>
        <p:spPr>
          <a:xfrm>
            <a:off x="8178394" y="3207715"/>
            <a:ext cx="323697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 주입을 위한 인터페이스를 활용해 테스트 용이성과 컴포넌트 교체를 용이하게 합니다.</a:t>
            </a: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09905" y="3906317"/>
            <a:ext cx="10972800" cy="1733702"/>
          </a:xfrm>
          <a:prstGeom prst="roundRect">
            <a:avLst>
              <a:gd name="adj" fmla="val 23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771754" y="4106570"/>
            <a:ext cx="256946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43000" y="4068166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폴더 구조 예시</a:t>
            </a:r>
            <a:endParaRPr lang="en-US" sz="1200"/>
          </a:p>
        </p:txBody>
      </p:sp>
      <p:sp>
        <p:nvSpPr>
          <p:cNvPr id="25" name="Shape 19"/>
          <p:cNvSpPr/>
          <p:nvPr/>
        </p:nvSpPr>
        <p:spPr>
          <a:xfrm>
            <a:off x="1143000" y="4373575"/>
            <a:ext cx="3276295" cy="1104595"/>
          </a:xfrm>
          <a:prstGeom prst="roundRect">
            <a:avLst>
              <a:gd name="adj" fmla="val 2855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492447" y="4373575"/>
            <a:ext cx="3276295" cy="1104595"/>
          </a:xfrm>
          <a:prstGeom prst="roundRect">
            <a:avLst>
              <a:gd name="adj" fmla="val 2855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218895" y="4468673"/>
            <a:ext cx="309890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Solution/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├── src/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├── ProjectName.Domain/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├── ProjectName.Application/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└── ProjectName.Infrastructure/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4568341" y="4468673"/>
            <a:ext cx="3074849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Solution/ (</a:t>
            </a:r>
            <a:r>
              <a:rPr lang="ko-KR" alt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계속</a:t>
            </a:r>
            <a:r>
              <a:rPr lang="en-US" altLang="ko-KR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altLang="ko-KR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├── </a:t>
            </a: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tests/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├── ProjectName.Domain.Tests/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├── ProjectName.Application.Tests/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Consolas" panose="020B0609020204030204" pitchFamily="49" charset="0"/>
                <a:ea typeface="ui-monospace" pitchFamily="34" charset="-122"/>
                <a:cs typeface="ui-monospace" pitchFamily="34" charset="-120"/>
              </a:rPr>
              <a:t>│ └── ProjectName.Infrastructure.Tests/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9304934" y="6511442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종합 프로젝트</a:t>
            </a:r>
            <a:endParaRPr lang="en-US" sz="10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3277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스프린트/역할 분담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18895"/>
            <a:ext cx="3062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팀별 종합 프로젝트를 위한 협업 프로세스와 역할 분담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09905" y="1561795"/>
            <a:ext cx="3504895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343400" y="1561795"/>
            <a:ext cx="3504895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4205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819302" y="1849831"/>
            <a:ext cx="114300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76895" y="1561795"/>
            <a:ext cx="3504895" cy="933602"/>
          </a:xfrm>
          <a:prstGeom prst="roundRect">
            <a:avLst>
              <a:gd name="adj" fmla="val 7995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57700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04595" y="1676095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4839005" y="1676095"/>
            <a:ext cx="75529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1-2</a:t>
            </a:r>
            <a:endParaRPr lang="en-US" sz="1300"/>
          </a:p>
        </p:txBody>
      </p:sp>
      <p:sp>
        <p:nvSpPr>
          <p:cNvPr id="15" name="Text 12"/>
          <p:cNvSpPr txBox="1"/>
          <p:nvPr/>
        </p:nvSpPr>
        <p:spPr>
          <a:xfrm>
            <a:off x="1104595" y="1927555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스프린트 계획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4839005" y="192755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단계</a:t>
            </a:r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724205" y="2194560"/>
            <a:ext cx="13587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분석, 작업 분할</a:t>
            </a:r>
            <a:endParaRPr lang="en-US" sz="90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3654" y="1849831"/>
            <a:ext cx="133502" cy="13350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91195" y="176387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572500" y="1927555"/>
            <a:ext cx="743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리뷰/회고</a:t>
            </a:r>
            <a:endParaRPr lang="en-US" sz="1200"/>
          </a:p>
        </p:txBody>
      </p:sp>
      <p:sp>
        <p:nvSpPr>
          <p:cNvPr id="21" name="Text 17"/>
          <p:cNvSpPr txBox="1"/>
          <p:nvPr/>
        </p:nvSpPr>
        <p:spPr>
          <a:xfrm>
            <a:off x="4457700" y="2194560"/>
            <a:ext cx="13871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작성, 구현, 페어링</a:t>
            </a:r>
            <a:endParaRPr lang="en-US" sz="9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7149" y="1849831"/>
            <a:ext cx="133502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572500" y="1676095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</a:t>
            </a:r>
            <a:endParaRPr lang="en-US" sz="1300"/>
          </a:p>
        </p:txBody>
      </p:sp>
      <p:sp>
        <p:nvSpPr>
          <p:cNvPr id="24" name="Text 19"/>
          <p:cNvSpPr txBox="1"/>
          <p:nvPr/>
        </p:nvSpPr>
        <p:spPr>
          <a:xfrm>
            <a:off x="8191195" y="2194560"/>
            <a:ext cx="1720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리뷰, 테스트 커버리지 확인</a:t>
            </a:r>
            <a:endParaRPr lang="en-US" sz="900"/>
          </a:p>
        </p:txBody>
      </p:sp>
      <p:sp>
        <p:nvSpPr>
          <p:cNvPr id="25" name="Shape 20"/>
          <p:cNvSpPr/>
          <p:nvPr/>
        </p:nvSpPr>
        <p:spPr>
          <a:xfrm>
            <a:off x="609905" y="2644445"/>
            <a:ext cx="10972800" cy="514807"/>
          </a:xfrm>
          <a:prstGeom prst="roundRect">
            <a:avLst>
              <a:gd name="adj" fmla="val 2631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94944" y="2767889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757123" y="2844698"/>
            <a:ext cx="142646" cy="1143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37844" y="2730398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일간 싱크업 (15분)</a:t>
            </a:r>
            <a:endParaRPr lang="en-US" sz="1000"/>
          </a:p>
        </p:txBody>
      </p:sp>
      <p:sp>
        <p:nvSpPr>
          <p:cNvPr id="29" name="Text 23"/>
          <p:cNvSpPr txBox="1"/>
          <p:nvPr/>
        </p:nvSpPr>
        <p:spPr>
          <a:xfrm>
            <a:off x="1037844" y="2910535"/>
            <a:ext cx="2400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상황, 차단 요소, 계획 공유 - 매일 오전 10시</a:t>
            </a:r>
            <a:endParaRPr lang="en-US" sz="900"/>
          </a:p>
        </p:txBody>
      </p:sp>
      <p:sp>
        <p:nvSpPr>
          <p:cNvPr id="30" name="Text 24"/>
          <p:cNvSpPr txBox="1"/>
          <p:nvPr/>
        </p:nvSpPr>
        <p:spPr>
          <a:xfrm>
            <a:off x="609905" y="327263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분담</a:t>
            </a:r>
            <a:endParaRPr lang="en-US" sz="1200"/>
          </a:p>
        </p:txBody>
      </p:sp>
      <p:sp>
        <p:nvSpPr>
          <p:cNvPr id="31" name="Shape 25"/>
          <p:cNvSpPr/>
          <p:nvPr/>
        </p:nvSpPr>
        <p:spPr>
          <a:xfrm>
            <a:off x="609905" y="3539642"/>
            <a:ext cx="3581705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609905" y="3539642"/>
            <a:ext cx="28346" cy="8759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714146" y="36155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776326" y="3673145"/>
            <a:ext cx="105156" cy="1143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81151" y="363474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책임자</a:t>
            </a:r>
            <a:endParaRPr lang="en-US" sz="1000"/>
          </a:p>
        </p:txBody>
      </p:sp>
      <p:sp>
        <p:nvSpPr>
          <p:cNvPr id="36" name="Text 29"/>
          <p:cNvSpPr txBox="1"/>
          <p:nvPr/>
        </p:nvSpPr>
        <p:spPr>
          <a:xfrm>
            <a:off x="828446" y="3873398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명확화</a:t>
            </a:r>
            <a:endParaRPr lang="en-US" sz="900"/>
          </a:p>
        </p:txBody>
      </p:sp>
      <p:sp>
        <p:nvSpPr>
          <p:cNvPr id="37" name="Text 30"/>
          <p:cNvSpPr txBox="1"/>
          <p:nvPr/>
        </p:nvSpPr>
        <p:spPr>
          <a:xfrm>
            <a:off x="828446" y="4025189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결정</a:t>
            </a:r>
            <a:endParaRPr lang="en-US" sz="900"/>
          </a:p>
        </p:txBody>
      </p:sp>
      <p:sp>
        <p:nvSpPr>
          <p:cNvPr id="38" name="Text 31"/>
          <p:cNvSpPr txBox="1"/>
          <p:nvPr/>
        </p:nvSpPr>
        <p:spPr>
          <a:xfrm>
            <a:off x="828446" y="4177894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여부 확인</a:t>
            </a:r>
            <a:endParaRPr lang="en-US" sz="900"/>
          </a:p>
        </p:txBody>
      </p:sp>
      <p:sp>
        <p:nvSpPr>
          <p:cNvPr id="39" name="Shape 32"/>
          <p:cNvSpPr/>
          <p:nvPr/>
        </p:nvSpPr>
        <p:spPr>
          <a:xfrm>
            <a:off x="4304995" y="3539642"/>
            <a:ext cx="3581705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4304995" y="3539642"/>
            <a:ext cx="28346" cy="8759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4410151" y="36155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4453128" y="3673145"/>
            <a:ext cx="142646" cy="1143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677156" y="3634740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</a:t>
            </a:r>
            <a:endParaRPr lang="en-US" sz="1000"/>
          </a:p>
        </p:txBody>
      </p:sp>
      <p:sp>
        <p:nvSpPr>
          <p:cNvPr id="44" name="Text 36"/>
          <p:cNvSpPr txBox="1"/>
          <p:nvPr/>
        </p:nvSpPr>
        <p:spPr>
          <a:xfrm>
            <a:off x="4524451" y="387339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 작성</a:t>
            </a:r>
            <a:endParaRPr lang="en-US" sz="900"/>
          </a:p>
        </p:txBody>
      </p:sp>
      <p:sp>
        <p:nvSpPr>
          <p:cNvPr id="45" name="Text 37"/>
          <p:cNvSpPr txBox="1"/>
          <p:nvPr/>
        </p:nvSpPr>
        <p:spPr>
          <a:xfrm>
            <a:off x="4524451" y="4025189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 (TDD)</a:t>
            </a:r>
            <a:endParaRPr lang="en-US" sz="900"/>
          </a:p>
        </p:txBody>
      </p:sp>
      <p:sp>
        <p:nvSpPr>
          <p:cNvPr id="46" name="Text 38"/>
          <p:cNvSpPr txBox="1"/>
          <p:nvPr/>
        </p:nvSpPr>
        <p:spPr>
          <a:xfrm>
            <a:off x="4524451" y="417789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</a:t>
            </a:r>
            <a:endParaRPr lang="en-US" sz="900"/>
          </a:p>
        </p:txBody>
      </p:sp>
      <p:sp>
        <p:nvSpPr>
          <p:cNvPr id="47" name="Shape 39"/>
          <p:cNvSpPr/>
          <p:nvPr/>
        </p:nvSpPr>
        <p:spPr>
          <a:xfrm>
            <a:off x="8001000" y="3539642"/>
            <a:ext cx="3581705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0"/>
          <p:cNvSpPr/>
          <p:nvPr/>
        </p:nvSpPr>
        <p:spPr>
          <a:xfrm>
            <a:off x="8001000" y="3539642"/>
            <a:ext cx="28346" cy="8759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1"/>
          <p:cNvSpPr/>
          <p:nvPr/>
        </p:nvSpPr>
        <p:spPr>
          <a:xfrm>
            <a:off x="8106156" y="36155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62849" y="3673145"/>
            <a:ext cx="114300" cy="11430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8372246" y="3634740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담당</a:t>
            </a:r>
            <a:endParaRPr lang="en-US" sz="1000"/>
          </a:p>
        </p:txBody>
      </p:sp>
      <p:sp>
        <p:nvSpPr>
          <p:cNvPr id="52" name="Text 43"/>
          <p:cNvSpPr txBox="1"/>
          <p:nvPr/>
        </p:nvSpPr>
        <p:spPr>
          <a:xfrm>
            <a:off x="8220456" y="3873398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전략 수립</a:t>
            </a:r>
            <a:endParaRPr lang="en-US" sz="900"/>
          </a:p>
        </p:txBody>
      </p:sp>
      <p:sp>
        <p:nvSpPr>
          <p:cNvPr id="53" name="Text 44"/>
          <p:cNvSpPr txBox="1"/>
          <p:nvPr/>
        </p:nvSpPr>
        <p:spPr>
          <a:xfrm>
            <a:off x="8220456" y="4025189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커버리지 검증</a:t>
            </a:r>
            <a:endParaRPr lang="en-US" sz="900"/>
          </a:p>
        </p:txBody>
      </p:sp>
      <p:sp>
        <p:nvSpPr>
          <p:cNvPr id="54" name="Text 45"/>
          <p:cNvSpPr txBox="1"/>
          <p:nvPr/>
        </p:nvSpPr>
        <p:spPr>
          <a:xfrm>
            <a:off x="8220456" y="4177894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파이프라인 관리</a:t>
            </a:r>
            <a:endParaRPr lang="en-US" sz="900"/>
          </a:p>
        </p:txBody>
      </p:sp>
      <p:sp>
        <p:nvSpPr>
          <p:cNvPr id="55" name="Shape 46"/>
          <p:cNvSpPr/>
          <p:nvPr/>
        </p:nvSpPr>
        <p:spPr>
          <a:xfrm>
            <a:off x="609905" y="4529938"/>
            <a:ext cx="10972800" cy="476402"/>
          </a:xfrm>
          <a:prstGeom prst="roundRect">
            <a:avLst>
              <a:gd name="adj" fmla="val 307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4944" y="4701845"/>
            <a:ext cx="133502" cy="1335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05256" y="460674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도구</a:t>
            </a:r>
            <a:endParaRPr lang="en-US" sz="900"/>
          </a:p>
        </p:txBody>
      </p:sp>
      <p:sp>
        <p:nvSpPr>
          <p:cNvPr id="58" name="Text 48"/>
          <p:cNvSpPr txBox="1"/>
          <p:nvPr/>
        </p:nvSpPr>
        <p:spPr>
          <a:xfrm>
            <a:off x="905256" y="4758538"/>
            <a:ext cx="4353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Issues - 작업 관리 | PR - 코드 리뷰 | Teams/Slack - 소통 | 팀 빌드 서버 - CI/CD</a:t>
            </a:r>
            <a:endParaRPr lang="en-US" sz="900"/>
          </a:p>
        </p:txBody>
      </p:sp>
      <p:sp>
        <p:nvSpPr>
          <p:cNvPr id="59" name="Text 49"/>
          <p:cNvSpPr txBox="1"/>
          <p:nvPr/>
        </p:nvSpPr>
        <p:spPr>
          <a:xfrm>
            <a:off x="8556041" y="5006340"/>
            <a:ext cx="25109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스프린트/역할 분담</a:t>
            </a:r>
            <a:endParaRPr lang="en-US" sz="900"/>
          </a:p>
        </p:txBody>
      </p:sp>
      <p:sp>
        <p:nvSpPr>
          <p:cNvPr id="60" name="Shape 50"/>
          <p:cNvSpPr/>
          <p:nvPr/>
        </p:nvSpPr>
        <p:spPr>
          <a:xfrm>
            <a:off x="4114800" y="1955902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1"/>
          <p:cNvSpPr/>
          <p:nvPr/>
        </p:nvSpPr>
        <p:spPr>
          <a:xfrm>
            <a:off x="7848295" y="1955902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33055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계획서 템플릿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3801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TDD 프로젝트 수행을 위한 계획서 템플릿입니다.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28346" cy="8385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2625242"/>
            <a:ext cx="28346" cy="8385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09905" y="3611880"/>
            <a:ext cx="28346" cy="8385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905" y="4598518"/>
            <a:ext cx="28346" cy="7242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" y="1638605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8056" y="2625242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48056" y="3611880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" y="4598518"/>
            <a:ext cx="342900" cy="3429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9671" y="1684325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569671" y="2670962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569671" y="3657600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69671" y="4644238"/>
            <a:ext cx="2313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942746" y="1638605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리스트 작성</a:t>
            </a:r>
            <a:endParaRPr lang="en-US" sz="1400"/>
          </a:p>
        </p:txBody>
      </p:sp>
      <p:sp>
        <p:nvSpPr>
          <p:cNvPr id="20" name="Text 18"/>
          <p:cNvSpPr txBox="1"/>
          <p:nvPr/>
        </p:nvSpPr>
        <p:spPr>
          <a:xfrm>
            <a:off x="942746" y="2625242"/>
            <a:ext cx="12042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지정</a:t>
            </a:r>
            <a:endParaRPr lang="en-US" sz="1400"/>
          </a:p>
        </p:txBody>
      </p:sp>
      <p:sp>
        <p:nvSpPr>
          <p:cNvPr id="21" name="Text 19"/>
          <p:cNvSpPr txBox="1"/>
          <p:nvPr/>
        </p:nvSpPr>
        <p:spPr>
          <a:xfrm>
            <a:off x="942746" y="3611880"/>
            <a:ext cx="16139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리스크/가정 문서화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942746" y="459851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정의(DoD) 설정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942746" y="1950415"/>
            <a:ext cx="45473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구현할 기능을 작은 단위로 분해하고, 각 단위의 테스트 목록을 작성합니다.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942746" y="2937053"/>
            <a:ext cx="4251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케이스에 우선순위를 부여하고 단순한 케이스부터 시작합니다.</a:t>
            </a:r>
            <a:endParaRPr lang="en-US" sz="1100"/>
          </a:p>
        </p:txBody>
      </p:sp>
      <p:sp>
        <p:nvSpPr>
          <p:cNvPr id="25" name="Text 23"/>
          <p:cNvSpPr txBox="1"/>
          <p:nvPr/>
        </p:nvSpPr>
        <p:spPr>
          <a:xfrm>
            <a:off x="942746" y="3924605"/>
            <a:ext cx="37664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진행 시 예상되는 리스크와 가정 사항을 명시합니다.</a:t>
            </a:r>
            <a:endParaRPr lang="en-US" sz="1100"/>
          </a:p>
        </p:txBody>
      </p:sp>
      <p:sp>
        <p:nvSpPr>
          <p:cNvPr id="26" name="Text 24"/>
          <p:cNvSpPr txBox="1"/>
          <p:nvPr/>
        </p:nvSpPr>
        <p:spPr>
          <a:xfrm>
            <a:off x="942746" y="4911242"/>
            <a:ext cx="2852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테스트가 "완료"된 기준을 명확히 설정합니다.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942746" y="2157984"/>
            <a:ext cx="36996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"빈 문자열 입력 시 0 반환", "단일 숫자 시 해당 값 반환"</a:t>
            </a:r>
            <a:endParaRPr lang="en-US" sz="1100"/>
          </a:p>
        </p:txBody>
      </p:sp>
      <p:sp>
        <p:nvSpPr>
          <p:cNvPr id="28" name="Text 26"/>
          <p:cNvSpPr txBox="1"/>
          <p:nvPr/>
        </p:nvSpPr>
        <p:spPr>
          <a:xfrm>
            <a:off x="942746" y="3144622"/>
            <a:ext cx="31190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우선순위: High(필수), Medium(중요), Low(선택)</a:t>
            </a:r>
            <a:endParaRPr lang="en-US" sz="1100"/>
          </a:p>
        </p:txBody>
      </p:sp>
      <p:sp>
        <p:nvSpPr>
          <p:cNvPr id="29" name="Text 27"/>
          <p:cNvSpPr txBox="1"/>
          <p:nvPr/>
        </p:nvSpPr>
        <p:spPr>
          <a:xfrm>
            <a:off x="942746" y="4132174"/>
            <a:ext cx="34518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"외부 API는 200ms 이내 응답", "유효 입력만 가정"</a:t>
            </a:r>
            <a:endParaRPr lang="en-US" sz="1100"/>
          </a:p>
        </p:txBody>
      </p:sp>
      <p:sp>
        <p:nvSpPr>
          <p:cNvPr id="30" name="Text 28"/>
          <p:cNvSpPr txBox="1"/>
          <p:nvPr/>
        </p:nvSpPr>
        <p:spPr>
          <a:xfrm>
            <a:off x="942746" y="5118811"/>
            <a:ext cx="50145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DoD 예시: 모든 테스트 통과, 코드 커버리지 80%+, 리팩토링 완료, 코드 리뷰 승인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609905" y="5509260"/>
            <a:ext cx="10972800" cy="647395"/>
          </a:xfrm>
          <a:prstGeom prst="roundRect">
            <a:avLst>
              <a:gd name="adj" fmla="val 12463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09905" y="5509260"/>
            <a:ext cx="38405" cy="64739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t="-67637" b="-67637"/>
          <a:stretch/>
        </p:blipFill>
        <p:spPr>
          <a:xfrm>
            <a:off x="761695" y="5623560"/>
            <a:ext cx="133502" cy="418795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972007" y="5623560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200"/>
          </a:p>
        </p:txBody>
      </p:sp>
      <p:sp>
        <p:nvSpPr>
          <p:cNvPr id="35" name="Text 32"/>
          <p:cNvSpPr txBox="1"/>
          <p:nvPr/>
        </p:nvSpPr>
        <p:spPr>
          <a:xfrm>
            <a:off x="972007" y="5852160"/>
            <a:ext cx="6005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 계획서는 살아있는 문서입니다. 개발 중 새로운 테스트 케이스가 발견되면 지속적으로 업데이트하세요.</a:t>
            </a:r>
            <a:endParaRPr lang="en-US" sz="1000"/>
          </a:p>
        </p:txBody>
      </p:sp>
      <p:sp>
        <p:nvSpPr>
          <p:cNvPr id="36" name="Text 33"/>
          <p:cNvSpPr txBox="1"/>
          <p:nvPr/>
        </p:nvSpPr>
        <p:spPr>
          <a:xfrm>
            <a:off x="609905" y="6511442"/>
            <a:ext cx="3002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테스트 우선순위는 프로젝트 특성에 맞게 조정하세요</a:t>
            </a:r>
            <a:endParaRPr lang="en-US" sz="1000"/>
          </a:p>
        </p:txBody>
      </p:sp>
      <p:sp>
        <p:nvSpPr>
          <p:cNvPr id="37" name="Text 34"/>
          <p:cNvSpPr txBox="1"/>
          <p:nvPr/>
        </p:nvSpPr>
        <p:spPr>
          <a:xfrm>
            <a:off x="9304934" y="6511442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종합 프로젝트</a:t>
            </a:r>
            <a:endParaRPr lang="en-US" sz="1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14554"/>
            <a:ext cx="35725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체크리스트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528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10459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코드를 리뷰할 때 확인해야 할 핵심 품질 검증 항목입니다.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48590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666598" y="1552651"/>
            <a:ext cx="152705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2805" y="150510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가독성 및 구조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609905" y="186720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018995"/>
            <a:ext cx="200254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905" y="272765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09905" y="3589020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172200" y="186720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72200" y="2727655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37844" y="1981505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명명 규칙</a:t>
            </a:r>
            <a:endParaRPr lang="en-US" sz="1400"/>
          </a:p>
        </p:txBody>
      </p:sp>
      <p:sp>
        <p:nvSpPr>
          <p:cNvPr id="17" name="Text 13"/>
          <p:cNvSpPr txBox="1"/>
          <p:nvPr/>
        </p:nvSpPr>
        <p:spPr>
          <a:xfrm>
            <a:off x="1037844" y="2293315"/>
            <a:ext cx="38368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Method_Scenario_Expected 형식으로 일관되게 작성되었는가?</a:t>
            </a:r>
            <a:endParaRPr lang="en-US" sz="10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2880360"/>
            <a:ext cx="200254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7844" y="2841955"/>
            <a:ext cx="12618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 적용</a:t>
            </a:r>
            <a:endParaRPr lang="en-US" sz="1400"/>
          </a:p>
        </p:txBody>
      </p:sp>
      <p:sp>
        <p:nvSpPr>
          <p:cNvPr id="20" name="Text 15"/>
          <p:cNvSpPr txBox="1"/>
          <p:nvPr/>
        </p:nvSpPr>
        <p:spPr>
          <a:xfrm>
            <a:off x="1037844" y="3154680"/>
            <a:ext cx="3161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Arrange-Act-Assert 구조가 명확히 분리되어 있는가?</a:t>
            </a:r>
            <a:endParaRPr lang="en-US" sz="10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24205" y="3741725"/>
            <a:ext cx="200254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72200" y="3589020"/>
            <a:ext cx="5410505" cy="752551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1037844" y="3703320"/>
            <a:ext cx="1251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코드 제거</a:t>
            </a:r>
            <a:endParaRPr lang="en-US" sz="1400"/>
          </a:p>
        </p:txBody>
      </p:sp>
      <p:sp>
        <p:nvSpPr>
          <p:cNvPr id="24" name="Text 18"/>
          <p:cNvSpPr txBox="1"/>
          <p:nvPr/>
        </p:nvSpPr>
        <p:spPr>
          <a:xfrm>
            <a:off x="6601054" y="3703320"/>
            <a:ext cx="14237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책임 테스트</a:t>
            </a:r>
            <a:endParaRPr lang="en-US" sz="1400"/>
          </a:p>
        </p:txBody>
      </p:sp>
      <p:sp>
        <p:nvSpPr>
          <p:cNvPr id="25" name="Text 19"/>
          <p:cNvSpPr txBox="1"/>
          <p:nvPr/>
        </p:nvSpPr>
        <p:spPr>
          <a:xfrm>
            <a:off x="1037844" y="4016045"/>
            <a:ext cx="34939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코드가 헬퍼 메서드나 Fixture로 적절히 추출되었는가?</a:t>
            </a:r>
            <a:endParaRPr lang="en-US" sz="1000"/>
          </a:p>
        </p:txBody>
      </p:sp>
      <p:sp>
        <p:nvSpPr>
          <p:cNvPr id="26" name="Shape 20"/>
          <p:cNvSpPr/>
          <p:nvPr/>
        </p:nvSpPr>
        <p:spPr>
          <a:xfrm>
            <a:off x="6172200" y="1485900"/>
            <a:ext cx="267005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38951" y="1552651"/>
            <a:ext cx="133502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601054" y="2293315"/>
            <a:ext cx="3180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조건, 널값, 최대/최소값에 대한 테스트가 있는가?</a:t>
            </a:r>
            <a:endParaRPr lang="en-US" sz="1000"/>
          </a:p>
        </p:txBody>
      </p:sp>
      <p:sp>
        <p:nvSpPr>
          <p:cNvPr id="29" name="Text 22"/>
          <p:cNvSpPr txBox="1"/>
          <p:nvPr/>
        </p:nvSpPr>
        <p:spPr>
          <a:xfrm>
            <a:off x="6601054" y="4016045"/>
            <a:ext cx="2846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테스트가 하나의 시나리오만 검증하는가?</a:t>
            </a:r>
            <a:endParaRPr lang="en-US" sz="1000"/>
          </a:p>
        </p:txBody>
      </p:sp>
      <p:sp>
        <p:nvSpPr>
          <p:cNvPr id="30" name="Text 23"/>
          <p:cNvSpPr txBox="1"/>
          <p:nvPr/>
        </p:nvSpPr>
        <p:spPr>
          <a:xfrm>
            <a:off x="6515100" y="1505102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품질 및 커버리지</a:t>
            </a:r>
            <a:endParaRPr lang="en-US" sz="12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286500" y="2018995"/>
            <a:ext cx="200254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01054" y="1981505"/>
            <a:ext cx="16139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경계값/예외 케이스</a:t>
            </a:r>
            <a:endParaRPr lang="en-US" sz="140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286500" y="2880360"/>
            <a:ext cx="200254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01054" y="2841955"/>
            <a:ext cx="15572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Mock 사용</a:t>
            </a:r>
            <a:endParaRPr lang="en-US" sz="1400"/>
          </a:p>
        </p:txBody>
      </p:sp>
      <p:sp>
        <p:nvSpPr>
          <p:cNvPr id="35" name="Text 26"/>
          <p:cNvSpPr txBox="1"/>
          <p:nvPr/>
        </p:nvSpPr>
        <p:spPr>
          <a:xfrm>
            <a:off x="6601054" y="3154680"/>
            <a:ext cx="30184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의존성이 올바르게 격리되고 행위 검증이 적절한가?</a:t>
            </a:r>
            <a:endParaRPr lang="en-US" sz="100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286500" y="3741725"/>
            <a:ext cx="200254" cy="22860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09905" y="4488790"/>
            <a:ext cx="10972800" cy="629107"/>
          </a:xfrm>
          <a:prstGeom prst="roundRect">
            <a:avLst>
              <a:gd name="adj" fmla="val 176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3349" y="4680814"/>
            <a:ext cx="171907" cy="171907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19556" y="4612234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프로세스</a:t>
            </a:r>
            <a:endParaRPr lang="en-US" sz="1000"/>
          </a:p>
        </p:txBody>
      </p:sp>
      <p:sp>
        <p:nvSpPr>
          <p:cNvPr id="40" name="Text 29"/>
          <p:cNvSpPr txBox="1"/>
          <p:nvPr/>
        </p:nvSpPr>
        <p:spPr>
          <a:xfrm>
            <a:off x="1019556" y="4831690"/>
            <a:ext cx="3915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로직이 의도를 정확히 반영하는지, 깨지기 쉬운 테스트가 아닌지 확인하세요.</a:t>
            </a:r>
            <a:endParaRPr lang="en-US" sz="900"/>
          </a:p>
        </p:txBody>
      </p:sp>
      <p:sp>
        <p:nvSpPr>
          <p:cNvPr id="41" name="Text 30"/>
          <p:cNvSpPr txBox="1"/>
          <p:nvPr/>
        </p:nvSpPr>
        <p:spPr>
          <a:xfrm>
            <a:off x="9304934" y="6587338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종합 프로젝트</a:t>
            </a:r>
            <a:endParaRPr lang="en-US" sz="10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29343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데모/평가 루브릭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2870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218895"/>
            <a:ext cx="10972800" cy="381305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24205" y="129570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항목</a:t>
            </a:r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2918765" y="1295705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(5점)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6012180" y="1295705"/>
            <a:ext cx="790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양호 (3점)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8892540" y="1295705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필요 (1점)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09905" y="1600200"/>
            <a:ext cx="10972800" cy="533095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09905" y="2133295"/>
            <a:ext cx="10972800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9905" y="2667305"/>
            <a:ext cx="10972800" cy="533095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10972800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24205" y="1752905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적합성30%</a:t>
            </a:r>
            <a:endParaRPr lang="en-US" sz="1200"/>
          </a:p>
        </p:txBody>
      </p:sp>
      <p:sp>
        <p:nvSpPr>
          <p:cNvPr id="16" name="Text 14"/>
          <p:cNvSpPr txBox="1"/>
          <p:nvPr/>
        </p:nvSpPr>
        <p:spPr>
          <a:xfrm>
            <a:off x="724205" y="228600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코드 품질40%</a:t>
            </a:r>
            <a:endParaRPr lang="en-US" sz="1200"/>
          </a:p>
        </p:txBody>
      </p:sp>
      <p:sp>
        <p:nvSpPr>
          <p:cNvPr id="17" name="Text 15"/>
          <p:cNvSpPr txBox="1"/>
          <p:nvPr/>
        </p:nvSpPr>
        <p:spPr>
          <a:xfrm>
            <a:off x="724205" y="2819095"/>
            <a:ext cx="1314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자동화20%</a:t>
            </a:r>
            <a:endParaRPr lang="en-US" sz="1200"/>
          </a:p>
        </p:txBody>
      </p:sp>
      <p:sp>
        <p:nvSpPr>
          <p:cNvPr id="18" name="Text 16"/>
          <p:cNvSpPr txBox="1"/>
          <p:nvPr/>
        </p:nvSpPr>
        <p:spPr>
          <a:xfrm>
            <a:off x="724205" y="3353105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및 발표10%</a:t>
            </a:r>
            <a:endParaRPr lang="en-US" sz="1200"/>
          </a:p>
        </p:txBody>
      </p:sp>
      <p:sp>
        <p:nvSpPr>
          <p:cNvPr id="19" name="Text 17"/>
          <p:cNvSpPr txBox="1"/>
          <p:nvPr/>
        </p:nvSpPr>
        <p:spPr>
          <a:xfrm>
            <a:off x="2918765" y="1676095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요구사항을 완벽히 구현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6012180" y="167609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요구사항 대부분 구현</a:t>
            </a:r>
            <a:endParaRPr lang="en-US" sz="1200"/>
          </a:p>
        </p:txBody>
      </p:sp>
      <p:sp>
        <p:nvSpPr>
          <p:cNvPr id="21" name="Text 19"/>
          <p:cNvSpPr txBox="1"/>
          <p:nvPr/>
        </p:nvSpPr>
        <p:spPr>
          <a:xfrm>
            <a:off x="8892540" y="167609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기능만 구현</a:t>
            </a:r>
            <a:endParaRPr lang="en-US" sz="1200"/>
          </a:p>
        </p:txBody>
      </p:sp>
      <p:sp>
        <p:nvSpPr>
          <p:cNvPr id="22" name="Text 20"/>
          <p:cNvSpPr txBox="1"/>
          <p:nvPr/>
        </p:nvSpPr>
        <p:spPr>
          <a:xfrm>
            <a:off x="2918765" y="2210105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커버리지(80%+)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6012180" y="2210105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커버리지(60-80%)</a:t>
            </a:r>
            <a:endParaRPr lang="en-US" sz="1200"/>
          </a:p>
        </p:txBody>
      </p:sp>
      <p:sp>
        <p:nvSpPr>
          <p:cNvPr id="24" name="Text 22"/>
          <p:cNvSpPr txBox="1"/>
          <p:nvPr/>
        </p:nvSpPr>
        <p:spPr>
          <a:xfrm>
            <a:off x="8892540" y="2210105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커버리지(60% 미만)</a:t>
            </a:r>
            <a:endParaRPr lang="en-US" sz="1200"/>
          </a:p>
        </p:txBody>
      </p:sp>
      <p:sp>
        <p:nvSpPr>
          <p:cNvPr id="25" name="Text 23"/>
          <p:cNvSpPr txBox="1"/>
          <p:nvPr/>
        </p:nvSpPr>
        <p:spPr>
          <a:xfrm>
            <a:off x="2918765" y="274320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완전한 자동화 구축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6012180" y="2743200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CI 파이프라인</a:t>
            </a:r>
            <a:endParaRPr lang="en-US" sz="1200"/>
          </a:p>
        </p:txBody>
      </p:sp>
      <p:sp>
        <p:nvSpPr>
          <p:cNvPr id="27" name="Text 25"/>
          <p:cNvSpPr txBox="1"/>
          <p:nvPr/>
        </p:nvSpPr>
        <p:spPr>
          <a:xfrm>
            <a:off x="8892540" y="2743200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불완전한 CI 구성</a:t>
            </a:r>
            <a:endParaRPr lang="en-US" sz="1200"/>
          </a:p>
        </p:txBody>
      </p:sp>
      <p:sp>
        <p:nvSpPr>
          <p:cNvPr id="28" name="Text 26"/>
          <p:cNvSpPr txBox="1"/>
          <p:nvPr/>
        </p:nvSpPr>
        <p:spPr>
          <a:xfrm>
            <a:off x="2918765" y="3276295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 역할분담/코드리뷰</a:t>
            </a:r>
            <a:endParaRPr lang="en-US" sz="1200"/>
          </a:p>
        </p:txBody>
      </p:sp>
      <p:sp>
        <p:nvSpPr>
          <p:cNvPr id="29" name="Text 27"/>
          <p:cNvSpPr txBox="1"/>
          <p:nvPr/>
        </p:nvSpPr>
        <p:spPr>
          <a:xfrm>
            <a:off x="6012180" y="327629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역할분담</a:t>
            </a:r>
            <a:endParaRPr lang="en-US" sz="1200"/>
          </a:p>
        </p:txBody>
      </p:sp>
      <p:sp>
        <p:nvSpPr>
          <p:cNvPr id="30" name="Text 28"/>
          <p:cNvSpPr txBox="1"/>
          <p:nvPr/>
        </p:nvSpPr>
        <p:spPr>
          <a:xfrm>
            <a:off x="8892540" y="327629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불명확한 역할분담</a:t>
            </a:r>
            <a:endParaRPr lang="en-US" sz="1200"/>
          </a:p>
        </p:txBody>
      </p:sp>
      <p:sp>
        <p:nvSpPr>
          <p:cNvPr id="31" name="Text 29"/>
          <p:cNvSpPr txBox="1"/>
          <p:nvPr/>
        </p:nvSpPr>
        <p:spPr>
          <a:xfrm>
            <a:off x="2918765" y="1895551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케이스까지 고려</a:t>
            </a:r>
            <a:endParaRPr lang="en-US" sz="900"/>
          </a:p>
        </p:txBody>
      </p:sp>
      <p:sp>
        <p:nvSpPr>
          <p:cNvPr id="32" name="Text 30"/>
          <p:cNvSpPr txBox="1"/>
          <p:nvPr/>
        </p:nvSpPr>
        <p:spPr>
          <a:xfrm>
            <a:off x="6012180" y="1895551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엣지케이스 누락</a:t>
            </a:r>
            <a:endParaRPr lang="en-US" sz="900"/>
          </a:p>
        </p:txBody>
      </p:sp>
      <p:sp>
        <p:nvSpPr>
          <p:cNvPr id="33" name="Text 31"/>
          <p:cNvSpPr txBox="1"/>
          <p:nvPr/>
        </p:nvSpPr>
        <p:spPr>
          <a:xfrm>
            <a:off x="8892540" y="1895551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요구사항 일부 미구현</a:t>
            </a:r>
            <a:endParaRPr lang="en-US" sz="900"/>
          </a:p>
        </p:txBody>
      </p:sp>
      <p:sp>
        <p:nvSpPr>
          <p:cNvPr id="34" name="Text 32"/>
          <p:cNvSpPr txBox="1"/>
          <p:nvPr/>
        </p:nvSpPr>
        <p:spPr>
          <a:xfrm>
            <a:off x="6012180" y="242864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경로 테스트</a:t>
            </a:r>
            <a:endParaRPr lang="en-US" sz="900"/>
          </a:p>
        </p:txBody>
      </p:sp>
      <p:sp>
        <p:nvSpPr>
          <p:cNvPr id="35" name="Text 33"/>
          <p:cNvSpPr txBox="1"/>
          <p:nvPr/>
        </p:nvSpPr>
        <p:spPr>
          <a:xfrm>
            <a:off x="6012180" y="29626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자동 테스트</a:t>
            </a:r>
            <a:endParaRPr lang="en-US" sz="900"/>
          </a:p>
        </p:txBody>
      </p:sp>
      <p:sp>
        <p:nvSpPr>
          <p:cNvPr id="36" name="Text 34"/>
          <p:cNvSpPr txBox="1"/>
          <p:nvPr/>
        </p:nvSpPr>
        <p:spPr>
          <a:xfrm>
            <a:off x="2918765" y="3495751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전문적 발표/데모</a:t>
            </a:r>
            <a:endParaRPr lang="en-US" sz="900"/>
          </a:p>
        </p:txBody>
      </p:sp>
      <p:sp>
        <p:nvSpPr>
          <p:cNvPr id="37" name="Text 35"/>
          <p:cNvSpPr txBox="1"/>
          <p:nvPr/>
        </p:nvSpPr>
        <p:spPr>
          <a:xfrm>
            <a:off x="6012180" y="3495751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이해가능한 발표</a:t>
            </a:r>
            <a:endParaRPr lang="en-US" sz="900"/>
          </a:p>
        </p:txBody>
      </p:sp>
      <p:sp>
        <p:nvSpPr>
          <p:cNvPr id="38" name="Text 36"/>
          <p:cNvSpPr txBox="1"/>
          <p:nvPr/>
        </p:nvSpPr>
        <p:spPr>
          <a:xfrm>
            <a:off x="8892540" y="3495751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미흡한 발표준비</a:t>
            </a:r>
            <a:endParaRPr lang="en-US" sz="900"/>
          </a:p>
        </p:txBody>
      </p:sp>
      <p:sp>
        <p:nvSpPr>
          <p:cNvPr id="39" name="Text 37"/>
          <p:cNvSpPr txBox="1"/>
          <p:nvPr/>
        </p:nvSpPr>
        <p:spPr>
          <a:xfrm>
            <a:off x="2918765" y="2428646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경로/예외 테스트</a:t>
            </a:r>
            <a:endParaRPr lang="en-US" sz="900"/>
          </a:p>
        </p:txBody>
      </p:sp>
      <p:sp>
        <p:nvSpPr>
          <p:cNvPr id="40" name="Text 38"/>
          <p:cNvSpPr txBox="1"/>
          <p:nvPr/>
        </p:nvSpPr>
        <p:spPr>
          <a:xfrm>
            <a:off x="2918765" y="2962656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품질 게이트 포함</a:t>
            </a:r>
            <a:endParaRPr lang="en-US" sz="900"/>
          </a:p>
        </p:txBody>
      </p:sp>
      <p:sp>
        <p:nvSpPr>
          <p:cNvPr id="41" name="Text 39"/>
          <p:cNvSpPr txBox="1"/>
          <p:nvPr/>
        </p:nvSpPr>
        <p:spPr>
          <a:xfrm>
            <a:off x="8892540" y="242864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테스트 부재</a:t>
            </a:r>
            <a:endParaRPr lang="en-US" sz="900"/>
          </a:p>
        </p:txBody>
      </p:sp>
      <p:sp>
        <p:nvSpPr>
          <p:cNvPr id="42" name="Text 40"/>
          <p:cNvSpPr txBox="1"/>
          <p:nvPr/>
        </p:nvSpPr>
        <p:spPr>
          <a:xfrm>
            <a:off x="8892540" y="29626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테스트 의존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09905" y="3847795"/>
            <a:ext cx="10972800" cy="780898"/>
          </a:xfrm>
          <a:prstGeom prst="roundRect">
            <a:avLst>
              <a:gd name="adj" fmla="val 114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349" y="4009644"/>
            <a:ext cx="152705" cy="152705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961949" y="397215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평가</a:t>
            </a:r>
            <a:endParaRPr lang="en-US" sz="1000"/>
          </a:p>
        </p:txBody>
      </p:sp>
      <p:sp>
        <p:nvSpPr>
          <p:cNvPr id="46" name="Text 43"/>
          <p:cNvSpPr txBox="1"/>
          <p:nvPr/>
        </p:nvSpPr>
        <p:spPr>
          <a:xfrm>
            <a:off x="961949" y="4153205"/>
            <a:ext cx="2667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90점↑: A+, 80-89: A, 70-79: B, 60-69: C, 60점↓: D</a:t>
            </a:r>
            <a:endParaRPr lang="en-US" sz="900"/>
          </a:p>
        </p:txBody>
      </p:sp>
      <p:sp>
        <p:nvSpPr>
          <p:cNvPr id="47" name="Text 44"/>
          <p:cNvSpPr txBox="1"/>
          <p:nvPr/>
        </p:nvSpPr>
        <p:spPr>
          <a:xfrm>
            <a:off x="961949" y="4343400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가산점: TDD 완벽적용(+5), 혁신도구(+3), 코드품질(+2)</a:t>
            </a:r>
            <a:endParaRPr lang="en-US" sz="900"/>
          </a:p>
        </p:txBody>
      </p:sp>
      <p:sp>
        <p:nvSpPr>
          <p:cNvPr id="48" name="Text 45"/>
          <p:cNvSpPr txBox="1"/>
          <p:nvPr/>
        </p:nvSpPr>
        <p:spPr>
          <a:xfrm>
            <a:off x="8910828" y="6548933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프로젝트 평가 루브릭</a:t>
            </a:r>
            <a:endParaRPr lang="en-US" sz="10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22485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회고/배운 점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09905" y="1257300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회고와 지속적 개선을 위한 핵심 방법론입니다. 효과적인 피드백 사이클을 구축하세요.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09905" y="1638605"/>
            <a:ext cx="5391302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09905" y="1638605"/>
            <a:ext cx="38405" cy="10671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1813255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1402" y="1638605"/>
            <a:ext cx="5391302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191402" y="1638605"/>
            <a:ext cx="38405" cy="10671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2889504"/>
            <a:ext cx="5391302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2889504"/>
            <a:ext cx="38405" cy="10671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1402" y="2889504"/>
            <a:ext cx="5391302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91402" y="2889504"/>
            <a:ext cx="38405" cy="106710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43000" y="1790395"/>
            <a:ext cx="22613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잘된 점 (What went well)</a:t>
            </a:r>
            <a:endParaRPr lang="en-US" sz="1400"/>
          </a:p>
        </p:txBody>
      </p:sp>
      <p:sp>
        <p:nvSpPr>
          <p:cNvPr id="17" name="Text 14"/>
          <p:cNvSpPr txBox="1"/>
          <p:nvPr/>
        </p:nvSpPr>
        <p:spPr>
          <a:xfrm>
            <a:off x="6724498" y="1790395"/>
            <a:ext cx="183337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개선점 (To improve)</a:t>
            </a:r>
            <a:endParaRPr lang="en-US" sz="1400"/>
          </a:p>
        </p:txBody>
      </p:sp>
      <p:sp>
        <p:nvSpPr>
          <p:cNvPr id="18" name="Text 15"/>
          <p:cNvSpPr txBox="1"/>
          <p:nvPr/>
        </p:nvSpPr>
        <p:spPr>
          <a:xfrm>
            <a:off x="800100" y="2131466"/>
            <a:ext cx="512887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테스트 자동화, 품질 향상 등 긍정적 측면을 식별하고 성공 요인을 분석하세요.</a:t>
            </a:r>
            <a:endParaRPr lang="en-US" sz="11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81598" y="1813255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81598" y="2131466"/>
            <a:ext cx="5033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구현 속도, 커버리지 부족 등 개선이 필요한 영역을 성장 기회로 접근하세요.</a:t>
            </a:r>
            <a:endParaRPr lang="en-US" sz="11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065069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042209"/>
            <a:ext cx="23280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아이템 (Action items)</a:t>
            </a:r>
            <a:endParaRPr lang="en-US" sz="1400"/>
          </a:p>
        </p:txBody>
      </p:sp>
      <p:sp>
        <p:nvSpPr>
          <p:cNvPr id="23" name="Text 18"/>
          <p:cNvSpPr txBox="1"/>
          <p:nvPr/>
        </p:nvSpPr>
        <p:spPr>
          <a:xfrm>
            <a:off x="6724498" y="3042209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테스트 전략</a:t>
            </a:r>
            <a:endParaRPr lang="en-US" sz="1400"/>
          </a:p>
        </p:txBody>
      </p:sp>
      <p:sp>
        <p:nvSpPr>
          <p:cNvPr id="24" name="Text 19"/>
          <p:cNvSpPr txBox="1"/>
          <p:nvPr/>
        </p:nvSpPr>
        <p:spPr>
          <a:xfrm>
            <a:off x="800100" y="3383280"/>
            <a:ext cx="50429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구체적이고 실행 가능한 개선 계획을 수립하고 담당자와 기한을 명확히 지정하세요.</a:t>
            </a:r>
            <a:endParaRPr lang="en-US" sz="110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1598" y="3065069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81598" y="3383280"/>
            <a:ext cx="51096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자산의 지속적 개선, 지식 공유, 코드 리뷰 강화, 테스트 문화 정착을 추진하세요.</a:t>
            </a:r>
            <a:endParaRPr lang="en-US" sz="1100"/>
          </a:p>
        </p:txBody>
      </p:sp>
      <p:sp>
        <p:nvSpPr>
          <p:cNvPr id="27" name="Shape 21"/>
          <p:cNvSpPr/>
          <p:nvPr/>
        </p:nvSpPr>
        <p:spPr>
          <a:xfrm>
            <a:off x="609905" y="4178808"/>
            <a:ext cx="10972800" cy="972007"/>
          </a:xfrm>
          <a:prstGeom prst="roundRect">
            <a:avLst>
              <a:gd name="adj" fmla="val 73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1754" y="4379062"/>
            <a:ext cx="142646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28700" y="4340657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효과적인 회고 진행법</a:t>
            </a:r>
            <a:endParaRPr lang="en-US" sz="1200"/>
          </a:p>
        </p:txBody>
      </p:sp>
      <p:sp>
        <p:nvSpPr>
          <p:cNvPr id="30" name="Text 23"/>
          <p:cNvSpPr txBox="1"/>
          <p:nvPr/>
        </p:nvSpPr>
        <p:spPr>
          <a:xfrm>
            <a:off x="1028700" y="4607662"/>
            <a:ext cx="104826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정기적인(2-4주) 회고, 심리적 안전감이 보장된 환경, '4Ls' 방법 또는 '스타-스톱-계속' 등 다양한 기법을 활용하세요. 식별된 문제점이 실질적인 개선으로 이어지는 액션 아이템을 도출하는 것이 핵심입니다.</a:t>
            </a:r>
            <a:endParaRPr lang="en-US" sz="1000"/>
          </a:p>
        </p:txBody>
      </p:sp>
      <p:sp>
        <p:nvSpPr>
          <p:cNvPr id="32" name="Text 25"/>
          <p:cNvSpPr txBox="1"/>
          <p:nvPr/>
        </p:nvSpPr>
        <p:spPr>
          <a:xfrm>
            <a:off x="8876995" y="6548933"/>
            <a:ext cx="2811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9: 종합 프로젝트</a:t>
            </a:r>
            <a:endParaRPr lang="en-US" sz="10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628632" y="6434633"/>
            <a:ext cx="20601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Part 10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4706417" y="1904695"/>
            <a:ext cx="761695" cy="761695"/>
          </a:xfrm>
          <a:prstGeom prst="ellipse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3" b="-13"/>
          <a:stretch/>
        </p:blipFill>
        <p:spPr>
          <a:xfrm>
            <a:off x="4872838" y="2095805"/>
            <a:ext cx="428854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96712" y="2115007"/>
            <a:ext cx="981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10</a:t>
            </a:r>
            <a:endParaRPr lang="en-US" sz="1800"/>
          </a:p>
        </p:txBody>
      </p:sp>
      <p:sp>
        <p:nvSpPr>
          <p:cNvPr id="9" name="Text 6"/>
          <p:cNvSpPr txBox="1"/>
          <p:nvPr/>
        </p:nvSpPr>
        <p:spPr>
          <a:xfrm>
            <a:off x="4706417" y="2800807"/>
            <a:ext cx="135331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</a:t>
            </a:r>
            <a:endParaRPr lang="en-US" sz="4200"/>
          </a:p>
        </p:txBody>
      </p:sp>
      <p:sp>
        <p:nvSpPr>
          <p:cNvPr id="11" name="Text 8"/>
          <p:cNvSpPr txBox="1"/>
          <p:nvPr/>
        </p:nvSpPr>
        <p:spPr>
          <a:xfrm>
            <a:off x="4706417" y="3958438"/>
            <a:ext cx="2477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FAQ, 참고 자료, 용어집,</a:t>
            </a:r>
            <a:endParaRPr lang="en-US" sz="1800"/>
          </a:p>
        </p:txBody>
      </p:sp>
      <p:sp>
        <p:nvSpPr>
          <p:cNvPr id="12" name="Text 9"/>
          <p:cNvSpPr txBox="1"/>
          <p:nvPr/>
        </p:nvSpPr>
        <p:spPr>
          <a:xfrm>
            <a:off x="4706417" y="4301338"/>
            <a:ext cx="29535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연습문제 및 학습 리소스</a:t>
            </a:r>
            <a:endParaRPr lang="en-US" sz="18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428854"/>
            <a:ext cx="10003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106710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1310335"/>
            <a:ext cx="200254" cy="200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6054" y="1257300"/>
            <a:ext cx="13587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묻는 질문</a:t>
            </a:r>
            <a:endParaRPr lang="en-US" sz="1500"/>
          </a:p>
        </p:txBody>
      </p:sp>
      <p:sp>
        <p:nvSpPr>
          <p:cNvPr id="8" name="Shape 5"/>
          <p:cNvSpPr/>
          <p:nvPr/>
        </p:nvSpPr>
        <p:spPr>
          <a:xfrm>
            <a:off x="609905" y="1630375"/>
            <a:ext cx="4304995" cy="8001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1630375"/>
            <a:ext cx="47549" cy="8001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809244" y="1821485"/>
            <a:ext cx="114300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37844" y="1783080"/>
            <a:ext cx="3277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단위테스트와 관련하여 자주 질문되는 내용입니다.</a:t>
            </a:r>
            <a:endParaRPr lang="en-US" sz="12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09244" y="2087575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7046" y="2050085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많은 질문은 과정 Q&amp;A 시간에 문의하세요.</a:t>
            </a:r>
            <a:endParaRPr lang="en-US" sz="12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59375" y="1310335"/>
            <a:ext cx="200254" cy="200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35524" y="1257300"/>
            <a:ext cx="15398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질문과 답변</a:t>
            </a:r>
            <a:endParaRPr lang="en-US" sz="1500"/>
          </a:p>
        </p:txBody>
      </p:sp>
      <p:sp>
        <p:nvSpPr>
          <p:cNvPr id="16" name="Shape 10"/>
          <p:cNvSpPr/>
          <p:nvPr/>
        </p:nvSpPr>
        <p:spPr>
          <a:xfrm>
            <a:off x="5059375" y="1630375"/>
            <a:ext cx="6524244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059375" y="2811780"/>
            <a:ext cx="6524244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059375" y="3993185"/>
            <a:ext cx="6524244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5173675" y="1744675"/>
            <a:ext cx="304495" cy="304495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5173675" y="2926080"/>
            <a:ext cx="304495" cy="304495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5173675" y="4107485"/>
            <a:ext cx="304495" cy="304495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5223967" y="1783080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</a:t>
            </a:r>
            <a:endParaRPr lang="en-US" sz="1200"/>
          </a:p>
        </p:txBody>
      </p:sp>
      <p:sp>
        <p:nvSpPr>
          <p:cNvPr id="23" name="Text 17"/>
          <p:cNvSpPr txBox="1"/>
          <p:nvPr/>
        </p:nvSpPr>
        <p:spPr>
          <a:xfrm>
            <a:off x="5223967" y="2964485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</a:t>
            </a:r>
            <a:endParaRPr lang="en-US" sz="1200"/>
          </a:p>
        </p:txBody>
      </p:sp>
      <p:sp>
        <p:nvSpPr>
          <p:cNvPr id="24" name="Text 18"/>
          <p:cNvSpPr txBox="1"/>
          <p:nvPr/>
        </p:nvSpPr>
        <p:spPr>
          <a:xfrm>
            <a:off x="5223967" y="4144975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Q3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5593385" y="1744675"/>
            <a:ext cx="40882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 목표를 어느 수준으로 잡는 것이 좋을까요?</a:t>
            </a:r>
            <a:endParaRPr lang="en-US" sz="1300"/>
          </a:p>
        </p:txBody>
      </p:sp>
      <p:sp>
        <p:nvSpPr>
          <p:cNvPr id="26" name="Text 20"/>
          <p:cNvSpPr txBox="1"/>
          <p:nvPr/>
        </p:nvSpPr>
        <p:spPr>
          <a:xfrm>
            <a:off x="5593385" y="2926080"/>
            <a:ext cx="3402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Mocking을 과도하게 사용하는 것이 좋을까요?</a:t>
            </a:r>
            <a:endParaRPr lang="en-US" sz="1300"/>
          </a:p>
        </p:txBody>
      </p:sp>
      <p:sp>
        <p:nvSpPr>
          <p:cNvPr id="27" name="Text 21"/>
          <p:cNvSpPr txBox="1"/>
          <p:nvPr/>
        </p:nvSpPr>
        <p:spPr>
          <a:xfrm>
            <a:off x="5593385" y="4107485"/>
            <a:ext cx="35359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코드에 어떻게 테스트를 추가해야 할까요?</a:t>
            </a:r>
            <a:endParaRPr lang="en-US" sz="1300"/>
          </a:p>
        </p:txBody>
      </p:sp>
      <p:sp>
        <p:nvSpPr>
          <p:cNvPr id="28" name="Shape 22"/>
          <p:cNvSpPr/>
          <p:nvPr/>
        </p:nvSpPr>
        <p:spPr>
          <a:xfrm>
            <a:off x="5593385" y="2087575"/>
            <a:ext cx="5876849" cy="533095"/>
          </a:xfrm>
          <a:prstGeom prst="roundRect">
            <a:avLst>
              <a:gd name="adj" fmla="val 24504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5593385" y="2087575"/>
            <a:ext cx="28346" cy="53309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5593385" y="3268980"/>
            <a:ext cx="5876849" cy="533095"/>
          </a:xfrm>
          <a:prstGeom prst="roundRect">
            <a:avLst>
              <a:gd name="adj" fmla="val 24504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5593385" y="3268980"/>
            <a:ext cx="28346" cy="53309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5593385" y="4450385"/>
            <a:ext cx="5876849" cy="533095"/>
          </a:xfrm>
          <a:prstGeom prst="roundRect">
            <a:avLst>
              <a:gd name="adj" fmla="val 24504"/>
            </a:avLst>
          </a:prstGeom>
          <a:solidFill>
            <a:srgbClr val="F7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5593385" y="4450385"/>
            <a:ext cx="28346" cy="533095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5697626" y="2164385"/>
            <a:ext cx="57963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비즈니스 로직은 80-90%, UI/인프라 코드는 50-70% 정도가 적절합니다. 단순 수치보다 핵심 시나리오 검증이 중요합니다.</a:t>
            </a:r>
            <a:endParaRPr lang="en-US" sz="1000"/>
          </a:p>
        </p:txBody>
      </p:sp>
      <p:sp>
        <p:nvSpPr>
          <p:cNvPr id="35" name="Text 29"/>
          <p:cNvSpPr txBox="1"/>
          <p:nvPr/>
        </p:nvSpPr>
        <p:spPr>
          <a:xfrm>
            <a:off x="5697626" y="3344875"/>
            <a:ext cx="57012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Mock은 외부 의존성 분리에 유용하나, 과도한 사용은 테스트를 구현에 강결합시킵니다. 통합 테스트와 균형을 맞추세요.</a:t>
            </a:r>
            <a:endParaRPr lang="en-US" sz="1000"/>
          </a:p>
        </p:txBody>
      </p:sp>
      <p:sp>
        <p:nvSpPr>
          <p:cNvPr id="36" name="Text 30"/>
          <p:cNvSpPr txBox="1"/>
          <p:nvPr/>
        </p:nvSpPr>
        <p:spPr>
          <a:xfrm>
            <a:off x="5697626" y="4526280"/>
            <a:ext cx="56912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동작을 특성화 테스트로 문서화하고, 점진적으로 의존성 주입이 가능한 Seam을 찾아 리팩토링하세요. 변경 필요 부분부터 우선 적용하세요.</a:t>
            </a:r>
            <a:endParaRPr lang="en-US" sz="1000"/>
          </a:p>
        </p:txBody>
      </p:sp>
      <p:sp>
        <p:nvSpPr>
          <p:cNvPr id="37" name="Shape 31"/>
          <p:cNvSpPr/>
          <p:nvPr/>
        </p:nvSpPr>
        <p:spPr>
          <a:xfrm>
            <a:off x="609905" y="5959145"/>
            <a:ext cx="10972800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4944" y="6082589"/>
            <a:ext cx="152705" cy="15270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23544" y="6044184"/>
            <a:ext cx="1472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질문이 있으신가요?</a:t>
            </a:r>
            <a:endParaRPr lang="en-US" sz="1000"/>
          </a:p>
        </p:txBody>
      </p:sp>
      <p:sp>
        <p:nvSpPr>
          <p:cNvPr id="40" name="Text 33"/>
          <p:cNvSpPr txBox="1"/>
          <p:nvPr/>
        </p:nvSpPr>
        <p:spPr>
          <a:xfrm>
            <a:off x="923544" y="6225235"/>
            <a:ext cx="5306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시간이나 팀별 과제 진행 시 코치에게 문의하세요. 단위 테스트는 지속적인 연습으로 습득하는 기술입니다.</a:t>
            </a:r>
            <a:endParaRPr lang="en-US" sz="900"/>
          </a:p>
        </p:txBody>
      </p:sp>
      <p:sp>
        <p:nvSpPr>
          <p:cNvPr id="41" name="Text 34"/>
          <p:cNvSpPr txBox="1"/>
          <p:nvPr/>
        </p:nvSpPr>
        <p:spPr>
          <a:xfrm>
            <a:off x="9816998" y="6548933"/>
            <a:ext cx="1869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부록</a:t>
            </a:r>
            <a:endParaRPr lang="en-US" sz="10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04495"/>
            <a:ext cx="162580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자료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609905" y="868680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09905" y="1058875"/>
            <a:ext cx="5410505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41" b="-841"/>
          <a:stretch/>
        </p:blipFill>
        <p:spPr>
          <a:xfrm>
            <a:off x="761695" y="1251814"/>
            <a:ext cx="190195" cy="171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8875"/>
            <a:ext cx="5410505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3300070"/>
            <a:ext cx="5410505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72200" y="3300070"/>
            <a:ext cx="5410505" cy="209580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28700" y="1211580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문서</a:t>
            </a:r>
            <a:endParaRPr lang="en-US" sz="1300"/>
          </a:p>
        </p:txBody>
      </p:sp>
      <p:sp>
        <p:nvSpPr>
          <p:cNvPr id="12" name="Text 9"/>
          <p:cNvSpPr txBox="1"/>
          <p:nvPr/>
        </p:nvSpPr>
        <p:spPr>
          <a:xfrm>
            <a:off x="6572707" y="1211580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도구</a:t>
            </a:r>
            <a:endParaRPr lang="en-US" sz="1300"/>
          </a:p>
        </p:txBody>
      </p:sp>
      <p:sp>
        <p:nvSpPr>
          <p:cNvPr id="13" name="Text 10"/>
          <p:cNvSpPr txBox="1"/>
          <p:nvPr/>
        </p:nvSpPr>
        <p:spPr>
          <a:xfrm>
            <a:off x="1009498" y="3451860"/>
            <a:ext cx="10972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자동화</a:t>
            </a:r>
            <a:endParaRPr lang="en-US" sz="1300"/>
          </a:p>
        </p:txBody>
      </p:sp>
      <p:sp>
        <p:nvSpPr>
          <p:cNvPr id="14" name="Text 11"/>
          <p:cNvSpPr txBox="1"/>
          <p:nvPr/>
        </p:nvSpPr>
        <p:spPr>
          <a:xfrm>
            <a:off x="6620256" y="3451860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자료</a:t>
            </a:r>
            <a:endParaRPr lang="en-US" sz="1300"/>
          </a:p>
        </p:txBody>
      </p:sp>
      <p:sp>
        <p:nvSpPr>
          <p:cNvPr id="15" name="Shape 12"/>
          <p:cNvSpPr/>
          <p:nvPr/>
        </p:nvSpPr>
        <p:spPr>
          <a:xfrm>
            <a:off x="761695" y="1577340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1695" y="2324405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324905" y="1577340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24905" y="2324405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61695" y="3817620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761695" y="4564685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324905" y="3817620"/>
            <a:ext cx="28346" cy="495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324905" y="4381805"/>
            <a:ext cx="28346" cy="676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05256" y="1615745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.NET 단위 테스트 모범 사례</a:t>
            </a:r>
            <a:endParaRPr lang="en-US" sz="1200"/>
          </a:p>
        </p:txBody>
      </p:sp>
      <p:sp>
        <p:nvSpPr>
          <p:cNvPr id="24" name="Text 21"/>
          <p:cNvSpPr txBox="1"/>
          <p:nvPr/>
        </p:nvSpPr>
        <p:spPr>
          <a:xfrm>
            <a:off x="905256" y="236189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NUnit/xUnit 공식 문서</a:t>
            </a:r>
            <a:endParaRPr lang="en-US" sz="1200"/>
          </a:p>
        </p:txBody>
      </p:sp>
      <p:sp>
        <p:nvSpPr>
          <p:cNvPr id="25" name="Text 22"/>
          <p:cNvSpPr txBox="1"/>
          <p:nvPr/>
        </p:nvSpPr>
        <p:spPr>
          <a:xfrm>
            <a:off x="6467551" y="1615745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Moq 라이브러리</a:t>
            </a:r>
            <a:endParaRPr lang="en-US" sz="1200"/>
          </a:p>
        </p:txBody>
      </p:sp>
      <p:sp>
        <p:nvSpPr>
          <p:cNvPr id="26" name="Text 23"/>
          <p:cNvSpPr txBox="1"/>
          <p:nvPr/>
        </p:nvSpPr>
        <p:spPr>
          <a:xfrm>
            <a:off x="6467551" y="2361895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</a:t>
            </a:r>
            <a:endParaRPr lang="en-US" sz="1200"/>
          </a:p>
        </p:txBody>
      </p:sp>
      <p:sp>
        <p:nvSpPr>
          <p:cNvPr id="27" name="Text 24"/>
          <p:cNvSpPr txBox="1"/>
          <p:nvPr/>
        </p:nvSpPr>
        <p:spPr>
          <a:xfrm>
            <a:off x="905256" y="3856025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- .NET</a:t>
            </a:r>
            <a:endParaRPr lang="en-US" sz="1200"/>
          </a:p>
        </p:txBody>
      </p:sp>
      <p:sp>
        <p:nvSpPr>
          <p:cNvPr id="28" name="Text 25"/>
          <p:cNvSpPr txBox="1"/>
          <p:nvPr/>
        </p:nvSpPr>
        <p:spPr>
          <a:xfrm>
            <a:off x="905256" y="460309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Azure DevOps</a:t>
            </a:r>
            <a:endParaRPr lang="en-US" sz="1200"/>
          </a:p>
        </p:txBody>
      </p:sp>
      <p:sp>
        <p:nvSpPr>
          <p:cNvPr id="29" name="Text 26"/>
          <p:cNvSpPr txBox="1"/>
          <p:nvPr/>
        </p:nvSpPr>
        <p:spPr>
          <a:xfrm>
            <a:off x="905256" y="1844345"/>
            <a:ext cx="27395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learn.microsoft.com/ko-kr/dotnet/core/testing</a:t>
            </a:r>
            <a:endParaRPr lang="en-US" sz="900"/>
          </a:p>
        </p:txBody>
      </p:sp>
      <p:sp>
        <p:nvSpPr>
          <p:cNvPr id="30" name="Text 27"/>
          <p:cNvSpPr txBox="1"/>
          <p:nvPr/>
        </p:nvSpPr>
        <p:spPr>
          <a:xfrm>
            <a:off x="905256" y="2590495"/>
            <a:ext cx="18635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docs.nunit.org / xunit.net/docs</a:t>
            </a:r>
            <a:endParaRPr lang="en-US" sz="900"/>
          </a:p>
        </p:txBody>
      </p:sp>
      <p:sp>
        <p:nvSpPr>
          <p:cNvPr id="31" name="Text 28"/>
          <p:cNvSpPr txBox="1"/>
          <p:nvPr/>
        </p:nvSpPr>
        <p:spPr>
          <a:xfrm>
            <a:off x="6467551" y="2590495"/>
            <a:ext cx="11393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reportgenerator.io</a:t>
            </a:r>
            <a:endParaRPr lang="en-US" sz="900"/>
          </a:p>
        </p:txBody>
      </p:sp>
      <p:sp>
        <p:nvSpPr>
          <p:cNvPr id="32" name="Text 29"/>
          <p:cNvSpPr txBox="1"/>
          <p:nvPr/>
        </p:nvSpPr>
        <p:spPr>
          <a:xfrm>
            <a:off x="905256" y="4084625"/>
            <a:ext cx="17016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docs.github.com/ko/actions</a:t>
            </a:r>
            <a:endParaRPr lang="en-US" sz="900"/>
          </a:p>
        </p:txBody>
      </p:sp>
      <p:sp>
        <p:nvSpPr>
          <p:cNvPr id="33" name="Text 30"/>
          <p:cNvSpPr txBox="1"/>
          <p:nvPr/>
        </p:nvSpPr>
        <p:spPr>
          <a:xfrm>
            <a:off x="905256" y="4831690"/>
            <a:ext cx="2625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azure.microsoft.com/ko-kr/products/devops</a:t>
            </a:r>
            <a:endParaRPr lang="en-US" sz="900"/>
          </a:p>
        </p:txBody>
      </p:sp>
      <p:sp>
        <p:nvSpPr>
          <p:cNvPr id="34" name="Text 31"/>
          <p:cNvSpPr txBox="1"/>
          <p:nvPr/>
        </p:nvSpPr>
        <p:spPr>
          <a:xfrm>
            <a:off x="905256" y="2027225"/>
            <a:ext cx="1882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 공식 단위 테스트 가이드</a:t>
            </a:r>
            <a:endParaRPr lang="en-US" sz="900"/>
          </a:p>
        </p:txBody>
      </p:sp>
      <p:sp>
        <p:nvSpPr>
          <p:cNvPr id="35" name="Text 32"/>
          <p:cNvSpPr txBox="1"/>
          <p:nvPr/>
        </p:nvSpPr>
        <p:spPr>
          <a:xfrm>
            <a:off x="905256" y="2774290"/>
            <a:ext cx="1511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프레임워크 레퍼런스</a:t>
            </a:r>
            <a:endParaRPr lang="en-US" sz="90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24905" y="1251814"/>
            <a:ext cx="171907" cy="17190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6467551" y="442021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과정 예제 코드</a:t>
            </a:r>
            <a:endParaRPr lang="en-US" sz="1200"/>
          </a:p>
        </p:txBody>
      </p:sp>
      <p:sp>
        <p:nvSpPr>
          <p:cNvPr id="38" name="Text 34"/>
          <p:cNvSpPr txBox="1"/>
          <p:nvPr/>
        </p:nvSpPr>
        <p:spPr>
          <a:xfrm>
            <a:off x="6467551" y="1844345"/>
            <a:ext cx="14346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github.com/moq/moq4</a:t>
            </a:r>
            <a:endParaRPr lang="en-US" sz="900"/>
          </a:p>
        </p:txBody>
      </p:sp>
      <p:sp>
        <p:nvSpPr>
          <p:cNvPr id="39" name="Text 35"/>
          <p:cNvSpPr txBox="1"/>
          <p:nvPr/>
        </p:nvSpPr>
        <p:spPr>
          <a:xfrm>
            <a:off x="6467551" y="4648810"/>
            <a:ext cx="23682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github.com/SDC-SW/unit-test-examples</a:t>
            </a:r>
            <a:endParaRPr lang="en-US" sz="900"/>
          </a:p>
        </p:txBody>
      </p:sp>
      <p:sp>
        <p:nvSpPr>
          <p:cNvPr id="40" name="Text 36"/>
          <p:cNvSpPr txBox="1"/>
          <p:nvPr/>
        </p:nvSpPr>
        <p:spPr>
          <a:xfrm>
            <a:off x="6467551" y="2027225"/>
            <a:ext cx="13487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인기 C# 목킹 프레임워크</a:t>
            </a:r>
            <a:endParaRPr lang="en-US" sz="900"/>
          </a:p>
        </p:txBody>
      </p:sp>
      <p:sp>
        <p:nvSpPr>
          <p:cNvPr id="41" name="Text 37"/>
          <p:cNvSpPr txBox="1"/>
          <p:nvPr/>
        </p:nvSpPr>
        <p:spPr>
          <a:xfrm>
            <a:off x="6467551" y="2774290"/>
            <a:ext cx="11777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 시각화</a:t>
            </a:r>
            <a:endParaRPr lang="en-US" sz="90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3492094"/>
            <a:ext cx="171907" cy="171907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05256" y="4267505"/>
            <a:ext cx="1710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CI/CD 파이프라인 설정</a:t>
            </a:r>
            <a:endParaRPr lang="en-US" sz="900"/>
          </a:p>
        </p:txBody>
      </p:sp>
      <p:sp>
        <p:nvSpPr>
          <p:cNvPr id="44" name="Text 39"/>
          <p:cNvSpPr txBox="1"/>
          <p:nvPr/>
        </p:nvSpPr>
        <p:spPr>
          <a:xfrm>
            <a:off x="905256" y="5014570"/>
            <a:ext cx="1482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 클라우드 CI/CD 솔루션</a:t>
            </a:r>
            <a:endParaRPr lang="en-US" sz="90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6324905" y="3492094"/>
            <a:ext cx="219456" cy="17190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467551" y="3856025"/>
            <a:ext cx="2915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Art of Unit Testing (Roy Osherove)</a:t>
            </a:r>
            <a:endParaRPr lang="en-US" sz="1200"/>
          </a:p>
        </p:txBody>
      </p:sp>
      <p:sp>
        <p:nvSpPr>
          <p:cNvPr id="47" name="Text 41"/>
          <p:cNvSpPr txBox="1"/>
          <p:nvPr/>
        </p:nvSpPr>
        <p:spPr>
          <a:xfrm>
            <a:off x="6467551" y="4084625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 원칙과 패턴</a:t>
            </a:r>
            <a:endParaRPr lang="en-US" sz="900"/>
          </a:p>
        </p:txBody>
      </p:sp>
      <p:sp>
        <p:nvSpPr>
          <p:cNvPr id="48" name="Text 42"/>
          <p:cNvSpPr txBox="1"/>
          <p:nvPr/>
        </p:nvSpPr>
        <p:spPr>
          <a:xfrm>
            <a:off x="6467551" y="4831690"/>
            <a:ext cx="11777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예제 리포지토리</a:t>
            </a:r>
            <a:endParaRPr lang="en-US" sz="900"/>
          </a:p>
        </p:txBody>
      </p:sp>
      <p:sp>
        <p:nvSpPr>
          <p:cNvPr id="49" name="Shape 43"/>
          <p:cNvSpPr/>
          <p:nvPr/>
        </p:nvSpPr>
        <p:spPr>
          <a:xfrm>
            <a:off x="609905" y="5540350"/>
            <a:ext cx="10972800" cy="705002"/>
          </a:xfrm>
          <a:prstGeom prst="roundRect">
            <a:avLst>
              <a:gd name="adj" fmla="val 140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3349" y="5702198"/>
            <a:ext cx="171907" cy="171907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019556" y="566379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학습 팁</a:t>
            </a:r>
            <a:endParaRPr lang="en-US" sz="1200"/>
          </a:p>
        </p:txBody>
      </p:sp>
      <p:sp>
        <p:nvSpPr>
          <p:cNvPr id="52" name="Text 45"/>
          <p:cNvSpPr txBox="1"/>
          <p:nvPr/>
        </p:nvSpPr>
        <p:spPr>
          <a:xfrm>
            <a:off x="1019556" y="5930798"/>
            <a:ext cx="7167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프로젝트에 적용하며 점진적으로 학습하세요. 코드 리뷰와 페어 프로그래밍으로 테스트 기법을 공유하는 것이 효과적입니다.</a:t>
            </a:r>
            <a:endParaRPr lang="en-US" sz="1000"/>
          </a:p>
        </p:txBody>
      </p:sp>
      <p:sp>
        <p:nvSpPr>
          <p:cNvPr id="53" name="Text 46"/>
          <p:cNvSpPr txBox="1"/>
          <p:nvPr/>
        </p:nvSpPr>
        <p:spPr>
          <a:xfrm>
            <a:off x="9782251" y="6572707"/>
            <a:ext cx="1895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참고 자료</a:t>
            </a:r>
            <a:endParaRPr lang="en-US" sz="9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390449"/>
            <a:ext cx="3333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용어집 및 추가 연습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609905" y="990295"/>
            <a:ext cx="76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09905" y="1218895"/>
            <a:ext cx="171907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5198" y="119054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용어 정리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609905" y="1561795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24205" y="1676095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 패턴</a:t>
            </a:r>
            <a:endParaRPr lang="en-US" sz="1200"/>
          </a:p>
        </p:txBody>
      </p:sp>
      <p:sp>
        <p:nvSpPr>
          <p:cNvPr id="10" name="Text 7"/>
          <p:cNvSpPr txBox="1"/>
          <p:nvPr/>
        </p:nvSpPr>
        <p:spPr>
          <a:xfrm>
            <a:off x="724205" y="1954987"/>
            <a:ext cx="29663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Arrange(준비), Act(실행), Assert(검증) 단계로 테스트를 구조화하는 패턴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3901745" y="1561795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016045" y="1676095"/>
            <a:ext cx="45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</a:t>
            </a:r>
            <a:endParaRPr lang="en-US" sz="1200"/>
          </a:p>
        </p:txBody>
      </p:sp>
      <p:sp>
        <p:nvSpPr>
          <p:cNvPr id="13" name="Text 10"/>
          <p:cNvSpPr txBox="1"/>
          <p:nvPr/>
        </p:nvSpPr>
        <p:spPr>
          <a:xfrm>
            <a:off x="4016045" y="1954987"/>
            <a:ext cx="305226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Test-Driven Development. 테스트를 먼저 작성한 후 코드를 구현하는 방법론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609905" y="2617013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24205" y="2731313"/>
            <a:ext cx="672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Fixture</a:t>
            </a:r>
            <a:endParaRPr lang="en-US" sz="1200"/>
          </a:p>
        </p:txBody>
      </p:sp>
      <p:sp>
        <p:nvSpPr>
          <p:cNvPr id="16" name="Text 13"/>
          <p:cNvSpPr txBox="1"/>
          <p:nvPr/>
        </p:nvSpPr>
        <p:spPr>
          <a:xfrm>
            <a:off x="724205" y="3010205"/>
            <a:ext cx="306141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테스트에 필요한 객체나 상태의 고정된 기준점, 테스트 간 공유되는 설정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3901745" y="2617013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016045" y="2731313"/>
            <a:ext cx="1044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Double</a:t>
            </a:r>
            <a:endParaRPr lang="en-US" sz="1200"/>
          </a:p>
        </p:txBody>
      </p:sp>
      <p:sp>
        <p:nvSpPr>
          <p:cNvPr id="19" name="Text 16"/>
          <p:cNvSpPr txBox="1"/>
          <p:nvPr/>
        </p:nvSpPr>
        <p:spPr>
          <a:xfrm>
            <a:off x="4016045" y="3010205"/>
            <a:ext cx="29288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객체 대신 사용하는 테스트용 객체. Mock, Stub, Fake, Spy 등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609905" y="3673145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24205" y="3787445"/>
            <a:ext cx="1054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커버리지</a:t>
            </a:r>
            <a:endParaRPr lang="en-US" sz="1200"/>
          </a:p>
        </p:txBody>
      </p:sp>
      <p:sp>
        <p:nvSpPr>
          <p:cNvPr id="22" name="Text 19"/>
          <p:cNvSpPr txBox="1"/>
          <p:nvPr/>
        </p:nvSpPr>
        <p:spPr>
          <a:xfrm>
            <a:off x="724205" y="4065422"/>
            <a:ext cx="29288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테스트가 프로덕션 코드를 실행하는 비율. 라인, 브랜치, 함수 커버리지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3901745" y="3673145"/>
            <a:ext cx="3181198" cy="942746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4016045" y="3787445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C52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원칙</a:t>
            </a:r>
            <a:endParaRPr lang="en-US" sz="1200"/>
          </a:p>
        </p:txBody>
      </p:sp>
      <p:sp>
        <p:nvSpPr>
          <p:cNvPr id="25" name="Text 22"/>
          <p:cNvSpPr txBox="1"/>
          <p:nvPr/>
        </p:nvSpPr>
        <p:spPr>
          <a:xfrm>
            <a:off x="4016045" y="4065422"/>
            <a:ext cx="256672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Fast, Independent, Repeatable, Self-validating, Timely의 단위 테스트 특성</a:t>
            </a:r>
            <a:endParaRPr lang="en-US" sz="110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69480" y="1218895"/>
            <a:ext cx="190195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573975" y="1190549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연습 과제</a:t>
            </a:r>
            <a:endParaRPr lang="en-US" sz="1300"/>
          </a:p>
        </p:txBody>
      </p:sp>
      <p:sp>
        <p:nvSpPr>
          <p:cNvPr id="28" name="Shape 24"/>
          <p:cNvSpPr/>
          <p:nvPr/>
        </p:nvSpPr>
        <p:spPr>
          <a:xfrm>
            <a:off x="7269480" y="1561795"/>
            <a:ext cx="4315054" cy="1600200"/>
          </a:xfrm>
          <a:prstGeom prst="roundRect">
            <a:avLst>
              <a:gd name="adj" fmla="val 2041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7269480" y="1561795"/>
            <a:ext cx="38405" cy="16002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 txBox="1"/>
          <p:nvPr/>
        </p:nvSpPr>
        <p:spPr>
          <a:xfrm>
            <a:off x="7422185" y="167609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코드에 테스트 추가</a:t>
            </a:r>
            <a:endParaRPr lang="en-US" sz="1200"/>
          </a:p>
        </p:txBody>
      </p:sp>
      <p:sp>
        <p:nvSpPr>
          <p:cNvPr id="31" name="Text 27"/>
          <p:cNvSpPr txBox="1"/>
          <p:nvPr/>
        </p:nvSpPr>
        <p:spPr>
          <a:xfrm>
            <a:off x="7422185" y="1943100"/>
            <a:ext cx="3062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테스트가 없는 모듈을 찾아 단위 테스트를 작성하세요:</a:t>
            </a:r>
            <a:endParaRPr lang="en-US" sz="1000"/>
          </a:p>
        </p:txBody>
      </p:sp>
      <p:sp>
        <p:nvSpPr>
          <p:cNvPr id="32" name="Text 28"/>
          <p:cNvSpPr txBox="1"/>
          <p:nvPr/>
        </p:nvSpPr>
        <p:spPr>
          <a:xfrm>
            <a:off x="7422185" y="2171700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의존성 분리로 테스트 가능하게 리팩토링</a:t>
            </a:r>
            <a:endParaRPr lang="en-US" sz="1000"/>
          </a:p>
        </p:txBody>
      </p:sp>
      <p:sp>
        <p:nvSpPr>
          <p:cNvPr id="33" name="Text 29"/>
          <p:cNvSpPr txBox="1"/>
          <p:nvPr/>
        </p:nvSpPr>
        <p:spPr>
          <a:xfrm>
            <a:off x="7422185" y="2400300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핵심 기능 테스트 케이스 작성</a:t>
            </a:r>
            <a:endParaRPr lang="en-US" sz="1000"/>
          </a:p>
        </p:txBody>
      </p:sp>
      <p:sp>
        <p:nvSpPr>
          <p:cNvPr id="34" name="Text 30"/>
          <p:cNvSpPr txBox="1"/>
          <p:nvPr/>
        </p:nvSpPr>
        <p:spPr>
          <a:xfrm>
            <a:off x="7422185" y="2628900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경계 조건과 예외 처리 테스트</a:t>
            </a:r>
            <a:endParaRPr lang="en-US" sz="1000"/>
          </a:p>
        </p:txBody>
      </p:sp>
      <p:sp>
        <p:nvSpPr>
          <p:cNvPr id="35" name="Text 31"/>
          <p:cNvSpPr txBox="1"/>
          <p:nvPr/>
        </p:nvSpPr>
        <p:spPr>
          <a:xfrm>
            <a:off x="7422185" y="2857500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코드 커버리지 80% 이상 달성</a:t>
            </a:r>
            <a:endParaRPr lang="en-US" sz="1000"/>
          </a:p>
        </p:txBody>
      </p:sp>
      <p:sp>
        <p:nvSpPr>
          <p:cNvPr id="36" name="Shape 32"/>
          <p:cNvSpPr/>
          <p:nvPr/>
        </p:nvSpPr>
        <p:spPr>
          <a:xfrm>
            <a:off x="7269480" y="3276295"/>
            <a:ext cx="4315054" cy="1600200"/>
          </a:xfrm>
          <a:prstGeom prst="roundRect">
            <a:avLst>
              <a:gd name="adj" fmla="val 2041"/>
            </a:avLst>
          </a:prstGeom>
          <a:solidFill>
            <a:srgbClr val="EBF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7269480" y="3276295"/>
            <a:ext cx="38405" cy="1600200"/>
          </a:xfrm>
          <a:prstGeom prst="rect">
            <a:avLst/>
          </a:prstGeom>
          <a:solidFill>
            <a:srgbClr val="4299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7422185" y="3390595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TDD로 새 기능 개발</a:t>
            </a:r>
            <a:endParaRPr lang="en-US" sz="1200"/>
          </a:p>
        </p:txBody>
      </p:sp>
      <p:sp>
        <p:nvSpPr>
          <p:cNvPr id="39" name="Text 35"/>
          <p:cNvSpPr txBox="1"/>
          <p:nvPr/>
        </p:nvSpPr>
        <p:spPr>
          <a:xfrm>
            <a:off x="7422185" y="3657600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요구사항을 TDD 방식으로 구현하세요:</a:t>
            </a:r>
            <a:endParaRPr lang="en-US" sz="1000"/>
          </a:p>
        </p:txBody>
      </p:sp>
      <p:sp>
        <p:nvSpPr>
          <p:cNvPr id="40" name="Text 36"/>
          <p:cNvSpPr txBox="1"/>
          <p:nvPr/>
        </p:nvSpPr>
        <p:spPr>
          <a:xfrm>
            <a:off x="7422185" y="3886200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문자열 파서 (CSV, JSON)</a:t>
            </a:r>
            <a:endParaRPr lang="en-US" sz="1000"/>
          </a:p>
        </p:txBody>
      </p:sp>
      <p:sp>
        <p:nvSpPr>
          <p:cNvPr id="41" name="Text 37"/>
          <p:cNvSpPr txBox="1"/>
          <p:nvPr/>
        </p:nvSpPr>
        <p:spPr>
          <a:xfrm>
            <a:off x="7422185" y="4114800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검색 알고리즘 (이진 검색, 정렬)</a:t>
            </a:r>
            <a:endParaRPr lang="en-US" sz="1000"/>
          </a:p>
        </p:txBody>
      </p:sp>
      <p:sp>
        <p:nvSpPr>
          <p:cNvPr id="42" name="Text 38"/>
          <p:cNvSpPr txBox="1"/>
          <p:nvPr/>
        </p:nvSpPr>
        <p:spPr>
          <a:xfrm>
            <a:off x="7422185" y="4343400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API 요청 처리기 (비동기)</a:t>
            </a:r>
            <a:endParaRPr lang="en-US" sz="1000"/>
          </a:p>
        </p:txBody>
      </p:sp>
      <p:sp>
        <p:nvSpPr>
          <p:cNvPr id="43" name="Text 39"/>
          <p:cNvSpPr txBox="1"/>
          <p:nvPr/>
        </p:nvSpPr>
        <p:spPr>
          <a:xfrm>
            <a:off x="7422185" y="4572000"/>
            <a:ext cx="2824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단계에서 Red-Green-Refactor 사이클 적용</a:t>
            </a:r>
            <a:endParaRPr lang="en-US" sz="1000"/>
          </a:p>
        </p:txBody>
      </p:sp>
      <p:sp>
        <p:nvSpPr>
          <p:cNvPr id="44" name="Text 40"/>
          <p:cNvSpPr txBox="1"/>
          <p:nvPr/>
        </p:nvSpPr>
        <p:spPr>
          <a:xfrm>
            <a:off x="9816998" y="6587338"/>
            <a:ext cx="1869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기능 단위테스트 교육 | 부록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141859</Words>
  <Application>Microsoft Office PowerPoint</Application>
  <PresentationFormat>와이드스크린</PresentationFormat>
  <Paragraphs>24086</Paragraphs>
  <Slides>102</Slides>
  <Notes>102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102</vt:i4>
      </vt:variant>
    </vt:vector>
  </HeadingPairs>
  <TitlesOfParts>
    <vt:vector size="108" baseType="lpstr">
      <vt:lpstr>Nanum Gothic Coding</vt:lpstr>
      <vt:lpstr>Noto Sans KR</vt:lpstr>
      <vt:lpstr>ui-monospace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jungin kim</cp:lastModifiedBy>
  <cp:revision>32</cp:revision>
  <dcterms:created xsi:type="dcterms:W3CDTF">2025-11-27T03:16:01Z</dcterms:created>
  <dcterms:modified xsi:type="dcterms:W3CDTF">2025-12-02T03:08:22Z</dcterms:modified>
</cp:coreProperties>
</file>